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-47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Max Points</c:v>
                </c:pt>
              </c:strCache>
            </c:strRef>
          </c:tx>
          <c:spPr>
            <a:solidFill>
              <a:srgbClr val="0F6E8C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17293A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Market
Competition</c:v>
                </c:pt>
                <c:pt idx="1">
                  <c:v>Team
Expertise</c:v>
                </c:pt>
                <c:pt idx="2">
                  <c:v>Resource
Availability</c:v>
                </c:pt>
                <c:pt idx="3">
                  <c:v>Innovation
Level</c:v>
                </c:pt>
                <c:pt idx="4">
                  <c:v>Market
Research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showVal val="1"/>
        </c:dLbls>
        <c:gapWidth val="40"/>
        <c:axId val="120423936"/>
        <c:axId val="120425472"/>
      </c:barChart>
      <c:catAx>
        <c:axId val="12042393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A8A"/>
                </a:solidFill>
                <a:latin typeface="Arial"/>
              </a:defRPr>
            </a:pPr>
            <a:endParaRPr lang="en-US"/>
          </a:p>
        </c:txPr>
        <c:crossAx val="120425472"/>
        <c:crosses val="autoZero"/>
        <c:auto val="1"/>
        <c:lblAlgn val="ctr"/>
        <c:lblOffset val="100"/>
        <c:noMultiLvlLbl val="1"/>
      </c:catAx>
      <c:valAx>
        <c:axId val="120425472"/>
        <c:scaling>
          <c:orientation val="minMax"/>
        </c:scaling>
        <c:delete val="1"/>
        <c:axPos val="l"/>
        <c:numFmt formatCode="General" sourceLinked="0"/>
        <c:tickLblPos val="none"/>
        <c:crossAx val="120423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6E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5AA9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5" name="Image 0" descr="/home/claude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8801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</a:t>
            </a:r>
            <a:r>
              <a:rPr lang="en-US" sz="1400" b="1" kern="0" spc="20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" y="19202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&amp;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 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AI — Startup &amp; Project Risk Analyzer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3794760"/>
            <a:ext cx="3291840" cy="0"/>
          </a:xfrm>
          <a:prstGeom prst="line">
            <a:avLst/>
          </a:prstGeom>
          <a:noFill/>
          <a:ln w="19050">
            <a:solidFill>
              <a:srgbClr val="5AA9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39776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structured project data captured in Milestone 1 into a quantified risk score, an automatically generated SWOT, and a feasibility assessment — the analytical core of the platform.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48920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1B3550"/>
          </a:solidFill>
          <a:ln/>
        </p:spPr>
      </p:sp>
      <p:sp>
        <p:nvSpPr>
          <p:cNvPr id="12" name="Shape 9"/>
          <p:cNvSpPr/>
          <p:nvPr/>
        </p:nvSpPr>
        <p:spPr>
          <a:xfrm>
            <a:off x="1024128" y="5148072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3" name="Image 1" descr="/home/claude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" y="5261229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50932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risk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26280" y="48920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1B3550"/>
          </a:solidFill>
          <a:ln/>
        </p:spPr>
      </p:sp>
      <p:sp>
        <p:nvSpPr>
          <p:cNvPr id="16" name="Shape 12"/>
          <p:cNvSpPr/>
          <p:nvPr/>
        </p:nvSpPr>
        <p:spPr>
          <a:xfrm>
            <a:off x="4727448" y="5148072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7" name="Image 2" descr="/home/claude/icons/pi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605" y="5261229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50932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0" y="4892040"/>
            <a:ext cx="3520440" cy="1280160"/>
          </a:xfrm>
          <a:prstGeom prst="roundRect">
            <a:avLst>
              <a:gd name="adj" fmla="val 6429"/>
            </a:avLst>
          </a:prstGeom>
          <a:solidFill>
            <a:srgbClr val="1B3550"/>
          </a:solidFill>
          <a:ln/>
        </p:spPr>
      </p:sp>
      <p:sp>
        <p:nvSpPr>
          <p:cNvPr id="20" name="Shape 15"/>
          <p:cNvSpPr/>
          <p:nvPr/>
        </p:nvSpPr>
        <p:spPr>
          <a:xfrm>
            <a:off x="8430768" y="5148072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1" name="Image 3" descr="/home/claude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925" y="526122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8280" y="50932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project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assessment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shifts the UI to Streamlit and adds three pure-logic Python modules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94560"/>
            <a:ext cx="960120" cy="9601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pl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243459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965960" y="25420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framework that turns a script into an interactive web app — no HTML, CSS, or JavaScript required.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75120" y="2084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st.selectbox / st.slider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903720" y="2340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5 risk inputs &amp; 4 feasibility scores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75120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st.metric / st.progress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risk score &amp; success probability live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75120" y="2852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st.columns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037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Lays out the SWOT quadrants side by side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PURE-LOGIC PYTHON MODULES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19" name="Shape 16"/>
          <p:cNvSpPr/>
          <p:nvPr/>
        </p:nvSpPr>
        <p:spPr>
          <a:xfrm>
            <a:off x="749808" y="4361688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0" name="Image 1" descr="/home/claude/icons/cod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49884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risk_engine.py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49808" y="534924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calculate_risk(), get_risk_status(), calculate_success_probability()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29768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24" name="Shape 20"/>
          <p:cNvSpPr/>
          <p:nvPr/>
        </p:nvSpPr>
        <p:spPr>
          <a:xfrm>
            <a:off x="4498848" y="4361688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5" name="Image 2" descr="/home/claude/icons/pi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49884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49884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swot_analysis.py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498848" y="534924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generate_swot() — rule-based Strengths/Weaknesses/Opportunities/Threats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8046720" y="41605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FF5F8"/>
          </a:solidFill>
          <a:ln/>
        </p:spPr>
      </p:sp>
      <p:sp>
        <p:nvSpPr>
          <p:cNvPr id="29" name="Shape 24"/>
          <p:cNvSpPr/>
          <p:nvPr/>
        </p:nvSpPr>
        <p:spPr>
          <a:xfrm>
            <a:off x="8247888" y="4361688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0" name="Image 3" descr="/home/claude/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449884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247888" y="5029200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feasibility.py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247888" y="534924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calculate_feasibility() — averages 4 slider-based scores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SYSTEM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2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data branches through the risk engine into three outputs, then reunites on the dashboard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05756" y="18745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B3550"/>
          </a:solidFill>
          <a:ln/>
        </p:spPr>
      </p:sp>
      <p:sp>
        <p:nvSpPr>
          <p:cNvPr id="7" name="Shape 5"/>
          <p:cNvSpPr/>
          <p:nvPr/>
        </p:nvSpPr>
        <p:spPr>
          <a:xfrm>
            <a:off x="4997196" y="1988820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918" y="2050542"/>
            <a:ext cx="150876" cy="1508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44668" y="187452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Data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03036" y="2395728"/>
            <a:ext cx="182880" cy="182880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905756" y="2633472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F6E8C"/>
          </a:solidFill>
          <a:ln/>
        </p:spPr>
      </p:sp>
      <p:sp>
        <p:nvSpPr>
          <p:cNvPr id="12" name="Shape 9"/>
          <p:cNvSpPr/>
          <p:nvPr/>
        </p:nvSpPr>
        <p:spPr>
          <a:xfrm>
            <a:off x="4997196" y="2747772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3" name="Image 1" descr="/home/claude/icons/serv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918" y="2809494"/>
            <a:ext cx="150876" cy="1508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4668" y="263347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Database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03036" y="3154680"/>
            <a:ext cx="182880" cy="182880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2482596" y="339242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17" name="Shape 13"/>
          <p:cNvSpPr/>
          <p:nvPr/>
        </p:nvSpPr>
        <p:spPr>
          <a:xfrm>
            <a:off x="2574036" y="3483864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8" name="Image 2" descr="/home/claude/icons/tren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5758" y="3545586"/>
            <a:ext cx="150876" cy="1508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21508" y="3392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997196" y="339242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21" name="Shape 16"/>
          <p:cNvSpPr/>
          <p:nvPr/>
        </p:nvSpPr>
        <p:spPr>
          <a:xfrm>
            <a:off x="5088636" y="3483864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2" name="Image 3" descr="/home/claude/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0358" y="3545586"/>
            <a:ext cx="150876" cy="1508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36108" y="3392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511796" y="339242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25" name="Shape 19"/>
          <p:cNvSpPr/>
          <p:nvPr/>
        </p:nvSpPr>
        <p:spPr>
          <a:xfrm>
            <a:off x="7603236" y="3483864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6" name="Image 4" descr="/home/claude/icons/clipboar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4958" y="3545586"/>
            <a:ext cx="150876" cy="1508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50708" y="3392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003036" y="3867912"/>
            <a:ext cx="182880" cy="164592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29" name="Shape 22"/>
          <p:cNvSpPr/>
          <p:nvPr/>
        </p:nvSpPr>
        <p:spPr>
          <a:xfrm>
            <a:off x="4722876" y="40690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2A93B"/>
          </a:solidFill>
          <a:ln/>
        </p:spPr>
      </p:sp>
      <p:sp>
        <p:nvSpPr>
          <p:cNvPr id="30" name="Shape 23"/>
          <p:cNvSpPr/>
          <p:nvPr/>
        </p:nvSpPr>
        <p:spPr>
          <a:xfrm>
            <a:off x="4814316" y="4160520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1" name="Image 5" descr="/home/claude/icons/shiel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038" y="4222242"/>
            <a:ext cx="150876" cy="1508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61788" y="4069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003036" y="4544568"/>
            <a:ext cx="182880" cy="164592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34" name="Shape 26"/>
          <p:cNvSpPr/>
          <p:nvPr/>
        </p:nvSpPr>
        <p:spPr>
          <a:xfrm>
            <a:off x="2482596" y="474573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35" name="Shape 27"/>
          <p:cNvSpPr/>
          <p:nvPr/>
        </p:nvSpPr>
        <p:spPr>
          <a:xfrm>
            <a:off x="2574036" y="4837176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6" name="Image 6" descr="/home/claude/icons/barchar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5758" y="4898898"/>
            <a:ext cx="150876" cy="15087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921508" y="474573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997196" y="474573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39" name="Shape 30"/>
          <p:cNvSpPr/>
          <p:nvPr/>
        </p:nvSpPr>
        <p:spPr>
          <a:xfrm>
            <a:off x="5088636" y="4837176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0" name="Image 7" descr="/home/claude/icons/pi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0358" y="4898898"/>
            <a:ext cx="150876" cy="15087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436108" y="474573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7511796" y="474573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B3550"/>
          </a:solidFill>
          <a:ln/>
        </p:spPr>
      </p:sp>
      <p:sp>
        <p:nvSpPr>
          <p:cNvPr id="43" name="Shape 33"/>
          <p:cNvSpPr/>
          <p:nvPr/>
        </p:nvSpPr>
        <p:spPr>
          <a:xfrm>
            <a:off x="7603236" y="4837176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4" name="Image 8" descr="/home/claude/icons/check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4958" y="4898898"/>
            <a:ext cx="150876" cy="150876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950708" y="474573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6003036" y="5221224"/>
            <a:ext cx="182880" cy="164592"/>
          </a:xfrm>
          <a:prstGeom prst="downArrow">
            <a:avLst/>
          </a:prstGeom>
          <a:solidFill>
            <a:srgbClr val="F2A93B"/>
          </a:solidFill>
          <a:ln/>
        </p:spPr>
      </p:sp>
      <p:sp>
        <p:nvSpPr>
          <p:cNvPr id="47" name="Shape 36"/>
          <p:cNvSpPr/>
          <p:nvPr/>
        </p:nvSpPr>
        <p:spPr>
          <a:xfrm>
            <a:off x="4539996" y="5422392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0F6E8C"/>
          </a:solidFill>
          <a:ln/>
        </p:spPr>
      </p:sp>
      <p:sp>
        <p:nvSpPr>
          <p:cNvPr id="48" name="Shape 37"/>
          <p:cNvSpPr/>
          <p:nvPr/>
        </p:nvSpPr>
        <p:spPr>
          <a:xfrm>
            <a:off x="4631436" y="5513832"/>
            <a:ext cx="274320" cy="2743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9" name="Image 9" descr="/home/claude/icons/layout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3158" y="5575554"/>
            <a:ext cx="150876" cy="150876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4978908" y="542239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</a:t>
            </a:r>
            <a:endParaRPr lang="en-US" sz="1050" dirty="0"/>
          </a:p>
        </p:txBody>
      </p:sp>
      <p:sp>
        <p:nvSpPr>
          <p:cNvPr id="51" name="Text 39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WORKING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Risk Assessment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inputs drive three live outputs on the Risk Assessment tab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2140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2247138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" y="2834640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834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" y="3511296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5112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Expertise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" y="4187952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1879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" y="4864608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8646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Level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9808" y="5541264"/>
            <a:ext cx="2980944" cy="566928"/>
          </a:xfrm>
          <a:prstGeom prst="roundRect">
            <a:avLst>
              <a:gd name="adj" fmla="val 9677"/>
            </a:avLst>
          </a:prstGeom>
          <a:solidFill>
            <a:srgbClr val="1B355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554126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60520" y="19202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FF5F8"/>
          </a:solidFill>
          <a:ln/>
        </p:spPr>
      </p:sp>
      <p:sp>
        <p:nvSpPr>
          <p:cNvPr id="21" name="Shape 18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2" name="Image 1" descr="/home/claude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21742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93776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&amp; Status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389120" y="2651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5715000" y="2788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26" name="Text 22"/>
          <p:cNvSpPr/>
          <p:nvPr/>
        </p:nvSpPr>
        <p:spPr>
          <a:xfrm>
            <a:off x="5715000" y="2788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389120" y="3273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calculate_risk() sums weighted points across all 5 inputs, capped at 100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160520" y="379476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FF5F8"/>
          </a:solidFill>
          <a:ln/>
        </p:spPr>
      </p:sp>
      <p:sp>
        <p:nvSpPr>
          <p:cNvPr id="29" name="Shape 25"/>
          <p:cNvSpPr/>
          <p:nvPr/>
        </p:nvSpPr>
        <p:spPr>
          <a:xfrm>
            <a:off x="4343400" y="3977640"/>
            <a:ext cx="457200" cy="4572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0" name="Image 2" descr="/home/claude/icons/trend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4091940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93776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Probability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4389120" y="4572000"/>
            <a:ext cx="3108960" cy="201168"/>
          </a:xfrm>
          <a:prstGeom prst="roundRect">
            <a:avLst>
              <a:gd name="adj" fmla="val 50000"/>
            </a:avLst>
          </a:prstGeom>
          <a:solidFill>
            <a:srgbClr val="DCE6EB"/>
          </a:solidFill>
          <a:ln/>
        </p:spPr>
      </p:sp>
      <p:sp>
        <p:nvSpPr>
          <p:cNvPr id="33" name="Shape 28"/>
          <p:cNvSpPr/>
          <p:nvPr/>
        </p:nvSpPr>
        <p:spPr>
          <a:xfrm>
            <a:off x="4389120" y="4572000"/>
            <a:ext cx="1088136" cy="20116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4" name="Text 29"/>
          <p:cNvSpPr/>
          <p:nvPr/>
        </p:nvSpPr>
        <p:spPr>
          <a:xfrm>
            <a:off x="4389120" y="4800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 =  100 − risk_score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160520" y="51663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FF5F8"/>
          </a:solidFill>
          <a:ln/>
        </p:spPr>
      </p:sp>
      <p:sp>
        <p:nvSpPr>
          <p:cNvPr id="36" name="Shape 31"/>
          <p:cNvSpPr/>
          <p:nvPr/>
        </p:nvSpPr>
        <p:spPr>
          <a:xfrm>
            <a:off x="4343400" y="5349240"/>
            <a:ext cx="457200" cy="4572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7" name="Image 3" descr="/home/claude/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5463540"/>
            <a:ext cx="228600" cy="2286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937760" y="5394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Score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4389120" y="5788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5715000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4 sliders: market opportunity, team, edge, resources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7955280" y="19202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SWOT (example)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7955280" y="2286000"/>
            <a:ext cx="1737360" cy="1600200"/>
          </a:xfrm>
          <a:prstGeom prst="roundRect">
            <a:avLst>
              <a:gd name="adj" fmla="val 4000"/>
            </a:avLst>
          </a:prstGeom>
          <a:solidFill>
            <a:srgbClr val="3FA76A"/>
          </a:solidFill>
          <a:ln/>
        </p:spPr>
      </p:sp>
      <p:sp>
        <p:nvSpPr>
          <p:cNvPr id="43" name="Text 37"/>
          <p:cNvSpPr/>
          <p:nvPr/>
        </p:nvSpPr>
        <p:spPr>
          <a:xfrm>
            <a:off x="809244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8092440" y="272491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technical team</a:t>
            </a:r>
            <a:endParaRPr lang="en-US" sz="87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innovation potential</a:t>
            </a:r>
            <a:endParaRPr lang="en-US" sz="870" dirty="0"/>
          </a:p>
        </p:txBody>
      </p:sp>
      <p:sp>
        <p:nvSpPr>
          <p:cNvPr id="45" name="Shape 39"/>
          <p:cNvSpPr/>
          <p:nvPr/>
        </p:nvSpPr>
        <p:spPr>
          <a:xfrm>
            <a:off x="9829800" y="2286000"/>
            <a:ext cx="1737360" cy="1600200"/>
          </a:xfrm>
          <a:prstGeom prst="roundRect">
            <a:avLst>
              <a:gd name="adj" fmla="val 4000"/>
            </a:avLst>
          </a:prstGeom>
          <a:solidFill>
            <a:srgbClr val="D9534F"/>
          </a:solidFill>
          <a:ln/>
        </p:spPr>
      </p:sp>
      <p:sp>
        <p:nvSpPr>
          <p:cNvPr id="46" name="Text 40"/>
          <p:cNvSpPr/>
          <p:nvPr/>
        </p:nvSpPr>
        <p:spPr>
          <a:xfrm>
            <a:off x="996696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9966960" y="272491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market research</a:t>
            </a:r>
            <a:endParaRPr lang="en-US" sz="87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</a:t>
            </a:r>
            <a:endParaRPr lang="en-US" sz="870" dirty="0"/>
          </a:p>
        </p:txBody>
      </p:sp>
      <p:sp>
        <p:nvSpPr>
          <p:cNvPr id="48" name="Shape 42"/>
          <p:cNvSpPr/>
          <p:nvPr/>
        </p:nvSpPr>
        <p:spPr>
          <a:xfrm>
            <a:off x="7955280" y="4023360"/>
            <a:ext cx="1737360" cy="1600200"/>
          </a:xfrm>
          <a:prstGeom prst="roundRect">
            <a:avLst>
              <a:gd name="adj" fmla="val 4000"/>
            </a:avLst>
          </a:prstGeom>
          <a:solidFill>
            <a:srgbClr val="0F6E8C"/>
          </a:solidFill>
          <a:ln/>
        </p:spPr>
      </p:sp>
      <p:sp>
        <p:nvSpPr>
          <p:cNvPr id="49" name="Text 43"/>
          <p:cNvSpPr/>
          <p:nvPr/>
        </p:nvSpPr>
        <p:spPr>
          <a:xfrm>
            <a:off x="8092440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50" name="Text 44"/>
          <p:cNvSpPr/>
          <p:nvPr/>
        </p:nvSpPr>
        <p:spPr>
          <a:xfrm>
            <a:off x="8092440" y="446227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market expansion</a:t>
            </a:r>
            <a:endParaRPr lang="en-US" sz="87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870" dirty="0"/>
          </a:p>
        </p:txBody>
      </p:sp>
      <p:sp>
        <p:nvSpPr>
          <p:cNvPr id="51" name="Shape 45"/>
          <p:cNvSpPr/>
          <p:nvPr/>
        </p:nvSpPr>
        <p:spPr>
          <a:xfrm>
            <a:off x="9829800" y="4023360"/>
            <a:ext cx="1737360" cy="1600200"/>
          </a:xfrm>
          <a:prstGeom prst="roundRect">
            <a:avLst>
              <a:gd name="adj" fmla="val 4000"/>
            </a:avLst>
          </a:prstGeom>
          <a:solidFill>
            <a:srgbClr val="F2A93B"/>
          </a:solidFill>
          <a:ln/>
        </p:spPr>
      </p:sp>
      <p:sp>
        <p:nvSpPr>
          <p:cNvPr id="52" name="Text 46"/>
          <p:cNvSpPr/>
          <p:nvPr/>
        </p:nvSpPr>
        <p:spPr>
          <a:xfrm>
            <a:off x="9966960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9966960" y="446227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competitors</a:t>
            </a:r>
            <a:endParaRPr lang="en-US" sz="87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technology changes</a:t>
            </a:r>
            <a:endParaRPr lang="en-US" sz="870" dirty="0"/>
          </a:p>
        </p:txBody>
      </p:sp>
      <p:sp>
        <p:nvSpPr>
          <p:cNvPr id="54" name="Text 48"/>
          <p:cNvSpPr/>
          <p:nvPr/>
        </p:nvSpPr>
        <p:spPr>
          <a:xfrm>
            <a:off x="7955280" y="57332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on the same 5 inputs — e.g. High team expertise → Strength; Limited resources → Weakness</a:t>
            </a:r>
            <a:endParaRPr lang="en-US" sz="850" dirty="0"/>
          </a:p>
        </p:txBody>
      </p:sp>
      <p:sp>
        <p:nvSpPr>
          <p:cNvPr id="55" name="Text 49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DATABASE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populates three analysis tables, each linked back to a Milestone 1 project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1B355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5AA9C7"/>
          </a:solidFill>
          <a:ln/>
        </p:spPr>
      </p:sp>
      <p:pic>
        <p:nvPicPr>
          <p:cNvPr id="8" name="Image 0" descr="/home/claude/icons/database_1223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23888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3225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6151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Milestone 1)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project_id →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2560320"/>
            <a:ext cx="457200" cy="27432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3520440" y="1965960"/>
            <a:ext cx="80924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14" name="Shape 11"/>
          <p:cNvSpPr/>
          <p:nvPr/>
        </p:nvSpPr>
        <p:spPr>
          <a:xfrm>
            <a:off x="3721608" y="2299716"/>
            <a:ext cx="566928" cy="566928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5" name="Image 1" descr="/home/claude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340" y="244144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214884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Risk_Assessments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434840" y="2532888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risk_id, project_id (FK), risk_category, risk_score, priority_level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520440" y="3383280"/>
            <a:ext cx="80924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19" name="Shape 15"/>
          <p:cNvSpPr/>
          <p:nvPr/>
        </p:nvSpPr>
        <p:spPr>
          <a:xfrm>
            <a:off x="3721608" y="3717036"/>
            <a:ext cx="566928" cy="566928"/>
          </a:xfrm>
          <a:prstGeom prst="ellipse">
            <a:avLst/>
          </a:prstGeom>
          <a:solidFill>
            <a:srgbClr val="5AA9C7"/>
          </a:solidFill>
          <a:ln/>
        </p:spPr>
      </p:sp>
      <p:pic>
        <p:nvPicPr>
          <p:cNvPr id="20" name="Image 2" descr="/home/claude/icons/pi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3340" y="385876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34840" y="356616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SWOT_Analysis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434840" y="3950208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swot_id, project_id (FK), strengths, weaknesses, opportunities, threats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520440" y="4800600"/>
            <a:ext cx="8092440" cy="1234440"/>
          </a:xfrm>
          <a:prstGeom prst="roundRect">
            <a:avLst>
              <a:gd name="adj" fmla="val 5926"/>
            </a:avLst>
          </a:prstGeom>
          <a:solidFill>
            <a:srgbClr val="EFF5F8"/>
          </a:solidFill>
          <a:ln/>
        </p:spPr>
      </p:sp>
      <p:sp>
        <p:nvSpPr>
          <p:cNvPr id="24" name="Shape 19"/>
          <p:cNvSpPr/>
          <p:nvPr/>
        </p:nvSpPr>
        <p:spPr>
          <a:xfrm>
            <a:off x="3721608" y="5134356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3" descr="/home/claude/icons/trend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3340" y="5276088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434840" y="4983480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Success_Predictions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434840" y="5367528"/>
            <a:ext cx="690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prediction_id, project_id (FK), success_probability, overall_risk_score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MARKET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Signals → Risk 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market conditions are quantified inside the risk scoring rubric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FF5F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8" name="Image 0" descr="/home/claud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2292858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2402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Competition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28529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FA76A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pts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321868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43400" y="35844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18" name="Text 15"/>
          <p:cNvSpPr/>
          <p:nvPr/>
        </p:nvSpPr>
        <p:spPr>
          <a:xfrm>
            <a:off x="434340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pts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72200" y="1965960"/>
            <a:ext cx="5468112" cy="1965960"/>
          </a:xfrm>
          <a:prstGeom prst="roundRect">
            <a:avLst>
              <a:gd name="adj" fmla="val 3721"/>
            </a:avLst>
          </a:prstGeom>
          <a:solidFill>
            <a:srgbClr val="EFF5F8"/>
          </a:solidFill>
          <a:ln/>
        </p:spPr>
      </p:sp>
      <p:sp>
        <p:nvSpPr>
          <p:cNvPr id="20" name="Shape 17"/>
          <p:cNvSpPr/>
          <p:nvPr/>
        </p:nvSpPr>
        <p:spPr>
          <a:xfrm>
            <a:off x="6373368" y="2167128"/>
            <a:ext cx="502920" cy="50292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1" name="Image 1" descr="/home/claude/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98" y="2292858"/>
            <a:ext cx="251460" cy="2514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40880" y="224028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Depth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4652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10085832" y="285292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3FA76A"/>
          </a:solidFill>
          <a:ln/>
        </p:spPr>
      </p:sp>
      <p:sp>
        <p:nvSpPr>
          <p:cNvPr id="25" name="Text 21"/>
          <p:cNvSpPr/>
          <p:nvPr/>
        </p:nvSpPr>
        <p:spPr>
          <a:xfrm>
            <a:off x="10085832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pts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465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10085832" y="321868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28" name="Text 24"/>
          <p:cNvSpPr/>
          <p:nvPr/>
        </p:nvSpPr>
        <p:spPr>
          <a:xfrm>
            <a:off x="10085832" y="3218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pts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4652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10085832" y="358444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</p:sp>
      <p:sp>
        <p:nvSpPr>
          <p:cNvPr id="31" name="Text 27"/>
          <p:cNvSpPr/>
          <p:nvPr/>
        </p:nvSpPr>
        <p:spPr>
          <a:xfrm>
            <a:off x="10085832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pts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Risk Contribution by Factor</a:t>
            </a:r>
            <a:endParaRPr lang="en-US" sz="12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548640" y="4526280"/>
          <a:ext cx="110642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4" name="Text 29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0F6E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CODE &amp; CLOSURE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Structure &amp; Closing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D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Milestone 2, and where the project goes next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0B1A2C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67128"/>
            <a:ext cx="128016" cy="128016"/>
          </a:xfrm>
          <a:prstGeom prst="ellipse">
            <a:avLst/>
          </a:prstGeom>
          <a:solidFill>
            <a:srgbClr val="F2545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16712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2167128"/>
            <a:ext cx="128016" cy="128016"/>
          </a:xfrm>
          <a:prstGeom prst="ellipse">
            <a:avLst/>
          </a:prstGeom>
          <a:solidFill>
            <a:srgbClr val="3FC97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84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milestone_2/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risk_engine.py             calculate_risk()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34440" y="28437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get_risk_status()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3172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calculate_success_probability()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5021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swot_analysis.py           generate_swot()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38313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feasibility.py             calculate_feasibility()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6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app.py                     Streamlit UI — selectboxes,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34440" y="44897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F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sliders, metrics, SWOT grid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5468112" cy="4160520"/>
          </a:xfrm>
          <a:prstGeom prst="roundRect">
            <a:avLst>
              <a:gd name="adj" fmla="val 1758"/>
            </a:avLst>
          </a:prstGeom>
          <a:solidFill>
            <a:srgbClr val="0F6E8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22402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/home/claude/icons/message_0F6E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411730"/>
            <a:ext cx="342900" cy="3429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0" y="2286000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7315200" y="2743200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46520" y="3246120"/>
            <a:ext cx="4919472" cy="0"/>
          </a:xfrm>
          <a:prstGeom prst="line">
            <a:avLst/>
          </a:prstGeom>
          <a:noFill/>
          <a:ln w="12700">
            <a:solidFill>
              <a:srgbClr val="3E8F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34290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46520" y="3749040"/>
            <a:ext cx="4919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scores 5 weighted factors into a single 0–100 risk score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is generated automatically from the same 5 inputs, no manual writing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score averages 4 user-rated sliders into one percentage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tab built in Streamlit — live, interactive, zero front-end code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46520" y="5349240"/>
            <a:ext cx="4919472" cy="0"/>
          </a:xfrm>
          <a:prstGeom prst="line">
            <a:avLst/>
          </a:prstGeom>
          <a:noFill/>
          <a:ln w="12700">
            <a:solidFill>
              <a:srgbClr val="3E8F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5532120"/>
            <a:ext cx="4919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565</Words>
  <Application>Microsoft Office PowerPoint</Application>
  <PresentationFormat>Custom</PresentationFormat>
  <Paragraphs>136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2026-09-08T03:56:57Z</dcterms:created>
  <dcterms:modified xsi:type="dcterms:W3CDTF">2026-09-08T14:37:12Z</dcterms:modified>
</cp:coreProperties>
</file>