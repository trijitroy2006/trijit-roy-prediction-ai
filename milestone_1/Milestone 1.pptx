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Default Extension="xlsx" ContentType="application/vnd.openxmlformats-officedocument.spreadsheetml.sheet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-474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ln w="31750" cap="flat">
              <a:solidFill>
                <a:srgbClr val="0F6E8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6E8C"/>
              </a:solidFill>
              <a:ln w="9525" cap="flat">
                <a:solidFill>
                  <a:srgbClr val="0F6E8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1.1000000000000001</c:v>
                </c:pt>
                <c:pt idx="1">
                  <c:v>1.4</c:v>
                </c:pt>
                <c:pt idx="2">
                  <c:v>1.7000000000000002</c:v>
                </c:pt>
                <c:pt idx="3">
                  <c:v>1.95</c:v>
                </c:pt>
                <c:pt idx="4">
                  <c:v>2.1</c:v>
                </c:pt>
                <c:pt idx="5">
                  <c:v>2.25</c:v>
                </c:pt>
                <c:pt idx="6">
                  <c:v>2.4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C78-1446-9E6B-F49B3D9E72C9}"/>
            </c:ext>
          </c:extLst>
        </c:ser>
        <c:dLbls/>
        <c:marker val="1"/>
        <c:axId val="165863808"/>
        <c:axId val="165865344"/>
      </c:lineChart>
      <c:catAx>
        <c:axId val="165863808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8A"/>
                </a:solidFill>
                <a:latin typeface="Arial"/>
              </a:defRPr>
            </a:pPr>
            <a:endParaRPr lang="en-US"/>
          </a:p>
        </c:txPr>
        <c:crossAx val="165865344"/>
        <c:crosses val="autoZero"/>
        <c:auto val="1"/>
        <c:lblAlgn val="ctr"/>
        <c:lblOffset val="100"/>
        <c:noMultiLvlLbl val="1"/>
      </c:catAx>
      <c:valAx>
        <c:axId val="165865344"/>
        <c:scaling>
          <c:orientation val="minMax"/>
        </c:scaling>
        <c:axPos val="l"/>
        <c:majorGridlines>
          <c:spPr>
            <a:ln w="9525" cap="flat">
              <a:solidFill>
                <a:srgbClr val="E3EAEE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8A"/>
                </a:solidFill>
                <a:latin typeface="Arial"/>
              </a:defRPr>
            </a:pPr>
            <a:endParaRPr lang="en-US"/>
          </a:p>
        </c:txPr>
        <c:crossAx val="1658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rgbClr val="0F6E8C"/>
            </a:solidFill>
            <a:effectLst/>
          </c:spPr>
          <c:dPt>
            <c:idx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0-DDBC-4A7F-B902-1793359922E5}"/>
              </c:ext>
            </c:extLst>
          </c:dPt>
          <c:dPt>
            <c:idx val="1"/>
            <c:spPr>
              <a:solidFill>
                <a:srgbClr val="5AA9C7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DDBC-4A7F-B902-1793359922E5}"/>
              </c:ext>
            </c:extLst>
          </c:dPt>
          <c:dPt>
            <c:idx val="2"/>
            <c:spPr>
              <a:solidFill>
                <a:srgbClr val="F2A93B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4-DDBC-4A7F-B902-1793359922E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7293A"/>
                    </a:solidFill>
                    <a:latin typeface="Arial"/>
                  </a:defRPr>
                </a:pPr>
                <a:endParaRPr lang="en-US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Competitor A</c:v>
                </c:pt>
                <c:pt idx="1">
                  <c:v>Competitor B</c:v>
                </c:pt>
                <c:pt idx="2">
                  <c:v>Competitor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22</c:v>
                </c:pt>
                <c:pt idx="2">
                  <c:v>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3E4-1940-81A6-0FF6365F2627}"/>
            </c:ext>
          </c:extLst>
        </c:ser>
        <c:dLbls>
          <c:showVal val="1"/>
        </c:dLbls>
        <c:gapWidth val="55"/>
        <c:axId val="166289792"/>
        <c:axId val="166291328"/>
      </c:barChart>
      <c:catAx>
        <c:axId val="166289792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8A"/>
                </a:solidFill>
                <a:latin typeface="Arial"/>
              </a:defRPr>
            </a:pPr>
            <a:endParaRPr lang="en-US"/>
          </a:p>
        </c:txPr>
        <c:crossAx val="166291328"/>
        <c:crosses val="autoZero"/>
        <c:auto val="1"/>
        <c:lblAlgn val="ctr"/>
        <c:lblOffset val="100"/>
        <c:noMultiLvlLbl val="1"/>
      </c:catAx>
      <c:valAx>
        <c:axId val="166291328"/>
        <c:scaling>
          <c:orientation val="minMax"/>
        </c:scaling>
        <c:delete val="1"/>
        <c:axPos val="l"/>
        <c:numFmt formatCode="General" sourceLinked="0"/>
        <c:tickLblPos val="none"/>
        <c:crossAx val="166289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B61E0-D29C-3246-896E-A028B2E69A40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0B416-1F31-4E4A-AABF-34E30F71CD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56149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F6E8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5AA9C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5" name="Image 0" descr="/home/claude/icons/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880110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528" y="19202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AI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&amp; Project Risk Analyzer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22960" y="3291840"/>
            <a:ext cx="3291840" cy="0"/>
          </a:xfrm>
          <a:prstGeom prst="line">
            <a:avLst/>
          </a:prstGeom>
          <a:noFill/>
          <a:ln w="19050">
            <a:solidFill>
              <a:srgbClr val="5AA9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decision-support platform that analyses startup ideas, business proposals, and college projects to predict potential failure risks and recommend mitigation strategies — using LLMs, market intelligence, and agentic AI workflows.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461772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B3550"/>
          </a:solidFill>
          <a:ln/>
        </p:spPr>
      </p:sp>
      <p:sp>
        <p:nvSpPr>
          <p:cNvPr id="12" name="Shape 9"/>
          <p:cNvSpPr/>
          <p:nvPr/>
        </p:nvSpPr>
        <p:spPr>
          <a:xfrm>
            <a:off x="1024128" y="4818888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3" name="Image 1" descr="/home/claude/icons/targ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285" y="4932045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53675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risk scoring &amp;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probability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11880" y="461772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B3550"/>
          </a:solidFill>
          <a:ln/>
        </p:spPr>
      </p:sp>
      <p:sp>
        <p:nvSpPr>
          <p:cNvPr id="16" name="Shape 12"/>
          <p:cNvSpPr/>
          <p:nvPr/>
        </p:nvSpPr>
        <p:spPr>
          <a:xfrm>
            <a:off x="3813048" y="4818888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7" name="Image 2" descr="/home/claude/icons/pi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6205" y="4932045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94760" y="53675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&amp; market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analysis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0" y="461772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B3550"/>
          </a:solidFill>
          <a:ln/>
        </p:spPr>
      </p:sp>
      <p:sp>
        <p:nvSpPr>
          <p:cNvPr id="20" name="Shape 15"/>
          <p:cNvSpPr/>
          <p:nvPr/>
        </p:nvSpPr>
        <p:spPr>
          <a:xfrm>
            <a:off x="6601968" y="4818888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1" name="Image 3" descr="/home/claude/icons/cpu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4932045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83680" y="53675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mitigation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189720" y="461772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B3550"/>
          </a:solidFill>
          <a:ln/>
        </p:spPr>
      </p:sp>
      <p:sp>
        <p:nvSpPr>
          <p:cNvPr id="24" name="Shape 18"/>
          <p:cNvSpPr/>
          <p:nvPr/>
        </p:nvSpPr>
        <p:spPr>
          <a:xfrm>
            <a:off x="9390888" y="4818888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5" name="Image 4" descr="/home/claude/icons/layou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4045" y="4932045"/>
            <a:ext cx="276606" cy="27660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372600" y="53675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risk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application layer paired with an LLM-driven intelligence layer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STACK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EFF5F8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2514600"/>
            <a:ext cx="566928" cy="566928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9" name="Image 0" descr="/home/claude/icons/cod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612" y="2656332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17296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58368" y="346557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framework &amp; routing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834640" y="2331720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EFF5F8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2514600"/>
            <a:ext cx="566928" cy="566928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4" name="Image 1" descr="/home/claude/icons/layou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3612" y="2656332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26080" y="317296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 Templates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944368" y="346557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HTML views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120640" y="2331720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EFF5F8"/>
          </a:solidFill>
          <a:ln/>
        </p:spPr>
      </p:sp>
      <p:sp>
        <p:nvSpPr>
          <p:cNvPr id="18" name="Shape 14"/>
          <p:cNvSpPr/>
          <p:nvPr/>
        </p:nvSpPr>
        <p:spPr>
          <a:xfrm>
            <a:off x="5897880" y="2514600"/>
            <a:ext cx="566928" cy="566928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9" name="Image 2" descr="/home/claude/icons/serv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9612" y="2656332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2080" y="317296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230368" y="346557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driver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406640" y="2331720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EFF5F8"/>
          </a:solidFill>
          <a:ln/>
        </p:spPr>
      </p:sp>
      <p:sp>
        <p:nvSpPr>
          <p:cNvPr id="23" name="Shape 18"/>
          <p:cNvSpPr/>
          <p:nvPr/>
        </p:nvSpPr>
        <p:spPr>
          <a:xfrm>
            <a:off x="8183880" y="2514600"/>
            <a:ext cx="566928" cy="566928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4" name="Image 3" descr="/home/claude/icons/barch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5612" y="2656332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98080" y="317296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516368" y="346557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&amp; shaping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9692640" y="2331720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EFF5F8"/>
          </a:solidFill>
          <a:ln/>
        </p:spPr>
      </p:sp>
      <p:sp>
        <p:nvSpPr>
          <p:cNvPr id="28" name="Shape 22"/>
          <p:cNvSpPr/>
          <p:nvPr/>
        </p:nvSpPr>
        <p:spPr>
          <a:xfrm>
            <a:off x="10469880" y="2514600"/>
            <a:ext cx="566928" cy="566928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9" name="Image 4" descr="/home/claude/icons/databas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1612" y="2656332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784080" y="317296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9802368" y="346557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store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54864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48640" y="46177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2233A"/>
          </a:solidFill>
          <a:ln/>
        </p:spPr>
      </p:sp>
      <p:sp>
        <p:nvSpPr>
          <p:cNvPr id="34" name="Shape 27"/>
          <p:cNvSpPr/>
          <p:nvPr/>
        </p:nvSpPr>
        <p:spPr>
          <a:xfrm>
            <a:off x="777240" y="4873752"/>
            <a:ext cx="566928" cy="566928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35" name="Image 5" descr="/home/claude/icons/cpu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799" y="5001311"/>
            <a:ext cx="311810" cy="31181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508760" y="481888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OpenAI LLM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1508760" y="51663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strategic recommendations, SWOT narratives, and risk explanations from structured project data.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217920" y="46177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2233A"/>
          </a:solidFill>
          <a:ln/>
        </p:spPr>
      </p:sp>
      <p:sp>
        <p:nvSpPr>
          <p:cNvPr id="39" name="Shape 31"/>
          <p:cNvSpPr/>
          <p:nvPr/>
        </p:nvSpPr>
        <p:spPr>
          <a:xfrm>
            <a:off x="6446520" y="4873752"/>
            <a:ext cx="566928" cy="566928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40" name="Image 6" descr="/home/claude/icons/share2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4079" y="5001311"/>
            <a:ext cx="311810" cy="31181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178040" y="481888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 Framework</a:t>
            </a:r>
            <a:endParaRPr lang="en-US" sz="1350" dirty="0"/>
          </a:p>
        </p:txBody>
      </p:sp>
      <p:sp>
        <p:nvSpPr>
          <p:cNvPr id="42" name="Text 33"/>
          <p:cNvSpPr/>
          <p:nvPr/>
        </p:nvSpPr>
        <p:spPr>
          <a:xfrm>
            <a:off x="7178040" y="51663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multi-step agentic workflow — data ingestion, risk analysis, strategic reasoning, and validation.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SYSTEM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System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submitted idea to an AI-generated risk report, in six stages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755648" cy="3246120"/>
          </a:xfrm>
          <a:prstGeom prst="roundRect">
            <a:avLst>
              <a:gd name="adj" fmla="val 4688"/>
            </a:avLst>
          </a:prstGeom>
          <a:solidFill>
            <a:srgbClr val="1B3550"/>
          </a:solidFill>
          <a:ln/>
        </p:spPr>
      </p:sp>
      <p:sp>
        <p:nvSpPr>
          <p:cNvPr id="7" name="Text 5"/>
          <p:cNvSpPr/>
          <p:nvPr/>
        </p:nvSpPr>
        <p:spPr>
          <a:xfrm>
            <a:off x="1892808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06424" y="2423160"/>
            <a:ext cx="640080" cy="64008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9" name="Image 0" descr="/home/claude/icons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" y="25831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2004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 Project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76656" y="3840480"/>
            <a:ext cx="1499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details, budget, target market captured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13432" y="3611880"/>
            <a:ext cx="155448" cy="256032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3" name="Shape 10"/>
          <p:cNvSpPr/>
          <p:nvPr/>
        </p:nvSpPr>
        <p:spPr>
          <a:xfrm>
            <a:off x="2468880" y="2148840"/>
            <a:ext cx="1755648" cy="3246120"/>
          </a:xfrm>
          <a:prstGeom prst="roundRect">
            <a:avLst>
              <a:gd name="adj" fmla="val 4688"/>
            </a:avLst>
          </a:prstGeom>
          <a:solidFill>
            <a:srgbClr val="1B3550"/>
          </a:solidFill>
          <a:ln/>
        </p:spPr>
      </p:sp>
      <p:sp>
        <p:nvSpPr>
          <p:cNvPr id="14" name="Text 11"/>
          <p:cNvSpPr/>
          <p:nvPr/>
        </p:nvSpPr>
        <p:spPr>
          <a:xfrm>
            <a:off x="3813048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026664" y="2423160"/>
            <a:ext cx="640080" cy="64008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6" name="Image 1" descr="/home/claude/icons/trend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684" y="258318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60320" y="32004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Intel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596896" y="3840480"/>
            <a:ext cx="1499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TAM/SAM/SOM and competitor landscape generated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233672" y="3611880"/>
            <a:ext cx="155448" cy="256032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20" name="Shape 16"/>
          <p:cNvSpPr/>
          <p:nvPr/>
        </p:nvSpPr>
        <p:spPr>
          <a:xfrm>
            <a:off x="4389120" y="2148840"/>
            <a:ext cx="1755648" cy="3246120"/>
          </a:xfrm>
          <a:prstGeom prst="roundRect">
            <a:avLst>
              <a:gd name="adj" fmla="val 4688"/>
            </a:avLst>
          </a:prstGeom>
          <a:solidFill>
            <a:srgbClr val="1B3550"/>
          </a:solidFill>
          <a:ln/>
        </p:spPr>
      </p:sp>
      <p:sp>
        <p:nvSpPr>
          <p:cNvPr id="21" name="Text 17"/>
          <p:cNvSpPr/>
          <p:nvPr/>
        </p:nvSpPr>
        <p:spPr>
          <a:xfrm>
            <a:off x="5733288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946904" y="2423160"/>
            <a:ext cx="640080" cy="64008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3" name="Image 2" descr="/home/claude/icons/shiel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6924" y="258318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480560" y="32004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17136" y="3840480"/>
            <a:ext cx="1499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Financial, market, technical, operational &amp; execution risk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153912" y="3611880"/>
            <a:ext cx="155448" cy="256032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27" name="Shape 22"/>
          <p:cNvSpPr/>
          <p:nvPr/>
        </p:nvSpPr>
        <p:spPr>
          <a:xfrm>
            <a:off x="6309360" y="2148840"/>
            <a:ext cx="1755648" cy="3246120"/>
          </a:xfrm>
          <a:prstGeom prst="roundRect">
            <a:avLst>
              <a:gd name="adj" fmla="val 4688"/>
            </a:avLst>
          </a:prstGeom>
          <a:solidFill>
            <a:srgbClr val="1B3550"/>
          </a:solidFill>
          <a:ln/>
        </p:spPr>
      </p:sp>
      <p:sp>
        <p:nvSpPr>
          <p:cNvPr id="28" name="Text 23"/>
          <p:cNvSpPr/>
          <p:nvPr/>
        </p:nvSpPr>
        <p:spPr>
          <a:xfrm>
            <a:off x="7653528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867144" y="2423160"/>
            <a:ext cx="640080" cy="64008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30" name="Image 3" descr="/home/claude/icons/pi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7164" y="258318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400800" y="32004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&amp;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Probability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6437376" y="3840480"/>
            <a:ext cx="1499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weaknesses, opportunities, threats scored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8074152" y="3611880"/>
            <a:ext cx="155448" cy="256032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34" name="Shape 28"/>
          <p:cNvSpPr/>
          <p:nvPr/>
        </p:nvSpPr>
        <p:spPr>
          <a:xfrm>
            <a:off x="8229600" y="2148840"/>
            <a:ext cx="1755648" cy="3246120"/>
          </a:xfrm>
          <a:prstGeom prst="roundRect">
            <a:avLst>
              <a:gd name="adj" fmla="val 4688"/>
            </a:avLst>
          </a:prstGeom>
          <a:solidFill>
            <a:srgbClr val="1B3550"/>
          </a:solidFill>
          <a:ln/>
        </p:spPr>
      </p:sp>
      <p:sp>
        <p:nvSpPr>
          <p:cNvPr id="35" name="Text 29"/>
          <p:cNvSpPr/>
          <p:nvPr/>
        </p:nvSpPr>
        <p:spPr>
          <a:xfrm>
            <a:off x="9573768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8787384" y="2423160"/>
            <a:ext cx="640080" cy="64008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37" name="Image 4" descr="/home/claude/icons/cpu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7404" y="2583180"/>
            <a:ext cx="320040" cy="3200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321040" y="32004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Strategic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8357616" y="3840480"/>
            <a:ext cx="1499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mitigation &amp; improvement strategies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9994392" y="3611880"/>
            <a:ext cx="155448" cy="256032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41" name="Shape 34"/>
          <p:cNvSpPr/>
          <p:nvPr/>
        </p:nvSpPr>
        <p:spPr>
          <a:xfrm>
            <a:off x="10149840" y="2148840"/>
            <a:ext cx="1755648" cy="3246120"/>
          </a:xfrm>
          <a:prstGeom prst="roundRect">
            <a:avLst>
              <a:gd name="adj" fmla="val 4688"/>
            </a:avLst>
          </a:prstGeom>
          <a:solidFill>
            <a:srgbClr val="1B3550"/>
          </a:solidFill>
          <a:ln/>
        </p:spPr>
      </p:sp>
      <p:sp>
        <p:nvSpPr>
          <p:cNvPr id="42" name="Text 35"/>
          <p:cNvSpPr/>
          <p:nvPr/>
        </p:nvSpPr>
        <p:spPr>
          <a:xfrm>
            <a:off x="11494008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10707624" y="2423160"/>
            <a:ext cx="640080" cy="64008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44" name="Image 5" descr="/home/claude/icons/layou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7644" y="2583180"/>
            <a:ext cx="320040" cy="32004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0241280" y="32004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50" dirty="0"/>
          </a:p>
        </p:txBody>
      </p:sp>
      <p:sp>
        <p:nvSpPr>
          <p:cNvPr id="46" name="Text 38"/>
          <p:cNvSpPr/>
          <p:nvPr/>
        </p:nvSpPr>
        <p:spPr>
          <a:xfrm>
            <a:off x="10277856" y="3840480"/>
            <a:ext cx="1499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 and exportable assessment reports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WORKING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Platform 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connected tabs take a user from raw idea to a full risk report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EFF5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148840"/>
            <a:ext cx="594360" cy="5943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8" name="Image 0" descr="/home/claude/icons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297430"/>
            <a:ext cx="297180" cy="2971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17627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Project Input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08760" y="263347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submits startup/project name, industry, business model, target market, budget and description — the raw material for every analysis that follows.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0" y="19202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EFF5F8"/>
          </a:solidFill>
          <a:ln/>
        </p:spPr>
      </p:sp>
      <p:sp>
        <p:nvSpPr>
          <p:cNvPr id="12" name="Shape 9"/>
          <p:cNvSpPr/>
          <p:nvPr/>
        </p:nvSpPr>
        <p:spPr>
          <a:xfrm>
            <a:off x="6446520" y="2148840"/>
            <a:ext cx="594360" cy="5943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3" name="Image 1" descr="/home/claude/icons/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10" y="229743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17627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Risk Assessment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178040" y="263347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scores overall risk and success probability, then breaks the idea down into a full SWOT — strengths, weaknesses, opportunities and threats.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EFF5F8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206240"/>
            <a:ext cx="594360" cy="5943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8" name="Image 2" descr="/home/claude/icons/cpu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35483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23367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Recommendations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508760" y="469087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Gemini/OpenAI, orchestrated through LangGraph agents, turns identified risks into prioritized mitigation strategies and an execution roadmap.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217920" y="39776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EFF5F8"/>
          </a:solidFill>
          <a:ln/>
        </p:spPr>
      </p:sp>
      <p:sp>
        <p:nvSpPr>
          <p:cNvPr id="22" name="Shape 17"/>
          <p:cNvSpPr/>
          <p:nvPr/>
        </p:nvSpPr>
        <p:spPr>
          <a:xfrm>
            <a:off x="6446520" y="4206240"/>
            <a:ext cx="594360" cy="5943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3" name="Image 3" descr="/home/claude/icons/layou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110" y="435483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78040" y="423367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Dashboard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178040" y="469087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analytics, key findings, and strategic insights come together in one exportable, shareable assessment report.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"/>
          <p:cNvSpPr/>
          <p:nvPr/>
        </p:nvSpPr>
        <p:spPr>
          <a:xfrm>
            <a:off x="5878286" y="1999782"/>
            <a:ext cx="4702629" cy="4160520"/>
          </a:xfrm>
          <a:prstGeom prst="roundRect">
            <a:avLst>
              <a:gd name="adj" fmla="val 2025"/>
            </a:avLst>
          </a:prstGeom>
          <a:solidFill>
            <a:srgbClr val="12233A"/>
          </a:solidFill>
          <a:ln/>
        </p:spPr>
      </p:sp>
      <p:sp>
        <p:nvSpPr>
          <p:cNvPr id="2" name="Shape 0"/>
          <p:cNvSpPr/>
          <p:nvPr/>
        </p:nvSpPr>
        <p:spPr>
          <a:xfrm>
            <a:off x="548640" y="384048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DATABASE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Structure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 organised into three functional groups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702629" cy="4160520"/>
          </a:xfrm>
          <a:prstGeom prst="roundRect">
            <a:avLst>
              <a:gd name="adj" fmla="val 2025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8" name="Image 0" descr="/home/claude/icons/database_1223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" y="2269998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22219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" y="2727198"/>
            <a:ext cx="3209544" cy="1518232"/>
          </a:xfrm>
          <a:prstGeom prst="roundRect">
            <a:avLst>
              <a:gd name="adj" fmla="val 7692"/>
            </a:avLst>
          </a:prstGeom>
          <a:solidFill>
            <a:srgbClr val="1B3550"/>
          </a:solidFill>
          <a:ln/>
        </p:spPr>
      </p:sp>
      <p:sp>
        <p:nvSpPr>
          <p:cNvPr id="14" name="Text 11"/>
          <p:cNvSpPr/>
          <p:nvPr/>
        </p:nvSpPr>
        <p:spPr>
          <a:xfrm>
            <a:off x="936933" y="2768509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78408" y="3484025"/>
            <a:ext cx="2971800" cy="866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project_id, project_name, budget, </a:t>
            </a:r>
            <a:r>
              <a:rPr lang="en-US" sz="1600" dirty="0" err="1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target_marke</a:t>
            </a:r>
            <a:endParaRPr lang="en-US" sz="1600" dirty="0">
              <a:solidFill>
                <a:srgbClr val="9FB8C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4626864" y="543153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8375904" y="48646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Box 46"/>
          <p:cNvSpPr txBox="1"/>
          <p:nvPr/>
        </p:nvSpPr>
        <p:spPr>
          <a:xfrm>
            <a:off x="5878287" y="1965960"/>
            <a:ext cx="514676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CREATE TABLE IF NOT EXISTS projects (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    id SERIAL PRIMARY KEY,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    startup_name VARCHAR(150) NOT NULL,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    industry VARCHAR(100) NOT NULL,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    business_model VARCHAR(100) NOT NULL,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    target_market VARCHAR(150),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    budget NUMERIC(15,2),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    project_description TEXT,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    created_at TIMESTAMP DEFAULT CURRENT_TIMESTAMP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MARKET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 and competitor benchmarking, generated per submission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FF5F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73152" cy="1234440"/>
          </a:xfrm>
          <a:prstGeom prst="roundRect">
            <a:avLst/>
          </a:prstGeom>
          <a:solidFill>
            <a:srgbClr val="0F6E8C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075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2350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$2.4B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04872" y="196596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F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2404872" y="1965960"/>
            <a:ext cx="73152" cy="1234440"/>
          </a:xfrm>
          <a:prstGeom prst="roundRect">
            <a:avLst/>
          </a:prstGeom>
          <a:solidFill>
            <a:srgbClr val="5AA9C7"/>
          </a:solidFill>
          <a:ln/>
        </p:spPr>
      </p:sp>
      <p:sp>
        <p:nvSpPr>
          <p:cNvPr id="12" name="Text 10"/>
          <p:cNvSpPr/>
          <p:nvPr/>
        </p:nvSpPr>
        <p:spPr>
          <a:xfrm>
            <a:off x="2569464" y="2075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9464" y="2350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$850M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261104" y="196596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F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261104" y="1965960"/>
            <a:ext cx="73152" cy="1234440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425696" y="2075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25696" y="2350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LANDSCAPE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9456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08960" y="3794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4572000" cy="502920"/>
          </a:xfrm>
          <a:prstGeom prst="rect">
            <a:avLst/>
          </a:prstGeom>
          <a:solidFill>
            <a:srgbClr val="EFF5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114800"/>
            <a:ext cx="54864" cy="50292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114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94560" y="4114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108960" y="41148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0" y="4114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690872"/>
            <a:ext cx="4572000" cy="502920"/>
          </a:xfrm>
          <a:prstGeom prst="rect">
            <a:avLst/>
          </a:prstGeom>
          <a:solidFill>
            <a:srgbClr val="EFF5F8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690872"/>
            <a:ext cx="54864" cy="502920"/>
          </a:xfrm>
          <a:prstGeom prst="rect">
            <a:avLst/>
          </a:prstGeom>
          <a:solidFill>
            <a:srgbClr val="5AA9C7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6908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B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94560" y="46908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108960" y="46908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14800" y="46908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266944"/>
            <a:ext cx="4572000" cy="502920"/>
          </a:xfrm>
          <a:prstGeom prst="rect">
            <a:avLst/>
          </a:prstGeom>
          <a:solidFill>
            <a:srgbClr val="EFF5F8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5266944"/>
            <a:ext cx="54864" cy="5029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52669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194560" y="526694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108960" y="526694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114800" y="526694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577840" y="19659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Trend, 2020–2026</a:t>
            </a:r>
            <a:endParaRPr lang="en-US" sz="1100" dirty="0"/>
          </a:p>
        </p:txBody>
      </p:sp>
      <p:graphicFrame>
        <p:nvGraphicFramePr>
          <p:cNvPr id="42" name="Chart 0"/>
          <p:cNvGraphicFramePr/>
          <p:nvPr/>
        </p:nvGraphicFramePr>
        <p:xfrm>
          <a:off x="5577840" y="2286000"/>
          <a:ext cx="60350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3" name="Chart 1"/>
          <p:cNvGraphicFramePr/>
          <p:nvPr/>
        </p:nvGraphicFramePr>
        <p:xfrm>
          <a:off x="5577840" y="4434840"/>
          <a:ext cx="60350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5" name="Text 4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CODE &amp; CLOSURE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&amp; Closing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in the codebase, and where the project goes next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0B1A2C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67128"/>
            <a:ext cx="128016" cy="128016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216712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2167128"/>
            <a:ext cx="128016" cy="128016"/>
          </a:xfrm>
          <a:prstGeom prst="ellipse">
            <a:avLst/>
          </a:prstGeom>
          <a:solidFill>
            <a:srgbClr val="3FC97A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0848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ML_Market_Intelligence_Project/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514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app.py                     Flask entry point &amp; routes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8620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database.py                PostgreSQL connection config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2095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database.sql               Schema definitions (DDL)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5570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market_analysis.py         TAM/SAM/SOM &amp; competitor logic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9044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requirements.txt           Flask, psycopg2-binary, Pandas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42519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templates/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45994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base.html  dashboard.html  project.html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4946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static/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52943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css/style.css   js/dashboard.js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965960"/>
            <a:ext cx="5468112" cy="4160520"/>
          </a:xfrm>
          <a:prstGeom prst="roundRect">
            <a:avLst>
              <a:gd name="adj" fmla="val 1758"/>
            </a:avLst>
          </a:prstGeom>
          <a:solidFill>
            <a:srgbClr val="0F6E8C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22402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0" descr="/home/claude/icons/message_0F6E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0" y="2411730"/>
            <a:ext cx="342900" cy="3429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315200" y="2286000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7315200" y="2743200"/>
            <a:ext cx="4096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3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46520" y="3246120"/>
            <a:ext cx="4919472" cy="0"/>
          </a:xfrm>
          <a:prstGeom prst="line">
            <a:avLst/>
          </a:prstGeom>
          <a:noFill/>
          <a:ln w="12700">
            <a:solidFill>
              <a:srgbClr val="3E8F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46520" y="34290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46520" y="3749040"/>
            <a:ext cx="4919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platform: Flask + PostgreSQL, with an LLM/LangGraph intelligence layer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idea submission to AI-generated risk report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schema supporting risk, SWOT, and market analysis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sizing and competitor benchmarking per submission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46520" y="5212080"/>
            <a:ext cx="4919472" cy="0"/>
          </a:xfrm>
          <a:prstGeom prst="line">
            <a:avLst/>
          </a:prstGeom>
          <a:noFill/>
          <a:ln w="12700">
            <a:solidFill>
              <a:srgbClr val="3E8F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46520" y="5394960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3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Deployment, testing, and rollout to pilot users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586</Words>
  <Application>Microsoft Office PowerPoint</Application>
  <PresentationFormat>Custom</PresentationFormat>
  <Paragraphs>148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7</cp:revision>
  <dcterms:created xsi:type="dcterms:W3CDTF">2026-09-01T11:18:02Z</dcterms:created>
  <dcterms:modified xsi:type="dcterms:W3CDTF">2026-10-06T03:44:31Z</dcterms:modified>
</cp:coreProperties>
</file>