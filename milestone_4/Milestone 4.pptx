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Default Extension="png" ContentType="image/png"/>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notesSlides/notesSlide6.xml" ContentType="application/vnd.openxmlformats-officedocument.presentationml.notesSlide+xml"/>
  <Override PartName="/ppt/notesSlides/notesSlide7.xml" ContentType="application/vnd.openxmlformats-officedocument.presentationml.notesSlide+xml"/>
  <Override PartName="/ppt/slides/slide7.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3" d="100"/>
          <a:sy n="113" d="100"/>
        </p:scale>
        <p:origin x="-474" y="-11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and Milestone 4 (weeks 7-8): the risk analytics dashboard, comprehensive assessment reports, then testing, optimization and deployment. The four tiles preview the dashboard: overall risk, success probability, market risk and tech risk for a sample project. Evaluation targets: dashboard fully operational, reports within 5 seconds, user satisfaction of 85% or higher.</a:t>
            </a:r>
          </a:p>
        </p:txBody>
      </p:sp>
      <p:sp>
        <p:nvSpPr>
          <p:cNvPr id="4" name="Slide Number Placeholder 3"/>
          <p:cNvSpPr>
            <a:spLocks noGrp="1"/>
          </p:cNvSpPr>
          <p:nvPr>
            <p:ph type="sldNum" sz="quarter" idx="10"/>
          </p:nvPr>
        </p:nvSpPr>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for the modular backend, Streamlit for the dashboard tabs, Gemini for strategic reasoning, LangGraph for the agent workflow, and SQLite as the local database. Testing and deployment of the final app are the focus of this milestone.</a:t>
            </a:r>
          </a:p>
        </p:txBody>
      </p:sp>
      <p:sp>
        <p:nvSpPr>
          <p:cNvPr id="4" name="Slide Number Placeholder 3"/>
          <p:cNvSpPr>
            <a:spLocks noGrp="1"/>
          </p:cNvSpPr>
          <p:nvPr>
            <p:ph type="sldNum" sz="quarter" idx="10"/>
          </p:nvPr>
        </p:nvSpPr>
        <p:spPr/>
        <p:txBody>
          <a:bodyPr/>
          <a:lstStyle/>
          <a:p>
            <a:fld id="{F7021451-1387-4CA6-816F-3879F97B5CBC}" type="slidenum">
              <a:rPr lang="en-US"/>
              <a:pPr/>
              <a:t>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Input, project analysis, risk analysis and the LangGraph recommendation and mitigation steps were built in Milestones 1-3. The final response is saved to SQLite. Milestone 4 adds the last step: the risk analytics dashboard and the exportable assessment report, both reading the same saved data.</a:t>
            </a:r>
          </a:p>
        </p:txBody>
      </p:sp>
      <p:sp>
        <p:nvSpPr>
          <p:cNvPr id="4" name="Slide Number Placeholder 3"/>
          <p:cNvSpPr>
            <a:spLocks noGrp="1"/>
          </p:cNvSpPr>
          <p:nvPr>
            <p:ph type="sldNum" sz="quarter" idx="10"/>
          </p:nvPr>
        </p:nvSpPr>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for Milestone 4 only. 1) Risk analytics: overall risk 54%, success probability 46%, market risk 40%, tech risk 30%, with the 6-month risk trend. 2) Assessment report: key findings (15+ competitors, 8 months of runway), risk assessment and four recommendations; use Export or Share. 3) Strategic insights: funding strategy (critical impact), technical advantage (medium impact) and the recommended next steps.</a:t>
            </a:r>
          </a:p>
        </p:txBody>
      </p:sp>
      <p:sp>
        <p:nvSpPr>
          <p:cNvPr id="4" name="Slide Number Placeholder 3"/>
          <p:cNvSpPr>
            <a:spLocks noGrp="1"/>
          </p:cNvSpPr>
          <p:nvPr>
            <p:ph type="sldNum" sz="quarter" idx="10"/>
          </p:nvPr>
        </p:nvSpPr>
        <p:spPr/>
        <p:txBody>
          <a:bodyPr/>
          <a:lstStyle/>
          <a:p>
            <a:fld id="{F7021451-1387-4CA6-816F-3879F97B5CBC}" type="slidenum">
              <a:rPr lang="en-US"/>
              <a:pPr/>
              <a:t>4</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Milestone 4 reads from a small set of tables. Projects holds the project details. Success_Predictions feeds the Overall Risk and Success Probability tiles, Risk_Assessments feeds the Market Risk and Tech Risk tiles, Recommendations feeds the recommendations in the assessment report, Assessment_Reports stores the generated report used by Export and Share, and Analytics_Logs tracks activity during testing. The result tables link back to a project through project_id, and Analytics_Logs links through user_id. This follows the database schema in the project brief; adjust the names if your SQLite tables differ.</a:t>
            </a:r>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flows from SQLite through database.py into app.py, which renders the Streamlit dashboard. The four numbered comments in the code match the four boxes on the right: load the saved results, show the four risk tiles (success probability is 100 minus overall risk), list the recommendations in the assessment report, and export the report. This is a simplified example; replace it with the real code from the project if it differs.</a:t>
            </a:r>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Milestone 4 delivers the risk analytics dashboard, the assessment report with Export and Share, and strategic insights. The app is tested, optimized and prepared for deployment. Evaluation targets are a fully operational dashboard, reports in under 5 seconds and user satisfaction of 85% or higher. Thank the audience and open for questions.</a:t>
            </a:r>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8.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33"/>
        </a:solidFill>
        <a:effectLst/>
      </p:bgPr>
    </p:bg>
    <p:spTree>
      <p:nvGrpSpPr>
        <p:cNvPr id="1" name=""/>
        <p:cNvGrpSpPr/>
        <p:nvPr/>
      </p:nvGrpSpPr>
      <p:grpSpPr>
        <a:xfrm>
          <a:off x="0" y="0"/>
          <a:ext cx="0" cy="0"/>
          <a:chOff x="0" y="0"/>
          <a:chExt cx="0" cy="0"/>
        </a:xfrm>
      </p:grpSpPr>
      <p:sp>
        <p:nvSpPr>
          <p:cNvPr id="4" name="Text 2"/>
          <p:cNvSpPr txBox="1"/>
          <p:nvPr/>
        </p:nvSpPr>
        <p:spPr>
          <a:xfrm>
            <a:off x="640080" y="914400"/>
            <a:ext cx="5760720" cy="274320"/>
          </a:xfrm>
          <a:prstGeom prst="rect">
            <a:avLst/>
          </a:prstGeom>
          <a:noFill/>
          <a:ln/>
        </p:spPr>
        <p:txBody>
          <a:bodyPr wrap="square" lIns="0" tIns="0" rIns="0" bIns="0" rtlCol="0" anchor="ctr"/>
          <a:lstStyle/>
          <a:p>
            <a:pPr marL="0" indent="0">
              <a:buNone/>
            </a:pPr>
            <a:r>
              <a:rPr lang="en-US" sz="1300" b="1" kern="0" spc="200" dirty="0">
                <a:solidFill>
                  <a:srgbClr val="E59200"/>
                </a:solidFill>
                <a:latin typeface="Calibri" pitchFamily="34" charset="0"/>
                <a:ea typeface="Calibri" pitchFamily="34" charset="-122"/>
                <a:cs typeface="Calibri" pitchFamily="34" charset="-120"/>
              </a:rPr>
              <a:t>INTRODUCTION  |  MILESTONE </a:t>
            </a:r>
            <a:r>
              <a:rPr lang="en-US" sz="1300" b="1" kern="0" spc="200">
                <a:solidFill>
                  <a:srgbClr val="E59200"/>
                </a:solidFill>
                <a:latin typeface="Calibri" pitchFamily="34" charset="0"/>
                <a:ea typeface="Calibri" pitchFamily="34" charset="-122"/>
                <a:cs typeface="Calibri" pitchFamily="34" charset="-120"/>
              </a:rPr>
              <a:t>4  </a:t>
            </a:r>
            <a:r>
              <a:rPr lang="en-US" sz="1300" b="1" kern="0" spc="200" smtClean="0">
                <a:solidFill>
                  <a:srgbClr val="E59200"/>
                </a:solidFill>
                <a:latin typeface="Calibri" pitchFamily="34" charset="0"/>
                <a:ea typeface="Calibri" pitchFamily="34" charset="-122"/>
                <a:cs typeface="Calibri" pitchFamily="34" charset="-120"/>
              </a:rPr>
              <a:t>|</a:t>
            </a:r>
            <a:endParaRPr lang="en-US" sz="1300" dirty="0"/>
          </a:p>
        </p:txBody>
      </p:sp>
      <p:sp>
        <p:nvSpPr>
          <p:cNvPr id="5" name="Text 3"/>
          <p:cNvSpPr txBox="1"/>
          <p:nvPr/>
        </p:nvSpPr>
        <p:spPr>
          <a:xfrm>
            <a:off x="640080" y="1371600"/>
            <a:ext cx="5760720" cy="91440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Prediction AI</a:t>
            </a:r>
            <a:endParaRPr lang="en-US" sz="4800" dirty="0"/>
          </a:p>
        </p:txBody>
      </p:sp>
      <p:sp>
        <p:nvSpPr>
          <p:cNvPr id="6" name="Text 4"/>
          <p:cNvSpPr txBox="1"/>
          <p:nvPr/>
        </p:nvSpPr>
        <p:spPr>
          <a:xfrm>
            <a:off x="640080" y="2377440"/>
            <a:ext cx="5760720" cy="548640"/>
          </a:xfrm>
          <a:prstGeom prst="rect">
            <a:avLst/>
          </a:prstGeom>
          <a:noFill/>
          <a:ln/>
        </p:spPr>
        <p:txBody>
          <a:bodyPr wrap="square" lIns="0" tIns="0" rIns="0" bIns="0" rtlCol="0" anchor="ctr"/>
          <a:lstStyle/>
          <a:p>
            <a:pPr marL="0" indent="0">
              <a:buNone/>
            </a:pPr>
            <a:r>
              <a:rPr lang="en-US" sz="2600" dirty="0">
                <a:solidFill>
                  <a:srgbClr val="CADCFC"/>
                </a:solidFill>
                <a:latin typeface="Cambria" pitchFamily="34" charset="0"/>
                <a:ea typeface="Cambria" pitchFamily="34" charset="-122"/>
                <a:cs typeface="Cambria" pitchFamily="34" charset="-120"/>
              </a:rPr>
              <a:t>Dashboard &amp; Deployment</a:t>
            </a:r>
            <a:endParaRPr lang="en-US" sz="2600" dirty="0"/>
          </a:p>
        </p:txBody>
      </p:sp>
      <p:sp>
        <p:nvSpPr>
          <p:cNvPr id="7" name="Text 5"/>
          <p:cNvSpPr txBox="1"/>
          <p:nvPr/>
        </p:nvSpPr>
        <p:spPr>
          <a:xfrm>
            <a:off x="640080" y="3200400"/>
            <a:ext cx="5486400" cy="1280160"/>
          </a:xfrm>
          <a:prstGeom prst="rect">
            <a:avLst/>
          </a:prstGeom>
          <a:noFill/>
          <a:ln/>
        </p:spPr>
        <p:txBody>
          <a:bodyPr wrap="square" lIns="0" tIns="0" rIns="0" bIns="0" rtlCol="0" anchor="t"/>
          <a:lstStyle/>
          <a:p>
            <a:pPr marL="0" indent="0">
              <a:buNone/>
            </a:pPr>
            <a:r>
              <a:rPr lang="en-US" sz="1600" dirty="0">
                <a:solidFill>
                  <a:srgbClr val="D5DEF0"/>
                </a:solidFill>
                <a:latin typeface="Calibri" pitchFamily="34" charset="0"/>
                <a:ea typeface="Calibri" pitchFamily="34" charset="-122"/>
                <a:cs typeface="Calibri" pitchFamily="34" charset="-120"/>
              </a:rPr>
              <a:t>Startup &amp; Project Risk Analyzer. Teams often invest in an idea without seeing the market, budget and planning risks behind most failures. The app predicts those risks and recommends how to reduce them.</a:t>
            </a:r>
            <a:endParaRPr lang="en-US" sz="1600" dirty="0"/>
          </a:p>
        </p:txBody>
      </p:sp>
      <p:sp>
        <p:nvSpPr>
          <p:cNvPr id="8" name="Text 6"/>
          <p:cNvSpPr txBox="1"/>
          <p:nvPr/>
        </p:nvSpPr>
        <p:spPr>
          <a:xfrm>
            <a:off x="640080" y="4663440"/>
            <a:ext cx="5486400" cy="914400"/>
          </a:xfrm>
          <a:prstGeom prst="rect">
            <a:avLst/>
          </a:prstGeom>
          <a:noFill/>
          <a:ln/>
        </p:spPr>
        <p:txBody>
          <a:bodyPr wrap="square" lIns="0" tIns="0" rIns="0" bIns="0" rtlCol="0" anchor="t"/>
          <a:lstStyle/>
          <a:p>
            <a:pPr marL="0" indent="0">
              <a:buNone/>
            </a:pPr>
            <a:r>
              <a:rPr lang="en-US" sz="1600" b="1" dirty="0">
                <a:solidFill>
                  <a:srgbClr val="FFFFFF"/>
                </a:solidFill>
                <a:latin typeface="Calibri" pitchFamily="34" charset="0"/>
                <a:ea typeface="Calibri" pitchFamily="34" charset="-122"/>
                <a:cs typeface="Calibri" pitchFamily="34" charset="-120"/>
              </a:rPr>
              <a:t>Milestone 4 builds the risk analytics dashboard and assessment reports, then tests, optimizes and deploys the app.</a:t>
            </a:r>
            <a:endParaRPr lang="en-US" sz="1600" dirty="0"/>
          </a:p>
        </p:txBody>
      </p:sp>
      <p:sp>
        <p:nvSpPr>
          <p:cNvPr id="9" name="Shape 7"/>
          <p:cNvSpPr/>
          <p:nvPr/>
        </p:nvSpPr>
        <p:spPr>
          <a:xfrm>
            <a:off x="6766560" y="731520"/>
            <a:ext cx="4873752" cy="5394960"/>
          </a:xfrm>
          <a:prstGeom prst="roundRect">
            <a:avLst>
              <a:gd name="adj" fmla="val 1501"/>
            </a:avLst>
          </a:prstGeom>
          <a:solidFill>
            <a:srgbClr val="F4F6FA"/>
          </a:solidFill>
          <a:ln w="9525">
            <a:solidFill>
              <a:srgbClr val="F4F6FA"/>
            </a:solidFill>
            <a:prstDash val="solid"/>
          </a:ln>
        </p:spPr>
      </p:sp>
      <p:sp>
        <p:nvSpPr>
          <p:cNvPr id="10" name="Text 8"/>
          <p:cNvSpPr txBox="1"/>
          <p:nvPr/>
        </p:nvSpPr>
        <p:spPr>
          <a:xfrm>
            <a:off x="7040880" y="960120"/>
            <a:ext cx="4389120" cy="365760"/>
          </a:xfrm>
          <a:prstGeom prst="rect">
            <a:avLst/>
          </a:prstGeom>
          <a:noFill/>
          <a:ln/>
        </p:spPr>
        <p:txBody>
          <a:bodyPr wrap="square" lIns="0" tIns="0" rIns="0" bIns="0" rtlCol="0" anchor="ctr"/>
          <a:lstStyle/>
          <a:p>
            <a:pPr marL="0" indent="0">
              <a:buNone/>
            </a:pPr>
            <a:r>
              <a:rPr lang="en-US" sz="1600" b="1" dirty="0">
                <a:solidFill>
                  <a:srgbClr val="12203A"/>
                </a:solidFill>
                <a:latin typeface="Calibri" pitchFamily="34" charset="0"/>
                <a:ea typeface="Calibri" pitchFamily="34" charset="-122"/>
                <a:cs typeface="Calibri" pitchFamily="34" charset="-120"/>
              </a:rPr>
              <a:t>Risk Analytics on the dashboard</a:t>
            </a:r>
            <a:endParaRPr lang="en-US" sz="1600" dirty="0"/>
          </a:p>
        </p:txBody>
      </p:sp>
      <p:sp>
        <p:nvSpPr>
          <p:cNvPr id="11" name="Shape 9"/>
          <p:cNvSpPr/>
          <p:nvPr/>
        </p:nvSpPr>
        <p:spPr>
          <a:xfrm>
            <a:off x="7040880" y="1508760"/>
            <a:ext cx="2148840" cy="1508760"/>
          </a:xfrm>
          <a:prstGeom prst="roundRect">
            <a:avLst>
              <a:gd name="adj" fmla="val 4848"/>
            </a:avLst>
          </a:prstGeom>
          <a:solidFill>
            <a:srgbClr val="FDECEA"/>
          </a:solidFill>
          <a:ln w="9525">
            <a:solidFill>
              <a:srgbClr val="FDECEA"/>
            </a:solidFill>
            <a:prstDash val="solid"/>
          </a:ln>
        </p:spPr>
      </p:sp>
      <p:sp>
        <p:nvSpPr>
          <p:cNvPr id="12" name="Text 10"/>
          <p:cNvSpPr txBox="1"/>
          <p:nvPr/>
        </p:nvSpPr>
        <p:spPr>
          <a:xfrm>
            <a:off x="7223760" y="1691640"/>
            <a:ext cx="1783080" cy="777240"/>
          </a:xfrm>
          <a:prstGeom prst="rect">
            <a:avLst/>
          </a:prstGeom>
          <a:noFill/>
          <a:ln/>
        </p:spPr>
        <p:txBody>
          <a:bodyPr wrap="square" lIns="0" tIns="0" rIns="0" bIns="0" rtlCol="0" anchor="ctr"/>
          <a:lstStyle/>
          <a:p>
            <a:pPr marL="0" indent="0">
              <a:buNone/>
            </a:pPr>
            <a:r>
              <a:rPr lang="en-US" sz="4200" b="1" dirty="0">
                <a:solidFill>
                  <a:srgbClr val="D93A34"/>
                </a:solidFill>
                <a:latin typeface="Cambria" pitchFamily="34" charset="0"/>
                <a:ea typeface="Cambria" pitchFamily="34" charset="-122"/>
                <a:cs typeface="Cambria" pitchFamily="34" charset="-120"/>
              </a:rPr>
              <a:t>54%</a:t>
            </a:r>
            <a:endParaRPr lang="en-US" sz="4200" dirty="0"/>
          </a:p>
        </p:txBody>
      </p:sp>
      <p:sp>
        <p:nvSpPr>
          <p:cNvPr id="13" name="Text 11"/>
          <p:cNvSpPr txBox="1"/>
          <p:nvPr/>
        </p:nvSpPr>
        <p:spPr>
          <a:xfrm>
            <a:off x="7223760" y="2514600"/>
            <a:ext cx="1783080" cy="32004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Overall risk</a:t>
            </a:r>
            <a:endParaRPr lang="en-US" sz="1300" dirty="0"/>
          </a:p>
        </p:txBody>
      </p:sp>
      <p:sp>
        <p:nvSpPr>
          <p:cNvPr id="14" name="Shape 12"/>
          <p:cNvSpPr/>
          <p:nvPr/>
        </p:nvSpPr>
        <p:spPr>
          <a:xfrm>
            <a:off x="9281160" y="1508760"/>
            <a:ext cx="2148840" cy="1508760"/>
          </a:xfrm>
          <a:prstGeom prst="roundRect">
            <a:avLst>
              <a:gd name="adj" fmla="val 4848"/>
            </a:avLst>
          </a:prstGeom>
          <a:solidFill>
            <a:srgbClr val="FFF3DC"/>
          </a:solidFill>
          <a:ln w="9525">
            <a:solidFill>
              <a:srgbClr val="FFF3DC"/>
            </a:solidFill>
            <a:prstDash val="solid"/>
          </a:ln>
        </p:spPr>
      </p:sp>
      <p:sp>
        <p:nvSpPr>
          <p:cNvPr id="15" name="Text 13"/>
          <p:cNvSpPr txBox="1"/>
          <p:nvPr/>
        </p:nvSpPr>
        <p:spPr>
          <a:xfrm>
            <a:off x="9464040" y="1691640"/>
            <a:ext cx="1783080" cy="777240"/>
          </a:xfrm>
          <a:prstGeom prst="rect">
            <a:avLst/>
          </a:prstGeom>
          <a:noFill/>
          <a:ln/>
        </p:spPr>
        <p:txBody>
          <a:bodyPr wrap="square" lIns="0" tIns="0" rIns="0" bIns="0" rtlCol="0" anchor="ctr"/>
          <a:lstStyle/>
          <a:p>
            <a:pPr marL="0" indent="0">
              <a:buNone/>
            </a:pPr>
            <a:r>
              <a:rPr lang="en-US" sz="4200" b="1" dirty="0">
                <a:solidFill>
                  <a:srgbClr val="E59200"/>
                </a:solidFill>
                <a:latin typeface="Cambria" pitchFamily="34" charset="0"/>
                <a:ea typeface="Cambria" pitchFamily="34" charset="-122"/>
                <a:cs typeface="Cambria" pitchFamily="34" charset="-120"/>
              </a:rPr>
              <a:t>46%</a:t>
            </a:r>
            <a:endParaRPr lang="en-US" sz="4200" dirty="0"/>
          </a:p>
        </p:txBody>
      </p:sp>
      <p:sp>
        <p:nvSpPr>
          <p:cNvPr id="16" name="Text 14"/>
          <p:cNvSpPr txBox="1"/>
          <p:nvPr/>
        </p:nvSpPr>
        <p:spPr>
          <a:xfrm>
            <a:off x="9464040" y="2514600"/>
            <a:ext cx="1783080" cy="32004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Success probability</a:t>
            </a:r>
            <a:endParaRPr lang="en-US" sz="1300" dirty="0"/>
          </a:p>
        </p:txBody>
      </p:sp>
      <p:sp>
        <p:nvSpPr>
          <p:cNvPr id="17" name="Shape 15"/>
          <p:cNvSpPr/>
          <p:nvPr/>
        </p:nvSpPr>
        <p:spPr>
          <a:xfrm>
            <a:off x="7040880" y="3200400"/>
            <a:ext cx="2148840" cy="1508760"/>
          </a:xfrm>
          <a:prstGeom prst="roundRect">
            <a:avLst>
              <a:gd name="adj" fmla="val 4848"/>
            </a:avLst>
          </a:prstGeom>
          <a:solidFill>
            <a:srgbClr val="E3ECFB"/>
          </a:solidFill>
          <a:ln w="9525">
            <a:solidFill>
              <a:srgbClr val="E3ECFB"/>
            </a:solidFill>
            <a:prstDash val="solid"/>
          </a:ln>
        </p:spPr>
      </p:sp>
      <p:sp>
        <p:nvSpPr>
          <p:cNvPr id="18" name="Text 16"/>
          <p:cNvSpPr txBox="1"/>
          <p:nvPr/>
        </p:nvSpPr>
        <p:spPr>
          <a:xfrm>
            <a:off x="7223760" y="3383280"/>
            <a:ext cx="1783080" cy="777240"/>
          </a:xfrm>
          <a:prstGeom prst="rect">
            <a:avLst/>
          </a:prstGeom>
          <a:noFill/>
          <a:ln/>
        </p:spPr>
        <p:txBody>
          <a:bodyPr wrap="square" lIns="0" tIns="0" rIns="0" bIns="0" rtlCol="0" anchor="ctr"/>
          <a:lstStyle/>
          <a:p>
            <a:pPr marL="0" indent="0">
              <a:buNone/>
            </a:pPr>
            <a:r>
              <a:rPr lang="en-US" sz="4200" b="1" dirty="0">
                <a:solidFill>
                  <a:srgbClr val="1F5FD1"/>
                </a:solidFill>
                <a:latin typeface="Cambria" pitchFamily="34" charset="0"/>
                <a:ea typeface="Cambria" pitchFamily="34" charset="-122"/>
                <a:cs typeface="Cambria" pitchFamily="34" charset="-120"/>
              </a:rPr>
              <a:t>40%</a:t>
            </a:r>
            <a:endParaRPr lang="en-US" sz="4200" dirty="0"/>
          </a:p>
        </p:txBody>
      </p:sp>
      <p:sp>
        <p:nvSpPr>
          <p:cNvPr id="19" name="Text 17"/>
          <p:cNvSpPr txBox="1"/>
          <p:nvPr/>
        </p:nvSpPr>
        <p:spPr>
          <a:xfrm>
            <a:off x="7223760" y="4206240"/>
            <a:ext cx="1783080" cy="32004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Market risk</a:t>
            </a:r>
            <a:endParaRPr lang="en-US" sz="1300" dirty="0"/>
          </a:p>
        </p:txBody>
      </p:sp>
      <p:sp>
        <p:nvSpPr>
          <p:cNvPr id="20" name="Shape 18"/>
          <p:cNvSpPr/>
          <p:nvPr/>
        </p:nvSpPr>
        <p:spPr>
          <a:xfrm>
            <a:off x="9281160" y="3200400"/>
            <a:ext cx="2148840" cy="1508760"/>
          </a:xfrm>
          <a:prstGeom prst="roundRect">
            <a:avLst>
              <a:gd name="adj" fmla="val 4848"/>
            </a:avLst>
          </a:prstGeom>
          <a:solidFill>
            <a:srgbClr val="DDF5EA"/>
          </a:solidFill>
          <a:ln w="9525">
            <a:solidFill>
              <a:srgbClr val="DDF5EA"/>
            </a:solidFill>
            <a:prstDash val="solid"/>
          </a:ln>
        </p:spPr>
      </p:sp>
      <p:sp>
        <p:nvSpPr>
          <p:cNvPr id="21" name="Text 19"/>
          <p:cNvSpPr txBox="1"/>
          <p:nvPr/>
        </p:nvSpPr>
        <p:spPr>
          <a:xfrm>
            <a:off x="9464040" y="3383280"/>
            <a:ext cx="1783080" cy="777240"/>
          </a:xfrm>
          <a:prstGeom prst="rect">
            <a:avLst/>
          </a:prstGeom>
          <a:noFill/>
          <a:ln/>
        </p:spPr>
        <p:txBody>
          <a:bodyPr wrap="square" lIns="0" tIns="0" rIns="0" bIns="0" rtlCol="0" anchor="ctr"/>
          <a:lstStyle/>
          <a:p>
            <a:pPr marL="0" indent="0">
              <a:buNone/>
            </a:pPr>
            <a:r>
              <a:rPr lang="en-US" sz="4200" b="1" dirty="0">
                <a:solidFill>
                  <a:srgbClr val="169B62"/>
                </a:solidFill>
                <a:latin typeface="Cambria" pitchFamily="34" charset="0"/>
                <a:ea typeface="Cambria" pitchFamily="34" charset="-122"/>
                <a:cs typeface="Cambria" pitchFamily="34" charset="-120"/>
              </a:rPr>
              <a:t>30%</a:t>
            </a:r>
            <a:endParaRPr lang="en-US" sz="4200" dirty="0"/>
          </a:p>
        </p:txBody>
      </p:sp>
      <p:sp>
        <p:nvSpPr>
          <p:cNvPr id="22" name="Text 20"/>
          <p:cNvSpPr txBox="1"/>
          <p:nvPr/>
        </p:nvSpPr>
        <p:spPr>
          <a:xfrm>
            <a:off x="9464040" y="4206240"/>
            <a:ext cx="1783080" cy="32004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Tech risk</a:t>
            </a:r>
            <a:endParaRPr lang="en-US" sz="1300" dirty="0"/>
          </a:p>
        </p:txBody>
      </p:sp>
      <p:sp>
        <p:nvSpPr>
          <p:cNvPr id="23" name="Text 21"/>
          <p:cNvSpPr txBox="1"/>
          <p:nvPr/>
        </p:nvSpPr>
        <p:spPr>
          <a:xfrm>
            <a:off x="7040880" y="4937760"/>
            <a:ext cx="4389120" cy="274320"/>
          </a:xfrm>
          <a:prstGeom prst="rect">
            <a:avLst/>
          </a:prstGeom>
          <a:noFill/>
          <a:ln/>
        </p:spPr>
        <p:txBody>
          <a:bodyPr wrap="square" lIns="0" tIns="0" rIns="0" bIns="0" rtlCol="0" anchor="ctr"/>
          <a:lstStyle/>
          <a:p>
            <a:pPr marL="0" indent="0">
              <a:buNone/>
            </a:pPr>
            <a:endParaRPr lang="en-US" sz="1200" dirty="0"/>
          </a:p>
        </p:txBody>
      </p:sp>
      <p:sp>
        <p:nvSpPr>
          <p:cNvPr id="24" name="Text 22"/>
          <p:cNvSpPr txBox="1"/>
          <p:nvPr/>
        </p:nvSpPr>
        <p:spPr>
          <a:xfrm>
            <a:off x="7040880" y="5303520"/>
            <a:ext cx="4389120" cy="548640"/>
          </a:xfrm>
          <a:prstGeom prst="rect">
            <a:avLst/>
          </a:prstGeom>
          <a:noFill/>
          <a:ln/>
        </p:spPr>
        <p:txBody>
          <a:bodyPr wrap="square" lIns="0" tIns="0" rIns="0" bIns="0" rtlCol="0" anchor="t"/>
          <a:lstStyle/>
          <a:p>
            <a:pPr marL="0" indent="0">
              <a:buNone/>
            </a:pPr>
            <a:r>
              <a:rPr lang="en-US" sz="1400" b="1" dirty="0">
                <a:solidFill>
                  <a:srgbClr val="12203A"/>
                </a:solidFill>
                <a:latin typeface="Calibri" pitchFamily="34" charset="0"/>
                <a:ea typeface="Calibri" pitchFamily="34" charset="-122"/>
                <a:cs typeface="Calibri" pitchFamily="34" charset="-120"/>
              </a:rPr>
              <a:t>Targets: reports in under 5 seconds, user satisfaction of 85% or higher.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1B33"/>
          </a:solidFill>
          <a:ln w="12700">
            <a:solidFill>
              <a:srgbClr val="0F1B33"/>
            </a:solidFill>
            <a:prstDash val="solid"/>
          </a:ln>
        </p:spPr>
      </p:sp>
      <p:sp>
        <p:nvSpPr>
          <p:cNvPr id="3" name="Text 1"/>
          <p:cNvSpPr txBox="1"/>
          <p:nvPr/>
        </p:nvSpPr>
        <p:spPr>
          <a:xfrm>
            <a:off x="548640" y="274320"/>
            <a:ext cx="9601200" cy="5943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Tech Stack</a:t>
            </a:r>
            <a:endParaRPr lang="en-US" sz="3400" dirty="0"/>
          </a:p>
        </p:txBody>
      </p:sp>
      <p:sp>
        <p:nvSpPr>
          <p:cNvPr id="4" name="Text 2"/>
          <p:cNvSpPr txBox="1"/>
          <p:nvPr/>
        </p:nvSpPr>
        <p:spPr>
          <a:xfrm>
            <a:off x="548640" y="868680"/>
            <a:ext cx="9601200" cy="3200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Tools used to build, test and deploy Milestone 4</a:t>
            </a:r>
            <a:endParaRPr lang="en-US" sz="1500" dirty="0"/>
          </a:p>
        </p:txBody>
      </p:sp>
      <p:sp>
        <p:nvSpPr>
          <p:cNvPr id="5" name="Text 3"/>
          <p:cNvSpPr txBox="1"/>
          <p:nvPr/>
        </p:nvSpPr>
        <p:spPr>
          <a:xfrm>
            <a:off x="9601200" y="502920"/>
            <a:ext cx="2039112" cy="365760"/>
          </a:xfrm>
          <a:prstGeom prst="rect">
            <a:avLst/>
          </a:prstGeom>
          <a:noFill/>
          <a:ln/>
        </p:spPr>
        <p:txBody>
          <a:bodyPr wrap="square" lIns="0" tIns="0" rIns="0" bIns="0" rtlCol="0" anchor="ctr"/>
          <a:lstStyle/>
          <a:p>
            <a:pPr marL="0" indent="0" algn="r">
              <a:buNone/>
            </a:pPr>
            <a:endParaRPr lang="en-US" sz="1300" dirty="0"/>
          </a:p>
        </p:txBody>
      </p:sp>
      <p:sp>
        <p:nvSpPr>
          <p:cNvPr id="6" name="Text 4"/>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1100" dirty="0">
                <a:solidFill>
                  <a:srgbClr val="5A6A85"/>
                </a:solidFill>
                <a:latin typeface="Calibri" pitchFamily="34" charset="0"/>
                <a:ea typeface="Calibri" pitchFamily="34" charset="-122"/>
                <a:cs typeface="Calibri" pitchFamily="34" charset="-120"/>
              </a:rPr>
              <a:t>2 / 7</a:t>
            </a:r>
            <a:endParaRPr lang="en-US" sz="1100" dirty="0"/>
          </a:p>
        </p:txBody>
      </p:sp>
      <p:sp>
        <p:nvSpPr>
          <p:cNvPr id="7" name="Shape 5"/>
          <p:cNvSpPr/>
          <p:nvPr/>
        </p:nvSpPr>
        <p:spPr>
          <a:xfrm>
            <a:off x="548640" y="1691640"/>
            <a:ext cx="11091672" cy="731520"/>
          </a:xfrm>
          <a:prstGeom prst="roundRect">
            <a:avLst>
              <a:gd name="adj" fmla="val 10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8" name="Shape 6"/>
          <p:cNvSpPr/>
          <p:nvPr/>
        </p:nvSpPr>
        <p:spPr>
          <a:xfrm>
            <a:off x="548640" y="1691640"/>
            <a:ext cx="1005840" cy="731520"/>
          </a:xfrm>
          <a:prstGeom prst="roundRect">
            <a:avLst>
              <a:gd name="adj" fmla="val 10000"/>
            </a:avLst>
          </a:prstGeom>
          <a:solidFill>
            <a:srgbClr val="1F5FD1"/>
          </a:solidFill>
          <a:ln w="9525">
            <a:solidFill>
              <a:srgbClr val="1F5FD1"/>
            </a:solidFill>
            <a:prstDash val="solid"/>
          </a:ln>
        </p:spPr>
      </p:sp>
      <p:pic>
        <p:nvPicPr>
          <p:cNvPr id="9" name="Image 0" descr="preencoded.png"/>
          <p:cNvPicPr>
            <a:picLocks noChangeAspect="1"/>
          </p:cNvPicPr>
          <p:nvPr/>
        </p:nvPicPr>
        <p:blipFill>
          <a:blip r:embed="rId3"/>
          <a:stretch>
            <a:fillRect/>
          </a:stretch>
        </p:blipFill>
        <p:spPr>
          <a:xfrm>
            <a:off x="868680" y="1874520"/>
            <a:ext cx="365760" cy="365760"/>
          </a:xfrm>
          <a:prstGeom prst="rect">
            <a:avLst/>
          </a:prstGeom>
        </p:spPr>
      </p:pic>
      <p:sp>
        <p:nvSpPr>
          <p:cNvPr id="10" name="Text 7"/>
          <p:cNvSpPr txBox="1"/>
          <p:nvPr/>
        </p:nvSpPr>
        <p:spPr>
          <a:xfrm>
            <a:off x="1828800" y="1691640"/>
            <a:ext cx="2194560" cy="731520"/>
          </a:xfrm>
          <a:prstGeom prst="rect">
            <a:avLst/>
          </a:prstGeom>
          <a:noFill/>
          <a:ln/>
        </p:spPr>
        <p:txBody>
          <a:bodyPr wrap="square" lIns="0" tIns="0" rIns="0" bIns="0" rtlCol="0" anchor="ctr"/>
          <a:lstStyle/>
          <a:p>
            <a:pPr marL="0" indent="0">
              <a:buNone/>
            </a:pPr>
            <a:r>
              <a:rPr lang="en-US" sz="1700" b="1" dirty="0">
                <a:solidFill>
                  <a:srgbClr val="12203A"/>
                </a:solidFill>
                <a:latin typeface="Calibri" pitchFamily="34" charset="0"/>
                <a:ea typeface="Calibri" pitchFamily="34" charset="-122"/>
                <a:cs typeface="Calibri" pitchFamily="34" charset="-120"/>
              </a:rPr>
              <a:t>Python</a:t>
            </a:r>
            <a:endParaRPr lang="en-US" sz="1700" dirty="0"/>
          </a:p>
        </p:txBody>
      </p:sp>
      <p:sp>
        <p:nvSpPr>
          <p:cNvPr id="11" name="Text 8"/>
          <p:cNvSpPr txBox="1"/>
          <p:nvPr/>
        </p:nvSpPr>
        <p:spPr>
          <a:xfrm>
            <a:off x="4023360" y="1691640"/>
            <a:ext cx="1920240" cy="731520"/>
          </a:xfrm>
          <a:prstGeom prst="rect">
            <a:avLst/>
          </a:prstGeom>
          <a:noFill/>
          <a:ln/>
        </p:spPr>
        <p:txBody>
          <a:bodyPr wrap="square" lIns="0" tIns="0" rIns="0" bIns="0" rtlCol="0" anchor="ctr"/>
          <a:lstStyle/>
          <a:p>
            <a:pPr marL="0" indent="0">
              <a:buNone/>
            </a:pPr>
            <a:r>
              <a:rPr lang="en-US" sz="1100" b="1" kern="0" spc="100" dirty="0">
                <a:solidFill>
                  <a:srgbClr val="1F5FD1"/>
                </a:solidFill>
                <a:latin typeface="Calibri" pitchFamily="34" charset="0"/>
                <a:ea typeface="Calibri" pitchFamily="34" charset="-122"/>
                <a:cs typeface="Calibri" pitchFamily="34" charset="-120"/>
              </a:rPr>
              <a:t>CORE LANGUAGE</a:t>
            </a:r>
            <a:endParaRPr lang="en-US" sz="1100" dirty="0"/>
          </a:p>
        </p:txBody>
      </p:sp>
      <p:sp>
        <p:nvSpPr>
          <p:cNvPr id="12" name="Text 9"/>
          <p:cNvSpPr txBox="1"/>
          <p:nvPr/>
        </p:nvSpPr>
        <p:spPr>
          <a:xfrm>
            <a:off x="5943600" y="1691640"/>
            <a:ext cx="5486400" cy="731520"/>
          </a:xfrm>
          <a:prstGeom prst="rect">
            <a:avLst/>
          </a:prstGeom>
          <a:noFill/>
          <a:ln/>
        </p:spPr>
        <p:txBody>
          <a:bodyPr wrap="square" lIns="0" tIns="0" rIns="0" bIns="0" rtlCol="0" anchor="ctr"/>
          <a:lstStyle/>
          <a:p>
            <a:pPr marL="0" indent="0">
              <a:buNone/>
            </a:pPr>
            <a:r>
              <a:rPr lang="en-US" sz="1350" dirty="0">
                <a:solidFill>
                  <a:srgbClr val="5A6A85"/>
                </a:solidFill>
                <a:latin typeface="Calibri" pitchFamily="34" charset="0"/>
                <a:ea typeface="Calibri" pitchFamily="34" charset="-122"/>
                <a:cs typeface="Calibri" pitchFamily="34" charset="-120"/>
              </a:rPr>
              <a:t>Backend logic, database access and report generation, with one module per engine.</a:t>
            </a:r>
            <a:endParaRPr lang="en-US" sz="1350" dirty="0"/>
          </a:p>
        </p:txBody>
      </p:sp>
      <p:sp>
        <p:nvSpPr>
          <p:cNvPr id="13" name="Shape 10"/>
          <p:cNvSpPr/>
          <p:nvPr/>
        </p:nvSpPr>
        <p:spPr>
          <a:xfrm>
            <a:off x="548640" y="2569464"/>
            <a:ext cx="11091672" cy="731520"/>
          </a:xfrm>
          <a:prstGeom prst="roundRect">
            <a:avLst>
              <a:gd name="adj" fmla="val 10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14" name="Shape 11"/>
          <p:cNvSpPr/>
          <p:nvPr/>
        </p:nvSpPr>
        <p:spPr>
          <a:xfrm>
            <a:off x="548640" y="2569464"/>
            <a:ext cx="1005840" cy="731520"/>
          </a:xfrm>
          <a:prstGeom prst="roundRect">
            <a:avLst>
              <a:gd name="adj" fmla="val 10000"/>
            </a:avLst>
          </a:prstGeom>
          <a:solidFill>
            <a:srgbClr val="D93A34"/>
          </a:solidFill>
          <a:ln w="9525">
            <a:solidFill>
              <a:srgbClr val="D93A34"/>
            </a:solidFill>
            <a:prstDash val="solid"/>
          </a:ln>
        </p:spPr>
      </p:sp>
      <p:pic>
        <p:nvPicPr>
          <p:cNvPr id="15" name="Image 1" descr="preencoded.png"/>
          <p:cNvPicPr>
            <a:picLocks noChangeAspect="1"/>
          </p:cNvPicPr>
          <p:nvPr/>
        </p:nvPicPr>
        <p:blipFill>
          <a:blip r:embed="rId4"/>
          <a:stretch>
            <a:fillRect/>
          </a:stretch>
        </p:blipFill>
        <p:spPr>
          <a:xfrm>
            <a:off x="868680" y="2752344"/>
            <a:ext cx="365760" cy="365760"/>
          </a:xfrm>
          <a:prstGeom prst="rect">
            <a:avLst/>
          </a:prstGeom>
        </p:spPr>
      </p:pic>
      <p:sp>
        <p:nvSpPr>
          <p:cNvPr id="16" name="Text 12"/>
          <p:cNvSpPr txBox="1"/>
          <p:nvPr/>
        </p:nvSpPr>
        <p:spPr>
          <a:xfrm>
            <a:off x="1828800" y="2569464"/>
            <a:ext cx="2194560" cy="731520"/>
          </a:xfrm>
          <a:prstGeom prst="rect">
            <a:avLst/>
          </a:prstGeom>
          <a:noFill/>
          <a:ln/>
        </p:spPr>
        <p:txBody>
          <a:bodyPr wrap="square" lIns="0" tIns="0" rIns="0" bIns="0" rtlCol="0" anchor="ctr"/>
          <a:lstStyle/>
          <a:p>
            <a:pPr marL="0" indent="0">
              <a:buNone/>
            </a:pPr>
            <a:r>
              <a:rPr lang="en-US" sz="1700" b="1" dirty="0">
                <a:solidFill>
                  <a:srgbClr val="12203A"/>
                </a:solidFill>
                <a:latin typeface="Calibri" pitchFamily="34" charset="0"/>
                <a:ea typeface="Calibri" pitchFamily="34" charset="-122"/>
                <a:cs typeface="Calibri" pitchFamily="34" charset="-120"/>
              </a:rPr>
              <a:t>Streamlit</a:t>
            </a:r>
            <a:endParaRPr lang="en-US" sz="1700" dirty="0"/>
          </a:p>
        </p:txBody>
      </p:sp>
      <p:sp>
        <p:nvSpPr>
          <p:cNvPr id="17" name="Text 13"/>
          <p:cNvSpPr txBox="1"/>
          <p:nvPr/>
        </p:nvSpPr>
        <p:spPr>
          <a:xfrm>
            <a:off x="4023360" y="2569464"/>
            <a:ext cx="1920240" cy="731520"/>
          </a:xfrm>
          <a:prstGeom prst="rect">
            <a:avLst/>
          </a:prstGeom>
          <a:noFill/>
          <a:ln/>
        </p:spPr>
        <p:txBody>
          <a:bodyPr wrap="square" lIns="0" tIns="0" rIns="0" bIns="0" rtlCol="0" anchor="ctr"/>
          <a:lstStyle/>
          <a:p>
            <a:pPr marL="0" indent="0">
              <a:buNone/>
            </a:pPr>
            <a:r>
              <a:rPr lang="en-US" sz="1100" b="1" kern="0" spc="100" dirty="0">
                <a:solidFill>
                  <a:srgbClr val="D93A34"/>
                </a:solidFill>
                <a:latin typeface="Calibri" pitchFamily="34" charset="0"/>
                <a:ea typeface="Calibri" pitchFamily="34" charset="-122"/>
                <a:cs typeface="Calibri" pitchFamily="34" charset="-120"/>
              </a:rPr>
              <a:t>WEB DASHBOARD</a:t>
            </a:r>
            <a:endParaRPr lang="en-US" sz="1100" dirty="0"/>
          </a:p>
        </p:txBody>
      </p:sp>
      <p:sp>
        <p:nvSpPr>
          <p:cNvPr id="18" name="Text 14"/>
          <p:cNvSpPr txBox="1"/>
          <p:nvPr/>
        </p:nvSpPr>
        <p:spPr>
          <a:xfrm>
            <a:off x="5943600" y="2569464"/>
            <a:ext cx="5486400" cy="731520"/>
          </a:xfrm>
          <a:prstGeom prst="rect">
            <a:avLst/>
          </a:prstGeom>
          <a:noFill/>
          <a:ln/>
        </p:spPr>
        <p:txBody>
          <a:bodyPr wrap="square" lIns="0" tIns="0" rIns="0" bIns="0" rtlCol="0" anchor="ctr"/>
          <a:lstStyle/>
          <a:p>
            <a:pPr marL="0" indent="0">
              <a:buNone/>
            </a:pPr>
            <a:r>
              <a:rPr lang="en-US" sz="1350" dirty="0">
                <a:solidFill>
                  <a:srgbClr val="5A6A85"/>
                </a:solidFill>
                <a:latin typeface="Calibri" pitchFamily="34" charset="0"/>
                <a:ea typeface="Calibri" pitchFamily="34" charset="-122"/>
                <a:cs typeface="Calibri" pitchFamily="34" charset="-120"/>
              </a:rPr>
              <a:t>Four tabs; the Dashboard tab shows risk analytics and the assessment report.</a:t>
            </a:r>
            <a:endParaRPr lang="en-US" sz="1350" dirty="0"/>
          </a:p>
        </p:txBody>
      </p:sp>
      <p:sp>
        <p:nvSpPr>
          <p:cNvPr id="19" name="Shape 15"/>
          <p:cNvSpPr/>
          <p:nvPr/>
        </p:nvSpPr>
        <p:spPr>
          <a:xfrm>
            <a:off x="548640" y="3447288"/>
            <a:ext cx="11091672" cy="731520"/>
          </a:xfrm>
          <a:prstGeom prst="roundRect">
            <a:avLst>
              <a:gd name="adj" fmla="val 10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0" name="Shape 16"/>
          <p:cNvSpPr/>
          <p:nvPr/>
        </p:nvSpPr>
        <p:spPr>
          <a:xfrm>
            <a:off x="548640" y="3447288"/>
            <a:ext cx="1005840" cy="731520"/>
          </a:xfrm>
          <a:prstGeom prst="roundRect">
            <a:avLst>
              <a:gd name="adj" fmla="val 10000"/>
            </a:avLst>
          </a:prstGeom>
          <a:solidFill>
            <a:srgbClr val="E59200"/>
          </a:solidFill>
          <a:ln w="9525">
            <a:solidFill>
              <a:srgbClr val="E59200"/>
            </a:solidFill>
            <a:prstDash val="solid"/>
          </a:ln>
        </p:spPr>
      </p:sp>
      <p:pic>
        <p:nvPicPr>
          <p:cNvPr id="21" name="Image 2" descr="preencoded.png"/>
          <p:cNvPicPr>
            <a:picLocks noChangeAspect="1"/>
          </p:cNvPicPr>
          <p:nvPr/>
        </p:nvPicPr>
        <p:blipFill>
          <a:blip r:embed="rId5"/>
          <a:stretch>
            <a:fillRect/>
          </a:stretch>
        </p:blipFill>
        <p:spPr>
          <a:xfrm>
            <a:off x="868680" y="3630168"/>
            <a:ext cx="365760" cy="365760"/>
          </a:xfrm>
          <a:prstGeom prst="rect">
            <a:avLst/>
          </a:prstGeom>
        </p:spPr>
      </p:pic>
      <p:sp>
        <p:nvSpPr>
          <p:cNvPr id="22" name="Text 17"/>
          <p:cNvSpPr txBox="1"/>
          <p:nvPr/>
        </p:nvSpPr>
        <p:spPr>
          <a:xfrm>
            <a:off x="1828800" y="3447288"/>
            <a:ext cx="2194560" cy="731520"/>
          </a:xfrm>
          <a:prstGeom prst="rect">
            <a:avLst/>
          </a:prstGeom>
          <a:noFill/>
          <a:ln/>
        </p:spPr>
        <p:txBody>
          <a:bodyPr wrap="square" lIns="0" tIns="0" rIns="0" bIns="0" rtlCol="0" anchor="ctr"/>
          <a:lstStyle/>
          <a:p>
            <a:pPr marL="0" indent="0">
              <a:buNone/>
            </a:pPr>
            <a:r>
              <a:rPr lang="en-US" sz="1700" b="1" dirty="0">
                <a:solidFill>
                  <a:srgbClr val="12203A"/>
                </a:solidFill>
                <a:latin typeface="Calibri" pitchFamily="34" charset="0"/>
                <a:ea typeface="Calibri" pitchFamily="34" charset="-122"/>
                <a:cs typeface="Calibri" pitchFamily="34" charset="-120"/>
              </a:rPr>
              <a:t>Google Gemini</a:t>
            </a:r>
            <a:endParaRPr lang="en-US" sz="1700" dirty="0"/>
          </a:p>
        </p:txBody>
      </p:sp>
      <p:sp>
        <p:nvSpPr>
          <p:cNvPr id="23" name="Text 18"/>
          <p:cNvSpPr txBox="1"/>
          <p:nvPr/>
        </p:nvSpPr>
        <p:spPr>
          <a:xfrm>
            <a:off x="4023360" y="3447288"/>
            <a:ext cx="1920240" cy="731520"/>
          </a:xfrm>
          <a:prstGeom prst="rect">
            <a:avLst/>
          </a:prstGeom>
          <a:noFill/>
          <a:ln/>
        </p:spPr>
        <p:txBody>
          <a:bodyPr wrap="square" lIns="0" tIns="0" rIns="0" bIns="0" rtlCol="0" anchor="ctr"/>
          <a:lstStyle/>
          <a:p>
            <a:pPr marL="0" indent="0">
              <a:buNone/>
            </a:pPr>
            <a:r>
              <a:rPr lang="en-US" sz="1100" b="1" kern="0" spc="100" dirty="0">
                <a:solidFill>
                  <a:srgbClr val="E59200"/>
                </a:solidFill>
                <a:latin typeface="Calibri" pitchFamily="34" charset="0"/>
                <a:ea typeface="Calibri" pitchFamily="34" charset="-122"/>
                <a:cs typeface="Calibri" pitchFamily="34" charset="-120"/>
              </a:rPr>
              <a:t>LLM REASONING</a:t>
            </a:r>
            <a:endParaRPr lang="en-US" sz="1100" dirty="0"/>
          </a:p>
        </p:txBody>
      </p:sp>
      <p:sp>
        <p:nvSpPr>
          <p:cNvPr id="24" name="Text 19"/>
          <p:cNvSpPr txBox="1"/>
          <p:nvPr/>
        </p:nvSpPr>
        <p:spPr>
          <a:xfrm>
            <a:off x="5943600" y="3447288"/>
            <a:ext cx="5486400" cy="731520"/>
          </a:xfrm>
          <a:prstGeom prst="rect">
            <a:avLst/>
          </a:prstGeom>
          <a:noFill/>
          <a:ln/>
        </p:spPr>
        <p:txBody>
          <a:bodyPr wrap="square" lIns="0" tIns="0" rIns="0" bIns="0" rtlCol="0" anchor="ctr"/>
          <a:lstStyle/>
          <a:p>
            <a:pPr marL="0" indent="0">
              <a:buNone/>
            </a:pPr>
            <a:r>
              <a:rPr lang="en-US" sz="1350" dirty="0">
                <a:solidFill>
                  <a:srgbClr val="5A6A85"/>
                </a:solidFill>
                <a:latin typeface="Calibri" pitchFamily="34" charset="0"/>
                <a:ea typeface="Calibri" pitchFamily="34" charset="-122"/>
                <a:cs typeface="Calibri" pitchFamily="34" charset="-120"/>
              </a:rPr>
              <a:t>Writes the strategic insights and recommendations shown on the dashboard.</a:t>
            </a:r>
            <a:endParaRPr lang="en-US" sz="1350" dirty="0"/>
          </a:p>
        </p:txBody>
      </p:sp>
      <p:sp>
        <p:nvSpPr>
          <p:cNvPr id="25" name="Shape 20"/>
          <p:cNvSpPr/>
          <p:nvPr/>
        </p:nvSpPr>
        <p:spPr>
          <a:xfrm>
            <a:off x="548640" y="4325112"/>
            <a:ext cx="11091672" cy="731520"/>
          </a:xfrm>
          <a:prstGeom prst="roundRect">
            <a:avLst>
              <a:gd name="adj" fmla="val 10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6" name="Shape 21"/>
          <p:cNvSpPr/>
          <p:nvPr/>
        </p:nvSpPr>
        <p:spPr>
          <a:xfrm>
            <a:off x="548640" y="4325112"/>
            <a:ext cx="1005840" cy="731520"/>
          </a:xfrm>
          <a:prstGeom prst="roundRect">
            <a:avLst>
              <a:gd name="adj" fmla="val 10000"/>
            </a:avLst>
          </a:prstGeom>
          <a:solidFill>
            <a:srgbClr val="169B62"/>
          </a:solidFill>
          <a:ln w="9525">
            <a:solidFill>
              <a:srgbClr val="169B62"/>
            </a:solidFill>
            <a:prstDash val="solid"/>
          </a:ln>
        </p:spPr>
      </p:sp>
      <p:pic>
        <p:nvPicPr>
          <p:cNvPr id="27" name="Image 3" descr="preencoded.png"/>
          <p:cNvPicPr>
            <a:picLocks noChangeAspect="1"/>
          </p:cNvPicPr>
          <p:nvPr/>
        </p:nvPicPr>
        <p:blipFill>
          <a:blip r:embed="rId6"/>
          <a:stretch>
            <a:fillRect/>
          </a:stretch>
        </p:blipFill>
        <p:spPr>
          <a:xfrm>
            <a:off x="868680" y="4507992"/>
            <a:ext cx="365760" cy="365760"/>
          </a:xfrm>
          <a:prstGeom prst="rect">
            <a:avLst/>
          </a:prstGeom>
        </p:spPr>
      </p:pic>
      <p:sp>
        <p:nvSpPr>
          <p:cNvPr id="28" name="Text 22"/>
          <p:cNvSpPr txBox="1"/>
          <p:nvPr/>
        </p:nvSpPr>
        <p:spPr>
          <a:xfrm>
            <a:off x="1828800" y="4325112"/>
            <a:ext cx="2194560" cy="731520"/>
          </a:xfrm>
          <a:prstGeom prst="rect">
            <a:avLst/>
          </a:prstGeom>
          <a:noFill/>
          <a:ln/>
        </p:spPr>
        <p:txBody>
          <a:bodyPr wrap="square" lIns="0" tIns="0" rIns="0" bIns="0" rtlCol="0" anchor="ctr"/>
          <a:lstStyle/>
          <a:p>
            <a:pPr marL="0" indent="0">
              <a:buNone/>
            </a:pPr>
            <a:r>
              <a:rPr lang="en-US" sz="1700" b="1" dirty="0">
                <a:solidFill>
                  <a:srgbClr val="12203A"/>
                </a:solidFill>
                <a:latin typeface="Calibri" pitchFamily="34" charset="0"/>
                <a:ea typeface="Calibri" pitchFamily="34" charset="-122"/>
                <a:cs typeface="Calibri" pitchFamily="34" charset="-120"/>
              </a:rPr>
              <a:t>LangGraph</a:t>
            </a:r>
            <a:endParaRPr lang="en-US" sz="1700" dirty="0"/>
          </a:p>
        </p:txBody>
      </p:sp>
      <p:sp>
        <p:nvSpPr>
          <p:cNvPr id="29" name="Text 23"/>
          <p:cNvSpPr txBox="1"/>
          <p:nvPr/>
        </p:nvSpPr>
        <p:spPr>
          <a:xfrm>
            <a:off x="4023360" y="4325112"/>
            <a:ext cx="1920240" cy="731520"/>
          </a:xfrm>
          <a:prstGeom prst="rect">
            <a:avLst/>
          </a:prstGeom>
          <a:noFill/>
          <a:ln/>
        </p:spPr>
        <p:txBody>
          <a:bodyPr wrap="square" lIns="0" tIns="0" rIns="0" bIns="0" rtlCol="0" anchor="ctr"/>
          <a:lstStyle/>
          <a:p>
            <a:pPr marL="0" indent="0">
              <a:buNone/>
            </a:pPr>
            <a:r>
              <a:rPr lang="en-US" sz="1100" b="1" kern="0" spc="100" dirty="0">
                <a:solidFill>
                  <a:srgbClr val="169B62"/>
                </a:solidFill>
                <a:latin typeface="Calibri" pitchFamily="34" charset="0"/>
                <a:ea typeface="Calibri" pitchFamily="34" charset="-122"/>
                <a:cs typeface="Calibri" pitchFamily="34" charset="-120"/>
              </a:rPr>
              <a:t>AGENT WORKFLOW</a:t>
            </a:r>
            <a:endParaRPr lang="en-US" sz="1100" dirty="0"/>
          </a:p>
        </p:txBody>
      </p:sp>
      <p:sp>
        <p:nvSpPr>
          <p:cNvPr id="30" name="Text 24"/>
          <p:cNvSpPr txBox="1"/>
          <p:nvPr/>
        </p:nvSpPr>
        <p:spPr>
          <a:xfrm>
            <a:off x="5943600" y="4325112"/>
            <a:ext cx="5486400" cy="731520"/>
          </a:xfrm>
          <a:prstGeom prst="rect">
            <a:avLst/>
          </a:prstGeom>
          <a:noFill/>
          <a:ln/>
        </p:spPr>
        <p:txBody>
          <a:bodyPr wrap="square" lIns="0" tIns="0" rIns="0" bIns="0" rtlCol="0" anchor="ctr"/>
          <a:lstStyle/>
          <a:p>
            <a:pPr marL="0" indent="0">
              <a:buNone/>
            </a:pPr>
            <a:r>
              <a:rPr lang="en-US" sz="1350" dirty="0">
                <a:solidFill>
                  <a:srgbClr val="5A6A85"/>
                </a:solidFill>
                <a:latin typeface="Calibri" pitchFamily="34" charset="0"/>
                <a:ea typeface="Calibri" pitchFamily="34" charset="-122"/>
                <a:cs typeface="Calibri" pitchFamily="34" charset="-120"/>
              </a:rPr>
              <a:t>Runs the connected analysis nodes that feed the final report.</a:t>
            </a:r>
            <a:endParaRPr lang="en-US" sz="1350" dirty="0"/>
          </a:p>
        </p:txBody>
      </p:sp>
      <p:sp>
        <p:nvSpPr>
          <p:cNvPr id="31" name="Shape 25"/>
          <p:cNvSpPr/>
          <p:nvPr/>
        </p:nvSpPr>
        <p:spPr>
          <a:xfrm>
            <a:off x="548640" y="5202936"/>
            <a:ext cx="11091672" cy="731520"/>
          </a:xfrm>
          <a:prstGeom prst="roundRect">
            <a:avLst>
              <a:gd name="adj" fmla="val 10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32" name="Shape 26"/>
          <p:cNvSpPr/>
          <p:nvPr/>
        </p:nvSpPr>
        <p:spPr>
          <a:xfrm>
            <a:off x="548640" y="5202936"/>
            <a:ext cx="1005840" cy="731520"/>
          </a:xfrm>
          <a:prstGeom prst="roundRect">
            <a:avLst>
              <a:gd name="adj" fmla="val 10000"/>
            </a:avLst>
          </a:prstGeom>
          <a:solidFill>
            <a:srgbClr val="6B4FD8"/>
          </a:solidFill>
          <a:ln w="9525">
            <a:solidFill>
              <a:srgbClr val="6B4FD8"/>
            </a:solidFill>
            <a:prstDash val="solid"/>
          </a:ln>
        </p:spPr>
      </p:sp>
      <p:pic>
        <p:nvPicPr>
          <p:cNvPr id="33" name="Image 4" descr="preencoded.png"/>
          <p:cNvPicPr>
            <a:picLocks noChangeAspect="1"/>
          </p:cNvPicPr>
          <p:nvPr/>
        </p:nvPicPr>
        <p:blipFill>
          <a:blip r:embed="rId7"/>
          <a:stretch>
            <a:fillRect/>
          </a:stretch>
        </p:blipFill>
        <p:spPr>
          <a:xfrm>
            <a:off x="868680" y="5385816"/>
            <a:ext cx="365760" cy="365760"/>
          </a:xfrm>
          <a:prstGeom prst="rect">
            <a:avLst/>
          </a:prstGeom>
        </p:spPr>
      </p:pic>
      <p:sp>
        <p:nvSpPr>
          <p:cNvPr id="34" name="Text 27"/>
          <p:cNvSpPr txBox="1"/>
          <p:nvPr/>
        </p:nvSpPr>
        <p:spPr>
          <a:xfrm>
            <a:off x="1828800" y="5202936"/>
            <a:ext cx="2194560" cy="731520"/>
          </a:xfrm>
          <a:prstGeom prst="rect">
            <a:avLst/>
          </a:prstGeom>
          <a:noFill/>
          <a:ln/>
        </p:spPr>
        <p:txBody>
          <a:bodyPr wrap="square" lIns="0" tIns="0" rIns="0" bIns="0" rtlCol="0" anchor="ctr"/>
          <a:lstStyle/>
          <a:p>
            <a:pPr marL="0" indent="0">
              <a:buNone/>
            </a:pPr>
            <a:r>
              <a:rPr lang="en-US" sz="1700" b="1" dirty="0">
                <a:solidFill>
                  <a:srgbClr val="12203A"/>
                </a:solidFill>
                <a:latin typeface="Calibri" pitchFamily="34" charset="0"/>
                <a:ea typeface="Calibri" pitchFamily="34" charset="-122"/>
                <a:cs typeface="Calibri" pitchFamily="34" charset="-120"/>
              </a:rPr>
              <a:t>SQLite</a:t>
            </a:r>
            <a:endParaRPr lang="en-US" sz="1700" dirty="0"/>
          </a:p>
        </p:txBody>
      </p:sp>
      <p:sp>
        <p:nvSpPr>
          <p:cNvPr id="35" name="Text 28"/>
          <p:cNvSpPr txBox="1"/>
          <p:nvPr/>
        </p:nvSpPr>
        <p:spPr>
          <a:xfrm>
            <a:off x="4023360" y="5202936"/>
            <a:ext cx="1920240" cy="731520"/>
          </a:xfrm>
          <a:prstGeom prst="rect">
            <a:avLst/>
          </a:prstGeom>
          <a:noFill/>
          <a:ln/>
        </p:spPr>
        <p:txBody>
          <a:bodyPr wrap="square" lIns="0" tIns="0" rIns="0" bIns="0" rtlCol="0" anchor="ctr"/>
          <a:lstStyle/>
          <a:p>
            <a:pPr marL="0" indent="0">
              <a:buNone/>
            </a:pPr>
            <a:r>
              <a:rPr lang="en-US" sz="1100" b="1" kern="0" spc="100" dirty="0">
                <a:solidFill>
                  <a:srgbClr val="6B4FD8"/>
                </a:solidFill>
                <a:latin typeface="Calibri" pitchFamily="34" charset="0"/>
                <a:ea typeface="Calibri" pitchFamily="34" charset="-122"/>
                <a:cs typeface="Calibri" pitchFamily="34" charset="-120"/>
              </a:rPr>
              <a:t>LOCAL DATABASE</a:t>
            </a:r>
            <a:endParaRPr lang="en-US" sz="1100" dirty="0"/>
          </a:p>
        </p:txBody>
      </p:sp>
      <p:sp>
        <p:nvSpPr>
          <p:cNvPr id="36" name="Text 29"/>
          <p:cNvSpPr txBox="1"/>
          <p:nvPr/>
        </p:nvSpPr>
        <p:spPr>
          <a:xfrm>
            <a:off x="5943600" y="5202936"/>
            <a:ext cx="5486400" cy="731520"/>
          </a:xfrm>
          <a:prstGeom prst="rect">
            <a:avLst/>
          </a:prstGeom>
          <a:noFill/>
          <a:ln/>
        </p:spPr>
        <p:txBody>
          <a:bodyPr wrap="square" lIns="0" tIns="0" rIns="0" bIns="0" rtlCol="0" anchor="ctr"/>
          <a:lstStyle/>
          <a:p>
            <a:pPr marL="0" indent="0">
              <a:buNone/>
            </a:pPr>
            <a:r>
              <a:rPr lang="en-US" sz="1350" dirty="0">
                <a:solidFill>
                  <a:srgbClr val="5A6A85"/>
                </a:solidFill>
                <a:latin typeface="Calibri" pitchFamily="34" charset="0"/>
                <a:ea typeface="Calibri" pitchFamily="34" charset="-122"/>
                <a:cs typeface="Calibri" pitchFamily="34" charset="-120"/>
              </a:rPr>
              <a:t>Stores projects, risks, recommendations, mitigations and improvements.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1B33"/>
          </a:solidFill>
          <a:ln w="12700">
            <a:solidFill>
              <a:srgbClr val="0F1B33"/>
            </a:solidFill>
            <a:prstDash val="solid"/>
          </a:ln>
        </p:spPr>
      </p:sp>
      <p:sp>
        <p:nvSpPr>
          <p:cNvPr id="3" name="Text 1"/>
          <p:cNvSpPr txBox="1"/>
          <p:nvPr/>
        </p:nvSpPr>
        <p:spPr>
          <a:xfrm>
            <a:off x="548640" y="274320"/>
            <a:ext cx="9601200" cy="5943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System Flow</a:t>
            </a:r>
            <a:endParaRPr lang="en-US" sz="3400" dirty="0"/>
          </a:p>
        </p:txBody>
      </p:sp>
      <p:sp>
        <p:nvSpPr>
          <p:cNvPr id="4" name="Text 2"/>
          <p:cNvSpPr txBox="1"/>
          <p:nvPr/>
        </p:nvSpPr>
        <p:spPr>
          <a:xfrm>
            <a:off x="548640" y="868680"/>
            <a:ext cx="9601200" cy="3200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From project input to the dashboard and exportable report</a:t>
            </a:r>
            <a:endParaRPr lang="en-US" sz="1500" dirty="0"/>
          </a:p>
        </p:txBody>
      </p:sp>
      <p:sp>
        <p:nvSpPr>
          <p:cNvPr id="5" name="Text 3"/>
          <p:cNvSpPr txBox="1"/>
          <p:nvPr/>
        </p:nvSpPr>
        <p:spPr>
          <a:xfrm>
            <a:off x="9601200" y="502920"/>
            <a:ext cx="2039112" cy="365760"/>
          </a:xfrm>
          <a:prstGeom prst="rect">
            <a:avLst/>
          </a:prstGeom>
          <a:noFill/>
          <a:ln/>
        </p:spPr>
        <p:txBody>
          <a:bodyPr wrap="square" lIns="0" tIns="0" rIns="0" bIns="0" rtlCol="0" anchor="ctr"/>
          <a:lstStyle/>
          <a:p>
            <a:pPr marL="0" indent="0" algn="r">
              <a:buNone/>
            </a:pPr>
            <a:endParaRPr lang="en-US" sz="1300" dirty="0"/>
          </a:p>
        </p:txBody>
      </p:sp>
      <p:sp>
        <p:nvSpPr>
          <p:cNvPr id="6" name="Text 4"/>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1100" dirty="0">
                <a:solidFill>
                  <a:srgbClr val="5A6A85"/>
                </a:solidFill>
                <a:latin typeface="Calibri" pitchFamily="34" charset="0"/>
                <a:ea typeface="Calibri" pitchFamily="34" charset="-122"/>
                <a:cs typeface="Calibri" pitchFamily="34" charset="-120"/>
              </a:rPr>
              <a:t>3 / 7</a:t>
            </a:r>
            <a:endParaRPr lang="en-US" sz="1100" dirty="0"/>
          </a:p>
        </p:txBody>
      </p:sp>
      <p:sp>
        <p:nvSpPr>
          <p:cNvPr id="7" name="Text 5"/>
          <p:cNvSpPr txBox="1"/>
          <p:nvPr/>
        </p:nvSpPr>
        <p:spPr>
          <a:xfrm>
            <a:off x="548640" y="1645920"/>
            <a:ext cx="8229600" cy="274320"/>
          </a:xfrm>
          <a:prstGeom prst="rect">
            <a:avLst/>
          </a:prstGeom>
          <a:noFill/>
          <a:ln/>
        </p:spPr>
        <p:txBody>
          <a:bodyPr wrap="square" lIns="0" tIns="0" rIns="0" bIns="0" rtlCol="0" anchor="ctr"/>
          <a:lstStyle/>
          <a:p>
            <a:pPr marL="0" indent="0">
              <a:buNone/>
            </a:pPr>
            <a:r>
              <a:rPr lang="en-US" sz="1200" b="1" dirty="0">
                <a:solidFill>
                  <a:srgbClr val="1F5FD1"/>
                </a:solidFill>
                <a:latin typeface="Calibri" pitchFamily="34" charset="0"/>
                <a:ea typeface="Calibri" pitchFamily="34" charset="-122"/>
                <a:cs typeface="Calibri" pitchFamily="34" charset="-120"/>
              </a:rPr>
              <a:t>Built in Milestones 1-3</a:t>
            </a:r>
            <a:endParaRPr lang="en-US" sz="1200" dirty="0"/>
          </a:p>
        </p:txBody>
      </p:sp>
      <p:sp>
        <p:nvSpPr>
          <p:cNvPr id="8" name="Text 6"/>
          <p:cNvSpPr txBox="1"/>
          <p:nvPr/>
        </p:nvSpPr>
        <p:spPr>
          <a:xfrm>
            <a:off x="9509760" y="1645920"/>
            <a:ext cx="2130552" cy="274320"/>
          </a:xfrm>
          <a:prstGeom prst="rect">
            <a:avLst/>
          </a:prstGeom>
          <a:noFill/>
          <a:ln/>
        </p:spPr>
        <p:txBody>
          <a:bodyPr wrap="square" lIns="0" tIns="0" rIns="0" bIns="0" rtlCol="0" anchor="ctr"/>
          <a:lstStyle/>
          <a:p>
            <a:pPr marL="0" indent="0" algn="r">
              <a:buNone/>
            </a:pPr>
            <a:r>
              <a:rPr lang="en-US" sz="1200" b="1" dirty="0">
                <a:solidFill>
                  <a:srgbClr val="D93A34"/>
                </a:solidFill>
                <a:latin typeface="Calibri" pitchFamily="34" charset="0"/>
                <a:ea typeface="Calibri" pitchFamily="34" charset="-122"/>
                <a:cs typeface="Calibri" pitchFamily="34" charset="-120"/>
              </a:rPr>
              <a:t>New in Milestone 4</a:t>
            </a:r>
            <a:endParaRPr lang="en-US" sz="1200" dirty="0"/>
          </a:p>
        </p:txBody>
      </p:sp>
      <p:sp>
        <p:nvSpPr>
          <p:cNvPr id="9" name="Shape 7"/>
          <p:cNvSpPr/>
          <p:nvPr/>
        </p:nvSpPr>
        <p:spPr>
          <a:xfrm>
            <a:off x="548640" y="1965960"/>
            <a:ext cx="1965960" cy="1005840"/>
          </a:xfrm>
          <a:prstGeom prst="chevron">
            <a:avLst/>
          </a:prstGeom>
          <a:solidFill>
            <a:srgbClr val="1F5FD1"/>
          </a:solidFill>
          <a:ln w="12700">
            <a:solidFill>
              <a:srgbClr val="1F5FD1"/>
            </a:solidFill>
            <a:prstDash val="solid"/>
          </a:ln>
        </p:spPr>
      </p:sp>
      <p:sp>
        <p:nvSpPr>
          <p:cNvPr id="10" name="Text 8"/>
          <p:cNvSpPr txBox="1"/>
          <p:nvPr/>
        </p:nvSpPr>
        <p:spPr>
          <a:xfrm>
            <a:off x="960120" y="1965960"/>
            <a:ext cx="118872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Input</a:t>
            </a:r>
            <a:endParaRPr lang="en-US" sz="1300" dirty="0"/>
          </a:p>
        </p:txBody>
      </p:sp>
      <p:sp>
        <p:nvSpPr>
          <p:cNvPr id="11" name="Shape 9"/>
          <p:cNvSpPr/>
          <p:nvPr/>
        </p:nvSpPr>
        <p:spPr>
          <a:xfrm>
            <a:off x="594360" y="3200400"/>
            <a:ext cx="1691640" cy="1188720"/>
          </a:xfrm>
          <a:prstGeom prst="roundRect">
            <a:avLst>
              <a:gd name="adj" fmla="val 6154"/>
            </a:avLst>
          </a:prstGeom>
          <a:solidFill>
            <a:srgbClr val="E3ECFB"/>
          </a:solidFill>
          <a:ln w="9525">
            <a:solidFill>
              <a:srgbClr val="E3ECFB"/>
            </a:solidFill>
            <a:prstDash val="solid"/>
          </a:ln>
        </p:spPr>
      </p:sp>
      <p:sp>
        <p:nvSpPr>
          <p:cNvPr id="12" name="Text 10"/>
          <p:cNvSpPr txBox="1"/>
          <p:nvPr/>
        </p:nvSpPr>
        <p:spPr>
          <a:xfrm>
            <a:off x="685800" y="3291840"/>
            <a:ext cx="1508760" cy="1005840"/>
          </a:xfrm>
          <a:prstGeom prst="rect">
            <a:avLst/>
          </a:prstGeom>
          <a:noFill/>
          <a:ln/>
        </p:spPr>
        <p:txBody>
          <a:bodyPr wrap="square" lIns="0" tIns="0" rIns="0" bIns="0" rtlCol="0" anchor="t"/>
          <a:lstStyle/>
          <a:p>
            <a:pPr marL="0" indent="0">
              <a:buNone/>
            </a:pPr>
            <a:r>
              <a:rPr lang="en-US" sz="1300" dirty="0">
                <a:solidFill>
                  <a:srgbClr val="12203A"/>
                </a:solidFill>
                <a:latin typeface="Calibri" pitchFamily="34" charset="0"/>
                <a:ea typeface="Calibri" pitchFamily="34" charset="-122"/>
                <a:cs typeface="Calibri" pitchFamily="34" charset="-120"/>
              </a:rPr>
              <a:t>Project info, budget and target market</a:t>
            </a:r>
            <a:endParaRPr lang="en-US" sz="1300" dirty="0"/>
          </a:p>
        </p:txBody>
      </p:sp>
      <p:sp>
        <p:nvSpPr>
          <p:cNvPr id="13" name="Shape 11"/>
          <p:cNvSpPr/>
          <p:nvPr/>
        </p:nvSpPr>
        <p:spPr>
          <a:xfrm>
            <a:off x="2404872" y="1965960"/>
            <a:ext cx="1965960" cy="1005840"/>
          </a:xfrm>
          <a:prstGeom prst="chevron">
            <a:avLst/>
          </a:prstGeom>
          <a:solidFill>
            <a:srgbClr val="1F5FD1"/>
          </a:solidFill>
          <a:ln w="12700">
            <a:solidFill>
              <a:srgbClr val="1F5FD1"/>
            </a:solidFill>
            <a:prstDash val="solid"/>
          </a:ln>
        </p:spPr>
      </p:sp>
      <p:sp>
        <p:nvSpPr>
          <p:cNvPr id="14" name="Text 12"/>
          <p:cNvSpPr txBox="1"/>
          <p:nvPr/>
        </p:nvSpPr>
        <p:spPr>
          <a:xfrm>
            <a:off x="2816352" y="1965960"/>
            <a:ext cx="132588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Project analysis</a:t>
            </a:r>
            <a:endParaRPr lang="en-US" sz="1300" dirty="0"/>
          </a:p>
        </p:txBody>
      </p:sp>
      <p:sp>
        <p:nvSpPr>
          <p:cNvPr id="15" name="Shape 13"/>
          <p:cNvSpPr/>
          <p:nvPr/>
        </p:nvSpPr>
        <p:spPr>
          <a:xfrm>
            <a:off x="2450592" y="3200400"/>
            <a:ext cx="1691640" cy="1188720"/>
          </a:xfrm>
          <a:prstGeom prst="roundRect">
            <a:avLst>
              <a:gd name="adj" fmla="val 6154"/>
            </a:avLst>
          </a:prstGeom>
          <a:solidFill>
            <a:srgbClr val="E3ECFB"/>
          </a:solidFill>
          <a:ln w="9525">
            <a:solidFill>
              <a:srgbClr val="E3ECFB"/>
            </a:solidFill>
            <a:prstDash val="solid"/>
          </a:ln>
        </p:spPr>
      </p:sp>
      <p:sp>
        <p:nvSpPr>
          <p:cNvPr id="16" name="Text 14"/>
          <p:cNvSpPr txBox="1"/>
          <p:nvPr/>
        </p:nvSpPr>
        <p:spPr>
          <a:xfrm>
            <a:off x="2542032" y="3291840"/>
            <a:ext cx="1508760" cy="1005840"/>
          </a:xfrm>
          <a:prstGeom prst="rect">
            <a:avLst/>
          </a:prstGeom>
          <a:noFill/>
          <a:ln/>
        </p:spPr>
        <p:txBody>
          <a:bodyPr wrap="square" lIns="0" tIns="0" rIns="0" bIns="0" rtlCol="0" anchor="t"/>
          <a:lstStyle/>
          <a:p>
            <a:pPr marL="0" indent="0">
              <a:buNone/>
            </a:pPr>
            <a:r>
              <a:rPr lang="en-US" sz="1300" dirty="0">
                <a:solidFill>
                  <a:srgbClr val="12203A"/>
                </a:solidFill>
                <a:latin typeface="Calibri" pitchFamily="34" charset="0"/>
                <a:ea typeface="Calibri" pitchFamily="34" charset="-122"/>
                <a:cs typeface="Calibri" pitchFamily="34" charset="-120"/>
              </a:rPr>
              <a:t>Market and competitor context</a:t>
            </a:r>
            <a:endParaRPr lang="en-US" sz="1300" dirty="0"/>
          </a:p>
        </p:txBody>
      </p:sp>
      <p:sp>
        <p:nvSpPr>
          <p:cNvPr id="17" name="Shape 15"/>
          <p:cNvSpPr/>
          <p:nvPr/>
        </p:nvSpPr>
        <p:spPr>
          <a:xfrm>
            <a:off x="4261104" y="1965960"/>
            <a:ext cx="1965960" cy="1005840"/>
          </a:xfrm>
          <a:prstGeom prst="chevron">
            <a:avLst/>
          </a:prstGeom>
          <a:solidFill>
            <a:srgbClr val="1F5FD1"/>
          </a:solidFill>
          <a:ln w="12700">
            <a:solidFill>
              <a:srgbClr val="1F5FD1"/>
            </a:solidFill>
            <a:prstDash val="solid"/>
          </a:ln>
        </p:spPr>
      </p:sp>
      <p:sp>
        <p:nvSpPr>
          <p:cNvPr id="18" name="Text 16"/>
          <p:cNvSpPr txBox="1"/>
          <p:nvPr/>
        </p:nvSpPr>
        <p:spPr>
          <a:xfrm>
            <a:off x="4672584" y="1965960"/>
            <a:ext cx="118872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Risk analysis</a:t>
            </a:r>
            <a:endParaRPr lang="en-US" sz="1300" dirty="0"/>
          </a:p>
        </p:txBody>
      </p:sp>
      <p:sp>
        <p:nvSpPr>
          <p:cNvPr id="19" name="Shape 17"/>
          <p:cNvSpPr/>
          <p:nvPr/>
        </p:nvSpPr>
        <p:spPr>
          <a:xfrm>
            <a:off x="4306824" y="3200400"/>
            <a:ext cx="1691640" cy="1188720"/>
          </a:xfrm>
          <a:prstGeom prst="roundRect">
            <a:avLst>
              <a:gd name="adj" fmla="val 6154"/>
            </a:avLst>
          </a:prstGeom>
          <a:solidFill>
            <a:srgbClr val="E3ECFB"/>
          </a:solidFill>
          <a:ln w="9525">
            <a:solidFill>
              <a:srgbClr val="E3ECFB"/>
            </a:solidFill>
            <a:prstDash val="solid"/>
          </a:ln>
        </p:spPr>
      </p:sp>
      <p:sp>
        <p:nvSpPr>
          <p:cNvPr id="20" name="Text 18"/>
          <p:cNvSpPr txBox="1"/>
          <p:nvPr/>
        </p:nvSpPr>
        <p:spPr>
          <a:xfrm>
            <a:off x="4398264" y="3291840"/>
            <a:ext cx="1508760" cy="1005840"/>
          </a:xfrm>
          <a:prstGeom prst="rect">
            <a:avLst/>
          </a:prstGeom>
          <a:noFill/>
          <a:ln/>
        </p:spPr>
        <p:txBody>
          <a:bodyPr wrap="square" lIns="0" tIns="0" rIns="0" bIns="0" rtlCol="0" anchor="t"/>
          <a:lstStyle/>
          <a:p>
            <a:pPr marL="0" indent="0">
              <a:buNone/>
            </a:pPr>
            <a:r>
              <a:rPr lang="en-US" sz="1300" dirty="0">
                <a:solidFill>
                  <a:srgbClr val="12203A"/>
                </a:solidFill>
                <a:latin typeface="Calibri" pitchFamily="34" charset="0"/>
                <a:ea typeface="Calibri" pitchFamily="34" charset="-122"/>
                <a:cs typeface="Calibri" pitchFamily="34" charset="-120"/>
              </a:rPr>
              <a:t>Risk score, SWOT and feasibility</a:t>
            </a:r>
            <a:endParaRPr lang="en-US" sz="1300" dirty="0"/>
          </a:p>
        </p:txBody>
      </p:sp>
      <p:sp>
        <p:nvSpPr>
          <p:cNvPr id="21" name="Shape 19"/>
          <p:cNvSpPr/>
          <p:nvPr/>
        </p:nvSpPr>
        <p:spPr>
          <a:xfrm>
            <a:off x="6117336" y="1965960"/>
            <a:ext cx="1965960" cy="1005840"/>
          </a:xfrm>
          <a:prstGeom prst="chevron">
            <a:avLst/>
          </a:prstGeom>
          <a:solidFill>
            <a:srgbClr val="1F5FD1"/>
          </a:solidFill>
          <a:ln w="12700">
            <a:solidFill>
              <a:srgbClr val="1F5FD1"/>
            </a:solidFill>
            <a:prstDash val="solid"/>
          </a:ln>
        </p:spPr>
      </p:sp>
      <p:sp>
        <p:nvSpPr>
          <p:cNvPr id="22" name="Text 20"/>
          <p:cNvSpPr txBox="1"/>
          <p:nvPr/>
        </p:nvSpPr>
        <p:spPr>
          <a:xfrm>
            <a:off x="6528816" y="1965960"/>
            <a:ext cx="118872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Recommend &amp; mitigate</a:t>
            </a:r>
            <a:endParaRPr lang="en-US" sz="1300" dirty="0"/>
          </a:p>
        </p:txBody>
      </p:sp>
      <p:sp>
        <p:nvSpPr>
          <p:cNvPr id="23" name="Shape 21"/>
          <p:cNvSpPr/>
          <p:nvPr/>
        </p:nvSpPr>
        <p:spPr>
          <a:xfrm>
            <a:off x="6163056" y="3200400"/>
            <a:ext cx="1691640" cy="1188720"/>
          </a:xfrm>
          <a:prstGeom prst="roundRect">
            <a:avLst>
              <a:gd name="adj" fmla="val 6154"/>
            </a:avLst>
          </a:prstGeom>
          <a:solidFill>
            <a:srgbClr val="E3ECFB"/>
          </a:solidFill>
          <a:ln w="9525">
            <a:solidFill>
              <a:srgbClr val="E3ECFB"/>
            </a:solidFill>
            <a:prstDash val="solid"/>
          </a:ln>
        </p:spPr>
      </p:sp>
      <p:sp>
        <p:nvSpPr>
          <p:cNvPr id="24" name="Text 22"/>
          <p:cNvSpPr txBox="1"/>
          <p:nvPr/>
        </p:nvSpPr>
        <p:spPr>
          <a:xfrm>
            <a:off x="6254496" y="3291840"/>
            <a:ext cx="1508760" cy="1005840"/>
          </a:xfrm>
          <a:prstGeom prst="rect">
            <a:avLst/>
          </a:prstGeom>
          <a:noFill/>
          <a:ln/>
        </p:spPr>
        <p:txBody>
          <a:bodyPr wrap="square" lIns="0" tIns="0" rIns="0" bIns="0" rtlCol="0" anchor="t"/>
          <a:lstStyle/>
          <a:p>
            <a:pPr marL="0" indent="0">
              <a:buNone/>
            </a:pPr>
            <a:r>
              <a:rPr lang="en-US" sz="1300" dirty="0">
                <a:solidFill>
                  <a:srgbClr val="12203A"/>
                </a:solidFill>
                <a:latin typeface="Calibri" pitchFamily="34" charset="0"/>
                <a:ea typeface="Calibri" pitchFamily="34" charset="-122"/>
                <a:cs typeface="Calibri" pitchFamily="34" charset="-120"/>
              </a:rPr>
              <a:t>Gemini advice through the LangGraph agent</a:t>
            </a:r>
            <a:endParaRPr lang="en-US" sz="1300" dirty="0"/>
          </a:p>
        </p:txBody>
      </p:sp>
      <p:sp>
        <p:nvSpPr>
          <p:cNvPr id="25" name="Shape 23"/>
          <p:cNvSpPr/>
          <p:nvPr/>
        </p:nvSpPr>
        <p:spPr>
          <a:xfrm>
            <a:off x="7973568" y="1965960"/>
            <a:ext cx="1965960" cy="1005840"/>
          </a:xfrm>
          <a:prstGeom prst="chevron">
            <a:avLst/>
          </a:prstGeom>
          <a:solidFill>
            <a:srgbClr val="1F5FD1"/>
          </a:solidFill>
          <a:ln w="12700">
            <a:solidFill>
              <a:srgbClr val="1F5FD1"/>
            </a:solidFill>
            <a:prstDash val="solid"/>
          </a:ln>
        </p:spPr>
      </p:sp>
      <p:sp>
        <p:nvSpPr>
          <p:cNvPr id="26" name="Text 24"/>
          <p:cNvSpPr txBox="1"/>
          <p:nvPr/>
        </p:nvSpPr>
        <p:spPr>
          <a:xfrm>
            <a:off x="8385048" y="1965960"/>
            <a:ext cx="132588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Final response</a:t>
            </a:r>
            <a:endParaRPr lang="en-US" sz="1300" dirty="0"/>
          </a:p>
        </p:txBody>
      </p:sp>
      <p:sp>
        <p:nvSpPr>
          <p:cNvPr id="27" name="Shape 25"/>
          <p:cNvSpPr/>
          <p:nvPr/>
        </p:nvSpPr>
        <p:spPr>
          <a:xfrm>
            <a:off x="8019288" y="3200400"/>
            <a:ext cx="1691640" cy="1188720"/>
          </a:xfrm>
          <a:prstGeom prst="roundRect">
            <a:avLst>
              <a:gd name="adj" fmla="val 6154"/>
            </a:avLst>
          </a:prstGeom>
          <a:solidFill>
            <a:srgbClr val="E3ECFB"/>
          </a:solidFill>
          <a:ln w="9525">
            <a:solidFill>
              <a:srgbClr val="E3ECFB"/>
            </a:solidFill>
            <a:prstDash val="solid"/>
          </a:ln>
        </p:spPr>
      </p:sp>
      <p:sp>
        <p:nvSpPr>
          <p:cNvPr id="28" name="Text 26"/>
          <p:cNvSpPr txBox="1"/>
          <p:nvPr/>
        </p:nvSpPr>
        <p:spPr>
          <a:xfrm>
            <a:off x="8110728" y="3291840"/>
            <a:ext cx="1508760" cy="1005840"/>
          </a:xfrm>
          <a:prstGeom prst="rect">
            <a:avLst/>
          </a:prstGeom>
          <a:noFill/>
          <a:ln/>
        </p:spPr>
        <p:txBody>
          <a:bodyPr wrap="square" lIns="0" tIns="0" rIns="0" bIns="0" rtlCol="0" anchor="t"/>
          <a:lstStyle/>
          <a:p>
            <a:pPr marL="0" indent="0">
              <a:buNone/>
            </a:pPr>
            <a:r>
              <a:rPr lang="en-US" sz="1300" dirty="0">
                <a:solidFill>
                  <a:srgbClr val="12203A"/>
                </a:solidFill>
                <a:latin typeface="Calibri" pitchFamily="34" charset="0"/>
                <a:ea typeface="Calibri" pitchFamily="34" charset="-122"/>
                <a:cs typeface="Calibri" pitchFamily="34" charset="-120"/>
              </a:rPr>
              <a:t>Combined result saved to SQLite</a:t>
            </a:r>
            <a:endParaRPr lang="en-US" sz="1300" dirty="0"/>
          </a:p>
        </p:txBody>
      </p:sp>
      <p:sp>
        <p:nvSpPr>
          <p:cNvPr id="29" name="Shape 27"/>
          <p:cNvSpPr/>
          <p:nvPr/>
        </p:nvSpPr>
        <p:spPr>
          <a:xfrm>
            <a:off x="9829800" y="1965960"/>
            <a:ext cx="1965960" cy="1005840"/>
          </a:xfrm>
          <a:prstGeom prst="chevron">
            <a:avLst/>
          </a:prstGeom>
          <a:solidFill>
            <a:srgbClr val="D93A34"/>
          </a:solidFill>
          <a:ln w="12700">
            <a:solidFill>
              <a:srgbClr val="D93A34"/>
            </a:solidFill>
            <a:prstDash val="solid"/>
          </a:ln>
        </p:spPr>
      </p:sp>
      <p:sp>
        <p:nvSpPr>
          <p:cNvPr id="30" name="Text 28"/>
          <p:cNvSpPr txBox="1"/>
          <p:nvPr/>
        </p:nvSpPr>
        <p:spPr>
          <a:xfrm>
            <a:off x="10241280" y="1965960"/>
            <a:ext cx="118872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Dashboard &amp; report</a:t>
            </a:r>
            <a:endParaRPr lang="en-US" sz="1300" dirty="0"/>
          </a:p>
        </p:txBody>
      </p:sp>
      <p:sp>
        <p:nvSpPr>
          <p:cNvPr id="31" name="Shape 29"/>
          <p:cNvSpPr/>
          <p:nvPr/>
        </p:nvSpPr>
        <p:spPr>
          <a:xfrm>
            <a:off x="9875520" y="3200400"/>
            <a:ext cx="1691640" cy="1188720"/>
          </a:xfrm>
          <a:prstGeom prst="roundRect">
            <a:avLst>
              <a:gd name="adj" fmla="val 6154"/>
            </a:avLst>
          </a:prstGeom>
          <a:solidFill>
            <a:srgbClr val="FDECEA"/>
          </a:solidFill>
          <a:ln w="9525">
            <a:solidFill>
              <a:srgbClr val="FDECEA"/>
            </a:solidFill>
            <a:prstDash val="solid"/>
          </a:ln>
        </p:spPr>
      </p:sp>
      <p:sp>
        <p:nvSpPr>
          <p:cNvPr id="32" name="Text 30"/>
          <p:cNvSpPr txBox="1"/>
          <p:nvPr/>
        </p:nvSpPr>
        <p:spPr>
          <a:xfrm>
            <a:off x="9966960" y="3291840"/>
            <a:ext cx="1508760" cy="1005840"/>
          </a:xfrm>
          <a:prstGeom prst="rect">
            <a:avLst/>
          </a:prstGeom>
          <a:noFill/>
          <a:ln/>
        </p:spPr>
        <p:txBody>
          <a:bodyPr wrap="square" lIns="0" tIns="0" rIns="0" bIns="0" rtlCol="0" anchor="t"/>
          <a:lstStyle/>
          <a:p>
            <a:pPr marL="0" indent="0">
              <a:buNone/>
            </a:pPr>
            <a:r>
              <a:rPr lang="en-US" sz="1300" dirty="0">
                <a:solidFill>
                  <a:srgbClr val="12203A"/>
                </a:solidFill>
                <a:latin typeface="Calibri" pitchFamily="34" charset="0"/>
                <a:ea typeface="Calibri" pitchFamily="34" charset="-122"/>
                <a:cs typeface="Calibri" pitchFamily="34" charset="-120"/>
              </a:rPr>
              <a:t>Risk analytics, assessment report, Export and Share</a:t>
            </a:r>
            <a:endParaRPr lang="en-US" sz="1300" dirty="0"/>
          </a:p>
        </p:txBody>
      </p:sp>
      <p:sp>
        <p:nvSpPr>
          <p:cNvPr id="33" name="Shape 31"/>
          <p:cNvSpPr/>
          <p:nvPr/>
        </p:nvSpPr>
        <p:spPr>
          <a:xfrm>
            <a:off x="548640" y="4754880"/>
            <a:ext cx="11091672" cy="1234440"/>
          </a:xfrm>
          <a:prstGeom prst="roundRect">
            <a:avLst>
              <a:gd name="adj" fmla="val 5926"/>
            </a:avLst>
          </a:prstGeom>
          <a:solidFill>
            <a:srgbClr val="0F1B33"/>
          </a:solidFill>
          <a:ln w="9525">
            <a:solidFill>
              <a:srgbClr val="0F1B33"/>
            </a:solidFill>
            <a:prstDash val="solid"/>
          </a:ln>
        </p:spPr>
      </p:sp>
      <p:sp>
        <p:nvSpPr>
          <p:cNvPr id="34" name="Shape 32"/>
          <p:cNvSpPr/>
          <p:nvPr/>
        </p:nvSpPr>
        <p:spPr>
          <a:xfrm>
            <a:off x="822960" y="5029200"/>
            <a:ext cx="685800" cy="685800"/>
          </a:xfrm>
          <a:prstGeom prst="roundRect">
            <a:avLst>
              <a:gd name="adj" fmla="val 10667"/>
            </a:avLst>
          </a:prstGeom>
          <a:solidFill>
            <a:srgbClr val="1F5FD1"/>
          </a:solidFill>
          <a:ln w="9525">
            <a:solidFill>
              <a:srgbClr val="1F5FD1"/>
            </a:solidFill>
            <a:prstDash val="solid"/>
          </a:ln>
        </p:spPr>
      </p:sp>
      <p:pic>
        <p:nvPicPr>
          <p:cNvPr id="35" name="Image 0" descr="preencoded.png"/>
          <p:cNvPicPr>
            <a:picLocks noChangeAspect="1"/>
          </p:cNvPicPr>
          <p:nvPr/>
        </p:nvPicPr>
        <p:blipFill>
          <a:blip r:embed="rId3"/>
          <a:stretch>
            <a:fillRect/>
          </a:stretch>
        </p:blipFill>
        <p:spPr>
          <a:xfrm>
            <a:off x="978408" y="5184648"/>
            <a:ext cx="365760" cy="365760"/>
          </a:xfrm>
          <a:prstGeom prst="rect">
            <a:avLst/>
          </a:prstGeom>
        </p:spPr>
      </p:pic>
      <p:sp>
        <p:nvSpPr>
          <p:cNvPr id="36" name="Text 33"/>
          <p:cNvSpPr txBox="1"/>
          <p:nvPr/>
        </p:nvSpPr>
        <p:spPr>
          <a:xfrm>
            <a:off x="1783080" y="4937760"/>
            <a:ext cx="9601200" cy="36576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Saved results feed everything</a:t>
            </a:r>
            <a:endParaRPr lang="en-US" sz="1700" dirty="0"/>
          </a:p>
        </p:txBody>
      </p:sp>
      <p:sp>
        <p:nvSpPr>
          <p:cNvPr id="37" name="Text 34"/>
          <p:cNvSpPr txBox="1"/>
          <p:nvPr/>
        </p:nvSpPr>
        <p:spPr>
          <a:xfrm>
            <a:off x="1783080" y="5349240"/>
            <a:ext cx="9601200" cy="457200"/>
          </a:xfrm>
          <a:prstGeom prst="rect">
            <a:avLst/>
          </a:prstGeom>
          <a:noFill/>
          <a:ln/>
        </p:spPr>
        <p:txBody>
          <a:bodyPr wrap="square" lIns="0" tIns="0" rIns="0" bIns="0" rtlCol="0" anchor="t"/>
          <a:lstStyle/>
          <a:p>
            <a:pPr marL="0" indent="0">
              <a:buNone/>
            </a:pPr>
            <a:r>
              <a:rPr lang="en-US" sz="1400" dirty="0">
                <a:solidFill>
                  <a:srgbClr val="CADCFC"/>
                </a:solidFill>
                <a:latin typeface="Calibri" pitchFamily="34" charset="0"/>
                <a:ea typeface="Calibri" pitchFamily="34" charset="-122"/>
                <a:cs typeface="Calibri" pitchFamily="34" charset="-120"/>
              </a:rPr>
              <a:t>Every stage writes to SQLite. The dashboard and the exported report read the same saved results, so the numbers always match.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1B33"/>
          </a:solidFill>
          <a:ln w="12700">
            <a:solidFill>
              <a:srgbClr val="0F1B33"/>
            </a:solidFill>
            <a:prstDash val="solid"/>
          </a:ln>
        </p:spPr>
      </p:sp>
      <p:sp>
        <p:nvSpPr>
          <p:cNvPr id="3" name="Text 1"/>
          <p:cNvSpPr txBox="1"/>
          <p:nvPr/>
        </p:nvSpPr>
        <p:spPr>
          <a:xfrm>
            <a:off x="548640" y="274320"/>
            <a:ext cx="9601200" cy="5943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Working</a:t>
            </a:r>
            <a:endParaRPr lang="en-US" sz="3400" dirty="0"/>
          </a:p>
        </p:txBody>
      </p:sp>
      <p:sp>
        <p:nvSpPr>
          <p:cNvPr id="4" name="Text 2"/>
          <p:cNvSpPr txBox="1"/>
          <p:nvPr/>
        </p:nvSpPr>
        <p:spPr>
          <a:xfrm>
            <a:off x="548640" y="868680"/>
            <a:ext cx="9601200" cy="3200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Milestone 4: Dashboard &amp; Deployment in the running app</a:t>
            </a:r>
            <a:endParaRPr lang="en-US" sz="1500" dirty="0"/>
          </a:p>
        </p:txBody>
      </p:sp>
      <p:sp>
        <p:nvSpPr>
          <p:cNvPr id="6" name="Text 4"/>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1100" dirty="0">
                <a:solidFill>
                  <a:srgbClr val="5A6A85"/>
                </a:solidFill>
                <a:latin typeface="Calibri" pitchFamily="34" charset="0"/>
                <a:ea typeface="Calibri" pitchFamily="34" charset="-122"/>
                <a:cs typeface="Calibri" pitchFamily="34" charset="-120"/>
              </a:rPr>
              <a:t>4 / 7</a:t>
            </a:r>
            <a:endParaRPr lang="en-US" sz="1100" dirty="0"/>
          </a:p>
        </p:txBody>
      </p:sp>
      <p:sp>
        <p:nvSpPr>
          <p:cNvPr id="7" name="Shape 5"/>
          <p:cNvSpPr/>
          <p:nvPr/>
        </p:nvSpPr>
        <p:spPr>
          <a:xfrm>
            <a:off x="548640" y="1691640"/>
            <a:ext cx="7315200" cy="3520440"/>
          </a:xfrm>
          <a:prstGeom prst="roundRect">
            <a:avLst>
              <a:gd name="adj" fmla="val 2078"/>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pic>
        <p:nvPicPr>
          <p:cNvPr id="8" name="Image 0" descr="Dashboard screenshot"/>
          <p:cNvPicPr>
            <a:picLocks noChangeAspect="1"/>
          </p:cNvPicPr>
          <p:nvPr/>
        </p:nvPicPr>
        <p:blipFill>
          <a:blip r:embed="rId3"/>
          <a:stretch>
            <a:fillRect/>
          </a:stretch>
        </p:blipFill>
        <p:spPr>
          <a:xfrm>
            <a:off x="640080" y="1783080"/>
            <a:ext cx="7132320" cy="3358591"/>
          </a:xfrm>
          <a:prstGeom prst="rect">
            <a:avLst/>
          </a:prstGeom>
        </p:spPr>
      </p:pic>
      <p:sp>
        <p:nvSpPr>
          <p:cNvPr id="9" name="Shape 6"/>
          <p:cNvSpPr/>
          <p:nvPr/>
        </p:nvSpPr>
        <p:spPr>
          <a:xfrm>
            <a:off x="8138160" y="1691640"/>
            <a:ext cx="3502152" cy="1097280"/>
          </a:xfrm>
          <a:prstGeom prst="roundRect">
            <a:avLst>
              <a:gd name="adj" fmla="val 6667"/>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10" name="Shape 7"/>
          <p:cNvSpPr/>
          <p:nvPr/>
        </p:nvSpPr>
        <p:spPr>
          <a:xfrm>
            <a:off x="8138160" y="1691640"/>
            <a:ext cx="685800" cy="1097280"/>
          </a:xfrm>
          <a:prstGeom prst="roundRect">
            <a:avLst>
              <a:gd name="adj" fmla="val 10667"/>
            </a:avLst>
          </a:prstGeom>
          <a:solidFill>
            <a:srgbClr val="D93A34"/>
          </a:solidFill>
          <a:ln w="9525">
            <a:solidFill>
              <a:srgbClr val="D93A34"/>
            </a:solidFill>
            <a:prstDash val="solid"/>
          </a:ln>
        </p:spPr>
      </p:sp>
      <p:pic>
        <p:nvPicPr>
          <p:cNvPr id="11" name="Image 1" descr="preencoded.png"/>
          <p:cNvPicPr>
            <a:picLocks noChangeAspect="1"/>
          </p:cNvPicPr>
          <p:nvPr/>
        </p:nvPicPr>
        <p:blipFill>
          <a:blip r:embed="rId4"/>
          <a:stretch>
            <a:fillRect/>
          </a:stretch>
        </p:blipFill>
        <p:spPr>
          <a:xfrm>
            <a:off x="8302752" y="2039112"/>
            <a:ext cx="365760" cy="365760"/>
          </a:xfrm>
          <a:prstGeom prst="rect">
            <a:avLst/>
          </a:prstGeom>
        </p:spPr>
      </p:pic>
      <p:sp>
        <p:nvSpPr>
          <p:cNvPr id="12" name="Text 8"/>
          <p:cNvSpPr txBox="1"/>
          <p:nvPr/>
        </p:nvSpPr>
        <p:spPr>
          <a:xfrm>
            <a:off x="8961120" y="1783080"/>
            <a:ext cx="2560320" cy="365760"/>
          </a:xfrm>
          <a:prstGeom prst="rect">
            <a:avLst/>
          </a:prstGeom>
          <a:noFill/>
          <a:ln/>
        </p:spPr>
        <p:txBody>
          <a:bodyPr wrap="square" lIns="0" tIns="0" rIns="0" bIns="0" rtlCol="0" anchor="ctr"/>
          <a:lstStyle/>
          <a:p>
            <a:pPr marL="0" indent="0">
              <a:buNone/>
            </a:pPr>
            <a:r>
              <a:rPr lang="en-US" sz="1500" b="1" dirty="0">
                <a:solidFill>
                  <a:srgbClr val="12203A"/>
                </a:solidFill>
                <a:latin typeface="Calibri" pitchFamily="34" charset="0"/>
                <a:ea typeface="Calibri" pitchFamily="34" charset="-122"/>
                <a:cs typeface="Calibri" pitchFamily="34" charset="-120"/>
              </a:rPr>
              <a:t>Risk analytics</a:t>
            </a:r>
            <a:endParaRPr lang="en-US" sz="1500" dirty="0"/>
          </a:p>
        </p:txBody>
      </p:sp>
      <p:sp>
        <p:nvSpPr>
          <p:cNvPr id="13" name="Text 9"/>
          <p:cNvSpPr txBox="1"/>
          <p:nvPr/>
        </p:nvSpPr>
        <p:spPr>
          <a:xfrm>
            <a:off x="8961120" y="2148840"/>
            <a:ext cx="2560320" cy="594360"/>
          </a:xfrm>
          <a:prstGeom prst="rect">
            <a:avLst/>
          </a:prstGeom>
          <a:noFill/>
          <a:ln/>
        </p:spPr>
        <p:txBody>
          <a:bodyPr wrap="square" lIns="0" tIns="0" rIns="0" bIns="0" rtlCol="0" anchor="t"/>
          <a:lstStyle/>
          <a:p>
            <a:pPr marL="0" indent="0">
              <a:buNone/>
            </a:pPr>
            <a:r>
              <a:rPr lang="en-US" sz="1150" dirty="0">
                <a:solidFill>
                  <a:srgbClr val="5A6A85"/>
                </a:solidFill>
                <a:latin typeface="Calibri" pitchFamily="34" charset="0"/>
                <a:ea typeface="Calibri" pitchFamily="34" charset="-122"/>
                <a:cs typeface="Calibri" pitchFamily="34" charset="-120"/>
              </a:rPr>
              <a:t>Overall risk, success probability, market and tech risk with change indicators, plus a 6-month trend.</a:t>
            </a:r>
            <a:endParaRPr lang="en-US" sz="1150" dirty="0"/>
          </a:p>
        </p:txBody>
      </p:sp>
      <p:sp>
        <p:nvSpPr>
          <p:cNvPr id="14" name="Shape 10"/>
          <p:cNvSpPr/>
          <p:nvPr/>
        </p:nvSpPr>
        <p:spPr>
          <a:xfrm>
            <a:off x="8138160" y="2880360"/>
            <a:ext cx="3502152" cy="1097280"/>
          </a:xfrm>
          <a:prstGeom prst="roundRect">
            <a:avLst>
              <a:gd name="adj" fmla="val 6667"/>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15" name="Shape 11"/>
          <p:cNvSpPr/>
          <p:nvPr/>
        </p:nvSpPr>
        <p:spPr>
          <a:xfrm>
            <a:off x="8138160" y="2880360"/>
            <a:ext cx="685800" cy="1097280"/>
          </a:xfrm>
          <a:prstGeom prst="roundRect">
            <a:avLst>
              <a:gd name="adj" fmla="val 10667"/>
            </a:avLst>
          </a:prstGeom>
          <a:solidFill>
            <a:srgbClr val="1F5FD1"/>
          </a:solidFill>
          <a:ln w="9525">
            <a:solidFill>
              <a:srgbClr val="1F5FD1"/>
            </a:solidFill>
            <a:prstDash val="solid"/>
          </a:ln>
        </p:spPr>
      </p:sp>
      <p:pic>
        <p:nvPicPr>
          <p:cNvPr id="16" name="Image 2" descr="preencoded.png"/>
          <p:cNvPicPr>
            <a:picLocks noChangeAspect="1"/>
          </p:cNvPicPr>
          <p:nvPr/>
        </p:nvPicPr>
        <p:blipFill>
          <a:blip r:embed="rId5"/>
          <a:stretch>
            <a:fillRect/>
          </a:stretch>
        </p:blipFill>
        <p:spPr>
          <a:xfrm>
            <a:off x="8302752" y="3227832"/>
            <a:ext cx="365760" cy="365760"/>
          </a:xfrm>
          <a:prstGeom prst="rect">
            <a:avLst/>
          </a:prstGeom>
        </p:spPr>
      </p:pic>
      <p:sp>
        <p:nvSpPr>
          <p:cNvPr id="17" name="Text 12"/>
          <p:cNvSpPr txBox="1"/>
          <p:nvPr/>
        </p:nvSpPr>
        <p:spPr>
          <a:xfrm>
            <a:off x="8961120" y="2971800"/>
            <a:ext cx="2560320" cy="365760"/>
          </a:xfrm>
          <a:prstGeom prst="rect">
            <a:avLst/>
          </a:prstGeom>
          <a:noFill/>
          <a:ln/>
        </p:spPr>
        <p:txBody>
          <a:bodyPr wrap="square" lIns="0" tIns="0" rIns="0" bIns="0" rtlCol="0" anchor="ctr"/>
          <a:lstStyle/>
          <a:p>
            <a:pPr marL="0" indent="0">
              <a:buNone/>
            </a:pPr>
            <a:r>
              <a:rPr lang="en-US" sz="1500" b="1" dirty="0">
                <a:solidFill>
                  <a:srgbClr val="12203A"/>
                </a:solidFill>
                <a:latin typeface="Calibri" pitchFamily="34" charset="0"/>
                <a:ea typeface="Calibri" pitchFamily="34" charset="-122"/>
                <a:cs typeface="Calibri" pitchFamily="34" charset="-120"/>
              </a:rPr>
              <a:t>Assessment report</a:t>
            </a:r>
            <a:endParaRPr lang="en-US" sz="1500" dirty="0"/>
          </a:p>
        </p:txBody>
      </p:sp>
      <p:sp>
        <p:nvSpPr>
          <p:cNvPr id="18" name="Text 13"/>
          <p:cNvSpPr txBox="1"/>
          <p:nvPr/>
        </p:nvSpPr>
        <p:spPr>
          <a:xfrm>
            <a:off x="8961120" y="3337560"/>
            <a:ext cx="2560320" cy="594360"/>
          </a:xfrm>
          <a:prstGeom prst="rect">
            <a:avLst/>
          </a:prstGeom>
          <a:noFill/>
          <a:ln/>
        </p:spPr>
        <p:txBody>
          <a:bodyPr wrap="square" lIns="0" tIns="0" rIns="0" bIns="0" rtlCol="0" anchor="t"/>
          <a:lstStyle/>
          <a:p>
            <a:pPr marL="0" indent="0">
              <a:buNone/>
            </a:pPr>
            <a:r>
              <a:rPr lang="en-US" sz="1150" dirty="0">
                <a:solidFill>
                  <a:srgbClr val="5A6A85"/>
                </a:solidFill>
                <a:latin typeface="Calibri" pitchFamily="34" charset="0"/>
                <a:ea typeface="Calibri" pitchFamily="34" charset="-122"/>
                <a:cs typeface="Calibri" pitchFamily="34" charset="-120"/>
              </a:rPr>
              <a:t>Key findings, risk assessment and recommendations, with Export and Share buttons.</a:t>
            </a:r>
            <a:endParaRPr lang="en-US" sz="1150" dirty="0"/>
          </a:p>
        </p:txBody>
      </p:sp>
      <p:sp>
        <p:nvSpPr>
          <p:cNvPr id="19" name="Shape 14"/>
          <p:cNvSpPr/>
          <p:nvPr/>
        </p:nvSpPr>
        <p:spPr>
          <a:xfrm>
            <a:off x="8138160" y="4069080"/>
            <a:ext cx="3502152" cy="1097280"/>
          </a:xfrm>
          <a:prstGeom prst="roundRect">
            <a:avLst>
              <a:gd name="adj" fmla="val 6667"/>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0" name="Shape 15"/>
          <p:cNvSpPr/>
          <p:nvPr/>
        </p:nvSpPr>
        <p:spPr>
          <a:xfrm>
            <a:off x="8138160" y="4069080"/>
            <a:ext cx="685800" cy="1097280"/>
          </a:xfrm>
          <a:prstGeom prst="roundRect">
            <a:avLst>
              <a:gd name="adj" fmla="val 10667"/>
            </a:avLst>
          </a:prstGeom>
          <a:solidFill>
            <a:srgbClr val="169B62"/>
          </a:solidFill>
          <a:ln w="9525">
            <a:solidFill>
              <a:srgbClr val="169B62"/>
            </a:solidFill>
            <a:prstDash val="solid"/>
          </a:ln>
        </p:spPr>
      </p:sp>
      <p:pic>
        <p:nvPicPr>
          <p:cNvPr id="21" name="Image 3" descr="preencoded.png"/>
          <p:cNvPicPr>
            <a:picLocks noChangeAspect="1"/>
          </p:cNvPicPr>
          <p:nvPr/>
        </p:nvPicPr>
        <p:blipFill>
          <a:blip r:embed="rId6"/>
          <a:stretch>
            <a:fillRect/>
          </a:stretch>
        </p:blipFill>
        <p:spPr>
          <a:xfrm>
            <a:off x="8302752" y="4416552"/>
            <a:ext cx="365760" cy="365760"/>
          </a:xfrm>
          <a:prstGeom prst="rect">
            <a:avLst/>
          </a:prstGeom>
        </p:spPr>
      </p:pic>
      <p:sp>
        <p:nvSpPr>
          <p:cNvPr id="22" name="Text 16"/>
          <p:cNvSpPr txBox="1"/>
          <p:nvPr/>
        </p:nvSpPr>
        <p:spPr>
          <a:xfrm>
            <a:off x="8961120" y="4160520"/>
            <a:ext cx="2560320" cy="365760"/>
          </a:xfrm>
          <a:prstGeom prst="rect">
            <a:avLst/>
          </a:prstGeom>
          <a:noFill/>
          <a:ln/>
        </p:spPr>
        <p:txBody>
          <a:bodyPr wrap="square" lIns="0" tIns="0" rIns="0" bIns="0" rtlCol="0" anchor="ctr"/>
          <a:lstStyle/>
          <a:p>
            <a:pPr marL="0" indent="0">
              <a:buNone/>
            </a:pPr>
            <a:r>
              <a:rPr lang="en-US" sz="1500" b="1" dirty="0">
                <a:solidFill>
                  <a:srgbClr val="12203A"/>
                </a:solidFill>
                <a:latin typeface="Calibri" pitchFamily="34" charset="0"/>
                <a:ea typeface="Calibri" pitchFamily="34" charset="-122"/>
                <a:cs typeface="Calibri" pitchFamily="34" charset="-120"/>
              </a:rPr>
              <a:t>Strategic insights</a:t>
            </a:r>
            <a:endParaRPr lang="en-US" sz="1500" dirty="0"/>
          </a:p>
        </p:txBody>
      </p:sp>
      <p:sp>
        <p:nvSpPr>
          <p:cNvPr id="23" name="Text 17"/>
          <p:cNvSpPr txBox="1"/>
          <p:nvPr/>
        </p:nvSpPr>
        <p:spPr>
          <a:xfrm>
            <a:off x="8961120" y="4526280"/>
            <a:ext cx="2560320" cy="594360"/>
          </a:xfrm>
          <a:prstGeom prst="rect">
            <a:avLst/>
          </a:prstGeom>
          <a:noFill/>
          <a:ln/>
        </p:spPr>
        <p:txBody>
          <a:bodyPr wrap="square" lIns="0" tIns="0" rIns="0" bIns="0" rtlCol="0" anchor="t"/>
          <a:lstStyle/>
          <a:p>
            <a:pPr marL="0" indent="0">
              <a:buNone/>
            </a:pPr>
            <a:r>
              <a:rPr lang="en-US" sz="1150" dirty="0">
                <a:solidFill>
                  <a:srgbClr val="5A6A85"/>
                </a:solidFill>
                <a:latin typeface="Calibri" pitchFamily="34" charset="0"/>
                <a:ea typeface="Calibri" pitchFamily="34" charset="-122"/>
                <a:cs typeface="Calibri" pitchFamily="34" charset="-120"/>
              </a:rPr>
              <a:t>Funding strategy and technical advantage, plus recommended next steps.</a:t>
            </a:r>
            <a:endParaRPr lang="en-US" sz="1150" dirty="0"/>
          </a:p>
        </p:txBody>
      </p:sp>
      <p:sp>
        <p:nvSpPr>
          <p:cNvPr id="24" name="Shape 18"/>
          <p:cNvSpPr/>
          <p:nvPr/>
        </p:nvSpPr>
        <p:spPr>
          <a:xfrm>
            <a:off x="548640" y="5440680"/>
            <a:ext cx="11091672" cy="731520"/>
          </a:xfrm>
          <a:prstGeom prst="roundRect">
            <a:avLst>
              <a:gd name="adj" fmla="val 10000"/>
            </a:avLst>
          </a:prstGeom>
          <a:solidFill>
            <a:srgbClr val="E3ECFB"/>
          </a:solidFill>
          <a:ln w="9525">
            <a:solidFill>
              <a:srgbClr val="E3ECFB"/>
            </a:solidFill>
            <a:prstDash val="solid"/>
          </a:ln>
        </p:spPr>
      </p:sp>
      <p:sp>
        <p:nvSpPr>
          <p:cNvPr id="25" name="Text 19"/>
          <p:cNvSpPr txBox="1"/>
          <p:nvPr/>
        </p:nvSpPr>
        <p:spPr>
          <a:xfrm>
            <a:off x="777240" y="5440680"/>
            <a:ext cx="10607040" cy="731520"/>
          </a:xfrm>
          <a:prstGeom prst="rect">
            <a:avLst/>
          </a:prstGeom>
          <a:noFill/>
          <a:ln/>
        </p:spPr>
        <p:txBody>
          <a:bodyPr wrap="square" lIns="0" tIns="0" rIns="0" bIns="0" rtlCol="0" anchor="ctr"/>
          <a:lstStyle/>
          <a:p>
            <a:pPr marL="0" indent="0">
              <a:buNone/>
            </a:pPr>
            <a:r>
              <a:rPr lang="en-US" sz="1500" b="1" dirty="0">
                <a:solidFill>
                  <a:srgbClr val="12203A"/>
                </a:solidFill>
                <a:latin typeface="Calibri" pitchFamily="34" charset="0"/>
                <a:ea typeface="Calibri" pitchFamily="34" charset="-122"/>
                <a:cs typeface="Calibri" pitchFamily="34" charset="-120"/>
              </a:rPr>
              <a:t>Demo path:  open the Dashboard tab  &gt;  read the risk analytics  &gt;  review the assessment report  &gt;  Export or Share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1B33"/>
          </a:solidFill>
          <a:ln w="12700">
            <a:solidFill>
              <a:srgbClr val="0F1B33"/>
            </a:solidFill>
            <a:prstDash val="solid"/>
          </a:ln>
        </p:spPr>
      </p:sp>
      <p:sp>
        <p:nvSpPr>
          <p:cNvPr id="3" name="Text 1"/>
          <p:cNvSpPr txBox="1"/>
          <p:nvPr/>
        </p:nvSpPr>
        <p:spPr>
          <a:xfrm>
            <a:off x="548640" y="274320"/>
            <a:ext cx="9601200" cy="5943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Database Structure</a:t>
            </a:r>
            <a:endParaRPr lang="en-US" sz="3400" dirty="0"/>
          </a:p>
        </p:txBody>
      </p:sp>
      <p:sp>
        <p:nvSpPr>
          <p:cNvPr id="4" name="Text 2"/>
          <p:cNvSpPr txBox="1"/>
          <p:nvPr/>
        </p:nvSpPr>
        <p:spPr>
          <a:xfrm>
            <a:off x="548640" y="868680"/>
            <a:ext cx="9601200" cy="3200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Milestone 4: the tables behind the dashboard, the assessment report and Export</a:t>
            </a:r>
            <a:endParaRPr lang="en-US" sz="1500" dirty="0"/>
          </a:p>
        </p:txBody>
      </p:sp>
      <p:sp>
        <p:nvSpPr>
          <p:cNvPr id="6" name="Text 4"/>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1100" dirty="0">
                <a:solidFill>
                  <a:srgbClr val="5A6A85"/>
                </a:solidFill>
                <a:latin typeface="Calibri" pitchFamily="34" charset="0"/>
                <a:ea typeface="Calibri" pitchFamily="34" charset="-122"/>
                <a:cs typeface="Calibri" pitchFamily="34" charset="-120"/>
              </a:rPr>
              <a:t>5 / 7</a:t>
            </a:r>
            <a:endParaRPr lang="en-US" sz="1100" dirty="0"/>
          </a:p>
        </p:txBody>
      </p:sp>
      <p:sp>
        <p:nvSpPr>
          <p:cNvPr id="7" name="Shape 5"/>
          <p:cNvSpPr/>
          <p:nvPr/>
        </p:nvSpPr>
        <p:spPr>
          <a:xfrm>
            <a:off x="548640" y="1691640"/>
            <a:ext cx="3657600" cy="4434840"/>
          </a:xfrm>
          <a:prstGeom prst="roundRect">
            <a:avLst>
              <a:gd name="adj" fmla="val 2000"/>
            </a:avLst>
          </a:prstGeom>
          <a:solidFill>
            <a:srgbClr val="0F1B33"/>
          </a:solidFill>
          <a:ln w="9525">
            <a:solidFill>
              <a:srgbClr val="0F1B33"/>
            </a:solidFill>
            <a:prstDash val="solid"/>
          </a:ln>
        </p:spPr>
      </p:sp>
      <p:sp>
        <p:nvSpPr>
          <p:cNvPr id="8" name="Text 6"/>
          <p:cNvSpPr txBox="1"/>
          <p:nvPr/>
        </p:nvSpPr>
        <p:spPr>
          <a:xfrm>
            <a:off x="822960" y="1874520"/>
            <a:ext cx="3108960" cy="411480"/>
          </a:xfrm>
          <a:prstGeom prst="rect">
            <a:avLst/>
          </a:prstGeom>
          <a:noFill/>
          <a:ln/>
        </p:spPr>
        <p:txBody>
          <a:bodyPr wrap="square" lIns="0" tIns="0" rIns="0" bIns="0" rtlCol="0" anchor="ctr"/>
          <a:lstStyle/>
          <a:p>
            <a:pPr marL="0" indent="0">
              <a:buNone/>
            </a:pPr>
            <a:r>
              <a:rPr lang="en-US" sz="2000" b="1" dirty="0">
                <a:solidFill>
                  <a:srgbClr val="FFFFFF"/>
                </a:solidFill>
                <a:latin typeface="Courier New" pitchFamily="34" charset="0"/>
                <a:ea typeface="Courier New" pitchFamily="34" charset="-122"/>
                <a:cs typeface="Courier New" pitchFamily="34" charset="-120"/>
              </a:rPr>
              <a:t>Projects</a:t>
            </a:r>
            <a:endParaRPr lang="en-US" sz="2000" dirty="0"/>
          </a:p>
        </p:txBody>
      </p:sp>
      <p:sp>
        <p:nvSpPr>
          <p:cNvPr id="9" name="Text 7"/>
          <p:cNvSpPr txBox="1"/>
          <p:nvPr/>
        </p:nvSpPr>
        <p:spPr>
          <a:xfrm>
            <a:off x="822960" y="2286000"/>
            <a:ext cx="3108960" cy="274320"/>
          </a:xfrm>
          <a:prstGeom prst="rect">
            <a:avLst/>
          </a:prstGeom>
          <a:noFill/>
          <a:ln/>
        </p:spPr>
        <p:txBody>
          <a:bodyPr wrap="square" lIns="0" tIns="0" rIns="0" bIns="0" rtlCol="0" anchor="ctr"/>
          <a:lstStyle/>
          <a:p>
            <a:pPr marL="0" indent="0">
              <a:buNone/>
            </a:pPr>
            <a:r>
              <a:rPr lang="en-US" sz="1200" i="1" dirty="0">
                <a:solidFill>
                  <a:srgbClr val="CADCFC"/>
                </a:solidFill>
                <a:latin typeface="Calibri" pitchFamily="34" charset="0"/>
                <a:ea typeface="Calibri" pitchFamily="34" charset="-122"/>
                <a:cs typeface="Calibri" pitchFamily="34" charset="-120"/>
              </a:rPr>
              <a:t>one row per analysed project</a:t>
            </a:r>
            <a:endParaRPr lang="en-US" sz="1200" dirty="0"/>
          </a:p>
        </p:txBody>
      </p:sp>
      <p:sp>
        <p:nvSpPr>
          <p:cNvPr id="10" name="Text 8"/>
          <p:cNvSpPr txBox="1"/>
          <p:nvPr/>
        </p:nvSpPr>
        <p:spPr>
          <a:xfrm>
            <a:off x="822960" y="2697480"/>
            <a:ext cx="3108960" cy="2743200"/>
          </a:xfrm>
          <a:prstGeom prst="rect">
            <a:avLst/>
          </a:prstGeom>
          <a:noFill/>
          <a:ln/>
        </p:spPr>
        <p:txBody>
          <a:bodyPr wrap="square" lIns="0" tIns="0" rIns="0" bIns="0" rtlCol="0" anchor="t"/>
          <a:lstStyle/>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project_id (PK)</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user_id (FK)</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project_name</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project_type</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budget</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target_market</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description</a:t>
            </a:r>
            <a:endParaRPr lang="en-US" sz="1300" dirty="0"/>
          </a:p>
          <a:p>
            <a:pPr marL="0" indent="0">
              <a:spcAft>
                <a:spcPts val="300"/>
              </a:spcAft>
              <a:buNone/>
            </a:pPr>
            <a:r>
              <a:rPr lang="en-US" sz="1300" dirty="0">
                <a:solidFill>
                  <a:srgbClr val="DBE6FF"/>
                </a:solidFill>
                <a:latin typeface="Courier New" pitchFamily="34" charset="0"/>
                <a:ea typeface="Courier New" pitchFamily="34" charset="-122"/>
                <a:cs typeface="Courier New" pitchFamily="34" charset="-120"/>
              </a:rPr>
              <a:t>created_at</a:t>
            </a:r>
            <a:endParaRPr lang="en-US" sz="1300" dirty="0"/>
          </a:p>
        </p:txBody>
      </p:sp>
      <p:sp>
        <p:nvSpPr>
          <p:cNvPr id="11" name="Text 9"/>
          <p:cNvSpPr txBox="1"/>
          <p:nvPr/>
        </p:nvSpPr>
        <p:spPr>
          <a:xfrm>
            <a:off x="822960" y="5212080"/>
            <a:ext cx="3108960" cy="731520"/>
          </a:xfrm>
          <a:prstGeom prst="rect">
            <a:avLst/>
          </a:prstGeom>
          <a:noFill/>
          <a:ln/>
        </p:spPr>
        <p:txBody>
          <a:bodyPr wrap="square" lIns="0" tIns="0" rIns="0" bIns="0" rtlCol="0" anchor="t"/>
          <a:lstStyle/>
          <a:p>
            <a:pPr marL="0" indent="0">
              <a:buNone/>
            </a:pPr>
            <a:r>
              <a:rPr lang="en-US" sz="1250" dirty="0">
                <a:solidFill>
                  <a:srgbClr val="CADCFC"/>
                </a:solidFill>
                <a:latin typeface="Calibri" pitchFamily="34" charset="0"/>
                <a:ea typeface="Calibri" pitchFamily="34" charset="-122"/>
                <a:cs typeface="Calibri" pitchFamily="34" charset="-120"/>
              </a:rPr>
              <a:t>The result tables link back through project_id; Analytics_Logs links through user_id.</a:t>
            </a:r>
            <a:endParaRPr lang="en-US" sz="1250" dirty="0"/>
          </a:p>
        </p:txBody>
      </p:sp>
      <p:sp>
        <p:nvSpPr>
          <p:cNvPr id="12" name="Shape 10"/>
          <p:cNvSpPr/>
          <p:nvPr/>
        </p:nvSpPr>
        <p:spPr>
          <a:xfrm>
            <a:off x="4434840" y="2093976"/>
            <a:ext cx="0" cy="3621024"/>
          </a:xfrm>
          <a:prstGeom prst="line">
            <a:avLst/>
          </a:prstGeom>
          <a:noFill/>
          <a:ln w="19050">
            <a:solidFill>
              <a:srgbClr val="5A6A85"/>
            </a:solidFill>
            <a:prstDash val="solid"/>
          </a:ln>
        </p:spPr>
      </p:sp>
      <p:sp>
        <p:nvSpPr>
          <p:cNvPr id="13" name="Shape 11"/>
          <p:cNvSpPr/>
          <p:nvPr/>
        </p:nvSpPr>
        <p:spPr>
          <a:xfrm>
            <a:off x="4206240" y="3909060"/>
            <a:ext cx="228600" cy="0"/>
          </a:xfrm>
          <a:prstGeom prst="line">
            <a:avLst/>
          </a:prstGeom>
          <a:noFill/>
          <a:ln w="19050">
            <a:solidFill>
              <a:srgbClr val="5A6A85"/>
            </a:solidFill>
            <a:prstDash val="solid"/>
          </a:ln>
        </p:spPr>
      </p:sp>
      <p:sp>
        <p:nvSpPr>
          <p:cNvPr id="14" name="Shape 12"/>
          <p:cNvSpPr/>
          <p:nvPr/>
        </p:nvSpPr>
        <p:spPr>
          <a:xfrm>
            <a:off x="4434840" y="2093976"/>
            <a:ext cx="411480" cy="0"/>
          </a:xfrm>
          <a:prstGeom prst="line">
            <a:avLst/>
          </a:prstGeom>
          <a:noFill/>
          <a:ln w="19050">
            <a:solidFill>
              <a:srgbClr val="5A6A85"/>
            </a:solidFill>
            <a:prstDash val="solid"/>
          </a:ln>
        </p:spPr>
      </p:sp>
      <p:sp>
        <p:nvSpPr>
          <p:cNvPr id="15" name="Shape 13"/>
          <p:cNvSpPr/>
          <p:nvPr/>
        </p:nvSpPr>
        <p:spPr>
          <a:xfrm>
            <a:off x="4846320" y="1691640"/>
            <a:ext cx="6793992" cy="804672"/>
          </a:xfrm>
          <a:prstGeom prst="roundRect">
            <a:avLst>
              <a:gd name="adj" fmla="val 9091"/>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16" name="Shape 14"/>
          <p:cNvSpPr/>
          <p:nvPr/>
        </p:nvSpPr>
        <p:spPr>
          <a:xfrm>
            <a:off x="4846320" y="1691640"/>
            <a:ext cx="2331720" cy="804672"/>
          </a:xfrm>
          <a:prstGeom prst="roundRect">
            <a:avLst>
              <a:gd name="adj" fmla="val 9091"/>
            </a:avLst>
          </a:prstGeom>
          <a:solidFill>
            <a:srgbClr val="D93A34"/>
          </a:solidFill>
          <a:ln w="9525">
            <a:solidFill>
              <a:srgbClr val="D93A34"/>
            </a:solidFill>
            <a:prstDash val="solid"/>
          </a:ln>
        </p:spPr>
      </p:sp>
      <p:sp>
        <p:nvSpPr>
          <p:cNvPr id="17" name="Text 15"/>
          <p:cNvSpPr txBox="1"/>
          <p:nvPr/>
        </p:nvSpPr>
        <p:spPr>
          <a:xfrm>
            <a:off x="4956048" y="1691640"/>
            <a:ext cx="2148840" cy="804672"/>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Success_Predictions</a:t>
            </a:r>
            <a:endParaRPr lang="en-US" sz="1150" dirty="0"/>
          </a:p>
        </p:txBody>
      </p:sp>
      <p:sp>
        <p:nvSpPr>
          <p:cNvPr id="18" name="Text 16"/>
          <p:cNvSpPr txBox="1"/>
          <p:nvPr/>
        </p:nvSpPr>
        <p:spPr>
          <a:xfrm>
            <a:off x="7315200" y="1691640"/>
            <a:ext cx="4206240" cy="804672"/>
          </a:xfrm>
          <a:prstGeom prst="rect">
            <a:avLst/>
          </a:prstGeom>
          <a:noFill/>
          <a:ln/>
        </p:spPr>
        <p:txBody>
          <a:bodyPr wrap="square" lIns="0" tIns="0" rIns="0" bIns="0" rtlCol="0" anchor="ctr"/>
          <a:lstStyle/>
          <a:p>
            <a:pPr marL="0" indent="0">
              <a:buNone/>
            </a:pPr>
            <a:r>
              <a:rPr lang="en-US" sz="1050" dirty="0">
                <a:solidFill>
                  <a:srgbClr val="12203A"/>
                </a:solidFill>
                <a:latin typeface="Calibri" pitchFamily="34" charset="0"/>
                <a:ea typeface="Calibri" pitchFamily="34" charset="-122"/>
                <a:cs typeface="Calibri" pitchFamily="34" charset="-120"/>
              </a:rPr>
              <a:t>prediction_id (PK), project_id (FK), success_probability, overall_risk_score, prediction_date</a:t>
            </a:r>
            <a:endParaRPr lang="en-US" sz="1050" dirty="0"/>
          </a:p>
          <a:p>
            <a:pPr marL="0" indent="0">
              <a:buNone/>
            </a:pPr>
            <a:r>
              <a:rPr lang="en-US" sz="1050" b="1" dirty="0">
                <a:solidFill>
                  <a:srgbClr val="D93A34"/>
                </a:solidFill>
                <a:latin typeface="Calibri" pitchFamily="34" charset="0"/>
                <a:ea typeface="Calibri" pitchFamily="34" charset="-122"/>
                <a:cs typeface="Calibri" pitchFamily="34" charset="-120"/>
              </a:rPr>
              <a:t>Feeds the Overall Risk and Success Prob. tiles</a:t>
            </a:r>
            <a:endParaRPr lang="en-US" sz="1050" dirty="0"/>
          </a:p>
        </p:txBody>
      </p:sp>
      <p:sp>
        <p:nvSpPr>
          <p:cNvPr id="19" name="Shape 17"/>
          <p:cNvSpPr/>
          <p:nvPr/>
        </p:nvSpPr>
        <p:spPr>
          <a:xfrm>
            <a:off x="4434840" y="2999232"/>
            <a:ext cx="411480" cy="0"/>
          </a:xfrm>
          <a:prstGeom prst="line">
            <a:avLst/>
          </a:prstGeom>
          <a:noFill/>
          <a:ln w="19050">
            <a:solidFill>
              <a:srgbClr val="5A6A85"/>
            </a:solidFill>
            <a:prstDash val="solid"/>
          </a:ln>
        </p:spPr>
      </p:sp>
      <p:sp>
        <p:nvSpPr>
          <p:cNvPr id="20" name="Shape 18"/>
          <p:cNvSpPr/>
          <p:nvPr/>
        </p:nvSpPr>
        <p:spPr>
          <a:xfrm>
            <a:off x="4846320" y="2596896"/>
            <a:ext cx="6793992" cy="804672"/>
          </a:xfrm>
          <a:prstGeom prst="roundRect">
            <a:avLst>
              <a:gd name="adj" fmla="val 9091"/>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1" name="Shape 19"/>
          <p:cNvSpPr/>
          <p:nvPr/>
        </p:nvSpPr>
        <p:spPr>
          <a:xfrm>
            <a:off x="4846320" y="2596896"/>
            <a:ext cx="2331720" cy="804672"/>
          </a:xfrm>
          <a:prstGeom prst="roundRect">
            <a:avLst>
              <a:gd name="adj" fmla="val 9091"/>
            </a:avLst>
          </a:prstGeom>
          <a:solidFill>
            <a:srgbClr val="1F5FD1"/>
          </a:solidFill>
          <a:ln w="9525">
            <a:solidFill>
              <a:srgbClr val="1F5FD1"/>
            </a:solidFill>
            <a:prstDash val="solid"/>
          </a:ln>
        </p:spPr>
      </p:sp>
      <p:sp>
        <p:nvSpPr>
          <p:cNvPr id="22" name="Text 20"/>
          <p:cNvSpPr txBox="1"/>
          <p:nvPr/>
        </p:nvSpPr>
        <p:spPr>
          <a:xfrm>
            <a:off x="4956048" y="2596896"/>
            <a:ext cx="2148840" cy="804672"/>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Risk_Assessments</a:t>
            </a:r>
            <a:endParaRPr lang="en-US" sz="1150" dirty="0"/>
          </a:p>
        </p:txBody>
      </p:sp>
      <p:sp>
        <p:nvSpPr>
          <p:cNvPr id="23" name="Text 21"/>
          <p:cNvSpPr txBox="1"/>
          <p:nvPr/>
        </p:nvSpPr>
        <p:spPr>
          <a:xfrm>
            <a:off x="7315200" y="2596896"/>
            <a:ext cx="4206240" cy="804672"/>
          </a:xfrm>
          <a:prstGeom prst="rect">
            <a:avLst/>
          </a:prstGeom>
          <a:noFill/>
          <a:ln/>
        </p:spPr>
        <p:txBody>
          <a:bodyPr wrap="square" lIns="0" tIns="0" rIns="0" bIns="0" rtlCol="0" anchor="ctr"/>
          <a:lstStyle/>
          <a:p>
            <a:pPr marL="0" indent="0">
              <a:buNone/>
            </a:pPr>
            <a:r>
              <a:rPr lang="en-US" sz="1050" dirty="0">
                <a:solidFill>
                  <a:srgbClr val="12203A"/>
                </a:solidFill>
                <a:latin typeface="Calibri" pitchFamily="34" charset="0"/>
                <a:ea typeface="Calibri" pitchFamily="34" charset="-122"/>
                <a:cs typeface="Calibri" pitchFamily="34" charset="-120"/>
              </a:rPr>
              <a:t>risk_id (PK), project_id (FK), risk_category, risk_score, risk_description, priority_level</a:t>
            </a:r>
            <a:endParaRPr lang="en-US" sz="1050" dirty="0"/>
          </a:p>
          <a:p>
            <a:pPr marL="0" indent="0">
              <a:buNone/>
            </a:pPr>
            <a:r>
              <a:rPr lang="en-US" sz="1050" b="1" dirty="0">
                <a:solidFill>
                  <a:srgbClr val="1F5FD1"/>
                </a:solidFill>
                <a:latin typeface="Calibri" pitchFamily="34" charset="0"/>
                <a:ea typeface="Calibri" pitchFamily="34" charset="-122"/>
                <a:cs typeface="Calibri" pitchFamily="34" charset="-120"/>
              </a:rPr>
              <a:t>Feeds the Market Risk and Tech Risk tiles</a:t>
            </a:r>
            <a:endParaRPr lang="en-US" sz="1050" dirty="0"/>
          </a:p>
        </p:txBody>
      </p:sp>
      <p:sp>
        <p:nvSpPr>
          <p:cNvPr id="24" name="Shape 22"/>
          <p:cNvSpPr/>
          <p:nvPr/>
        </p:nvSpPr>
        <p:spPr>
          <a:xfrm>
            <a:off x="4434840" y="3904488"/>
            <a:ext cx="411480" cy="0"/>
          </a:xfrm>
          <a:prstGeom prst="line">
            <a:avLst/>
          </a:prstGeom>
          <a:noFill/>
          <a:ln w="19050">
            <a:solidFill>
              <a:srgbClr val="5A6A85"/>
            </a:solidFill>
            <a:prstDash val="solid"/>
          </a:ln>
        </p:spPr>
      </p:sp>
      <p:sp>
        <p:nvSpPr>
          <p:cNvPr id="25" name="Shape 23"/>
          <p:cNvSpPr/>
          <p:nvPr/>
        </p:nvSpPr>
        <p:spPr>
          <a:xfrm>
            <a:off x="4846320" y="3502152"/>
            <a:ext cx="6793992" cy="804672"/>
          </a:xfrm>
          <a:prstGeom prst="roundRect">
            <a:avLst>
              <a:gd name="adj" fmla="val 9091"/>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6" name="Shape 24"/>
          <p:cNvSpPr/>
          <p:nvPr/>
        </p:nvSpPr>
        <p:spPr>
          <a:xfrm>
            <a:off x="4846320" y="3502152"/>
            <a:ext cx="2331720" cy="804672"/>
          </a:xfrm>
          <a:prstGeom prst="roundRect">
            <a:avLst>
              <a:gd name="adj" fmla="val 9091"/>
            </a:avLst>
          </a:prstGeom>
          <a:solidFill>
            <a:srgbClr val="169B62"/>
          </a:solidFill>
          <a:ln w="9525">
            <a:solidFill>
              <a:srgbClr val="169B62"/>
            </a:solidFill>
            <a:prstDash val="solid"/>
          </a:ln>
        </p:spPr>
      </p:sp>
      <p:sp>
        <p:nvSpPr>
          <p:cNvPr id="27" name="Text 25"/>
          <p:cNvSpPr txBox="1"/>
          <p:nvPr/>
        </p:nvSpPr>
        <p:spPr>
          <a:xfrm>
            <a:off x="4956048" y="3502152"/>
            <a:ext cx="2148840" cy="804672"/>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Recommendations</a:t>
            </a:r>
            <a:endParaRPr lang="en-US" sz="1150" dirty="0"/>
          </a:p>
        </p:txBody>
      </p:sp>
      <p:sp>
        <p:nvSpPr>
          <p:cNvPr id="28" name="Text 26"/>
          <p:cNvSpPr txBox="1"/>
          <p:nvPr/>
        </p:nvSpPr>
        <p:spPr>
          <a:xfrm>
            <a:off x="7315200" y="3502152"/>
            <a:ext cx="4206240" cy="804672"/>
          </a:xfrm>
          <a:prstGeom prst="rect">
            <a:avLst/>
          </a:prstGeom>
          <a:noFill/>
          <a:ln/>
        </p:spPr>
        <p:txBody>
          <a:bodyPr wrap="square" lIns="0" tIns="0" rIns="0" bIns="0" rtlCol="0" anchor="ctr"/>
          <a:lstStyle/>
          <a:p>
            <a:pPr marL="0" indent="0">
              <a:buNone/>
            </a:pPr>
            <a:r>
              <a:rPr lang="en-US" sz="1050" dirty="0">
                <a:solidFill>
                  <a:srgbClr val="12203A"/>
                </a:solidFill>
                <a:latin typeface="Calibri" pitchFamily="34" charset="0"/>
                <a:ea typeface="Calibri" pitchFamily="34" charset="-122"/>
                <a:cs typeface="Calibri" pitchFamily="34" charset="-120"/>
              </a:rPr>
              <a:t>recommendation_id (PK), project_id (FK), recommendation_text, risk_mitigation, priority, generated_at</a:t>
            </a:r>
            <a:endParaRPr lang="en-US" sz="1050" dirty="0"/>
          </a:p>
          <a:p>
            <a:pPr marL="0" indent="0">
              <a:buNone/>
            </a:pPr>
            <a:r>
              <a:rPr lang="en-US" sz="1050" b="1" dirty="0">
                <a:solidFill>
                  <a:srgbClr val="169B62"/>
                </a:solidFill>
                <a:latin typeface="Calibri" pitchFamily="34" charset="0"/>
                <a:ea typeface="Calibri" pitchFamily="34" charset="-122"/>
                <a:cs typeface="Calibri" pitchFamily="34" charset="-120"/>
              </a:rPr>
              <a:t>Feeds the report recommendations</a:t>
            </a:r>
            <a:endParaRPr lang="en-US" sz="1050" dirty="0"/>
          </a:p>
        </p:txBody>
      </p:sp>
      <p:sp>
        <p:nvSpPr>
          <p:cNvPr id="29" name="Shape 27"/>
          <p:cNvSpPr/>
          <p:nvPr/>
        </p:nvSpPr>
        <p:spPr>
          <a:xfrm>
            <a:off x="4434840" y="4809744"/>
            <a:ext cx="411480" cy="0"/>
          </a:xfrm>
          <a:prstGeom prst="line">
            <a:avLst/>
          </a:prstGeom>
          <a:noFill/>
          <a:ln w="19050">
            <a:solidFill>
              <a:srgbClr val="5A6A85"/>
            </a:solidFill>
            <a:prstDash val="solid"/>
          </a:ln>
        </p:spPr>
      </p:sp>
      <p:sp>
        <p:nvSpPr>
          <p:cNvPr id="30" name="Shape 28"/>
          <p:cNvSpPr/>
          <p:nvPr/>
        </p:nvSpPr>
        <p:spPr>
          <a:xfrm>
            <a:off x="4846320" y="4407408"/>
            <a:ext cx="6793992" cy="804672"/>
          </a:xfrm>
          <a:prstGeom prst="roundRect">
            <a:avLst>
              <a:gd name="adj" fmla="val 9091"/>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31" name="Shape 29"/>
          <p:cNvSpPr/>
          <p:nvPr/>
        </p:nvSpPr>
        <p:spPr>
          <a:xfrm>
            <a:off x="4846320" y="4407408"/>
            <a:ext cx="2331720" cy="804672"/>
          </a:xfrm>
          <a:prstGeom prst="roundRect">
            <a:avLst>
              <a:gd name="adj" fmla="val 9091"/>
            </a:avLst>
          </a:prstGeom>
          <a:solidFill>
            <a:srgbClr val="E59200"/>
          </a:solidFill>
          <a:ln w="9525">
            <a:solidFill>
              <a:srgbClr val="E59200"/>
            </a:solidFill>
            <a:prstDash val="solid"/>
          </a:ln>
        </p:spPr>
      </p:sp>
      <p:sp>
        <p:nvSpPr>
          <p:cNvPr id="32" name="Text 30"/>
          <p:cNvSpPr txBox="1"/>
          <p:nvPr/>
        </p:nvSpPr>
        <p:spPr>
          <a:xfrm>
            <a:off x="4956048" y="4407408"/>
            <a:ext cx="2148840" cy="804672"/>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Assessment_Reports</a:t>
            </a:r>
            <a:endParaRPr lang="en-US" sz="1150" dirty="0"/>
          </a:p>
        </p:txBody>
      </p:sp>
      <p:sp>
        <p:nvSpPr>
          <p:cNvPr id="33" name="Text 31"/>
          <p:cNvSpPr txBox="1"/>
          <p:nvPr/>
        </p:nvSpPr>
        <p:spPr>
          <a:xfrm>
            <a:off x="7315200" y="4407408"/>
            <a:ext cx="4206240" cy="804672"/>
          </a:xfrm>
          <a:prstGeom prst="rect">
            <a:avLst/>
          </a:prstGeom>
          <a:noFill/>
          <a:ln/>
        </p:spPr>
        <p:txBody>
          <a:bodyPr wrap="square" lIns="0" tIns="0" rIns="0" bIns="0" rtlCol="0" anchor="ctr"/>
          <a:lstStyle/>
          <a:p>
            <a:pPr marL="0" indent="0">
              <a:buNone/>
            </a:pPr>
            <a:r>
              <a:rPr lang="en-US" sz="1050" dirty="0">
                <a:solidFill>
                  <a:srgbClr val="12203A"/>
                </a:solidFill>
                <a:latin typeface="Calibri" pitchFamily="34" charset="0"/>
                <a:ea typeface="Calibri" pitchFamily="34" charset="-122"/>
                <a:cs typeface="Calibri" pitchFamily="34" charset="-120"/>
              </a:rPr>
              <a:t>report_id (PK), project_id (FK), report_path, generated_at</a:t>
            </a:r>
            <a:endParaRPr lang="en-US" sz="1050" dirty="0"/>
          </a:p>
          <a:p>
            <a:pPr marL="0" indent="0">
              <a:buNone/>
            </a:pPr>
            <a:r>
              <a:rPr lang="en-US" sz="1050" b="1" dirty="0">
                <a:solidFill>
                  <a:srgbClr val="E59200"/>
                </a:solidFill>
                <a:latin typeface="Calibri" pitchFamily="34" charset="0"/>
                <a:ea typeface="Calibri" pitchFamily="34" charset="-122"/>
                <a:cs typeface="Calibri" pitchFamily="34" charset="-120"/>
              </a:rPr>
              <a:t>Stores the report used by Export and Share</a:t>
            </a:r>
            <a:endParaRPr lang="en-US" sz="1050" dirty="0"/>
          </a:p>
        </p:txBody>
      </p:sp>
      <p:sp>
        <p:nvSpPr>
          <p:cNvPr id="34" name="Shape 32"/>
          <p:cNvSpPr/>
          <p:nvPr/>
        </p:nvSpPr>
        <p:spPr>
          <a:xfrm>
            <a:off x="4434840" y="5715000"/>
            <a:ext cx="411480" cy="0"/>
          </a:xfrm>
          <a:prstGeom prst="line">
            <a:avLst/>
          </a:prstGeom>
          <a:noFill/>
          <a:ln w="19050">
            <a:solidFill>
              <a:srgbClr val="5A6A85"/>
            </a:solidFill>
            <a:prstDash val="solid"/>
          </a:ln>
        </p:spPr>
      </p:sp>
      <p:sp>
        <p:nvSpPr>
          <p:cNvPr id="35" name="Shape 33"/>
          <p:cNvSpPr/>
          <p:nvPr/>
        </p:nvSpPr>
        <p:spPr>
          <a:xfrm>
            <a:off x="4846320" y="5312664"/>
            <a:ext cx="6793992" cy="804672"/>
          </a:xfrm>
          <a:prstGeom prst="roundRect">
            <a:avLst>
              <a:gd name="adj" fmla="val 9091"/>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36" name="Shape 34"/>
          <p:cNvSpPr/>
          <p:nvPr/>
        </p:nvSpPr>
        <p:spPr>
          <a:xfrm>
            <a:off x="4846320" y="5312664"/>
            <a:ext cx="2331720" cy="804672"/>
          </a:xfrm>
          <a:prstGeom prst="roundRect">
            <a:avLst>
              <a:gd name="adj" fmla="val 9091"/>
            </a:avLst>
          </a:prstGeom>
          <a:solidFill>
            <a:srgbClr val="6B4FD8"/>
          </a:solidFill>
          <a:ln w="9525">
            <a:solidFill>
              <a:srgbClr val="6B4FD8"/>
            </a:solidFill>
            <a:prstDash val="solid"/>
          </a:ln>
        </p:spPr>
      </p:sp>
      <p:sp>
        <p:nvSpPr>
          <p:cNvPr id="37" name="Text 35"/>
          <p:cNvSpPr txBox="1"/>
          <p:nvPr/>
        </p:nvSpPr>
        <p:spPr>
          <a:xfrm>
            <a:off x="4956048" y="5312664"/>
            <a:ext cx="2148840" cy="804672"/>
          </a:xfrm>
          <a:prstGeom prst="rect">
            <a:avLst/>
          </a:prstGeom>
          <a:noFill/>
          <a:ln/>
        </p:spPr>
        <p:txBody>
          <a:bodyPr wrap="square" lIns="0" tIns="0" rIns="0" bIns="0" rtlCol="0" anchor="ctr"/>
          <a:lstStyle/>
          <a:p>
            <a:pPr marL="0" indent="0">
              <a:buNone/>
            </a:pPr>
            <a:r>
              <a:rPr lang="en-US" sz="1150" b="1" dirty="0">
                <a:solidFill>
                  <a:srgbClr val="FFFFFF"/>
                </a:solidFill>
                <a:latin typeface="Courier New" pitchFamily="34" charset="0"/>
                <a:ea typeface="Courier New" pitchFamily="34" charset="-122"/>
                <a:cs typeface="Courier New" pitchFamily="34" charset="-120"/>
              </a:rPr>
              <a:t>Analytics_Logs</a:t>
            </a:r>
            <a:endParaRPr lang="en-US" sz="1150" dirty="0"/>
          </a:p>
        </p:txBody>
      </p:sp>
      <p:sp>
        <p:nvSpPr>
          <p:cNvPr id="38" name="Text 36"/>
          <p:cNvSpPr txBox="1"/>
          <p:nvPr/>
        </p:nvSpPr>
        <p:spPr>
          <a:xfrm>
            <a:off x="7315200" y="5312664"/>
            <a:ext cx="4206240" cy="804672"/>
          </a:xfrm>
          <a:prstGeom prst="rect">
            <a:avLst/>
          </a:prstGeom>
          <a:noFill/>
          <a:ln/>
        </p:spPr>
        <p:txBody>
          <a:bodyPr wrap="square" lIns="0" tIns="0" rIns="0" bIns="0" rtlCol="0" anchor="ctr"/>
          <a:lstStyle/>
          <a:p>
            <a:pPr marL="0" indent="0">
              <a:buNone/>
            </a:pPr>
            <a:r>
              <a:rPr lang="en-US" sz="1050" dirty="0">
                <a:solidFill>
                  <a:srgbClr val="12203A"/>
                </a:solidFill>
                <a:latin typeface="Calibri" pitchFamily="34" charset="0"/>
                <a:ea typeface="Calibri" pitchFamily="34" charset="-122"/>
                <a:cs typeface="Calibri" pitchFamily="34" charset="-120"/>
              </a:rPr>
              <a:t>log_id (PK), user_id (FK), activity_type, timestamp</a:t>
            </a:r>
            <a:endParaRPr lang="en-US" sz="1050" dirty="0"/>
          </a:p>
          <a:p>
            <a:pPr marL="0" indent="0">
              <a:buNone/>
            </a:pPr>
            <a:r>
              <a:rPr lang="en-US" sz="1050" b="1" dirty="0">
                <a:solidFill>
                  <a:srgbClr val="6B4FD8"/>
                </a:solidFill>
                <a:latin typeface="Calibri" pitchFamily="34" charset="0"/>
                <a:ea typeface="Calibri" pitchFamily="34" charset="-122"/>
                <a:cs typeface="Calibri" pitchFamily="34" charset="-120"/>
              </a:rPr>
              <a:t>Tracks usage during testing</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0"/>
          </a:xfrm>
          <a:prstGeom prst="rect">
            <a:avLst/>
          </a:prstGeom>
          <a:solidFill>
            <a:srgbClr val="0F1B33"/>
          </a:solidFill>
          <a:ln w="12700">
            <a:solidFill>
              <a:srgbClr val="0F1B33"/>
            </a:solidFill>
            <a:prstDash val="solid"/>
          </a:ln>
        </p:spPr>
      </p:sp>
      <p:sp>
        <p:nvSpPr>
          <p:cNvPr id="3" name="Text 1"/>
          <p:cNvSpPr txBox="1"/>
          <p:nvPr/>
        </p:nvSpPr>
        <p:spPr>
          <a:xfrm>
            <a:off x="548640" y="274320"/>
            <a:ext cx="9601200" cy="59436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Code</a:t>
            </a:r>
            <a:endParaRPr lang="en-US" sz="3400" dirty="0"/>
          </a:p>
        </p:txBody>
      </p:sp>
      <p:sp>
        <p:nvSpPr>
          <p:cNvPr id="4" name="Text 2"/>
          <p:cNvSpPr txBox="1"/>
          <p:nvPr/>
        </p:nvSpPr>
        <p:spPr>
          <a:xfrm>
            <a:off x="548640" y="868680"/>
            <a:ext cx="9601200" cy="320040"/>
          </a:xfrm>
          <a:prstGeom prst="rect">
            <a:avLst/>
          </a:prstGeom>
          <a:noFill/>
          <a:ln/>
        </p:spPr>
        <p:txBody>
          <a:bodyPr wrap="square" lIns="0" tIns="0" rIns="0" bIns="0" rtlCol="0" anchor="ctr"/>
          <a:lstStyle/>
          <a:p>
            <a:pPr marL="0" indent="0">
              <a:buNone/>
            </a:pPr>
            <a:r>
              <a:rPr lang="en-US" sz="1500" dirty="0">
                <a:solidFill>
                  <a:srgbClr val="CADCFC"/>
                </a:solidFill>
                <a:latin typeface="Calibri" pitchFamily="34" charset="0"/>
                <a:ea typeface="Calibri" pitchFamily="34" charset="-122"/>
                <a:cs typeface="Calibri" pitchFamily="34" charset="-120"/>
              </a:rPr>
              <a:t>How the dashboard turns saved results into risk tiles and a report</a:t>
            </a:r>
            <a:endParaRPr lang="en-US" sz="1500" dirty="0"/>
          </a:p>
        </p:txBody>
      </p:sp>
      <p:sp>
        <p:nvSpPr>
          <p:cNvPr id="6" name="Text 4"/>
          <p:cNvSpPr txBox="1"/>
          <p:nvPr/>
        </p:nvSpPr>
        <p:spPr>
          <a:xfrm>
            <a:off x="10725912" y="6446520"/>
            <a:ext cx="914400" cy="274320"/>
          </a:xfrm>
          <a:prstGeom prst="rect">
            <a:avLst/>
          </a:prstGeom>
          <a:noFill/>
          <a:ln/>
        </p:spPr>
        <p:txBody>
          <a:bodyPr wrap="square" lIns="0" tIns="0" rIns="0" bIns="0" rtlCol="0" anchor="ctr"/>
          <a:lstStyle/>
          <a:p>
            <a:pPr marL="0" indent="0" algn="r">
              <a:buNone/>
            </a:pPr>
            <a:r>
              <a:rPr lang="en-US" sz="1100" dirty="0">
                <a:solidFill>
                  <a:srgbClr val="5A6A85"/>
                </a:solidFill>
                <a:latin typeface="Calibri" pitchFamily="34" charset="0"/>
                <a:ea typeface="Calibri" pitchFamily="34" charset="-122"/>
                <a:cs typeface="Calibri" pitchFamily="34" charset="-120"/>
              </a:rPr>
              <a:t>6 / 7</a:t>
            </a:r>
            <a:endParaRPr lang="en-US" sz="1100" dirty="0"/>
          </a:p>
        </p:txBody>
      </p:sp>
      <p:sp>
        <p:nvSpPr>
          <p:cNvPr id="7" name="Shape 5"/>
          <p:cNvSpPr/>
          <p:nvPr/>
        </p:nvSpPr>
        <p:spPr>
          <a:xfrm>
            <a:off x="548640" y="1645920"/>
            <a:ext cx="2377440" cy="502920"/>
          </a:xfrm>
          <a:prstGeom prst="roundRect">
            <a:avLst>
              <a:gd name="adj" fmla="val 14545"/>
            </a:avLst>
          </a:prstGeom>
          <a:solidFill>
            <a:srgbClr val="6B4FD8"/>
          </a:solidFill>
          <a:ln w="9525">
            <a:solidFill>
              <a:srgbClr val="6B4FD8"/>
            </a:solidFill>
            <a:prstDash val="solid"/>
          </a:ln>
        </p:spPr>
      </p:sp>
      <p:sp>
        <p:nvSpPr>
          <p:cNvPr id="8" name="Text 6"/>
          <p:cNvSpPr txBox="1"/>
          <p:nvPr/>
        </p:nvSpPr>
        <p:spPr>
          <a:xfrm>
            <a:off x="548640" y="1645920"/>
            <a:ext cx="23774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SQLite</a:t>
            </a:r>
            <a:endParaRPr lang="en-US" sz="1400" dirty="0"/>
          </a:p>
        </p:txBody>
      </p:sp>
      <p:sp>
        <p:nvSpPr>
          <p:cNvPr id="9" name="Text 7"/>
          <p:cNvSpPr txBox="1"/>
          <p:nvPr/>
        </p:nvSpPr>
        <p:spPr>
          <a:xfrm>
            <a:off x="2926080" y="1645920"/>
            <a:ext cx="457200" cy="502920"/>
          </a:xfrm>
          <a:prstGeom prst="rect">
            <a:avLst/>
          </a:prstGeom>
          <a:noFill/>
          <a:ln/>
        </p:spPr>
        <p:txBody>
          <a:bodyPr wrap="square" lIns="0" tIns="0" rIns="0" bIns="0" rtlCol="0" anchor="ctr"/>
          <a:lstStyle/>
          <a:p>
            <a:pPr marL="0" indent="0" algn="ctr">
              <a:buNone/>
            </a:pPr>
            <a:r>
              <a:rPr lang="en-US" sz="2000" b="1" dirty="0">
                <a:solidFill>
                  <a:srgbClr val="5A6A85"/>
                </a:solidFill>
                <a:latin typeface="Calibri" pitchFamily="34" charset="0"/>
                <a:ea typeface="Calibri" pitchFamily="34" charset="-122"/>
                <a:cs typeface="Calibri" pitchFamily="34" charset="-120"/>
              </a:rPr>
              <a:t>&gt;</a:t>
            </a:r>
            <a:endParaRPr lang="en-US" sz="2000" dirty="0"/>
          </a:p>
        </p:txBody>
      </p:sp>
      <p:sp>
        <p:nvSpPr>
          <p:cNvPr id="10" name="Shape 8"/>
          <p:cNvSpPr/>
          <p:nvPr/>
        </p:nvSpPr>
        <p:spPr>
          <a:xfrm>
            <a:off x="3383280" y="1645920"/>
            <a:ext cx="2377440" cy="502920"/>
          </a:xfrm>
          <a:prstGeom prst="roundRect">
            <a:avLst>
              <a:gd name="adj" fmla="val 14545"/>
            </a:avLst>
          </a:prstGeom>
          <a:solidFill>
            <a:srgbClr val="1F5FD1"/>
          </a:solidFill>
          <a:ln w="9525">
            <a:solidFill>
              <a:srgbClr val="1F5FD1"/>
            </a:solidFill>
            <a:prstDash val="solid"/>
          </a:ln>
        </p:spPr>
      </p:sp>
      <p:sp>
        <p:nvSpPr>
          <p:cNvPr id="11" name="Text 9"/>
          <p:cNvSpPr txBox="1"/>
          <p:nvPr/>
        </p:nvSpPr>
        <p:spPr>
          <a:xfrm>
            <a:off x="3383280" y="1645920"/>
            <a:ext cx="23774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database.py</a:t>
            </a:r>
            <a:endParaRPr lang="en-US" sz="1400" dirty="0"/>
          </a:p>
        </p:txBody>
      </p:sp>
      <p:sp>
        <p:nvSpPr>
          <p:cNvPr id="12" name="Text 10"/>
          <p:cNvSpPr txBox="1"/>
          <p:nvPr/>
        </p:nvSpPr>
        <p:spPr>
          <a:xfrm>
            <a:off x="5760720" y="1645920"/>
            <a:ext cx="457200" cy="502920"/>
          </a:xfrm>
          <a:prstGeom prst="rect">
            <a:avLst/>
          </a:prstGeom>
          <a:noFill/>
          <a:ln/>
        </p:spPr>
        <p:txBody>
          <a:bodyPr wrap="square" lIns="0" tIns="0" rIns="0" bIns="0" rtlCol="0" anchor="ctr"/>
          <a:lstStyle/>
          <a:p>
            <a:pPr marL="0" indent="0" algn="ctr">
              <a:buNone/>
            </a:pPr>
            <a:r>
              <a:rPr lang="en-US" sz="2000" b="1" dirty="0">
                <a:solidFill>
                  <a:srgbClr val="5A6A85"/>
                </a:solidFill>
                <a:latin typeface="Calibri" pitchFamily="34" charset="0"/>
                <a:ea typeface="Calibri" pitchFamily="34" charset="-122"/>
                <a:cs typeface="Calibri" pitchFamily="34" charset="-120"/>
              </a:rPr>
              <a:t>&gt;</a:t>
            </a:r>
            <a:endParaRPr lang="en-US" sz="2000" dirty="0"/>
          </a:p>
        </p:txBody>
      </p:sp>
      <p:sp>
        <p:nvSpPr>
          <p:cNvPr id="13" name="Shape 11"/>
          <p:cNvSpPr/>
          <p:nvPr/>
        </p:nvSpPr>
        <p:spPr>
          <a:xfrm>
            <a:off x="6217920" y="1645920"/>
            <a:ext cx="2377440" cy="502920"/>
          </a:xfrm>
          <a:prstGeom prst="roundRect">
            <a:avLst>
              <a:gd name="adj" fmla="val 14545"/>
            </a:avLst>
          </a:prstGeom>
          <a:solidFill>
            <a:srgbClr val="D93A34"/>
          </a:solidFill>
          <a:ln w="9525">
            <a:solidFill>
              <a:srgbClr val="D93A34"/>
            </a:solidFill>
            <a:prstDash val="solid"/>
          </a:ln>
        </p:spPr>
      </p:sp>
      <p:sp>
        <p:nvSpPr>
          <p:cNvPr id="14" name="Text 12"/>
          <p:cNvSpPr txBox="1"/>
          <p:nvPr/>
        </p:nvSpPr>
        <p:spPr>
          <a:xfrm>
            <a:off x="6217920" y="1645920"/>
            <a:ext cx="23774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app.py</a:t>
            </a:r>
            <a:endParaRPr lang="en-US" sz="1400" dirty="0"/>
          </a:p>
        </p:txBody>
      </p:sp>
      <p:sp>
        <p:nvSpPr>
          <p:cNvPr id="15" name="Text 13"/>
          <p:cNvSpPr txBox="1"/>
          <p:nvPr/>
        </p:nvSpPr>
        <p:spPr>
          <a:xfrm>
            <a:off x="8595360" y="1645920"/>
            <a:ext cx="457200" cy="502920"/>
          </a:xfrm>
          <a:prstGeom prst="rect">
            <a:avLst/>
          </a:prstGeom>
          <a:noFill/>
          <a:ln/>
        </p:spPr>
        <p:txBody>
          <a:bodyPr wrap="square" lIns="0" tIns="0" rIns="0" bIns="0" rtlCol="0" anchor="ctr"/>
          <a:lstStyle/>
          <a:p>
            <a:pPr marL="0" indent="0" algn="ctr">
              <a:buNone/>
            </a:pPr>
            <a:r>
              <a:rPr lang="en-US" sz="2000" b="1" dirty="0">
                <a:solidFill>
                  <a:srgbClr val="5A6A85"/>
                </a:solidFill>
                <a:latin typeface="Calibri" pitchFamily="34" charset="0"/>
                <a:ea typeface="Calibri" pitchFamily="34" charset="-122"/>
                <a:cs typeface="Calibri" pitchFamily="34" charset="-120"/>
              </a:rPr>
              <a:t>&gt;</a:t>
            </a:r>
            <a:endParaRPr lang="en-US" sz="2000" dirty="0"/>
          </a:p>
        </p:txBody>
      </p:sp>
      <p:sp>
        <p:nvSpPr>
          <p:cNvPr id="16" name="Shape 14"/>
          <p:cNvSpPr/>
          <p:nvPr/>
        </p:nvSpPr>
        <p:spPr>
          <a:xfrm>
            <a:off x="9052560" y="1645920"/>
            <a:ext cx="2377440" cy="502920"/>
          </a:xfrm>
          <a:prstGeom prst="roundRect">
            <a:avLst>
              <a:gd name="adj" fmla="val 14545"/>
            </a:avLst>
          </a:prstGeom>
          <a:solidFill>
            <a:srgbClr val="169B62"/>
          </a:solidFill>
          <a:ln w="9525">
            <a:solidFill>
              <a:srgbClr val="169B62"/>
            </a:solidFill>
            <a:prstDash val="solid"/>
          </a:ln>
        </p:spPr>
      </p:sp>
      <p:sp>
        <p:nvSpPr>
          <p:cNvPr id="17" name="Text 15"/>
          <p:cNvSpPr txBox="1"/>
          <p:nvPr/>
        </p:nvSpPr>
        <p:spPr>
          <a:xfrm>
            <a:off x="9052560" y="1645920"/>
            <a:ext cx="237744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Streamlit dashboard</a:t>
            </a:r>
            <a:endParaRPr lang="en-US" sz="1400" dirty="0"/>
          </a:p>
        </p:txBody>
      </p:sp>
      <p:sp>
        <p:nvSpPr>
          <p:cNvPr id="18" name="Shape 16"/>
          <p:cNvSpPr/>
          <p:nvPr/>
        </p:nvSpPr>
        <p:spPr>
          <a:xfrm>
            <a:off x="548640" y="2331720"/>
            <a:ext cx="7223760" cy="3977640"/>
          </a:xfrm>
          <a:prstGeom prst="roundRect">
            <a:avLst>
              <a:gd name="adj" fmla="val 1839"/>
            </a:avLst>
          </a:prstGeom>
          <a:solidFill>
            <a:srgbClr val="0B1428"/>
          </a:solidFill>
          <a:ln w="9525">
            <a:solidFill>
              <a:srgbClr val="0B1428"/>
            </a:solidFill>
            <a:prstDash val="solid"/>
          </a:ln>
        </p:spPr>
      </p:sp>
      <p:sp>
        <p:nvSpPr>
          <p:cNvPr id="19" name="Text 17"/>
          <p:cNvSpPr txBox="1"/>
          <p:nvPr/>
        </p:nvSpPr>
        <p:spPr>
          <a:xfrm>
            <a:off x="777240" y="2423160"/>
            <a:ext cx="6766560" cy="274320"/>
          </a:xfrm>
          <a:prstGeom prst="rect">
            <a:avLst/>
          </a:prstGeom>
          <a:noFill/>
          <a:ln/>
        </p:spPr>
        <p:txBody>
          <a:bodyPr wrap="square" lIns="0" tIns="0" rIns="0" bIns="0" rtlCol="0" anchor="ctr"/>
          <a:lstStyle/>
          <a:p>
            <a:pPr marL="0" indent="0">
              <a:buNone/>
            </a:pPr>
            <a:r>
              <a:rPr lang="en-US" sz="1200" b="1" dirty="0">
                <a:solidFill>
                  <a:srgbClr val="E59200"/>
                </a:solidFill>
                <a:latin typeface="Calibri" pitchFamily="34" charset="0"/>
                <a:ea typeface="Calibri" pitchFamily="34" charset="-122"/>
                <a:cs typeface="Calibri" pitchFamily="34" charset="-120"/>
              </a:rPr>
              <a:t>app.py  (simplified)</a:t>
            </a:r>
            <a:endParaRPr lang="en-US" sz="1200" dirty="0"/>
          </a:p>
        </p:txBody>
      </p:sp>
      <p:sp>
        <p:nvSpPr>
          <p:cNvPr id="20" name="Text 18"/>
          <p:cNvSpPr txBox="1"/>
          <p:nvPr/>
        </p:nvSpPr>
        <p:spPr>
          <a:xfrm>
            <a:off x="777240" y="2743200"/>
            <a:ext cx="6858000" cy="3474720"/>
          </a:xfrm>
          <a:prstGeom prst="rect">
            <a:avLst/>
          </a:prstGeom>
          <a:noFill/>
          <a:ln/>
        </p:spPr>
        <p:txBody>
          <a:bodyPr wrap="square" lIns="0" tIns="0" rIns="0" bIns="0" rtlCol="0" anchor="t"/>
          <a:lstStyle/>
          <a:p>
            <a:pPr marL="0" indent="0">
              <a:buNone/>
            </a:pPr>
            <a:r>
              <a:rPr lang="en-US" sz="1050" dirty="0">
                <a:solidFill>
                  <a:srgbClr val="DBE6FF"/>
                </a:solidFill>
                <a:latin typeface="Courier New" pitchFamily="34" charset="0"/>
                <a:ea typeface="Courier New" pitchFamily="34" charset="-122"/>
                <a:cs typeface="Courier New" pitchFamily="34" charset="-120"/>
              </a:rPr>
              <a:t>def render_dashboard(project_id):</a:t>
            </a:r>
            <a:endParaRPr lang="en-US" sz="1050" dirty="0"/>
          </a:p>
          <a:p>
            <a:pPr marL="0" indent="0">
              <a:buNone/>
            </a:pPr>
            <a:r>
              <a:rPr lang="en-US" sz="1050" dirty="0">
                <a:solidFill>
                  <a:srgbClr val="F5B942"/>
                </a:solidFill>
                <a:latin typeface="Courier New" pitchFamily="34" charset="0"/>
                <a:ea typeface="Courier New" pitchFamily="34" charset="-122"/>
                <a:cs typeface="Courier New" pitchFamily="34" charset="-120"/>
              </a:rPr>
              <a:t>    # 1. Load saved results from SQLite</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project = load_project(project_id)</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risks = load_risks(project_id)</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recs = load_recommendations(project_id)</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risk = project["risk_score"]</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F5B942"/>
                </a:solidFill>
                <a:latin typeface="Courier New" pitchFamily="34" charset="0"/>
                <a:ea typeface="Courier New" pitchFamily="34" charset="-122"/>
                <a:cs typeface="Courier New" pitchFamily="34" charset="-120"/>
              </a:rPr>
              <a:t>    # 2. Risk analytics tiles</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c1, c2, c3, c4 = st.columns(4)</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c1.metric("Overall Risk", f"{risk}%")</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c2.metric("Success Prob.", f"{100 - risk}%")</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c3.metric("Market Risk", f"{category_risk(risks, 'Market')}%")</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c4.metric("Tech Risk", f"{category_risk(risks, 'Technical')}%")</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F5B942"/>
                </a:solidFill>
                <a:latin typeface="Courier New" pitchFamily="34" charset="0"/>
                <a:ea typeface="Courier New" pitchFamily="34" charset="-122"/>
                <a:cs typeface="Courier New" pitchFamily="34" charset="-120"/>
              </a:rPr>
              <a:t>    # 3. Assessment report</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for rec in recs:</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st.write(f"{rec['priority']}: {rec['action']}")</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a:t>
            </a:r>
            <a:endParaRPr lang="en-US" sz="1050" dirty="0"/>
          </a:p>
          <a:p>
            <a:pPr marL="0" indent="0">
              <a:buNone/>
            </a:pPr>
            <a:r>
              <a:rPr lang="en-US" sz="1050" dirty="0">
                <a:solidFill>
                  <a:srgbClr val="F5B942"/>
                </a:solidFill>
                <a:latin typeface="Courier New" pitchFamily="34" charset="0"/>
                <a:ea typeface="Courier New" pitchFamily="34" charset="-122"/>
                <a:cs typeface="Courier New" pitchFamily="34" charset="-120"/>
              </a:rPr>
              <a:t>    # 4. Export the report</a:t>
            </a:r>
            <a:endParaRPr lang="en-US" sz="1050" dirty="0"/>
          </a:p>
          <a:p>
            <a:pPr marL="0" indent="0">
              <a:buNone/>
            </a:pPr>
            <a:r>
              <a:rPr lang="en-US" sz="1050" dirty="0">
                <a:solidFill>
                  <a:srgbClr val="DBE6FF"/>
                </a:solidFill>
                <a:latin typeface="Courier New" pitchFamily="34" charset="0"/>
                <a:ea typeface="Courier New" pitchFamily="34" charset="-122"/>
                <a:cs typeface="Courier New" pitchFamily="34" charset="-120"/>
              </a:rPr>
              <a:t>    st.download_button("Export", build_report(project, risks, recs))</a:t>
            </a:r>
            <a:endParaRPr lang="en-US" sz="1050" dirty="0"/>
          </a:p>
        </p:txBody>
      </p:sp>
      <p:sp>
        <p:nvSpPr>
          <p:cNvPr id="21" name="Shape 19"/>
          <p:cNvSpPr/>
          <p:nvPr/>
        </p:nvSpPr>
        <p:spPr>
          <a:xfrm>
            <a:off x="8046720" y="2331720"/>
            <a:ext cx="3593592" cy="914400"/>
          </a:xfrm>
          <a:prstGeom prst="roundRect">
            <a:avLst>
              <a:gd name="adj" fmla="val 8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2" name="Shape 20"/>
          <p:cNvSpPr/>
          <p:nvPr/>
        </p:nvSpPr>
        <p:spPr>
          <a:xfrm>
            <a:off x="8046720" y="2331720"/>
            <a:ext cx="640080" cy="914400"/>
          </a:xfrm>
          <a:prstGeom prst="roundRect">
            <a:avLst>
              <a:gd name="adj" fmla="val 11429"/>
            </a:avLst>
          </a:prstGeom>
          <a:solidFill>
            <a:srgbClr val="6B4FD8"/>
          </a:solidFill>
          <a:ln w="9525">
            <a:solidFill>
              <a:srgbClr val="6B4FD8"/>
            </a:solidFill>
            <a:prstDash val="solid"/>
          </a:ln>
        </p:spPr>
      </p:sp>
      <p:pic>
        <p:nvPicPr>
          <p:cNvPr id="23" name="Image 0" descr="preencoded.png"/>
          <p:cNvPicPr>
            <a:picLocks noChangeAspect="1"/>
          </p:cNvPicPr>
          <p:nvPr/>
        </p:nvPicPr>
        <p:blipFill>
          <a:blip r:embed="rId3"/>
          <a:stretch>
            <a:fillRect/>
          </a:stretch>
        </p:blipFill>
        <p:spPr>
          <a:xfrm>
            <a:off x="8183880" y="2606040"/>
            <a:ext cx="365760" cy="365760"/>
          </a:xfrm>
          <a:prstGeom prst="rect">
            <a:avLst/>
          </a:prstGeom>
        </p:spPr>
      </p:pic>
      <p:sp>
        <p:nvSpPr>
          <p:cNvPr id="24" name="Text 21"/>
          <p:cNvSpPr txBox="1"/>
          <p:nvPr/>
        </p:nvSpPr>
        <p:spPr>
          <a:xfrm>
            <a:off x="8823960" y="2386584"/>
            <a:ext cx="2743200" cy="27432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1. Load saved results</a:t>
            </a:r>
            <a:endParaRPr lang="en-US" sz="1300" dirty="0"/>
          </a:p>
        </p:txBody>
      </p:sp>
      <p:sp>
        <p:nvSpPr>
          <p:cNvPr id="25" name="Text 22"/>
          <p:cNvSpPr txBox="1"/>
          <p:nvPr/>
        </p:nvSpPr>
        <p:spPr>
          <a:xfrm>
            <a:off x="8823960" y="2679192"/>
            <a:ext cx="2743200" cy="548640"/>
          </a:xfrm>
          <a:prstGeom prst="rect">
            <a:avLst/>
          </a:prstGeom>
          <a:noFill/>
          <a:ln/>
        </p:spPr>
        <p:txBody>
          <a:bodyPr wrap="square" lIns="0" tIns="0" rIns="0" bIns="0" rtlCol="0" anchor="t"/>
          <a:lstStyle/>
          <a:p>
            <a:pPr marL="0" indent="0">
              <a:buNone/>
            </a:pPr>
            <a:r>
              <a:rPr lang="en-US" sz="1050" dirty="0">
                <a:solidFill>
                  <a:srgbClr val="5A6A85"/>
                </a:solidFill>
                <a:latin typeface="Calibri" pitchFamily="34" charset="0"/>
                <a:ea typeface="Calibri" pitchFamily="34" charset="-122"/>
                <a:cs typeface="Calibri" pitchFamily="34" charset="-120"/>
              </a:rPr>
              <a:t>database.py reads the project, its risks and its recommendations from SQLite.</a:t>
            </a:r>
            <a:endParaRPr lang="en-US" sz="1050" dirty="0"/>
          </a:p>
        </p:txBody>
      </p:sp>
      <p:sp>
        <p:nvSpPr>
          <p:cNvPr id="26" name="Shape 23"/>
          <p:cNvSpPr/>
          <p:nvPr/>
        </p:nvSpPr>
        <p:spPr>
          <a:xfrm>
            <a:off x="8046720" y="3337560"/>
            <a:ext cx="3593592" cy="914400"/>
          </a:xfrm>
          <a:prstGeom prst="roundRect">
            <a:avLst>
              <a:gd name="adj" fmla="val 8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27" name="Shape 24"/>
          <p:cNvSpPr/>
          <p:nvPr/>
        </p:nvSpPr>
        <p:spPr>
          <a:xfrm>
            <a:off x="8046720" y="3337560"/>
            <a:ext cx="640080" cy="914400"/>
          </a:xfrm>
          <a:prstGeom prst="roundRect">
            <a:avLst>
              <a:gd name="adj" fmla="val 11429"/>
            </a:avLst>
          </a:prstGeom>
          <a:solidFill>
            <a:srgbClr val="D93A34"/>
          </a:solidFill>
          <a:ln w="9525">
            <a:solidFill>
              <a:srgbClr val="D93A34"/>
            </a:solidFill>
            <a:prstDash val="solid"/>
          </a:ln>
        </p:spPr>
      </p:sp>
      <p:pic>
        <p:nvPicPr>
          <p:cNvPr id="28" name="Image 1" descr="preencoded.png"/>
          <p:cNvPicPr>
            <a:picLocks noChangeAspect="1"/>
          </p:cNvPicPr>
          <p:nvPr/>
        </p:nvPicPr>
        <p:blipFill>
          <a:blip r:embed="rId4"/>
          <a:stretch>
            <a:fillRect/>
          </a:stretch>
        </p:blipFill>
        <p:spPr>
          <a:xfrm>
            <a:off x="8183880" y="3611880"/>
            <a:ext cx="365760" cy="365760"/>
          </a:xfrm>
          <a:prstGeom prst="rect">
            <a:avLst/>
          </a:prstGeom>
        </p:spPr>
      </p:pic>
      <p:sp>
        <p:nvSpPr>
          <p:cNvPr id="29" name="Text 25"/>
          <p:cNvSpPr txBox="1"/>
          <p:nvPr/>
        </p:nvSpPr>
        <p:spPr>
          <a:xfrm>
            <a:off x="8823960" y="3392424"/>
            <a:ext cx="2743200" cy="27432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2. Risk analytics tiles</a:t>
            </a:r>
            <a:endParaRPr lang="en-US" sz="1300" dirty="0"/>
          </a:p>
        </p:txBody>
      </p:sp>
      <p:sp>
        <p:nvSpPr>
          <p:cNvPr id="30" name="Text 26"/>
          <p:cNvSpPr txBox="1"/>
          <p:nvPr/>
        </p:nvSpPr>
        <p:spPr>
          <a:xfrm>
            <a:off x="8823960" y="3685032"/>
            <a:ext cx="2743200" cy="548640"/>
          </a:xfrm>
          <a:prstGeom prst="rect">
            <a:avLst/>
          </a:prstGeom>
          <a:noFill/>
          <a:ln/>
        </p:spPr>
        <p:txBody>
          <a:bodyPr wrap="square" lIns="0" tIns="0" rIns="0" bIns="0" rtlCol="0" anchor="t"/>
          <a:lstStyle/>
          <a:p>
            <a:pPr marL="0" indent="0">
              <a:buNone/>
            </a:pPr>
            <a:r>
              <a:rPr lang="en-US" sz="1050" dirty="0">
                <a:solidFill>
                  <a:srgbClr val="5A6A85"/>
                </a:solidFill>
                <a:latin typeface="Calibri" pitchFamily="34" charset="0"/>
                <a:ea typeface="Calibri" pitchFamily="34" charset="-122"/>
                <a:cs typeface="Calibri" pitchFamily="34" charset="-120"/>
              </a:rPr>
              <a:t>Four metrics: overall risk, success probability (100 minus risk), market risk and tech risk.</a:t>
            </a:r>
            <a:endParaRPr lang="en-US" sz="1050" dirty="0"/>
          </a:p>
        </p:txBody>
      </p:sp>
      <p:sp>
        <p:nvSpPr>
          <p:cNvPr id="31" name="Shape 27"/>
          <p:cNvSpPr/>
          <p:nvPr/>
        </p:nvSpPr>
        <p:spPr>
          <a:xfrm>
            <a:off x="8046720" y="4343400"/>
            <a:ext cx="3593592" cy="914400"/>
          </a:xfrm>
          <a:prstGeom prst="roundRect">
            <a:avLst>
              <a:gd name="adj" fmla="val 8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32" name="Shape 28"/>
          <p:cNvSpPr/>
          <p:nvPr/>
        </p:nvSpPr>
        <p:spPr>
          <a:xfrm>
            <a:off x="8046720" y="4343400"/>
            <a:ext cx="640080" cy="914400"/>
          </a:xfrm>
          <a:prstGeom prst="roundRect">
            <a:avLst>
              <a:gd name="adj" fmla="val 11429"/>
            </a:avLst>
          </a:prstGeom>
          <a:solidFill>
            <a:srgbClr val="1F5FD1"/>
          </a:solidFill>
          <a:ln w="9525">
            <a:solidFill>
              <a:srgbClr val="1F5FD1"/>
            </a:solidFill>
            <a:prstDash val="solid"/>
          </a:ln>
        </p:spPr>
      </p:sp>
      <p:pic>
        <p:nvPicPr>
          <p:cNvPr id="33" name="Image 2" descr="preencoded.png"/>
          <p:cNvPicPr>
            <a:picLocks noChangeAspect="1"/>
          </p:cNvPicPr>
          <p:nvPr/>
        </p:nvPicPr>
        <p:blipFill>
          <a:blip r:embed="rId5"/>
          <a:stretch>
            <a:fillRect/>
          </a:stretch>
        </p:blipFill>
        <p:spPr>
          <a:xfrm>
            <a:off x="8183880" y="4617720"/>
            <a:ext cx="365760" cy="365760"/>
          </a:xfrm>
          <a:prstGeom prst="rect">
            <a:avLst/>
          </a:prstGeom>
        </p:spPr>
      </p:pic>
      <p:sp>
        <p:nvSpPr>
          <p:cNvPr id="34" name="Text 29"/>
          <p:cNvSpPr txBox="1"/>
          <p:nvPr/>
        </p:nvSpPr>
        <p:spPr>
          <a:xfrm>
            <a:off x="8823960" y="4398264"/>
            <a:ext cx="2743200" cy="27432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3. Assessment report</a:t>
            </a:r>
            <a:endParaRPr lang="en-US" sz="1300" dirty="0"/>
          </a:p>
        </p:txBody>
      </p:sp>
      <p:sp>
        <p:nvSpPr>
          <p:cNvPr id="35" name="Text 30"/>
          <p:cNvSpPr txBox="1"/>
          <p:nvPr/>
        </p:nvSpPr>
        <p:spPr>
          <a:xfrm>
            <a:off x="8823960" y="4690872"/>
            <a:ext cx="2743200" cy="548640"/>
          </a:xfrm>
          <a:prstGeom prst="rect">
            <a:avLst/>
          </a:prstGeom>
          <a:noFill/>
          <a:ln/>
        </p:spPr>
        <p:txBody>
          <a:bodyPr wrap="square" lIns="0" tIns="0" rIns="0" bIns="0" rtlCol="0" anchor="t"/>
          <a:lstStyle/>
          <a:p>
            <a:pPr marL="0" indent="0">
              <a:buNone/>
            </a:pPr>
            <a:r>
              <a:rPr lang="en-US" sz="1050" dirty="0">
                <a:solidFill>
                  <a:srgbClr val="5A6A85"/>
                </a:solidFill>
                <a:latin typeface="Calibri" pitchFamily="34" charset="0"/>
                <a:ea typeface="Calibri" pitchFamily="34" charset="-122"/>
                <a:cs typeface="Calibri" pitchFamily="34" charset="-120"/>
              </a:rPr>
              <a:t>Each recommendation is listed with its priority and the action to take.</a:t>
            </a:r>
            <a:endParaRPr lang="en-US" sz="1050" dirty="0"/>
          </a:p>
        </p:txBody>
      </p:sp>
      <p:sp>
        <p:nvSpPr>
          <p:cNvPr id="36" name="Shape 31"/>
          <p:cNvSpPr/>
          <p:nvPr/>
        </p:nvSpPr>
        <p:spPr>
          <a:xfrm>
            <a:off x="8046720" y="5349240"/>
            <a:ext cx="3593592" cy="914400"/>
          </a:xfrm>
          <a:prstGeom prst="roundRect">
            <a:avLst>
              <a:gd name="adj" fmla="val 8000"/>
            </a:avLst>
          </a:prstGeom>
          <a:solidFill>
            <a:srgbClr val="FFFFFF"/>
          </a:solidFill>
          <a:ln w="9525">
            <a:solidFill>
              <a:srgbClr val="DBE2ED"/>
            </a:solidFill>
            <a:prstDash val="solid"/>
          </a:ln>
          <a:effectLst>
            <a:outerShdw blurRad="76200" dist="25400" dir="5400000" algn="bl" rotWithShape="0">
              <a:srgbClr val="000000">
                <a:alpha val="12000"/>
              </a:srgbClr>
            </a:outerShdw>
          </a:effectLst>
        </p:spPr>
      </p:sp>
      <p:sp>
        <p:nvSpPr>
          <p:cNvPr id="37" name="Shape 32"/>
          <p:cNvSpPr/>
          <p:nvPr/>
        </p:nvSpPr>
        <p:spPr>
          <a:xfrm>
            <a:off x="8046720" y="5349240"/>
            <a:ext cx="640080" cy="914400"/>
          </a:xfrm>
          <a:prstGeom prst="roundRect">
            <a:avLst>
              <a:gd name="adj" fmla="val 11429"/>
            </a:avLst>
          </a:prstGeom>
          <a:solidFill>
            <a:srgbClr val="169B62"/>
          </a:solidFill>
          <a:ln w="9525">
            <a:solidFill>
              <a:srgbClr val="169B62"/>
            </a:solidFill>
            <a:prstDash val="solid"/>
          </a:ln>
        </p:spPr>
      </p:sp>
      <p:pic>
        <p:nvPicPr>
          <p:cNvPr id="38" name="Image 3" descr="preencoded.png"/>
          <p:cNvPicPr>
            <a:picLocks noChangeAspect="1"/>
          </p:cNvPicPr>
          <p:nvPr/>
        </p:nvPicPr>
        <p:blipFill>
          <a:blip r:embed="rId6"/>
          <a:stretch>
            <a:fillRect/>
          </a:stretch>
        </p:blipFill>
        <p:spPr>
          <a:xfrm>
            <a:off x="8183880" y="5623560"/>
            <a:ext cx="365760" cy="365760"/>
          </a:xfrm>
          <a:prstGeom prst="rect">
            <a:avLst/>
          </a:prstGeom>
        </p:spPr>
      </p:pic>
      <p:sp>
        <p:nvSpPr>
          <p:cNvPr id="39" name="Text 33"/>
          <p:cNvSpPr txBox="1"/>
          <p:nvPr/>
        </p:nvSpPr>
        <p:spPr>
          <a:xfrm>
            <a:off x="8823960" y="5404104"/>
            <a:ext cx="2743200" cy="274320"/>
          </a:xfrm>
          <a:prstGeom prst="rect">
            <a:avLst/>
          </a:prstGeom>
          <a:noFill/>
          <a:ln/>
        </p:spPr>
        <p:txBody>
          <a:bodyPr wrap="square" lIns="0" tIns="0" rIns="0" bIns="0" rtlCol="0" anchor="ctr"/>
          <a:lstStyle/>
          <a:p>
            <a:pPr marL="0" indent="0">
              <a:buNone/>
            </a:pPr>
            <a:r>
              <a:rPr lang="en-US" sz="1300" b="1" dirty="0">
                <a:solidFill>
                  <a:srgbClr val="12203A"/>
                </a:solidFill>
                <a:latin typeface="Calibri" pitchFamily="34" charset="0"/>
                <a:ea typeface="Calibri" pitchFamily="34" charset="-122"/>
                <a:cs typeface="Calibri" pitchFamily="34" charset="-120"/>
              </a:rPr>
              <a:t>4. Export</a:t>
            </a:r>
            <a:endParaRPr lang="en-US" sz="1300" dirty="0"/>
          </a:p>
        </p:txBody>
      </p:sp>
      <p:sp>
        <p:nvSpPr>
          <p:cNvPr id="40" name="Text 34"/>
          <p:cNvSpPr txBox="1"/>
          <p:nvPr/>
        </p:nvSpPr>
        <p:spPr>
          <a:xfrm>
            <a:off x="8823960" y="5696712"/>
            <a:ext cx="2743200" cy="548640"/>
          </a:xfrm>
          <a:prstGeom prst="rect">
            <a:avLst/>
          </a:prstGeom>
          <a:noFill/>
          <a:ln/>
        </p:spPr>
        <p:txBody>
          <a:bodyPr wrap="square" lIns="0" tIns="0" rIns="0" bIns="0" rtlCol="0" anchor="t"/>
          <a:lstStyle/>
          <a:p>
            <a:pPr marL="0" indent="0">
              <a:buNone/>
            </a:pPr>
            <a:r>
              <a:rPr lang="en-US" sz="1050" dirty="0">
                <a:solidFill>
                  <a:srgbClr val="5A6A85"/>
                </a:solidFill>
                <a:latin typeface="Calibri" pitchFamily="34" charset="0"/>
                <a:ea typeface="Calibri" pitchFamily="34" charset="-122"/>
                <a:cs typeface="Calibri" pitchFamily="34" charset="-120"/>
              </a:rPr>
              <a:t>One button builds the assessment report so it can be saved or shared.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33"/>
        </a:solidFill>
        <a:effectLst/>
      </p:bgPr>
    </p:bg>
    <p:spTree>
      <p:nvGrpSpPr>
        <p:cNvPr id="1" name=""/>
        <p:cNvGrpSpPr/>
        <p:nvPr/>
      </p:nvGrpSpPr>
      <p:grpSpPr>
        <a:xfrm>
          <a:off x="0" y="0"/>
          <a:ext cx="0" cy="0"/>
          <a:chOff x="0" y="0"/>
          <a:chExt cx="0" cy="0"/>
        </a:xfrm>
      </p:grpSpPr>
      <p:sp>
        <p:nvSpPr>
          <p:cNvPr id="3" name="Text 1"/>
          <p:cNvSpPr txBox="1"/>
          <p:nvPr/>
        </p:nvSpPr>
        <p:spPr>
          <a:xfrm>
            <a:off x="548640" y="457200"/>
            <a:ext cx="8229600" cy="731520"/>
          </a:xfrm>
          <a:prstGeom prst="rect">
            <a:avLst/>
          </a:prstGeom>
          <a:noFill/>
          <a:ln/>
        </p:spPr>
        <p:txBody>
          <a:bodyPr wrap="square" lIns="0" tIns="0" rIns="0" bIns="0" rtlCol="0" anchor="ctr"/>
          <a:lstStyle/>
          <a:p>
            <a:pPr marL="0" indent="0">
              <a:buNone/>
            </a:pPr>
            <a:r>
              <a:rPr lang="en-US" sz="3800" b="1" dirty="0">
                <a:solidFill>
                  <a:srgbClr val="FFFFFF"/>
                </a:solidFill>
                <a:latin typeface="Cambria" pitchFamily="34" charset="0"/>
                <a:ea typeface="Cambria" pitchFamily="34" charset="-122"/>
                <a:cs typeface="Cambria" pitchFamily="34" charset="-120"/>
              </a:rPr>
              <a:t>Closure</a:t>
            </a:r>
            <a:endParaRPr lang="en-US" sz="3800" dirty="0"/>
          </a:p>
        </p:txBody>
      </p:sp>
      <p:sp>
        <p:nvSpPr>
          <p:cNvPr id="4" name="Text 2"/>
          <p:cNvSpPr txBox="1"/>
          <p:nvPr/>
        </p:nvSpPr>
        <p:spPr>
          <a:xfrm>
            <a:off x="548640" y="1188720"/>
            <a:ext cx="8229600" cy="274320"/>
          </a:xfrm>
          <a:prstGeom prst="rect">
            <a:avLst/>
          </a:prstGeom>
          <a:noFill/>
          <a:ln/>
        </p:spPr>
        <p:txBody>
          <a:bodyPr wrap="square" lIns="0" tIns="0" rIns="0" bIns="0" rtlCol="0" anchor="ctr"/>
          <a:lstStyle/>
          <a:p>
            <a:pPr marL="0" indent="0">
              <a:buNone/>
            </a:pPr>
            <a:r>
              <a:rPr lang="en-US" sz="1300" b="1" kern="0" spc="200" dirty="0">
                <a:solidFill>
                  <a:srgbClr val="E59200"/>
                </a:solidFill>
                <a:latin typeface="Calibri" pitchFamily="34" charset="0"/>
                <a:ea typeface="Calibri" pitchFamily="34" charset="-122"/>
                <a:cs typeface="Calibri" pitchFamily="34" charset="-120"/>
              </a:rPr>
              <a:t>MILESTONE 4  |  DASHBOARD &amp; DEPLOYMENT</a:t>
            </a:r>
            <a:endParaRPr lang="en-US" sz="1300" dirty="0"/>
          </a:p>
        </p:txBody>
      </p:sp>
      <p:sp>
        <p:nvSpPr>
          <p:cNvPr id="5" name="Shape 3"/>
          <p:cNvSpPr/>
          <p:nvPr/>
        </p:nvSpPr>
        <p:spPr>
          <a:xfrm>
            <a:off x="548640" y="1783080"/>
            <a:ext cx="3520440" cy="2697480"/>
          </a:xfrm>
          <a:prstGeom prst="roundRect">
            <a:avLst>
              <a:gd name="adj" fmla="val 2712"/>
            </a:avLst>
          </a:prstGeom>
          <a:solidFill>
            <a:srgbClr val="1B2A4A"/>
          </a:solidFill>
          <a:ln w="9525">
            <a:solidFill>
              <a:srgbClr val="1B2A4A"/>
            </a:solidFill>
            <a:prstDash val="solid"/>
          </a:ln>
        </p:spPr>
      </p:sp>
      <p:sp>
        <p:nvSpPr>
          <p:cNvPr id="6" name="Shape 4"/>
          <p:cNvSpPr/>
          <p:nvPr/>
        </p:nvSpPr>
        <p:spPr>
          <a:xfrm>
            <a:off x="822960" y="1965960"/>
            <a:ext cx="548640" cy="548640"/>
          </a:xfrm>
          <a:prstGeom prst="ellipse">
            <a:avLst/>
          </a:prstGeom>
          <a:solidFill>
            <a:srgbClr val="169B62"/>
          </a:solidFill>
          <a:ln w="12700">
            <a:solidFill>
              <a:srgbClr val="169B62"/>
            </a:solidFill>
            <a:prstDash val="solid"/>
          </a:ln>
        </p:spPr>
      </p:sp>
      <p:pic>
        <p:nvPicPr>
          <p:cNvPr id="7" name="Image 0" descr="preencoded.png"/>
          <p:cNvPicPr>
            <a:picLocks noChangeAspect="1"/>
          </p:cNvPicPr>
          <p:nvPr/>
        </p:nvPicPr>
        <p:blipFill>
          <a:blip r:embed="rId3"/>
          <a:stretch>
            <a:fillRect/>
          </a:stretch>
        </p:blipFill>
        <p:spPr>
          <a:xfrm>
            <a:off x="950976" y="2093976"/>
            <a:ext cx="292608" cy="292608"/>
          </a:xfrm>
          <a:prstGeom prst="rect">
            <a:avLst/>
          </a:prstGeom>
        </p:spPr>
      </p:pic>
      <p:sp>
        <p:nvSpPr>
          <p:cNvPr id="8" name="Text 5"/>
          <p:cNvSpPr txBox="1"/>
          <p:nvPr/>
        </p:nvSpPr>
        <p:spPr>
          <a:xfrm>
            <a:off x="1554480" y="1965960"/>
            <a:ext cx="237744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Delivered</a:t>
            </a:r>
            <a:endParaRPr lang="en-US" sz="1800" dirty="0"/>
          </a:p>
        </p:txBody>
      </p:sp>
      <p:sp>
        <p:nvSpPr>
          <p:cNvPr id="9" name="Text 6"/>
          <p:cNvSpPr txBox="1"/>
          <p:nvPr/>
        </p:nvSpPr>
        <p:spPr>
          <a:xfrm>
            <a:off x="822960" y="2743200"/>
            <a:ext cx="3017520" cy="16459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Risk analytics dashboard</a:t>
            </a:r>
            <a:endParaRPr lang="en-US" sz="1450" dirty="0"/>
          </a:p>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Assessment report with Export and Share</a:t>
            </a:r>
            <a:endParaRPr lang="en-US" sz="1450" dirty="0"/>
          </a:p>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Strategic insights and next steps</a:t>
            </a:r>
            <a:endParaRPr lang="en-US" sz="1450" dirty="0"/>
          </a:p>
        </p:txBody>
      </p:sp>
      <p:sp>
        <p:nvSpPr>
          <p:cNvPr id="10" name="Shape 7"/>
          <p:cNvSpPr/>
          <p:nvPr/>
        </p:nvSpPr>
        <p:spPr>
          <a:xfrm>
            <a:off x="4334256" y="1783080"/>
            <a:ext cx="3520440" cy="2697480"/>
          </a:xfrm>
          <a:prstGeom prst="roundRect">
            <a:avLst>
              <a:gd name="adj" fmla="val 2712"/>
            </a:avLst>
          </a:prstGeom>
          <a:solidFill>
            <a:srgbClr val="1B2A4A"/>
          </a:solidFill>
          <a:ln w="9525">
            <a:solidFill>
              <a:srgbClr val="1B2A4A"/>
            </a:solidFill>
            <a:prstDash val="solid"/>
          </a:ln>
        </p:spPr>
      </p:sp>
      <p:sp>
        <p:nvSpPr>
          <p:cNvPr id="11" name="Shape 8"/>
          <p:cNvSpPr/>
          <p:nvPr/>
        </p:nvSpPr>
        <p:spPr>
          <a:xfrm>
            <a:off x="4608576" y="1965960"/>
            <a:ext cx="548640" cy="548640"/>
          </a:xfrm>
          <a:prstGeom prst="ellipse">
            <a:avLst/>
          </a:prstGeom>
          <a:solidFill>
            <a:srgbClr val="1F5FD1"/>
          </a:solidFill>
          <a:ln w="12700">
            <a:solidFill>
              <a:srgbClr val="1F5FD1"/>
            </a:solidFill>
            <a:prstDash val="solid"/>
          </a:ln>
        </p:spPr>
      </p:sp>
      <p:pic>
        <p:nvPicPr>
          <p:cNvPr id="12" name="Image 1" descr="preencoded.png"/>
          <p:cNvPicPr>
            <a:picLocks noChangeAspect="1"/>
          </p:cNvPicPr>
          <p:nvPr/>
        </p:nvPicPr>
        <p:blipFill>
          <a:blip r:embed="rId4"/>
          <a:stretch>
            <a:fillRect/>
          </a:stretch>
        </p:blipFill>
        <p:spPr>
          <a:xfrm>
            <a:off x="4736592" y="2093976"/>
            <a:ext cx="292608" cy="292608"/>
          </a:xfrm>
          <a:prstGeom prst="rect">
            <a:avLst/>
          </a:prstGeom>
        </p:spPr>
      </p:pic>
      <p:sp>
        <p:nvSpPr>
          <p:cNvPr id="13" name="Text 9"/>
          <p:cNvSpPr txBox="1"/>
          <p:nvPr/>
        </p:nvSpPr>
        <p:spPr>
          <a:xfrm>
            <a:off x="5340096" y="1965960"/>
            <a:ext cx="237744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Testing and deployment</a:t>
            </a:r>
            <a:endParaRPr lang="en-US" sz="1800" dirty="0"/>
          </a:p>
        </p:txBody>
      </p:sp>
      <p:sp>
        <p:nvSpPr>
          <p:cNvPr id="14" name="Text 10"/>
          <p:cNvSpPr txBox="1"/>
          <p:nvPr/>
        </p:nvSpPr>
        <p:spPr>
          <a:xfrm>
            <a:off x="4608576" y="2743200"/>
            <a:ext cx="3017520" cy="16459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End-to-end flow from project input to report</a:t>
            </a:r>
            <a:endParaRPr lang="en-US" sz="1450" dirty="0"/>
          </a:p>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Testing and optimization</a:t>
            </a:r>
            <a:endParaRPr lang="en-US" sz="1450" dirty="0"/>
          </a:p>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Final app prepared for deployment</a:t>
            </a:r>
            <a:endParaRPr lang="en-US" sz="1450" dirty="0"/>
          </a:p>
        </p:txBody>
      </p:sp>
      <p:sp>
        <p:nvSpPr>
          <p:cNvPr id="15" name="Shape 11"/>
          <p:cNvSpPr/>
          <p:nvPr/>
        </p:nvSpPr>
        <p:spPr>
          <a:xfrm>
            <a:off x="8119872" y="1783080"/>
            <a:ext cx="3520440" cy="2697480"/>
          </a:xfrm>
          <a:prstGeom prst="roundRect">
            <a:avLst>
              <a:gd name="adj" fmla="val 2712"/>
            </a:avLst>
          </a:prstGeom>
          <a:solidFill>
            <a:srgbClr val="1B2A4A"/>
          </a:solidFill>
          <a:ln w="9525">
            <a:solidFill>
              <a:srgbClr val="1B2A4A"/>
            </a:solidFill>
            <a:prstDash val="solid"/>
          </a:ln>
        </p:spPr>
      </p:sp>
      <p:sp>
        <p:nvSpPr>
          <p:cNvPr id="16" name="Shape 12"/>
          <p:cNvSpPr/>
          <p:nvPr/>
        </p:nvSpPr>
        <p:spPr>
          <a:xfrm>
            <a:off x="8394192" y="1965960"/>
            <a:ext cx="548640" cy="548640"/>
          </a:xfrm>
          <a:prstGeom prst="ellipse">
            <a:avLst/>
          </a:prstGeom>
          <a:solidFill>
            <a:srgbClr val="E59200"/>
          </a:solidFill>
          <a:ln w="12700">
            <a:solidFill>
              <a:srgbClr val="E59200"/>
            </a:solidFill>
            <a:prstDash val="solid"/>
          </a:ln>
        </p:spPr>
      </p:sp>
      <p:pic>
        <p:nvPicPr>
          <p:cNvPr id="17" name="Image 2" descr="preencoded.png"/>
          <p:cNvPicPr>
            <a:picLocks noChangeAspect="1"/>
          </p:cNvPicPr>
          <p:nvPr/>
        </p:nvPicPr>
        <p:blipFill>
          <a:blip r:embed="rId5"/>
          <a:stretch>
            <a:fillRect/>
          </a:stretch>
        </p:blipFill>
        <p:spPr>
          <a:xfrm>
            <a:off x="8522208" y="2093976"/>
            <a:ext cx="292608" cy="292608"/>
          </a:xfrm>
          <a:prstGeom prst="rect">
            <a:avLst/>
          </a:prstGeom>
        </p:spPr>
      </p:pic>
      <p:sp>
        <p:nvSpPr>
          <p:cNvPr id="18" name="Text 13"/>
          <p:cNvSpPr txBox="1"/>
          <p:nvPr/>
        </p:nvSpPr>
        <p:spPr>
          <a:xfrm>
            <a:off x="9125712" y="1965960"/>
            <a:ext cx="237744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Targets</a:t>
            </a:r>
            <a:endParaRPr lang="en-US" sz="1800" dirty="0"/>
          </a:p>
        </p:txBody>
      </p:sp>
      <p:sp>
        <p:nvSpPr>
          <p:cNvPr id="19" name="Text 14"/>
          <p:cNvSpPr txBox="1"/>
          <p:nvPr/>
        </p:nvSpPr>
        <p:spPr>
          <a:xfrm>
            <a:off x="8394192" y="2743200"/>
            <a:ext cx="3017520" cy="164592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Dashboard fully operational</a:t>
            </a:r>
            <a:endParaRPr lang="en-US" sz="1450" dirty="0"/>
          </a:p>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Reports in under 5 seconds</a:t>
            </a:r>
            <a:endParaRPr lang="en-US" sz="1450" dirty="0"/>
          </a:p>
          <a:p>
            <a:pPr marL="342900" indent="-342900">
              <a:spcAft>
                <a:spcPts val="800"/>
              </a:spcAft>
              <a:buSzPct val="100000"/>
              <a:buChar char="•"/>
            </a:pPr>
            <a:r>
              <a:rPr lang="en-US" sz="1450" dirty="0">
                <a:solidFill>
                  <a:srgbClr val="E3EAF8"/>
                </a:solidFill>
                <a:latin typeface="Calibri" pitchFamily="34" charset="0"/>
                <a:ea typeface="Calibri" pitchFamily="34" charset="-122"/>
                <a:cs typeface="Calibri" pitchFamily="34" charset="-120"/>
              </a:rPr>
              <a:t>User satisfaction of 85% or higher</a:t>
            </a:r>
            <a:endParaRPr lang="en-US" sz="1450" dirty="0"/>
          </a:p>
        </p:txBody>
      </p:sp>
      <p:sp>
        <p:nvSpPr>
          <p:cNvPr id="20" name="Text 15"/>
          <p:cNvSpPr txBox="1"/>
          <p:nvPr/>
        </p:nvSpPr>
        <p:spPr>
          <a:xfrm>
            <a:off x="548640" y="4754880"/>
            <a:ext cx="11064240" cy="640080"/>
          </a:xfrm>
          <a:prstGeom prst="rect">
            <a:avLst/>
          </a:prstGeom>
          <a:noFill/>
          <a:ln/>
        </p:spPr>
        <p:txBody>
          <a:bodyPr wrap="square" lIns="0" tIns="0" rIns="0" bIns="0" rtlCol="0" anchor="t"/>
          <a:lstStyle/>
          <a:p>
            <a:pPr marL="0" indent="0">
              <a:buNone/>
            </a:pPr>
            <a:r>
              <a:rPr lang="en-US" sz="1800" dirty="0">
                <a:solidFill>
                  <a:srgbClr val="FFFFFF"/>
                </a:solidFill>
                <a:latin typeface="Calibri" pitchFamily="34" charset="0"/>
                <a:ea typeface="Calibri" pitchFamily="34" charset="-122"/>
                <a:cs typeface="Calibri" pitchFamily="34" charset="-120"/>
              </a:rPr>
              <a:t>Prediction AI helps founders and students see the risks before they invest, and gives them clear steps to reduce them.</a:t>
            </a:r>
            <a:endParaRPr lang="en-US" sz="1800" dirty="0"/>
          </a:p>
        </p:txBody>
      </p:sp>
      <p:sp>
        <p:nvSpPr>
          <p:cNvPr id="21" name="Text 16"/>
          <p:cNvSpPr txBox="1"/>
          <p:nvPr/>
        </p:nvSpPr>
        <p:spPr>
          <a:xfrm>
            <a:off x="548640" y="5577840"/>
            <a:ext cx="3657600" cy="457200"/>
          </a:xfrm>
          <a:prstGeom prst="rect">
            <a:avLst/>
          </a:prstGeom>
          <a:noFill/>
          <a:ln/>
        </p:spPr>
        <p:txBody>
          <a:bodyPr wrap="square" lIns="0" tIns="0" rIns="0" bIns="0" rtlCol="0" anchor="ctr"/>
          <a:lstStyle/>
          <a:p>
            <a:pPr marL="0" indent="0">
              <a:buNone/>
            </a:pPr>
            <a:r>
              <a:rPr lang="en-US" sz="2600" b="1" dirty="0">
                <a:solidFill>
                  <a:srgbClr val="E59200"/>
                </a:solidFill>
                <a:latin typeface="Cambria" pitchFamily="34" charset="0"/>
                <a:ea typeface="Cambria" pitchFamily="34" charset="-122"/>
                <a:cs typeface="Cambria" pitchFamily="34" charset="-120"/>
              </a:rPr>
              <a:t>Thank you</a:t>
            </a:r>
            <a:endParaRPr lang="en-US" sz="2600" dirty="0"/>
          </a:p>
        </p:txBody>
      </p:sp>
      <p:sp>
        <p:nvSpPr>
          <p:cNvPr id="22" name="Text 17"/>
          <p:cNvSpPr txBox="1"/>
          <p:nvPr/>
        </p:nvSpPr>
        <p:spPr>
          <a:xfrm>
            <a:off x="3931920" y="5577840"/>
            <a:ext cx="3657600" cy="457200"/>
          </a:xfrm>
          <a:prstGeom prst="rect">
            <a:avLst/>
          </a:prstGeom>
          <a:noFill/>
          <a:ln/>
        </p:spPr>
        <p:txBody>
          <a:bodyPr wrap="square" lIns="0" tIns="0" rIns="0" bIns="0" rtlCol="0" anchor="ctr"/>
          <a:lstStyle/>
          <a:p>
            <a:pPr marL="0" indent="0">
              <a:buNone/>
            </a:pPr>
            <a:r>
              <a:rPr lang="en-US" sz="1800" dirty="0">
                <a:solidFill>
                  <a:srgbClr val="CADCFC"/>
                </a:solidFill>
                <a:latin typeface="Calibri" pitchFamily="34" charset="0"/>
                <a:ea typeface="Calibri" pitchFamily="34" charset="-122"/>
                <a:cs typeface="Calibri" pitchFamily="34" charset="-120"/>
              </a:rPr>
              <a:t>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1372</Words>
  <Application>Microsoft Office PowerPoint</Application>
  <PresentationFormat>Custom</PresentationFormat>
  <Paragraphs>161</Paragraphs>
  <Slides>7</Slides>
  <Notes>7</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Prediction AI - Milestone 4</dc:title>
  <dc:subject>PptxGenJS Presentation</dc:subject>
  <dc:creator>PptxGenJS</dc:creator>
  <cp:lastModifiedBy>user</cp:lastModifiedBy>
  <cp:revision>5</cp:revision>
  <dcterms:created xsi:type="dcterms:W3CDTF">2026-10-02T05:12:19Z</dcterms:created>
  <dcterms:modified xsi:type="dcterms:W3CDTF">2026-10-02T17:25:45Z</dcterms:modified>
</cp:coreProperties>
</file>