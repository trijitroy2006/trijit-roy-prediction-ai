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Team" id="{12a4379e-fcd0-fd0d-7d8c-39bf208a2ac4}">
          <p14:sldIdLst>
            <p14:sldId id="256"/>
          </p14:sldIdLst>
        </p14:section>
        <p14:section name="Introduction" id="{f49f5ed7-2bc8-9edf-d6ee-5c9c30162847}">
          <p14:sldIdLst>
            <p14:sldId id="257"/>
          </p14:sldIdLst>
        </p14:section>
        <p14:section name="Problem Statement" id="{1d51e6b3-f00d-3221-3e07-c1eb5ae7899e}">
          <p14:sldIdLst>
            <p14:sldId id="258"/>
          </p14:sldIdLst>
        </p14:section>
        <p14:section name="Objectives" id="{77a73918-593b-4f1e-ad51-8c285e1499d0}">
          <p14:sldIdLst>
            <p14:sldId id="259"/>
          </p14:sldIdLst>
        </p14:section>
        <p14:section name="Modules" id="{ee8358a5-5993-e7b9-52e0-199b24abb6db}">
          <p14:sldIdLst>
            <p14:sldId id="260"/>
          </p14:sldIdLst>
        </p14:section>
        <p14:section name="Tech Stack" id="{f36cc3ab-ac92-1cab-d3ea-7bc73c959b11}">
          <p14:sldIdLst>
            <p14:sldId id="261"/>
          </p14:sldIdLst>
        </p14:section>
        <p14:section name="Tech Stack Evolution" id="{0497d27f-ea6d-cf8a-a4ca-442a16ef7959}">
          <p14:sldIdLst>
            <p14:sldId id="262"/>
          </p14:sldIdLst>
        </p14:section>
        <p14:section name="System Flow" id="{11ba7db0-c466-db3f-4ae5-e66a9f67b83b}">
          <p14:sldIdLst>
            <p14:sldId id="263"/>
          </p14:sldIdLst>
        </p14:section>
        <p14:section name="Architecture" id="{524a8eb5-0546-f757-44a1-4929b3d4724f}">
          <p14:sldIdLst>
            <p14:sldId id="264"/>
          </p14:sldIdLst>
        </p14:section>
        <p14:section name="Risk Engine" id="{18191b48-197c-a1fa-315e-00ab5f98a757}">
          <p14:sldIdLst>
            <p14:sldId id="265"/>
          </p14:sldIdLst>
        </p14:section>
        <p14:section name="Recommendation Engine" id="{7f823c86-94d5-05da-4f07-dc81ac5fd8ee}">
          <p14:sldIdLst>
            <p14:sldId id="266"/>
          </p14:sldIdLst>
        </p14:section>
        <p14:section name="Database Structure" id="{6e7d8b5f-c059-df9c-24d3-46d87c5d65fb}">
          <p14:sldIdLst>
            <p14:sldId id="267"/>
          </p14:sldIdLst>
        </p14:section>
        <p14:section name="Impact" id="{0c247a76-309c-1cee-2241-f2456807489c}">
          <p14:sldIdLst>
            <p14:sldId id="268"/>
          </p14:sldIdLst>
        </p14:section>
        <p14:section name="Future Scope" id="{0e0dc277-268e-20cf-38b8-5701015e1944}">
          <p14:sldIdLst>
            <p14:sldId id="269"/>
          </p14:sldIdLst>
        </p14:section>
        <p14:section name="Milestone 1" id="{069c8efa-5747-13da-9899-ae317d6e4931}">
          <p14:sldIdLst>
            <p14:sldId id="270"/>
            <p14:sldId id="271"/>
          </p14:sldIdLst>
        </p14:section>
        <p14:section name="Milestone 2" id="{61145ed0-c683-c9bc-e42a-910c81ff2c33}">
          <p14:sldIdLst>
            <p14:sldId id="272"/>
            <p14:sldId id="273"/>
            <p14:sldId id="274"/>
          </p14:sldIdLst>
        </p14:section>
        <p14:section name="Milestone 3" id="{023c32e4-1c22-48f4-f1e6-f341a6894f62}">
          <p14:sldIdLst>
            <p14:sldId id="275"/>
            <p14:sldId id="276"/>
            <p14:sldId id="277"/>
          </p14:sldIdLst>
        </p14:section>
        <p14:section name="Milestone 4" id="{3a9346a9-c33b-c360-c598-0deedfe4e8ac}">
          <p14:sldIdLst>
            <p14:sldId id="278"/>
            <p14:sldId id="279"/>
            <p14:sldId id="280"/>
          </p14:sldIdLst>
        </p14:section>
        <p14:section name="Closure" id="{86e1ff64-ec00-aabc-3d1c-2f02be10eea0}">
          <p14:sldIdLst>
            <p14:sldId id="281"/>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1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successfully completed this project under the guidance of our mentor Mrs. Sophia. Team D: Rabjyotsingh Majethiya, Ruchita Jagdish Chaudhari, S.A.R.V. Likhith, Sachin Chaubey, Shravani Gajanan Hiwase, Trijit Roy and Vegi Sangeetha.</a:t>
            </a: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AI is a Startup &amp; Project Risk Analyzer. The platform collects project data and market intelligence, assesses risk with a SWOT, recommends mitigation using Gemini and a LangGraph agent, and reports through a dashboard.</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startups, business plans, hackathon solutions and college projects fail because of poor market fit, intense competition, budget limits, operational challenges or inadequate planning. Prediction AI predicts these risks before the investment is made.</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outcomes: AI evaluation of ideas, automated risk scoring and success probability, SWOT generation, market and competitor analysis, identification of critical risks, personalised mitigation, an interactive dashboard and feasibility reports.</a:t>
            </a:r>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modules: information collection, market and competitor intelligence, risk assessment and scoring, SWOT and strategic evaluation, recommendation and mitigation, and dashboard and reporting.</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for the modular backend, Streamlit for the four-tab UI, Gemini for strategic reasoning (API key from an environment variable, Demo Mode without it), LangGraph for the agent workflow and SQLite as the database. Deployed on Streamlit Cloud.</a:t>
            </a:r>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stage used Flask, Jinja, psycopg2, Pandas and PostgreSQL, with Gemini/OpenAI and LangGraph planned. The interface then moved to Streamlit with pure-logic Python engines, Gemini and the LangGraph agent were added with SQLite, and finally the dashboard was built and deployed.</a:t>
            </a:r>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collect the project and market data, score risk and build the SWOT, run the LangGraph agent with Gemini, save to SQLite, then show everything on the dashboard and in the exportable report. The panel lists the six LangGraph nodes.</a:t>
            </a:r>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Layers from top to bottom: users, the Streamlit presentation layer, the analysis engines (market intelligence, risk scoring, SWOT, feasibility), AI orchestration with a LangGraph agent and Gemini, and the SQLite data layer.</a:t>
            </a:r>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analyses five risk categories: financial, market, technical, operational and execution. Inputs from the project form and the sliders feed the scoring model, which outputs the overall risk score, risk status, success probability and feasibility score.</a:t>
            </a:r>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recommendation card follows the same structure: category, priority, problem, why it matters, recommended action and risk reduction. The engine produces strategic recommendations, risk mitigation strategies and improvement suggestions, using Gemini through the LangGraph agent, with Demo Mode when no API key is set.</a:t>
            </a:r>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Projects holds one row per analysed project. Result tables (risk assessments, SWOT, success predictions, recommendations, assessment reports) link back through project_id; analytics logs link through user_id. Table names follow the project brief; adjust if your SQLite table names differ.</a:t>
            </a:r>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serves entrepreneurs, startup founders, students, hackathon teams and business analysts. Success targets: reports generated within 5 seconds, user satisfaction of at least 85% in testing, consistent risk scoring and recommendations aligned with the identified risks.</a:t>
            </a:r>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Possible next steps for the platform: live market data feeds, multi-user accounts with saved history, side-by-side comparison of ideas, industry-specific risk models, richer investor-ready reports and progress tracking over time.</a:t>
            </a:r>
          </a:p>
        </p:txBody>
      </p:sp>
      <p:sp>
        <p:nvSpPr>
          <p:cNvPr id="4" name="Slide Number Placeholder 3"/>
          <p:cNvSpPr>
            <a:spLocks noGrp="1"/>
          </p:cNvSpPr>
          <p:nvPr>
            <p:ph type="sldNum" sz="quarter" idx="10"/>
          </p:nvPr>
        </p:nvSpPr>
        <p:spPr/>
        <p:txBody>
          <a:bodyPr/>
          <a:lstStyle/>
          <a:p>
            <a:fld id="{F7021451-1387-4CA6-816F-3879F97B5CBC}" type="slidenum">
              <a:rPr lang="en-US"/>
              <a:pPr/>
              <a:t>14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1: three tasks. Submission forms for startup and project details, market and competitor analysis (TAM/SAM/SOM, 2020-2026 trend, competitor table), and storing project data in PostgreSQL. Built with Flask, Jinja templates, psycopg2, Pandas and PostgreSQL, with Gemini/OpenAI and LangGraph planned for the intelligence layer.</a:t>
            </a:r>
          </a:p>
        </p:txBody>
      </p:sp>
      <p:sp>
        <p:nvSpPr>
          <p:cNvPr id="4" name="Slide Number Placeholder 3"/>
          <p:cNvSpPr>
            <a:spLocks noGrp="1"/>
          </p:cNvSpPr>
          <p:nvPr>
            <p:ph type="sldNum" sz="quarter" idx="10"/>
          </p:nvPr>
        </p:nvSpPr>
        <p:spPr/>
        <p:txBody>
          <a:bodyPr/>
          <a:lstStyle/>
          <a:p>
            <a:fld id="{F7021451-1387-4CA6-816F-3879F97B5CBC}" type="slidenum">
              <a:rPr lang="en-US"/>
              <a:pPr/>
              <a:t>15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Input tab. The user submits the startup details and clicks Analyze Project. The app returns TAM, SAM and SOM, the 2020-2026 market trend and the competitor landscape.</a:t>
            </a:r>
          </a:p>
        </p:txBody>
      </p:sp>
      <p:sp>
        <p:nvSpPr>
          <p:cNvPr id="4" name="Slide Number Placeholder 3"/>
          <p:cNvSpPr>
            <a:spLocks noGrp="1"/>
          </p:cNvSpPr>
          <p:nvPr>
            <p:ph type="sldNum" sz="quarter" idx="10"/>
          </p:nvPr>
        </p:nvSpPr>
        <p:spPr/>
        <p:txBody>
          <a:bodyPr/>
          <a:lstStyle/>
          <a:p>
            <a:fld id="{F7021451-1387-4CA6-816F-3879F97B5CBC}" type="slidenum">
              <a:rPr lang="en-US"/>
              <a:pPr/>
              <a:t>16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2: the analytical core. A risk scoring engine, automatic SWOT generation and a project feasibility assessment. The UI moved to Streamlit and three pure-logic Python modules were added: risk_engine.py, swot_analysis.py and feasibility.py.</a:t>
            </a:r>
          </a:p>
        </p:txBody>
      </p:sp>
      <p:sp>
        <p:nvSpPr>
          <p:cNvPr id="4" name="Slide Number Placeholder 3"/>
          <p:cNvSpPr>
            <a:spLocks noGrp="1"/>
          </p:cNvSpPr>
          <p:nvPr>
            <p:ph type="sldNum" sz="quarter" idx="10"/>
          </p:nvPr>
        </p:nvSpPr>
        <p:spPr/>
        <p:txBody>
          <a:bodyPr/>
          <a:lstStyle/>
          <a:p>
            <a:fld id="{F7021451-1387-4CA6-816F-3879F97B5CBC}" type="slidenum">
              <a:rPr lang="en-US"/>
              <a:pPr/>
              <a:t>17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Assessment tab inputs. Five selections (market competition, innovation level, team expertise, market research quality, resource availability) and four feasibility sliders (market opportunity, competitive advantage, team capability, resource availability) drive the assessment results.</a:t>
            </a:r>
          </a:p>
        </p:txBody>
      </p:sp>
      <p:sp>
        <p:nvSpPr>
          <p:cNvPr id="4" name="Slide Number Placeholder 3"/>
          <p:cNvSpPr>
            <a:spLocks noGrp="1"/>
          </p:cNvSpPr>
          <p:nvPr>
            <p:ph type="sldNum" sz="quarter" idx="10"/>
          </p:nvPr>
        </p:nvSpPr>
        <p:spPr/>
        <p:txBody>
          <a:bodyPr/>
          <a:lstStyle/>
          <a:p>
            <a:fld id="{F7021451-1387-4CA6-816F-3879F97B5CBC}" type="slidenum">
              <a:rPr lang="en-US"/>
              <a:pPr/>
              <a:t>18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of the Risk Assessment tab: the assessment results, key risk factors, the automatically generated SWOT analysis and the project feasibility score with its four assessment metrics.</a:t>
            </a:r>
          </a:p>
        </p:txBody>
      </p:sp>
      <p:sp>
        <p:nvSpPr>
          <p:cNvPr id="4" name="Slide Number Placeholder 3"/>
          <p:cNvSpPr>
            <a:spLocks noGrp="1"/>
          </p:cNvSpPr>
          <p:nvPr>
            <p:ph type="sldNum" sz="quarter" idx="10"/>
          </p:nvPr>
        </p:nvSpPr>
        <p:spPr/>
        <p:txBody>
          <a:bodyPr/>
          <a:lstStyle/>
          <a:p>
            <a:fld id="{F7021451-1387-4CA6-816F-3879F97B5CBC}" type="slidenum">
              <a:rPr lang="en-US"/>
              <a:pPr/>
              <a:t>19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3: turn risk scores into actions. Gemini-powered strategic recommendations, a mitigation and improvement engine, and a LangGraph agent workflow. SQLite replaced PostgreSQL as the local database so the prototype runs without an external server.</a:t>
            </a:r>
          </a:p>
        </p:txBody>
      </p:sp>
      <p:sp>
        <p:nvSpPr>
          <p:cNvPr id="4" name="Slide Number Placeholder 3"/>
          <p:cNvSpPr>
            <a:spLocks noGrp="1"/>
          </p:cNvSpPr>
          <p:nvPr>
            <p:ph type="sldNum" sz="quarter" idx="10"/>
          </p:nvPr>
        </p:nvSpPr>
        <p:spPr/>
        <p:txBody>
          <a:bodyPr/>
          <a:lstStyle/>
          <a:p>
            <a:fld id="{F7021451-1387-4CA6-816F-3879F97B5CBC}" type="slidenum">
              <a:rPr lang="en-US"/>
              <a:pPr/>
              <a:t>20</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Recommendations: Gemini-powered action cards ranked Critical, High and Medium. Risk Mitigation: filter by category; each risk shows its impact level, mitigation strategy, preventive action and contingency action.</a:t>
            </a:r>
          </a:p>
        </p:txBody>
      </p:sp>
      <p:sp>
        <p:nvSpPr>
          <p:cNvPr id="4" name="Slide Number Placeholder 3"/>
          <p:cNvSpPr>
            <a:spLocks noGrp="1"/>
          </p:cNvSpPr>
          <p:nvPr>
            <p:ph type="sldNum" sz="quarter" idx="10"/>
          </p:nvPr>
        </p:nvSpPr>
        <p:spPr/>
        <p:txBody>
          <a:bodyPr/>
          <a:lstStyle/>
          <a:p>
            <a:fld id="{F7021451-1387-4CA6-816F-3879F97B5CBC}" type="slidenum">
              <a:rPr lang="en-US"/>
              <a:pPr/>
              <a:t>21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Improvements: AI-powered cards by area with a priority and the problem addressed. LangGraph Agent: one click runs the six-node workflow (project analysis, risk analysis, strategic recommendation, mitigation, improvements, final response) sharing one state, then shows the final strategic response. Demo Mode is used when no API key is set.</a:t>
            </a:r>
          </a:p>
        </p:txBody>
      </p:sp>
      <p:sp>
        <p:nvSpPr>
          <p:cNvPr id="4" name="Slide Number Placeholder 3"/>
          <p:cNvSpPr>
            <a:spLocks noGrp="1"/>
          </p:cNvSpPr>
          <p:nvPr>
            <p:ph type="sldNum" sz="quarter" idx="10"/>
          </p:nvPr>
        </p:nvSpPr>
        <p:spPr/>
        <p:txBody>
          <a:bodyPr/>
          <a:lstStyle/>
          <a:p>
            <a:fld id="{F7021451-1387-4CA6-816F-3879F97B5CBC}" type="slidenum">
              <a:rPr lang="en-US"/>
              <a:pPr/>
              <a:t>22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4: the dashboard, assessment reports, and then testing, optimization and deployment. Evaluation targets: dashboard fully operational, end-to-end workflow functional, reports within 5 seconds and user satisfaction of at least 85%.</a:t>
            </a:r>
          </a:p>
        </p:txBody>
      </p:sp>
      <p:sp>
        <p:nvSpPr>
          <p:cNvPr id="4" name="Slide Number Placeholder 3"/>
          <p:cNvSpPr>
            <a:spLocks noGrp="1"/>
          </p:cNvSpPr>
          <p:nvPr>
            <p:ph type="sldNum" sz="quarter" idx="10"/>
          </p:nvPr>
        </p:nvSpPr>
        <p:spPr/>
        <p:txBody>
          <a:bodyPr/>
          <a:lstStyle/>
          <a:p>
            <a:fld id="{F7021451-1387-4CA6-816F-3879F97B5CBC}" type="slidenum">
              <a:rPr lang="en-US"/>
              <a:pPr/>
              <a:t>23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tab. Risk analytics tiles show overall risk, success probability, market risk and tech risk with a 6-month trend. The assessment report lists key findings, the risk assessment and recommendations, with Export and Share. Strategic insights show funding strategy, technical advantage and recommended next steps. Tools used: Python, Streamlit, Google Gemini, LangGraph and SQLite.</a:t>
            </a:r>
          </a:p>
        </p:txBody>
      </p:sp>
      <p:sp>
        <p:nvSpPr>
          <p:cNvPr id="4" name="Slide Number Placeholder 3"/>
          <p:cNvSpPr>
            <a:spLocks noGrp="1"/>
          </p:cNvSpPr>
          <p:nvPr>
            <p:ph type="sldNum" sz="quarter" idx="10"/>
          </p:nvPr>
        </p:nvSpPr>
        <p:spPr/>
        <p:txBody>
          <a:bodyPr/>
          <a:lstStyle/>
          <a:p>
            <a:fld id="{F7021451-1387-4CA6-816F-3879F97B5CBC}" type="slidenum">
              <a:rPr lang="en-US"/>
              <a:pPr/>
              <a:t>24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and deployment: the end-to-end flow was tested, report generation optimized toward the 5 second target, and the Streamlit app deployed. Live link: https://prediction-ai-app.streamlit.app/</a:t>
            </a:r>
          </a:p>
        </p:txBody>
      </p:sp>
      <p:sp>
        <p:nvSpPr>
          <p:cNvPr id="4" name="Slide Number Placeholder 3"/>
          <p:cNvSpPr>
            <a:spLocks noGrp="1"/>
          </p:cNvSpPr>
          <p:nvPr>
            <p:ph type="sldNum" sz="quarter" idx="10"/>
          </p:nvPr>
        </p:nvSpPr>
        <p:spPr/>
        <p:txBody>
          <a:bodyPr/>
          <a:lstStyle/>
          <a:p>
            <a:fld id="{F7021451-1387-4CA6-816F-3879F97B5CBC}" type="slidenum">
              <a:rPr lang="en-US"/>
              <a:pPr/>
              <a:t>25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Prediction AI delivers a risk score and success probability, SWOT and market intelligence, Gemini advice through LangGraph, and a dashboard with an exportable report. Thank the audience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pPr/>
              <a:t>26</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Text 0"/>
          <p:cNvSpPr>
            <a:spLocks noGrp="1"/>
          </p:cNvSpPr>
          <p:nvPr>
            <p:ph type="title" idx="101" hasCustomPrompt="1"/>
          </p:nvPr>
        </p:nvSpPr>
        <p:spPr>
          <a:xfrm>
            <a:off x="548640" y="365760"/>
            <a:ext cx="9875520" cy="68580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Text 0"/>
          <p:cNvSpPr>
            <a:spLocks noGrp="1"/>
          </p:cNvSpPr>
          <p:nvPr>
            <p:ph type="title" idx="101" hasCustomPrompt="1"/>
          </p:nvPr>
        </p:nvSpPr>
        <p:spPr>
          <a:xfrm>
            <a:off x="548640" y="365760"/>
            <a:ext cx="9875520" cy="6858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pPr algn="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V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Text 0"/>
          <p:cNvSpPr>
            <a:spLocks noGrp="1"/>
          </p:cNvSpPr>
          <p:nvPr>
            <p:ph type="title" idx="101" hasCustomPrompt="1"/>
          </p:nvPr>
        </p:nvSpPr>
        <p:spPr>
          <a:xfrm>
            <a:off x="640080" y="1097280"/>
            <a:ext cx="5212080" cy="1097280"/>
          </a:xfrm>
          <a:prstGeom prst="rect">
            <a:avLst/>
          </a:prstGeom>
          <a:noFill/>
          <a:ln/>
        </p:spPr>
        <p:txBody>
          <a:bodyPr wrap="square" rtlCol="0"/>
          <a:lstStyle>
            <a:lvl1pPr marL="0" indent="0" algn="l">
              <a:buNone/>
              <a:defRPr lang="en-US" sz="5800" b="1" dirty="0">
                <a:solidFill>
                  <a:schemeClr val="bg1"/>
                </a:solidFill>
              </a:defRPr>
            </a:lvl1pPr>
          </a:lstStyle>
          <a:p>
            <a:pPr marL="0" indent="0" algn="l">
              <a:buNone/>
            </a:pPr>
            <a:endParaRPr lang="en-US" sz="5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pPr algn="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6.png"/><Relationship Id="rId10" Type="http://schemas.openxmlformats.org/officeDocument/2006/relationships/image" Target="../media/image18.png"/><Relationship Id="rId4" Type="http://schemas.openxmlformats.org/officeDocument/2006/relationships/image" Target="../media/image5.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hyperlink" Target="https://prediction-ai-app.streamlit.app/"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4.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25.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6.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10.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prediction-ai-app.streamlit.app/" TargetMode="External"/><Relationship Id="rId5" Type="http://schemas.openxmlformats.org/officeDocument/2006/relationships/image" Target="../media/image8.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ring 1"/>
          <p:cNvSpPr/>
          <p:nvPr/>
        </p:nvSpPr>
        <p:spPr>
          <a:xfrm>
            <a:off x="-1280160" y="4206240"/>
            <a:ext cx="3840480" cy="3840480"/>
          </a:xfrm>
          <a:prstGeom prst="ellipse">
            <a:avLst/>
          </a:prstGeom>
          <a:ln w="19050">
            <a:solidFill>
              <a:schemeClr val="bg1">
                <a:alpha val="12000"/>
              </a:schemeClr>
            </a:solidFill>
            <a:prstDash val="solid"/>
          </a:ln>
        </p:spPr>
      </p:sp>
      <p:sp>
        <p:nvSpPr>
          <p:cNvPr id="3" name="Decor ring 2"/>
          <p:cNvSpPr/>
          <p:nvPr/>
        </p:nvSpPr>
        <p:spPr>
          <a:xfrm>
            <a:off x="-548640" y="4937760"/>
            <a:ext cx="2377440" cy="2377440"/>
          </a:xfrm>
          <a:prstGeom prst="ellipse">
            <a:avLst/>
          </a:prstGeom>
          <a:ln w="19050">
            <a:solidFill>
              <a:schemeClr val="accent3">
                <a:alpha val="30000"/>
              </a:schemeClr>
            </a:solidFill>
            <a:prstDash val="solid"/>
          </a:ln>
        </p:spPr>
      </p:sp>
      <p:sp>
        <p:nvSpPr>
          <p:cNvPr id="4" name="Text 0"/>
          <p:cNvSpPr>
            <a:spLocks noGrp="1"/>
          </p:cNvSpPr>
          <p:nvPr>
            <p:ph type="title" idx="101"/>
          </p:nvPr>
        </p:nvSpPr>
        <p:spPr>
          <a:xfrm>
            <a:off x="640080" y="1097280"/>
            <a:ext cx="5212080" cy="1097280"/>
          </a:xfrm>
          <a:prstGeom prst="rect">
            <a:avLst/>
          </a:prstGeom>
          <a:noFill/>
          <a:ln/>
        </p:spPr>
        <p:txBody>
          <a:bodyPr wrap="square" lIns="0" tIns="0" rIns="0" bIns="0" rtlCol="0" anchor="ctr"/>
          <a:lstStyle/>
          <a:p>
            <a:pPr marL="0" indent="0" algn="l">
              <a:buNone/>
            </a:pPr>
            <a:r>
              <a:rPr lang="en-US" sz="5800" b="1" dirty="0">
                <a:solidFill>
                  <a:schemeClr val="bg1"/>
                </a:solidFill>
              </a:rPr>
              <a:t>Team D</a:t>
            </a:r>
            <a:endParaRPr lang="en-US" sz="5800" dirty="0"/>
          </a:p>
        </p:txBody>
      </p:sp>
      <p:sp>
        <p:nvSpPr>
          <p:cNvPr id="5" name="Guidance card"/>
          <p:cNvSpPr/>
          <p:nvPr/>
        </p:nvSpPr>
        <p:spPr>
          <a:xfrm>
            <a:off x="640080" y="2514600"/>
            <a:ext cx="5212080" cy="2834640"/>
          </a:xfrm>
          <a:prstGeom prst="roundRect">
            <a:avLst>
              <a:gd name="adj" fmla="val 5161"/>
            </a:avLst>
          </a:prstGeom>
          <a:solidFill>
            <a:schemeClr val="accent1"/>
          </a:solidFill>
          <a:ln/>
          <a:effectLst>
            <a:outerShdw blurRad="228600" dist="76200" dir="5400000" algn="bl" rotWithShape="0">
              <a:srgbClr val="050B24">
                <a:alpha val="45000"/>
              </a:srgbClr>
            </a:outerShdw>
          </a:effectLst>
        </p:spPr>
      </p:sp>
      <p:sp>
        <p:nvSpPr>
          <p:cNvPr id="6" name="Mentor icon circle"/>
          <p:cNvSpPr/>
          <p:nvPr/>
        </p:nvSpPr>
        <p:spPr>
          <a:xfrm>
            <a:off x="960120" y="2834640"/>
            <a:ext cx="731520" cy="731520"/>
          </a:xfrm>
          <a:prstGeom prst="ellipse">
            <a:avLst/>
          </a:prstGeom>
          <a:solidFill>
            <a:schemeClr val="accent3"/>
          </a:solidFill>
          <a:ln/>
        </p:spPr>
      </p:sp>
      <p:pic>
        <p:nvPicPr>
          <p:cNvPr id="7" name="Image 0" descr="Mentor"/>
          <p:cNvPicPr>
            <a:picLocks noChangeAspect="1"/>
          </p:cNvPicPr>
          <p:nvPr/>
        </p:nvPicPr>
        <p:blipFill>
          <a:blip r:embed="rId3"/>
          <a:stretch>
            <a:fillRect/>
          </a:stretch>
        </p:blipFill>
        <p:spPr>
          <a:xfrm>
            <a:off x="1143000" y="3017520"/>
            <a:ext cx="365760" cy="365760"/>
          </a:xfrm>
          <a:prstGeom prst="rect">
            <a:avLst/>
          </a:prstGeom>
        </p:spPr>
      </p:pic>
      <p:sp>
        <p:nvSpPr>
          <p:cNvPr id="8" name="Text 5"/>
          <p:cNvSpPr txBox="1"/>
          <p:nvPr/>
        </p:nvSpPr>
        <p:spPr>
          <a:xfrm>
            <a:off x="960120" y="3749040"/>
            <a:ext cx="4572000" cy="1417320"/>
          </a:xfrm>
          <a:prstGeom prst="rect">
            <a:avLst/>
          </a:prstGeom>
          <a:noFill/>
          <a:ln/>
        </p:spPr>
        <p:txBody>
          <a:bodyPr wrap="square" lIns="0" tIns="0" rIns="0" bIns="0" rtlCol="0" anchor="t"/>
          <a:lstStyle/>
          <a:p>
            <a:pPr marL="0" indent="0">
              <a:buNone/>
            </a:pPr>
            <a:r>
              <a:rPr lang="en-US" sz="2400" dirty="0">
                <a:solidFill>
                  <a:schemeClr val="bg1"/>
                </a:solidFill>
              </a:rPr>
              <a:t>We have successfully completed this project under the guidance of our mentor </a:t>
            </a:r>
            <a:r>
              <a:rPr lang="en-US" sz="2400" b="1" dirty="0">
                <a:solidFill>
                  <a:schemeClr val="accent3"/>
                </a:solidFill>
              </a:rPr>
              <a:t>Mrs. Sophia.</a:t>
            </a:r>
            <a:endParaRPr lang="en-US" sz="2400" dirty="0"/>
          </a:p>
        </p:txBody>
      </p:sp>
      <p:sp>
        <p:nvSpPr>
          <p:cNvPr id="9" name="Members icon circle"/>
          <p:cNvSpPr/>
          <p:nvPr/>
        </p:nvSpPr>
        <p:spPr>
          <a:xfrm>
            <a:off x="6675120" y="502920"/>
            <a:ext cx="420624" cy="420624"/>
          </a:xfrm>
          <a:prstGeom prst="ellipse">
            <a:avLst/>
          </a:prstGeom>
          <a:solidFill>
            <a:schemeClr val="accent6"/>
          </a:solidFill>
          <a:ln/>
        </p:spPr>
      </p:sp>
      <p:pic>
        <p:nvPicPr>
          <p:cNvPr id="10" name="Image 1" descr="Team members"/>
          <p:cNvPicPr>
            <a:picLocks noChangeAspect="1"/>
          </p:cNvPicPr>
          <p:nvPr/>
        </p:nvPicPr>
        <p:blipFill>
          <a:blip r:embed="rId4"/>
          <a:stretch>
            <a:fillRect/>
          </a:stretch>
        </p:blipFill>
        <p:spPr>
          <a:xfrm>
            <a:off x="6784848" y="612648"/>
            <a:ext cx="201168" cy="201168"/>
          </a:xfrm>
          <a:prstGeom prst="rect">
            <a:avLst/>
          </a:prstGeom>
        </p:spPr>
      </p:pic>
      <p:sp>
        <p:nvSpPr>
          <p:cNvPr id="11" name="Text 7"/>
          <p:cNvSpPr txBox="1"/>
          <p:nvPr/>
        </p:nvSpPr>
        <p:spPr>
          <a:xfrm>
            <a:off x="7223760" y="502920"/>
            <a:ext cx="4389120" cy="420624"/>
          </a:xfrm>
          <a:prstGeom prst="rect">
            <a:avLst/>
          </a:prstGeom>
          <a:noFill/>
          <a:ln/>
        </p:spPr>
        <p:txBody>
          <a:bodyPr wrap="square" lIns="0" tIns="0" rIns="0" bIns="0" rtlCol="0" anchor="ctr"/>
          <a:lstStyle/>
          <a:p>
            <a:pPr marL="0" indent="0">
              <a:buNone/>
            </a:pPr>
            <a:r>
              <a:rPr lang="en-US" sz="1400" b="1" kern="0" spc="300" dirty="0">
                <a:solidFill>
                  <a:schemeClr val="accent3"/>
                </a:solidFill>
              </a:rPr>
              <a:t>TEAM MEMBERS</a:t>
            </a:r>
            <a:endParaRPr lang="en-US" sz="1400" dirty="0"/>
          </a:p>
        </p:txBody>
      </p:sp>
      <p:sp>
        <p:nvSpPr>
          <p:cNvPr id="12" name="Member card 1"/>
          <p:cNvSpPr/>
          <p:nvPr/>
        </p:nvSpPr>
        <p:spPr>
          <a:xfrm>
            <a:off x="6675120" y="1188720"/>
            <a:ext cx="4965192" cy="621792"/>
          </a:xfrm>
          <a:prstGeom prst="roundRect">
            <a:avLst>
              <a:gd name="adj" fmla="val 50000"/>
            </a:avLst>
          </a:prstGeom>
          <a:solidFill>
            <a:schemeClr val="bg1">
              <a:alpha val="10000"/>
            </a:schemeClr>
          </a:solidFill>
          <a:ln w="9525">
            <a:solidFill>
              <a:schemeClr val="bg1">
                <a:alpha val="20000"/>
              </a:schemeClr>
            </a:solidFill>
            <a:prstDash val="solid"/>
          </a:ln>
        </p:spPr>
      </p:sp>
      <p:sp>
        <p:nvSpPr>
          <p:cNvPr id="13" name="Member initials 1"/>
          <p:cNvSpPr/>
          <p:nvPr/>
        </p:nvSpPr>
        <p:spPr>
          <a:xfrm>
            <a:off x="6766560" y="1252728"/>
            <a:ext cx="493776" cy="493776"/>
          </a:xfrm>
          <a:prstGeom prst="ellipse">
            <a:avLst/>
          </a:prstGeom>
          <a:solidFill>
            <a:schemeClr val="accent1"/>
          </a:solidFill>
          <a:ln/>
        </p:spPr>
      </p:sp>
      <p:sp>
        <p:nvSpPr>
          <p:cNvPr id="14" name="Text 10"/>
          <p:cNvSpPr txBox="1"/>
          <p:nvPr/>
        </p:nvSpPr>
        <p:spPr>
          <a:xfrm>
            <a:off x="6766560" y="1252728"/>
            <a:ext cx="493776" cy="493776"/>
          </a:xfrm>
          <a:prstGeom prst="rect">
            <a:avLst/>
          </a:prstGeom>
          <a:noFill/>
          <a:ln/>
        </p:spPr>
        <p:txBody>
          <a:bodyPr wrap="square" lIns="0" tIns="0" rIns="0" bIns="0" rtlCol="0" anchor="ctr"/>
          <a:lstStyle/>
          <a:p>
            <a:pPr marL="0" indent="0" algn="ctr">
              <a:buNone/>
            </a:pPr>
            <a:r>
              <a:rPr lang="en-US" sz="1400" b="1" dirty="0">
                <a:solidFill>
                  <a:schemeClr val="bg1"/>
                </a:solidFill>
              </a:rPr>
              <a:t>RM</a:t>
            </a:r>
            <a:endParaRPr lang="en-US" sz="1400" dirty="0"/>
          </a:p>
        </p:txBody>
      </p:sp>
      <p:sp>
        <p:nvSpPr>
          <p:cNvPr id="15" name="Text 11"/>
          <p:cNvSpPr txBox="1"/>
          <p:nvPr/>
        </p:nvSpPr>
        <p:spPr>
          <a:xfrm>
            <a:off x="7452360" y="1188720"/>
            <a:ext cx="4069080" cy="621792"/>
          </a:xfrm>
          <a:prstGeom prst="rect">
            <a:avLst/>
          </a:prstGeom>
          <a:noFill/>
          <a:ln/>
        </p:spPr>
        <p:txBody>
          <a:bodyPr wrap="square" lIns="0" tIns="0" rIns="0" bIns="0" rtlCol="0" anchor="ctr"/>
          <a:lstStyle/>
          <a:p>
            <a:pPr marL="0" indent="0">
              <a:buNone/>
            </a:pPr>
            <a:r>
              <a:rPr lang="en-US" sz="1800" b="1" dirty="0">
                <a:solidFill>
                  <a:schemeClr val="bg1"/>
                </a:solidFill>
              </a:rPr>
              <a:t>Rabjyotsingh Majethiya</a:t>
            </a:r>
            <a:endParaRPr lang="en-US" sz="1800" dirty="0"/>
          </a:p>
        </p:txBody>
      </p:sp>
      <p:sp>
        <p:nvSpPr>
          <p:cNvPr id="16" name="Member card 2"/>
          <p:cNvSpPr/>
          <p:nvPr/>
        </p:nvSpPr>
        <p:spPr>
          <a:xfrm>
            <a:off x="6675120" y="1920240"/>
            <a:ext cx="4965192" cy="621792"/>
          </a:xfrm>
          <a:prstGeom prst="roundRect">
            <a:avLst>
              <a:gd name="adj" fmla="val 50000"/>
            </a:avLst>
          </a:prstGeom>
          <a:solidFill>
            <a:schemeClr val="bg1">
              <a:alpha val="10000"/>
            </a:schemeClr>
          </a:solidFill>
          <a:ln w="9525">
            <a:solidFill>
              <a:schemeClr val="bg1">
                <a:alpha val="20000"/>
              </a:schemeClr>
            </a:solidFill>
            <a:prstDash val="solid"/>
          </a:ln>
        </p:spPr>
      </p:sp>
      <p:sp>
        <p:nvSpPr>
          <p:cNvPr id="17" name="Member initials 2"/>
          <p:cNvSpPr/>
          <p:nvPr/>
        </p:nvSpPr>
        <p:spPr>
          <a:xfrm>
            <a:off x="6766560" y="1984248"/>
            <a:ext cx="493776" cy="493776"/>
          </a:xfrm>
          <a:prstGeom prst="ellipse">
            <a:avLst/>
          </a:prstGeom>
          <a:solidFill>
            <a:schemeClr val="accent6"/>
          </a:solidFill>
          <a:ln/>
        </p:spPr>
      </p:sp>
      <p:sp>
        <p:nvSpPr>
          <p:cNvPr id="18" name="Text 14"/>
          <p:cNvSpPr txBox="1"/>
          <p:nvPr/>
        </p:nvSpPr>
        <p:spPr>
          <a:xfrm>
            <a:off x="6766560" y="1984248"/>
            <a:ext cx="493776" cy="493776"/>
          </a:xfrm>
          <a:prstGeom prst="rect">
            <a:avLst/>
          </a:prstGeom>
          <a:noFill/>
          <a:ln/>
        </p:spPr>
        <p:txBody>
          <a:bodyPr wrap="square" lIns="0" tIns="0" rIns="0" bIns="0" rtlCol="0" anchor="ctr"/>
          <a:lstStyle/>
          <a:p>
            <a:pPr marL="0" indent="0" algn="ctr">
              <a:buNone/>
            </a:pPr>
            <a:r>
              <a:rPr lang="en-US" sz="1400" b="1" dirty="0">
                <a:solidFill>
                  <a:schemeClr val="bg1"/>
                </a:solidFill>
              </a:rPr>
              <a:t>RC</a:t>
            </a:r>
            <a:endParaRPr lang="en-US" sz="1400" dirty="0"/>
          </a:p>
        </p:txBody>
      </p:sp>
      <p:sp>
        <p:nvSpPr>
          <p:cNvPr id="19" name="Text 15"/>
          <p:cNvSpPr txBox="1"/>
          <p:nvPr/>
        </p:nvSpPr>
        <p:spPr>
          <a:xfrm>
            <a:off x="7452360" y="1920240"/>
            <a:ext cx="4069080" cy="621792"/>
          </a:xfrm>
          <a:prstGeom prst="rect">
            <a:avLst/>
          </a:prstGeom>
          <a:noFill/>
          <a:ln/>
        </p:spPr>
        <p:txBody>
          <a:bodyPr wrap="square" lIns="0" tIns="0" rIns="0" bIns="0" rtlCol="0" anchor="ctr"/>
          <a:lstStyle/>
          <a:p>
            <a:pPr marL="0" indent="0">
              <a:buNone/>
            </a:pPr>
            <a:r>
              <a:rPr lang="en-US" sz="1800" b="1" dirty="0">
                <a:solidFill>
                  <a:schemeClr val="bg1"/>
                </a:solidFill>
              </a:rPr>
              <a:t>Ruchita Jagdish Chaudhari</a:t>
            </a:r>
            <a:endParaRPr lang="en-US" sz="1800" dirty="0"/>
          </a:p>
        </p:txBody>
      </p:sp>
      <p:sp>
        <p:nvSpPr>
          <p:cNvPr id="20" name="Member card 3"/>
          <p:cNvSpPr/>
          <p:nvPr/>
        </p:nvSpPr>
        <p:spPr>
          <a:xfrm>
            <a:off x="6675120" y="2651760"/>
            <a:ext cx="4965192" cy="621792"/>
          </a:xfrm>
          <a:prstGeom prst="roundRect">
            <a:avLst>
              <a:gd name="adj" fmla="val 50000"/>
            </a:avLst>
          </a:prstGeom>
          <a:solidFill>
            <a:schemeClr val="bg1">
              <a:alpha val="10000"/>
            </a:schemeClr>
          </a:solidFill>
          <a:ln w="9525">
            <a:solidFill>
              <a:schemeClr val="bg1">
                <a:alpha val="20000"/>
              </a:schemeClr>
            </a:solidFill>
            <a:prstDash val="solid"/>
          </a:ln>
        </p:spPr>
      </p:sp>
      <p:sp>
        <p:nvSpPr>
          <p:cNvPr id="21" name="Member initials 3"/>
          <p:cNvSpPr/>
          <p:nvPr/>
        </p:nvSpPr>
        <p:spPr>
          <a:xfrm>
            <a:off x="6766560" y="2715768"/>
            <a:ext cx="493776" cy="493776"/>
          </a:xfrm>
          <a:prstGeom prst="ellipse">
            <a:avLst/>
          </a:prstGeom>
          <a:solidFill>
            <a:schemeClr val="accent4"/>
          </a:solidFill>
          <a:ln/>
        </p:spPr>
      </p:sp>
      <p:sp>
        <p:nvSpPr>
          <p:cNvPr id="22" name="Text 18"/>
          <p:cNvSpPr txBox="1"/>
          <p:nvPr/>
        </p:nvSpPr>
        <p:spPr>
          <a:xfrm>
            <a:off x="6766560" y="2715768"/>
            <a:ext cx="493776" cy="493776"/>
          </a:xfrm>
          <a:prstGeom prst="rect">
            <a:avLst/>
          </a:prstGeom>
          <a:noFill/>
          <a:ln/>
        </p:spPr>
        <p:txBody>
          <a:bodyPr wrap="square" lIns="0" tIns="0" rIns="0" bIns="0" rtlCol="0" anchor="ctr"/>
          <a:lstStyle/>
          <a:p>
            <a:pPr marL="0" indent="0" algn="ctr">
              <a:buNone/>
            </a:pPr>
            <a:r>
              <a:rPr lang="en-US" sz="1400" b="1" dirty="0">
                <a:solidFill>
                  <a:schemeClr val="bg1"/>
                </a:solidFill>
              </a:rPr>
              <a:t>SL</a:t>
            </a:r>
            <a:endParaRPr lang="en-US" sz="1400" dirty="0"/>
          </a:p>
        </p:txBody>
      </p:sp>
      <p:sp>
        <p:nvSpPr>
          <p:cNvPr id="23" name="Text 19"/>
          <p:cNvSpPr txBox="1"/>
          <p:nvPr/>
        </p:nvSpPr>
        <p:spPr>
          <a:xfrm>
            <a:off x="7452360" y="2651760"/>
            <a:ext cx="4069080" cy="621792"/>
          </a:xfrm>
          <a:prstGeom prst="rect">
            <a:avLst/>
          </a:prstGeom>
          <a:noFill/>
          <a:ln/>
        </p:spPr>
        <p:txBody>
          <a:bodyPr wrap="square" lIns="0" tIns="0" rIns="0" bIns="0" rtlCol="0" anchor="ctr"/>
          <a:lstStyle/>
          <a:p>
            <a:pPr marL="0" indent="0">
              <a:buNone/>
            </a:pPr>
            <a:r>
              <a:rPr lang="en-US" sz="1800" b="1" dirty="0">
                <a:solidFill>
                  <a:schemeClr val="bg1"/>
                </a:solidFill>
              </a:rPr>
              <a:t>S.A.R.V. Likhith</a:t>
            </a:r>
            <a:endParaRPr lang="en-US" sz="1800" dirty="0"/>
          </a:p>
        </p:txBody>
      </p:sp>
      <p:sp>
        <p:nvSpPr>
          <p:cNvPr id="24" name="Member card 4"/>
          <p:cNvSpPr/>
          <p:nvPr/>
        </p:nvSpPr>
        <p:spPr>
          <a:xfrm>
            <a:off x="6675120" y="3383280"/>
            <a:ext cx="4965192" cy="621792"/>
          </a:xfrm>
          <a:prstGeom prst="roundRect">
            <a:avLst>
              <a:gd name="adj" fmla="val 50000"/>
            </a:avLst>
          </a:prstGeom>
          <a:solidFill>
            <a:schemeClr val="bg1">
              <a:alpha val="10000"/>
            </a:schemeClr>
          </a:solidFill>
          <a:ln w="9525">
            <a:solidFill>
              <a:schemeClr val="bg1">
                <a:alpha val="20000"/>
              </a:schemeClr>
            </a:solidFill>
            <a:prstDash val="solid"/>
          </a:ln>
        </p:spPr>
      </p:sp>
      <p:sp>
        <p:nvSpPr>
          <p:cNvPr id="25" name="Member initials 4"/>
          <p:cNvSpPr/>
          <p:nvPr/>
        </p:nvSpPr>
        <p:spPr>
          <a:xfrm>
            <a:off x="6766560" y="3447288"/>
            <a:ext cx="493776" cy="493776"/>
          </a:xfrm>
          <a:prstGeom prst="ellipse">
            <a:avLst/>
          </a:prstGeom>
          <a:solidFill>
            <a:schemeClr val="accent2"/>
          </a:solidFill>
          <a:ln/>
        </p:spPr>
      </p:sp>
      <p:sp>
        <p:nvSpPr>
          <p:cNvPr id="26" name="Text 22"/>
          <p:cNvSpPr txBox="1"/>
          <p:nvPr/>
        </p:nvSpPr>
        <p:spPr>
          <a:xfrm>
            <a:off x="6766560" y="3447288"/>
            <a:ext cx="493776" cy="493776"/>
          </a:xfrm>
          <a:prstGeom prst="rect">
            <a:avLst/>
          </a:prstGeom>
          <a:noFill/>
          <a:ln/>
        </p:spPr>
        <p:txBody>
          <a:bodyPr wrap="square" lIns="0" tIns="0" rIns="0" bIns="0" rtlCol="0" anchor="ctr"/>
          <a:lstStyle/>
          <a:p>
            <a:pPr marL="0" indent="0" algn="ctr">
              <a:buNone/>
            </a:pPr>
            <a:r>
              <a:rPr lang="en-US" sz="1400" b="1" dirty="0">
                <a:solidFill>
                  <a:schemeClr val="bg1"/>
                </a:solidFill>
              </a:rPr>
              <a:t>SC</a:t>
            </a:r>
            <a:endParaRPr lang="en-US" sz="1400" dirty="0"/>
          </a:p>
        </p:txBody>
      </p:sp>
      <p:sp>
        <p:nvSpPr>
          <p:cNvPr id="27" name="Text 23"/>
          <p:cNvSpPr txBox="1"/>
          <p:nvPr/>
        </p:nvSpPr>
        <p:spPr>
          <a:xfrm>
            <a:off x="7452360" y="3383280"/>
            <a:ext cx="4069080" cy="621792"/>
          </a:xfrm>
          <a:prstGeom prst="rect">
            <a:avLst/>
          </a:prstGeom>
          <a:noFill/>
          <a:ln/>
        </p:spPr>
        <p:txBody>
          <a:bodyPr wrap="square" lIns="0" tIns="0" rIns="0" bIns="0" rtlCol="0" anchor="ctr"/>
          <a:lstStyle/>
          <a:p>
            <a:pPr marL="0" indent="0">
              <a:buNone/>
            </a:pPr>
            <a:r>
              <a:rPr lang="en-US" sz="1800" b="1" dirty="0">
                <a:solidFill>
                  <a:schemeClr val="bg1"/>
                </a:solidFill>
              </a:rPr>
              <a:t>Sachin Chaubey</a:t>
            </a:r>
            <a:endParaRPr lang="en-US" sz="1800" dirty="0"/>
          </a:p>
        </p:txBody>
      </p:sp>
      <p:sp>
        <p:nvSpPr>
          <p:cNvPr id="28" name="Member card 5"/>
          <p:cNvSpPr/>
          <p:nvPr/>
        </p:nvSpPr>
        <p:spPr>
          <a:xfrm>
            <a:off x="6675120" y="4114800"/>
            <a:ext cx="4965192" cy="621792"/>
          </a:xfrm>
          <a:prstGeom prst="roundRect">
            <a:avLst>
              <a:gd name="adj" fmla="val 50000"/>
            </a:avLst>
          </a:prstGeom>
          <a:solidFill>
            <a:schemeClr val="bg1">
              <a:alpha val="10000"/>
            </a:schemeClr>
          </a:solidFill>
          <a:ln w="9525">
            <a:solidFill>
              <a:schemeClr val="bg1">
                <a:alpha val="20000"/>
              </a:schemeClr>
            </a:solidFill>
            <a:prstDash val="solid"/>
          </a:ln>
        </p:spPr>
      </p:sp>
      <p:sp>
        <p:nvSpPr>
          <p:cNvPr id="29" name="Member initials 5"/>
          <p:cNvSpPr/>
          <p:nvPr/>
        </p:nvSpPr>
        <p:spPr>
          <a:xfrm>
            <a:off x="6766560" y="4178808"/>
            <a:ext cx="493776" cy="493776"/>
          </a:xfrm>
          <a:prstGeom prst="ellipse">
            <a:avLst/>
          </a:prstGeom>
          <a:solidFill>
            <a:schemeClr val="accent1"/>
          </a:solidFill>
          <a:ln/>
        </p:spPr>
      </p:sp>
      <p:sp>
        <p:nvSpPr>
          <p:cNvPr id="30" name="Text 26"/>
          <p:cNvSpPr txBox="1"/>
          <p:nvPr/>
        </p:nvSpPr>
        <p:spPr>
          <a:xfrm>
            <a:off x="6766560" y="4178808"/>
            <a:ext cx="493776" cy="493776"/>
          </a:xfrm>
          <a:prstGeom prst="rect">
            <a:avLst/>
          </a:prstGeom>
          <a:noFill/>
          <a:ln/>
        </p:spPr>
        <p:txBody>
          <a:bodyPr wrap="square" lIns="0" tIns="0" rIns="0" bIns="0" rtlCol="0" anchor="ctr"/>
          <a:lstStyle/>
          <a:p>
            <a:pPr marL="0" indent="0" algn="ctr">
              <a:buNone/>
            </a:pPr>
            <a:r>
              <a:rPr lang="en-US" sz="1400" b="1" dirty="0">
                <a:solidFill>
                  <a:schemeClr val="bg1"/>
                </a:solidFill>
              </a:rPr>
              <a:t>SH</a:t>
            </a:r>
            <a:endParaRPr lang="en-US" sz="1400" dirty="0"/>
          </a:p>
        </p:txBody>
      </p:sp>
      <p:sp>
        <p:nvSpPr>
          <p:cNvPr id="31" name="Text 27"/>
          <p:cNvSpPr txBox="1"/>
          <p:nvPr/>
        </p:nvSpPr>
        <p:spPr>
          <a:xfrm>
            <a:off x="7452360" y="4114800"/>
            <a:ext cx="4069080" cy="621792"/>
          </a:xfrm>
          <a:prstGeom prst="rect">
            <a:avLst/>
          </a:prstGeom>
          <a:noFill/>
          <a:ln/>
        </p:spPr>
        <p:txBody>
          <a:bodyPr wrap="square" lIns="0" tIns="0" rIns="0" bIns="0" rtlCol="0" anchor="ctr"/>
          <a:lstStyle/>
          <a:p>
            <a:pPr marL="0" indent="0">
              <a:buNone/>
            </a:pPr>
            <a:r>
              <a:rPr lang="en-US" sz="1800" b="1" dirty="0">
                <a:solidFill>
                  <a:schemeClr val="bg1"/>
                </a:solidFill>
              </a:rPr>
              <a:t>Shravani Gajanan Hiwase</a:t>
            </a:r>
            <a:endParaRPr lang="en-US" sz="1800" dirty="0"/>
          </a:p>
        </p:txBody>
      </p:sp>
      <p:sp>
        <p:nvSpPr>
          <p:cNvPr id="32" name="Member card 6"/>
          <p:cNvSpPr/>
          <p:nvPr/>
        </p:nvSpPr>
        <p:spPr>
          <a:xfrm>
            <a:off x="6675120" y="4846320"/>
            <a:ext cx="4965192" cy="621792"/>
          </a:xfrm>
          <a:prstGeom prst="roundRect">
            <a:avLst>
              <a:gd name="adj" fmla="val 50000"/>
            </a:avLst>
          </a:prstGeom>
          <a:solidFill>
            <a:schemeClr val="bg1">
              <a:alpha val="10000"/>
            </a:schemeClr>
          </a:solidFill>
          <a:ln w="9525">
            <a:solidFill>
              <a:schemeClr val="bg1">
                <a:alpha val="20000"/>
              </a:schemeClr>
            </a:solidFill>
            <a:prstDash val="solid"/>
          </a:ln>
        </p:spPr>
      </p:sp>
      <p:sp>
        <p:nvSpPr>
          <p:cNvPr id="33" name="Member initials 6"/>
          <p:cNvSpPr/>
          <p:nvPr/>
        </p:nvSpPr>
        <p:spPr>
          <a:xfrm>
            <a:off x="6766560" y="4910328"/>
            <a:ext cx="493776" cy="493776"/>
          </a:xfrm>
          <a:prstGeom prst="ellipse">
            <a:avLst/>
          </a:prstGeom>
          <a:solidFill>
            <a:schemeClr val="accent6"/>
          </a:solidFill>
          <a:ln/>
        </p:spPr>
      </p:sp>
      <p:sp>
        <p:nvSpPr>
          <p:cNvPr id="34" name="Text 30"/>
          <p:cNvSpPr txBox="1"/>
          <p:nvPr/>
        </p:nvSpPr>
        <p:spPr>
          <a:xfrm>
            <a:off x="6766560" y="4910328"/>
            <a:ext cx="493776" cy="493776"/>
          </a:xfrm>
          <a:prstGeom prst="rect">
            <a:avLst/>
          </a:prstGeom>
          <a:noFill/>
          <a:ln/>
        </p:spPr>
        <p:txBody>
          <a:bodyPr wrap="square" lIns="0" tIns="0" rIns="0" bIns="0" rtlCol="0" anchor="ctr"/>
          <a:lstStyle/>
          <a:p>
            <a:pPr marL="0" indent="0" algn="ctr">
              <a:buNone/>
            </a:pPr>
            <a:r>
              <a:rPr lang="en-US" sz="1400" b="1" dirty="0">
                <a:solidFill>
                  <a:schemeClr val="bg1"/>
                </a:solidFill>
              </a:rPr>
              <a:t>TR</a:t>
            </a:r>
            <a:endParaRPr lang="en-US" sz="1400" dirty="0"/>
          </a:p>
        </p:txBody>
      </p:sp>
      <p:sp>
        <p:nvSpPr>
          <p:cNvPr id="35" name="Text 31"/>
          <p:cNvSpPr txBox="1"/>
          <p:nvPr/>
        </p:nvSpPr>
        <p:spPr>
          <a:xfrm>
            <a:off x="7452360" y="4846320"/>
            <a:ext cx="4069080" cy="621792"/>
          </a:xfrm>
          <a:prstGeom prst="rect">
            <a:avLst/>
          </a:prstGeom>
          <a:noFill/>
          <a:ln/>
        </p:spPr>
        <p:txBody>
          <a:bodyPr wrap="square" lIns="0" tIns="0" rIns="0" bIns="0" rtlCol="0" anchor="ctr"/>
          <a:lstStyle/>
          <a:p>
            <a:pPr marL="0" indent="0">
              <a:buNone/>
            </a:pPr>
            <a:r>
              <a:rPr lang="en-US" sz="1800" b="1" dirty="0">
                <a:solidFill>
                  <a:schemeClr val="bg1"/>
                </a:solidFill>
              </a:rPr>
              <a:t>Trijit Roy</a:t>
            </a:r>
            <a:endParaRPr lang="en-US" sz="1800" dirty="0"/>
          </a:p>
        </p:txBody>
      </p:sp>
      <p:sp>
        <p:nvSpPr>
          <p:cNvPr id="36" name="Member card 7"/>
          <p:cNvSpPr/>
          <p:nvPr/>
        </p:nvSpPr>
        <p:spPr>
          <a:xfrm>
            <a:off x="6675120" y="5577840"/>
            <a:ext cx="4965192" cy="621792"/>
          </a:xfrm>
          <a:prstGeom prst="roundRect">
            <a:avLst>
              <a:gd name="adj" fmla="val 50000"/>
            </a:avLst>
          </a:prstGeom>
          <a:solidFill>
            <a:schemeClr val="bg1">
              <a:alpha val="10000"/>
            </a:schemeClr>
          </a:solidFill>
          <a:ln w="9525">
            <a:solidFill>
              <a:schemeClr val="bg1">
                <a:alpha val="20000"/>
              </a:schemeClr>
            </a:solidFill>
            <a:prstDash val="solid"/>
          </a:ln>
        </p:spPr>
      </p:sp>
      <p:sp>
        <p:nvSpPr>
          <p:cNvPr id="37" name="Member initials 7"/>
          <p:cNvSpPr/>
          <p:nvPr/>
        </p:nvSpPr>
        <p:spPr>
          <a:xfrm>
            <a:off x="6766560" y="5641848"/>
            <a:ext cx="493776" cy="493776"/>
          </a:xfrm>
          <a:prstGeom prst="ellipse">
            <a:avLst/>
          </a:prstGeom>
          <a:solidFill>
            <a:schemeClr val="accent4"/>
          </a:solidFill>
          <a:ln/>
        </p:spPr>
      </p:sp>
      <p:sp>
        <p:nvSpPr>
          <p:cNvPr id="38" name="Text 34"/>
          <p:cNvSpPr txBox="1"/>
          <p:nvPr/>
        </p:nvSpPr>
        <p:spPr>
          <a:xfrm>
            <a:off x="6766560" y="5641848"/>
            <a:ext cx="493776" cy="493776"/>
          </a:xfrm>
          <a:prstGeom prst="rect">
            <a:avLst/>
          </a:prstGeom>
          <a:noFill/>
          <a:ln/>
        </p:spPr>
        <p:txBody>
          <a:bodyPr wrap="square" lIns="0" tIns="0" rIns="0" bIns="0" rtlCol="0" anchor="ctr"/>
          <a:lstStyle/>
          <a:p>
            <a:pPr marL="0" indent="0" algn="ctr">
              <a:buNone/>
            </a:pPr>
            <a:r>
              <a:rPr lang="en-US" sz="1400" b="1" dirty="0">
                <a:solidFill>
                  <a:schemeClr val="bg1"/>
                </a:solidFill>
              </a:rPr>
              <a:t>VS</a:t>
            </a:r>
            <a:endParaRPr lang="en-US" sz="1400" dirty="0"/>
          </a:p>
        </p:txBody>
      </p:sp>
      <p:sp>
        <p:nvSpPr>
          <p:cNvPr id="39" name="Text 35"/>
          <p:cNvSpPr txBox="1"/>
          <p:nvPr/>
        </p:nvSpPr>
        <p:spPr>
          <a:xfrm>
            <a:off x="7452360" y="5577840"/>
            <a:ext cx="4069080" cy="621792"/>
          </a:xfrm>
          <a:prstGeom prst="rect">
            <a:avLst/>
          </a:prstGeom>
          <a:noFill/>
          <a:ln/>
        </p:spPr>
        <p:txBody>
          <a:bodyPr wrap="square" lIns="0" tIns="0" rIns="0" bIns="0" rtlCol="0" anchor="ctr"/>
          <a:lstStyle/>
          <a:p>
            <a:pPr marL="0" indent="0">
              <a:buNone/>
            </a:pPr>
            <a:r>
              <a:rPr lang="en-US" sz="1800" b="1" dirty="0">
                <a:solidFill>
                  <a:schemeClr val="bg1"/>
                </a:solidFill>
              </a:rPr>
              <a:t>Vegi Sangeetha</a:t>
            </a:r>
            <a:endParaRPr lang="en-US" sz="1800" dirty="0"/>
          </a:p>
        </p:txBody>
      </p:sp>
      <p:sp>
        <p:nvSpPr>
          <p:cNvPr id="4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pPr algn="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685800"/>
            <a:ext cx="5212080" cy="320040"/>
          </a:xfrm>
          <a:prstGeom prst="rect">
            <a:avLst/>
          </a:prstGeom>
          <a:noFill/>
          <a:ln/>
        </p:spPr>
        <p:txBody>
          <a:bodyPr wrap="square" lIns="0" tIns="0" rIns="0" bIns="0" rtlCol="0" anchor="ctr"/>
          <a:lstStyle/>
          <a:p>
            <a:pPr marL="0" indent="0">
              <a:buNone/>
            </a:pPr>
            <a:r>
              <a:rPr lang="en-US" sz="1300" b="1" kern="0" spc="300" dirty="0">
                <a:solidFill>
                  <a:schemeClr val="accent3"/>
                </a:solidFill>
              </a:rPr>
              <a:t>INTRODUCTION</a:t>
            </a:r>
            <a:endParaRPr lang="en-US" sz="1300" dirty="0"/>
          </a:p>
        </p:txBody>
      </p:sp>
      <p:sp>
        <p:nvSpPr>
          <p:cNvPr id="3" name="Text 0"/>
          <p:cNvSpPr>
            <a:spLocks noGrp="1"/>
          </p:cNvSpPr>
          <p:nvPr>
            <p:ph type="title" idx="101"/>
          </p:nvPr>
        </p:nvSpPr>
        <p:spPr>
          <a:xfrm>
            <a:off x="640080" y="1097280"/>
            <a:ext cx="5212080" cy="1097280"/>
          </a:xfrm>
          <a:prstGeom prst="rect">
            <a:avLst/>
          </a:prstGeom>
          <a:noFill/>
          <a:ln/>
        </p:spPr>
        <p:txBody>
          <a:bodyPr wrap="square" lIns="0" tIns="0" rIns="0" bIns="0" rtlCol="0" anchor="ctr"/>
          <a:lstStyle/>
          <a:p>
            <a:pPr marL="0" indent="0" algn="l">
              <a:buNone/>
            </a:pPr>
            <a:r>
              <a:rPr lang="en-US" sz="5800" b="1" dirty="0">
                <a:solidFill>
                  <a:schemeClr val="bg1"/>
                </a:solidFill>
              </a:rPr>
              <a:t>Prediction AI</a:t>
            </a:r>
            <a:endParaRPr lang="en-US" sz="5800" dirty="0"/>
          </a:p>
        </p:txBody>
      </p:sp>
      <p:sp>
        <p:nvSpPr>
          <p:cNvPr id="4" name="Text 2"/>
          <p:cNvSpPr txBox="1"/>
          <p:nvPr/>
        </p:nvSpPr>
        <p:spPr>
          <a:xfrm>
            <a:off x="640080" y="2240280"/>
            <a:ext cx="5212080" cy="457200"/>
          </a:xfrm>
          <a:prstGeom prst="rect">
            <a:avLst/>
          </a:prstGeom>
          <a:noFill/>
          <a:ln/>
        </p:spPr>
        <p:txBody>
          <a:bodyPr wrap="square" lIns="0" tIns="0" rIns="0" bIns="0" rtlCol="0" anchor="ctr"/>
          <a:lstStyle/>
          <a:p>
            <a:pPr marL="0" indent="0">
              <a:buNone/>
            </a:pPr>
            <a:r>
              <a:rPr lang="en-US" sz="2200" dirty="0">
                <a:solidFill>
                  <a:schemeClr val="bg2"/>
                </a:solidFill>
              </a:rPr>
              <a:t>Startup &amp; Project Risk Analyzer</a:t>
            </a:r>
            <a:endParaRPr lang="en-US" sz="2200" dirty="0"/>
          </a:p>
        </p:txBody>
      </p:sp>
      <p:sp>
        <p:nvSpPr>
          <p:cNvPr id="5" name="Text 3"/>
          <p:cNvSpPr txBox="1"/>
          <p:nvPr/>
        </p:nvSpPr>
        <p:spPr>
          <a:xfrm>
            <a:off x="640080" y="2880360"/>
            <a:ext cx="5486400" cy="1463040"/>
          </a:xfrm>
          <a:prstGeom prst="rect">
            <a:avLst/>
          </a:prstGeom>
          <a:noFill/>
          <a:ln/>
        </p:spPr>
        <p:txBody>
          <a:bodyPr wrap="square" lIns="0" tIns="0" rIns="0" bIns="0" rtlCol="0" anchor="t"/>
          <a:lstStyle/>
          <a:p>
            <a:pPr marL="0" indent="0">
              <a:buNone/>
            </a:pPr>
            <a:r>
              <a:rPr lang="en-US" sz="1600" dirty="0">
                <a:solidFill>
                  <a:schemeClr val="bg1"/>
                </a:solidFill>
              </a:rPr>
              <a:t>Founders, students and project teams often invest in an idea without seeing the market, budget and planning risks behind most failures. Prediction AI analyses the idea, scores its risk and recommends how to reduce it.</a:t>
            </a:r>
            <a:endParaRPr lang="en-US" sz="1600" dirty="0"/>
          </a:p>
        </p:txBody>
      </p:sp>
      <p:sp>
        <p:nvSpPr>
          <p:cNvPr id="6" name="Feature card 1"/>
          <p:cNvSpPr/>
          <p:nvPr/>
        </p:nvSpPr>
        <p:spPr>
          <a:xfrm>
            <a:off x="6858000" y="731520"/>
            <a:ext cx="2286000" cy="1828800"/>
          </a:xfrm>
          <a:prstGeom prst="roundRect">
            <a:avLst>
              <a:gd name="adj" fmla="val 6000"/>
            </a:avLst>
          </a:prstGeom>
          <a:solidFill>
            <a:schemeClr val="bg1">
              <a:alpha val="10000"/>
            </a:schemeClr>
          </a:solidFill>
          <a:ln/>
        </p:spPr>
      </p:sp>
      <p:sp>
        <p:nvSpPr>
          <p:cNvPr id="7" name="Risk scoring circle"/>
          <p:cNvSpPr/>
          <p:nvPr/>
        </p:nvSpPr>
        <p:spPr>
          <a:xfrm>
            <a:off x="7040880" y="914400"/>
            <a:ext cx="548640" cy="548640"/>
          </a:xfrm>
          <a:prstGeom prst="ellipse">
            <a:avLst/>
          </a:prstGeom>
          <a:solidFill>
            <a:schemeClr val="accent2"/>
          </a:solidFill>
          <a:ln/>
        </p:spPr>
      </p:sp>
      <p:pic>
        <p:nvPicPr>
          <p:cNvPr id="8" name="Image 0" descr="Risk scoring"/>
          <p:cNvPicPr>
            <a:picLocks noChangeAspect="1"/>
          </p:cNvPicPr>
          <p:nvPr/>
        </p:nvPicPr>
        <p:blipFill>
          <a:blip r:embed="rId3"/>
          <a:stretch>
            <a:fillRect/>
          </a:stretch>
        </p:blipFill>
        <p:spPr>
          <a:xfrm>
            <a:off x="7172554" y="1046074"/>
            <a:ext cx="285293" cy="285293"/>
          </a:xfrm>
          <a:prstGeom prst="rect">
            <a:avLst/>
          </a:prstGeom>
        </p:spPr>
      </p:pic>
      <p:sp>
        <p:nvSpPr>
          <p:cNvPr id="9" name="Text 6"/>
          <p:cNvSpPr txBox="1"/>
          <p:nvPr/>
        </p:nvSpPr>
        <p:spPr>
          <a:xfrm>
            <a:off x="7040880" y="1572768"/>
            <a:ext cx="1920240" cy="320040"/>
          </a:xfrm>
          <a:prstGeom prst="rect">
            <a:avLst/>
          </a:prstGeom>
          <a:noFill/>
          <a:ln/>
        </p:spPr>
        <p:txBody>
          <a:bodyPr wrap="square" lIns="0" tIns="0" rIns="0" bIns="0" rtlCol="0" anchor="ctr"/>
          <a:lstStyle/>
          <a:p>
            <a:pPr marL="0" indent="0">
              <a:buNone/>
            </a:pPr>
            <a:r>
              <a:rPr lang="en-US" sz="1700" b="1" dirty="0">
                <a:solidFill>
                  <a:schemeClr val="bg1"/>
                </a:solidFill>
              </a:rPr>
              <a:t>Risk scoring</a:t>
            </a:r>
            <a:endParaRPr lang="en-US" sz="1700" dirty="0"/>
          </a:p>
        </p:txBody>
      </p:sp>
      <p:sp>
        <p:nvSpPr>
          <p:cNvPr id="10" name="Text 7"/>
          <p:cNvSpPr txBox="1"/>
          <p:nvPr/>
        </p:nvSpPr>
        <p:spPr>
          <a:xfrm>
            <a:off x="7040880" y="1901952"/>
            <a:ext cx="1920240" cy="548640"/>
          </a:xfrm>
          <a:prstGeom prst="rect">
            <a:avLst/>
          </a:prstGeom>
          <a:noFill/>
          <a:ln/>
        </p:spPr>
        <p:txBody>
          <a:bodyPr wrap="square" lIns="0" tIns="0" rIns="0" bIns="0" rtlCol="0" anchor="t"/>
          <a:lstStyle/>
          <a:p>
            <a:pPr marL="0" indent="0">
              <a:buNone/>
            </a:pPr>
            <a:r>
              <a:rPr lang="en-US" sz="1400" dirty="0">
                <a:solidFill>
                  <a:schemeClr val="bg2"/>
                </a:solidFill>
              </a:rPr>
              <a:t>Overall risk and success probability</a:t>
            </a:r>
            <a:endParaRPr lang="en-US" sz="1400" dirty="0"/>
          </a:p>
        </p:txBody>
      </p:sp>
      <p:sp>
        <p:nvSpPr>
          <p:cNvPr id="11" name="Feature card 2"/>
          <p:cNvSpPr/>
          <p:nvPr/>
        </p:nvSpPr>
        <p:spPr>
          <a:xfrm>
            <a:off x="9326880" y="731520"/>
            <a:ext cx="2286000" cy="1828800"/>
          </a:xfrm>
          <a:prstGeom prst="roundRect">
            <a:avLst>
              <a:gd name="adj" fmla="val 6000"/>
            </a:avLst>
          </a:prstGeom>
          <a:solidFill>
            <a:schemeClr val="bg1">
              <a:alpha val="10000"/>
            </a:schemeClr>
          </a:solidFill>
          <a:ln/>
        </p:spPr>
      </p:sp>
      <p:sp>
        <p:nvSpPr>
          <p:cNvPr id="12" name="SWOT &amp; market circle"/>
          <p:cNvSpPr/>
          <p:nvPr/>
        </p:nvSpPr>
        <p:spPr>
          <a:xfrm>
            <a:off x="9509760" y="914400"/>
            <a:ext cx="548640" cy="548640"/>
          </a:xfrm>
          <a:prstGeom prst="ellipse">
            <a:avLst/>
          </a:prstGeom>
          <a:solidFill>
            <a:schemeClr val="accent1"/>
          </a:solidFill>
          <a:ln/>
        </p:spPr>
      </p:sp>
      <p:pic>
        <p:nvPicPr>
          <p:cNvPr id="13" name="Image 1" descr="SWOT &amp; market"/>
          <p:cNvPicPr>
            <a:picLocks noChangeAspect="1"/>
          </p:cNvPicPr>
          <p:nvPr/>
        </p:nvPicPr>
        <p:blipFill>
          <a:blip r:embed="rId4"/>
          <a:stretch>
            <a:fillRect/>
          </a:stretch>
        </p:blipFill>
        <p:spPr>
          <a:xfrm>
            <a:off x="9641434" y="1046074"/>
            <a:ext cx="285293" cy="285293"/>
          </a:xfrm>
          <a:prstGeom prst="rect">
            <a:avLst/>
          </a:prstGeom>
        </p:spPr>
      </p:pic>
      <p:sp>
        <p:nvSpPr>
          <p:cNvPr id="14" name="Text 10"/>
          <p:cNvSpPr txBox="1"/>
          <p:nvPr/>
        </p:nvSpPr>
        <p:spPr>
          <a:xfrm>
            <a:off x="9509760" y="1572768"/>
            <a:ext cx="1920240" cy="320040"/>
          </a:xfrm>
          <a:prstGeom prst="rect">
            <a:avLst/>
          </a:prstGeom>
          <a:noFill/>
          <a:ln/>
        </p:spPr>
        <p:txBody>
          <a:bodyPr wrap="square" lIns="0" tIns="0" rIns="0" bIns="0" rtlCol="0" anchor="ctr"/>
          <a:lstStyle/>
          <a:p>
            <a:pPr marL="0" indent="0">
              <a:buNone/>
            </a:pPr>
            <a:r>
              <a:rPr lang="en-US" sz="1700" b="1" dirty="0">
                <a:solidFill>
                  <a:schemeClr val="bg1"/>
                </a:solidFill>
              </a:rPr>
              <a:t>SWOT &amp; market</a:t>
            </a:r>
            <a:endParaRPr lang="en-US" sz="1700" dirty="0"/>
          </a:p>
        </p:txBody>
      </p:sp>
      <p:sp>
        <p:nvSpPr>
          <p:cNvPr id="15" name="Text 11"/>
          <p:cNvSpPr txBox="1"/>
          <p:nvPr/>
        </p:nvSpPr>
        <p:spPr>
          <a:xfrm>
            <a:off x="9509760" y="1901952"/>
            <a:ext cx="1920240" cy="548640"/>
          </a:xfrm>
          <a:prstGeom prst="rect">
            <a:avLst/>
          </a:prstGeom>
          <a:noFill/>
          <a:ln/>
        </p:spPr>
        <p:txBody>
          <a:bodyPr wrap="square" lIns="0" tIns="0" rIns="0" bIns="0" rtlCol="0" anchor="t"/>
          <a:lstStyle/>
          <a:p>
            <a:pPr marL="0" indent="0">
              <a:buNone/>
            </a:pPr>
            <a:r>
              <a:rPr lang="en-US" sz="1400" dirty="0">
                <a:solidFill>
                  <a:schemeClr val="bg2"/>
                </a:solidFill>
              </a:rPr>
              <a:t>Feasibility, market size, competitors</a:t>
            </a:r>
            <a:endParaRPr lang="en-US" sz="1400" dirty="0"/>
          </a:p>
        </p:txBody>
      </p:sp>
      <p:sp>
        <p:nvSpPr>
          <p:cNvPr id="16" name="Feature card 3"/>
          <p:cNvSpPr/>
          <p:nvPr/>
        </p:nvSpPr>
        <p:spPr>
          <a:xfrm>
            <a:off x="6858000" y="2743200"/>
            <a:ext cx="2286000" cy="1828800"/>
          </a:xfrm>
          <a:prstGeom prst="roundRect">
            <a:avLst>
              <a:gd name="adj" fmla="val 6000"/>
            </a:avLst>
          </a:prstGeom>
          <a:solidFill>
            <a:schemeClr val="bg1">
              <a:alpha val="10000"/>
            </a:schemeClr>
          </a:solidFill>
          <a:ln/>
        </p:spPr>
      </p:sp>
      <p:sp>
        <p:nvSpPr>
          <p:cNvPr id="17" name="AI advice circle"/>
          <p:cNvSpPr/>
          <p:nvPr/>
        </p:nvSpPr>
        <p:spPr>
          <a:xfrm>
            <a:off x="7040880" y="2926080"/>
            <a:ext cx="548640" cy="548640"/>
          </a:xfrm>
          <a:prstGeom prst="ellipse">
            <a:avLst/>
          </a:prstGeom>
          <a:solidFill>
            <a:schemeClr val="accent6"/>
          </a:solidFill>
          <a:ln/>
        </p:spPr>
      </p:sp>
      <p:pic>
        <p:nvPicPr>
          <p:cNvPr id="18" name="Image 2" descr="AI advice"/>
          <p:cNvPicPr>
            <a:picLocks noChangeAspect="1"/>
          </p:cNvPicPr>
          <p:nvPr/>
        </p:nvPicPr>
        <p:blipFill>
          <a:blip r:embed="rId5"/>
          <a:stretch>
            <a:fillRect/>
          </a:stretch>
        </p:blipFill>
        <p:spPr>
          <a:xfrm>
            <a:off x="7172554" y="3057754"/>
            <a:ext cx="285293" cy="285293"/>
          </a:xfrm>
          <a:prstGeom prst="rect">
            <a:avLst/>
          </a:prstGeom>
        </p:spPr>
      </p:pic>
      <p:sp>
        <p:nvSpPr>
          <p:cNvPr id="19" name="Text 14"/>
          <p:cNvSpPr txBox="1"/>
          <p:nvPr/>
        </p:nvSpPr>
        <p:spPr>
          <a:xfrm>
            <a:off x="7040880" y="3584448"/>
            <a:ext cx="1920240" cy="320040"/>
          </a:xfrm>
          <a:prstGeom prst="rect">
            <a:avLst/>
          </a:prstGeom>
          <a:noFill/>
          <a:ln/>
        </p:spPr>
        <p:txBody>
          <a:bodyPr wrap="square" lIns="0" tIns="0" rIns="0" bIns="0" rtlCol="0" anchor="ctr"/>
          <a:lstStyle/>
          <a:p>
            <a:pPr marL="0" indent="0">
              <a:buNone/>
            </a:pPr>
            <a:r>
              <a:rPr lang="en-US" sz="1700" b="1" dirty="0">
                <a:solidFill>
                  <a:schemeClr val="bg1"/>
                </a:solidFill>
              </a:rPr>
              <a:t>AI advice</a:t>
            </a:r>
            <a:endParaRPr lang="en-US" sz="1700" dirty="0"/>
          </a:p>
        </p:txBody>
      </p:sp>
      <p:sp>
        <p:nvSpPr>
          <p:cNvPr id="20" name="Text 15"/>
          <p:cNvSpPr txBox="1"/>
          <p:nvPr/>
        </p:nvSpPr>
        <p:spPr>
          <a:xfrm>
            <a:off x="7040880" y="3913632"/>
            <a:ext cx="1920240" cy="548640"/>
          </a:xfrm>
          <a:prstGeom prst="rect">
            <a:avLst/>
          </a:prstGeom>
          <a:noFill/>
          <a:ln/>
        </p:spPr>
        <p:txBody>
          <a:bodyPr wrap="square" lIns="0" tIns="0" rIns="0" bIns="0" rtlCol="0" anchor="t"/>
          <a:lstStyle/>
          <a:p>
            <a:pPr marL="0" indent="0">
              <a:buNone/>
            </a:pPr>
            <a:r>
              <a:rPr lang="en-US" sz="1400" dirty="0">
                <a:solidFill>
                  <a:schemeClr val="bg2"/>
                </a:solidFill>
              </a:rPr>
              <a:t>Gemini recommendations and mitigation</a:t>
            </a:r>
            <a:endParaRPr lang="en-US" sz="1400" dirty="0"/>
          </a:p>
        </p:txBody>
      </p:sp>
      <p:sp>
        <p:nvSpPr>
          <p:cNvPr id="21" name="Feature card 4"/>
          <p:cNvSpPr/>
          <p:nvPr/>
        </p:nvSpPr>
        <p:spPr>
          <a:xfrm>
            <a:off x="9326880" y="2743200"/>
            <a:ext cx="2286000" cy="1828800"/>
          </a:xfrm>
          <a:prstGeom prst="roundRect">
            <a:avLst>
              <a:gd name="adj" fmla="val 6000"/>
            </a:avLst>
          </a:prstGeom>
          <a:solidFill>
            <a:schemeClr val="bg1">
              <a:alpha val="10000"/>
            </a:schemeClr>
          </a:solidFill>
          <a:ln/>
        </p:spPr>
      </p:sp>
      <p:sp>
        <p:nvSpPr>
          <p:cNvPr id="22" name="Dashboard circle"/>
          <p:cNvSpPr/>
          <p:nvPr/>
        </p:nvSpPr>
        <p:spPr>
          <a:xfrm>
            <a:off x="9509760" y="2926080"/>
            <a:ext cx="548640" cy="548640"/>
          </a:xfrm>
          <a:prstGeom prst="ellipse">
            <a:avLst/>
          </a:prstGeom>
          <a:solidFill>
            <a:schemeClr val="accent4"/>
          </a:solidFill>
          <a:ln/>
        </p:spPr>
      </p:sp>
      <p:pic>
        <p:nvPicPr>
          <p:cNvPr id="23" name="Image 3" descr="Dashboard"/>
          <p:cNvPicPr>
            <a:picLocks noChangeAspect="1"/>
          </p:cNvPicPr>
          <p:nvPr/>
        </p:nvPicPr>
        <p:blipFill>
          <a:blip r:embed="rId6"/>
          <a:stretch>
            <a:fillRect/>
          </a:stretch>
        </p:blipFill>
        <p:spPr>
          <a:xfrm>
            <a:off x="9641434" y="3057754"/>
            <a:ext cx="285293" cy="285293"/>
          </a:xfrm>
          <a:prstGeom prst="rect">
            <a:avLst/>
          </a:prstGeom>
        </p:spPr>
      </p:pic>
      <p:sp>
        <p:nvSpPr>
          <p:cNvPr id="24" name="Text 18"/>
          <p:cNvSpPr txBox="1"/>
          <p:nvPr/>
        </p:nvSpPr>
        <p:spPr>
          <a:xfrm>
            <a:off x="9509760" y="3584448"/>
            <a:ext cx="1920240" cy="320040"/>
          </a:xfrm>
          <a:prstGeom prst="rect">
            <a:avLst/>
          </a:prstGeom>
          <a:noFill/>
          <a:ln/>
        </p:spPr>
        <p:txBody>
          <a:bodyPr wrap="square" lIns="0" tIns="0" rIns="0" bIns="0" rtlCol="0" anchor="ctr"/>
          <a:lstStyle/>
          <a:p>
            <a:pPr marL="0" indent="0">
              <a:buNone/>
            </a:pPr>
            <a:r>
              <a:rPr lang="en-US" sz="1700" b="1" dirty="0">
                <a:solidFill>
                  <a:schemeClr val="bg1"/>
                </a:solidFill>
              </a:rPr>
              <a:t>Dashboard</a:t>
            </a:r>
            <a:endParaRPr lang="en-US" sz="1700" dirty="0"/>
          </a:p>
        </p:txBody>
      </p:sp>
      <p:sp>
        <p:nvSpPr>
          <p:cNvPr id="25" name="Text 19"/>
          <p:cNvSpPr txBox="1"/>
          <p:nvPr/>
        </p:nvSpPr>
        <p:spPr>
          <a:xfrm>
            <a:off x="9509760" y="3913632"/>
            <a:ext cx="1920240" cy="548640"/>
          </a:xfrm>
          <a:prstGeom prst="rect">
            <a:avLst/>
          </a:prstGeom>
          <a:noFill/>
          <a:ln/>
        </p:spPr>
        <p:txBody>
          <a:bodyPr wrap="square" lIns="0" tIns="0" rIns="0" bIns="0" rtlCol="0" anchor="t"/>
          <a:lstStyle/>
          <a:p>
            <a:pPr marL="0" indent="0">
              <a:buNone/>
            </a:pPr>
            <a:r>
              <a:rPr lang="en-US" sz="1400" dirty="0">
                <a:solidFill>
                  <a:schemeClr val="bg2"/>
                </a:solidFill>
              </a:rPr>
              <a:t>Risk analytics and exportable report</a:t>
            </a:r>
            <a:endParaRPr lang="en-US" sz="1400" dirty="0"/>
          </a:p>
        </p:txBody>
      </p:sp>
      <p:sp>
        <p:nvSpPr>
          <p:cNvPr id="26" name="Stage chip 1"/>
          <p:cNvSpPr/>
          <p:nvPr/>
        </p:nvSpPr>
        <p:spPr>
          <a:xfrm>
            <a:off x="640080" y="4937760"/>
            <a:ext cx="2606040" cy="1005840"/>
          </a:xfrm>
          <a:prstGeom prst="roundRect">
            <a:avLst>
              <a:gd name="adj" fmla="val 9091"/>
            </a:avLst>
          </a:prstGeom>
          <a:solidFill>
            <a:schemeClr val="bg1">
              <a:alpha val="10000"/>
            </a:schemeClr>
          </a:solidFill>
          <a:ln/>
        </p:spPr>
      </p:sp>
      <p:sp>
        <p:nvSpPr>
          <p:cNvPr id="27" name="Text 21"/>
          <p:cNvSpPr txBox="1"/>
          <p:nvPr/>
        </p:nvSpPr>
        <p:spPr>
          <a:xfrm>
            <a:off x="804672" y="5047488"/>
            <a:ext cx="228600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COLLECT</a:t>
            </a:r>
            <a:endParaRPr lang="en-US" sz="1200" dirty="0"/>
          </a:p>
        </p:txBody>
      </p:sp>
      <p:sp>
        <p:nvSpPr>
          <p:cNvPr id="28" name="Text 22"/>
          <p:cNvSpPr txBox="1"/>
          <p:nvPr/>
        </p:nvSpPr>
        <p:spPr>
          <a:xfrm>
            <a:off x="804672" y="5340096"/>
            <a:ext cx="2286000" cy="548640"/>
          </a:xfrm>
          <a:prstGeom prst="rect">
            <a:avLst/>
          </a:prstGeom>
          <a:noFill/>
          <a:ln/>
        </p:spPr>
        <p:txBody>
          <a:bodyPr wrap="square" lIns="0" tIns="0" rIns="0" bIns="0" rtlCol="0" anchor="t"/>
          <a:lstStyle/>
          <a:p>
            <a:pPr marL="0" indent="0">
              <a:buNone/>
            </a:pPr>
            <a:r>
              <a:rPr lang="en-US" sz="1400" dirty="0">
                <a:solidFill>
                  <a:schemeClr val="bg1"/>
                </a:solidFill>
              </a:rPr>
              <a:t>Project data and market intelligence</a:t>
            </a:r>
            <a:endParaRPr lang="en-US" sz="1400" dirty="0"/>
          </a:p>
        </p:txBody>
      </p:sp>
      <p:sp>
        <p:nvSpPr>
          <p:cNvPr id="29" name="Stage chip 2"/>
          <p:cNvSpPr/>
          <p:nvPr/>
        </p:nvSpPr>
        <p:spPr>
          <a:xfrm>
            <a:off x="3429000" y="4937760"/>
            <a:ext cx="2606040" cy="1005840"/>
          </a:xfrm>
          <a:prstGeom prst="roundRect">
            <a:avLst>
              <a:gd name="adj" fmla="val 9091"/>
            </a:avLst>
          </a:prstGeom>
          <a:solidFill>
            <a:schemeClr val="bg1">
              <a:alpha val="10000"/>
            </a:schemeClr>
          </a:solidFill>
          <a:ln/>
        </p:spPr>
      </p:sp>
      <p:sp>
        <p:nvSpPr>
          <p:cNvPr id="30" name="Text 24"/>
          <p:cNvSpPr txBox="1"/>
          <p:nvPr/>
        </p:nvSpPr>
        <p:spPr>
          <a:xfrm>
            <a:off x="3593592" y="5047488"/>
            <a:ext cx="228600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ASSESS</a:t>
            </a:r>
            <a:endParaRPr lang="en-US" sz="1200" dirty="0"/>
          </a:p>
        </p:txBody>
      </p:sp>
      <p:sp>
        <p:nvSpPr>
          <p:cNvPr id="31" name="Text 25"/>
          <p:cNvSpPr txBox="1"/>
          <p:nvPr/>
        </p:nvSpPr>
        <p:spPr>
          <a:xfrm>
            <a:off x="3593592" y="5340096"/>
            <a:ext cx="2286000" cy="548640"/>
          </a:xfrm>
          <a:prstGeom prst="rect">
            <a:avLst/>
          </a:prstGeom>
          <a:noFill/>
          <a:ln/>
        </p:spPr>
        <p:txBody>
          <a:bodyPr wrap="square" lIns="0" tIns="0" rIns="0" bIns="0" rtlCol="0" anchor="t"/>
          <a:lstStyle/>
          <a:p>
            <a:pPr marL="0" indent="0">
              <a:buNone/>
            </a:pPr>
            <a:r>
              <a:rPr lang="en-US" sz="1400" dirty="0">
                <a:solidFill>
                  <a:schemeClr val="bg1"/>
                </a:solidFill>
              </a:rPr>
              <a:t>Risk scoring and SWOT analysis</a:t>
            </a:r>
            <a:endParaRPr lang="en-US" sz="1400" dirty="0"/>
          </a:p>
        </p:txBody>
      </p:sp>
      <p:sp>
        <p:nvSpPr>
          <p:cNvPr id="32" name="Stage chip 3"/>
          <p:cNvSpPr/>
          <p:nvPr/>
        </p:nvSpPr>
        <p:spPr>
          <a:xfrm>
            <a:off x="6217920" y="4937760"/>
            <a:ext cx="2606040" cy="1005840"/>
          </a:xfrm>
          <a:prstGeom prst="roundRect">
            <a:avLst>
              <a:gd name="adj" fmla="val 9091"/>
            </a:avLst>
          </a:prstGeom>
          <a:solidFill>
            <a:schemeClr val="bg1">
              <a:alpha val="10000"/>
            </a:schemeClr>
          </a:solidFill>
          <a:ln/>
        </p:spPr>
      </p:sp>
      <p:sp>
        <p:nvSpPr>
          <p:cNvPr id="33" name="Text 27"/>
          <p:cNvSpPr txBox="1"/>
          <p:nvPr/>
        </p:nvSpPr>
        <p:spPr>
          <a:xfrm>
            <a:off x="6382512" y="5047488"/>
            <a:ext cx="228600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RECOMMEND</a:t>
            </a:r>
            <a:endParaRPr lang="en-US" sz="1200" dirty="0"/>
          </a:p>
        </p:txBody>
      </p:sp>
      <p:sp>
        <p:nvSpPr>
          <p:cNvPr id="34" name="Text 28"/>
          <p:cNvSpPr txBox="1"/>
          <p:nvPr/>
        </p:nvSpPr>
        <p:spPr>
          <a:xfrm>
            <a:off x="6382512" y="5340096"/>
            <a:ext cx="2286000" cy="548640"/>
          </a:xfrm>
          <a:prstGeom prst="rect">
            <a:avLst/>
          </a:prstGeom>
          <a:noFill/>
          <a:ln/>
        </p:spPr>
        <p:txBody>
          <a:bodyPr wrap="square" lIns="0" tIns="0" rIns="0" bIns="0" rtlCol="0" anchor="t"/>
          <a:lstStyle/>
          <a:p>
            <a:pPr marL="0" indent="0">
              <a:buNone/>
            </a:pPr>
            <a:r>
              <a:rPr lang="en-US" sz="1400" dirty="0">
                <a:solidFill>
                  <a:schemeClr val="bg1"/>
                </a:solidFill>
              </a:rPr>
              <a:t>Strategic reasoning and mitigation</a:t>
            </a:r>
            <a:endParaRPr lang="en-US" sz="1400" dirty="0"/>
          </a:p>
        </p:txBody>
      </p:sp>
      <p:sp>
        <p:nvSpPr>
          <p:cNvPr id="35" name="Stage chip 4"/>
          <p:cNvSpPr/>
          <p:nvPr/>
        </p:nvSpPr>
        <p:spPr>
          <a:xfrm>
            <a:off x="9006840" y="4937760"/>
            <a:ext cx="2606040" cy="1005840"/>
          </a:xfrm>
          <a:prstGeom prst="roundRect">
            <a:avLst>
              <a:gd name="adj" fmla="val 9091"/>
            </a:avLst>
          </a:prstGeom>
          <a:solidFill>
            <a:schemeClr val="bg1">
              <a:alpha val="10000"/>
            </a:schemeClr>
          </a:solidFill>
          <a:ln/>
        </p:spPr>
      </p:sp>
      <p:sp>
        <p:nvSpPr>
          <p:cNvPr id="36" name="Text 30"/>
          <p:cNvSpPr txBox="1"/>
          <p:nvPr/>
        </p:nvSpPr>
        <p:spPr>
          <a:xfrm>
            <a:off x="9171432" y="5047488"/>
            <a:ext cx="228600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REPORT</a:t>
            </a:r>
            <a:endParaRPr lang="en-US" sz="1200" dirty="0"/>
          </a:p>
        </p:txBody>
      </p:sp>
      <p:sp>
        <p:nvSpPr>
          <p:cNvPr id="37" name="Text 31"/>
          <p:cNvSpPr txBox="1"/>
          <p:nvPr/>
        </p:nvSpPr>
        <p:spPr>
          <a:xfrm>
            <a:off x="9171432" y="5340096"/>
            <a:ext cx="2286000" cy="548640"/>
          </a:xfrm>
          <a:prstGeom prst="rect">
            <a:avLst/>
          </a:prstGeom>
          <a:noFill/>
          <a:ln/>
        </p:spPr>
        <p:txBody>
          <a:bodyPr wrap="square" lIns="0" tIns="0" rIns="0" bIns="0" rtlCol="0" anchor="t"/>
          <a:lstStyle/>
          <a:p>
            <a:pPr marL="0" indent="0">
              <a:buNone/>
            </a:pPr>
            <a:r>
              <a:rPr lang="en-US" sz="1400" dirty="0">
                <a:solidFill>
                  <a:schemeClr val="bg1"/>
                </a:solidFill>
              </a:rPr>
              <a:t>Dashboard, reports and deployment</a:t>
            </a:r>
            <a:endParaRPr lang="en-US" sz="1400" dirty="0"/>
          </a:p>
        </p:txBody>
      </p:sp>
      <p:sp>
        <p:nvSpPr>
          <p:cNvPr id="38"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pPr algn="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The Problem</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Promising ideas often fail for reasons that can be spotted early</a:t>
            </a:r>
            <a:endParaRPr lang="en-US" sz="1600" dirty="0"/>
          </a:p>
        </p:txBody>
      </p:sp>
      <p:sp>
        <p:nvSpPr>
          <p:cNvPr id="4" name="Text 2"/>
          <p:cNvSpPr txBox="1"/>
          <p:nvPr/>
        </p:nvSpPr>
        <p:spPr>
          <a:xfrm>
            <a:off x="548640" y="1691640"/>
            <a:ext cx="4846320" cy="1737360"/>
          </a:xfrm>
          <a:prstGeom prst="rect">
            <a:avLst/>
          </a:prstGeom>
          <a:noFill/>
          <a:ln/>
        </p:spPr>
        <p:txBody>
          <a:bodyPr wrap="square" lIns="0" tIns="0" rIns="0" bIns="0" rtlCol="0" anchor="t"/>
          <a:lstStyle/>
          <a:p>
            <a:pPr marL="0" indent="0">
              <a:buNone/>
            </a:pPr>
            <a:r>
              <a:rPr lang="en-US" sz="2000" dirty="0">
                <a:solidFill>
                  <a:schemeClr val="tx1"/>
                </a:solidFill>
              </a:rPr>
              <a:t>Entrepreneurs, students and project teams invest time, effort and money in ideas without fully understanding the risks that can sink them.</a:t>
            </a:r>
            <a:endParaRPr lang="en-US" sz="2000" dirty="0"/>
          </a:p>
        </p:txBody>
      </p:sp>
      <p:sp>
        <p:nvSpPr>
          <p:cNvPr id="5" name="Answer card"/>
          <p:cNvSpPr/>
          <p:nvPr/>
        </p:nvSpPr>
        <p:spPr>
          <a:xfrm>
            <a:off x="548640" y="3657600"/>
            <a:ext cx="4846320" cy="2423160"/>
          </a:xfrm>
          <a:prstGeom prst="roundRect">
            <a:avLst>
              <a:gd name="adj" fmla="val 4528"/>
            </a:avLst>
          </a:prstGeom>
          <a:solidFill>
            <a:schemeClr val="tx2"/>
          </a:solidFill>
          <a:ln/>
        </p:spPr>
      </p:sp>
      <p:sp>
        <p:nvSpPr>
          <p:cNvPr id="6" name="Text 4"/>
          <p:cNvSpPr txBox="1"/>
          <p:nvPr/>
        </p:nvSpPr>
        <p:spPr>
          <a:xfrm>
            <a:off x="822960" y="3886200"/>
            <a:ext cx="429768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OUR ANSWER</a:t>
            </a:r>
            <a:endParaRPr lang="en-US" sz="1200" dirty="0"/>
          </a:p>
        </p:txBody>
      </p:sp>
      <p:sp>
        <p:nvSpPr>
          <p:cNvPr id="7" name="Text 5"/>
          <p:cNvSpPr txBox="1"/>
          <p:nvPr/>
        </p:nvSpPr>
        <p:spPr>
          <a:xfrm>
            <a:off x="822960" y="4251960"/>
            <a:ext cx="4297680" cy="1645920"/>
          </a:xfrm>
          <a:prstGeom prst="rect">
            <a:avLst/>
          </a:prstGeom>
          <a:noFill/>
          <a:ln/>
        </p:spPr>
        <p:txBody>
          <a:bodyPr wrap="square" lIns="0" tIns="0" rIns="0" bIns="0" rtlCol="0" anchor="t"/>
          <a:lstStyle/>
          <a:p>
            <a:pPr marL="0" indent="0">
              <a:buNone/>
            </a:pPr>
            <a:r>
              <a:rPr lang="en-US" sz="2100" b="1" dirty="0">
                <a:solidFill>
                  <a:schemeClr val="bg1"/>
                </a:solidFill>
              </a:rPr>
              <a:t>Prediction AI predicts failure risk before the investment is made, scores it, and recommends how to reduce it.</a:t>
            </a:r>
            <a:endParaRPr lang="en-US" sz="2100" dirty="0"/>
          </a:p>
        </p:txBody>
      </p:sp>
      <p:sp>
        <p:nvSpPr>
          <p:cNvPr id="8" name="Cause card 1"/>
          <p:cNvSpPr/>
          <p:nvPr/>
        </p:nvSpPr>
        <p:spPr>
          <a:xfrm>
            <a:off x="5852160" y="1691640"/>
            <a:ext cx="5788152" cy="804672"/>
          </a:xfrm>
          <a:prstGeom prst="roundRect">
            <a:avLst>
              <a:gd name="adj" fmla="val 13636"/>
            </a:avLst>
          </a:prstGeom>
          <a:solidFill>
            <a:schemeClr val="bg1"/>
          </a:solidFill>
          <a:ln/>
          <a:effectLst>
            <a:outerShdw blurRad="101600" dist="25400" dir="5400000" algn="bl" rotWithShape="0">
              <a:srgbClr val="0B1630">
                <a:alpha val="12000"/>
              </a:srgbClr>
            </a:outerShdw>
          </a:effectLst>
        </p:spPr>
      </p:sp>
      <p:sp>
        <p:nvSpPr>
          <p:cNvPr id="9" name="Poor market fit circle"/>
          <p:cNvSpPr/>
          <p:nvPr/>
        </p:nvSpPr>
        <p:spPr>
          <a:xfrm>
            <a:off x="6035040" y="1837944"/>
            <a:ext cx="512064" cy="512064"/>
          </a:xfrm>
          <a:prstGeom prst="ellipse">
            <a:avLst/>
          </a:prstGeom>
          <a:solidFill>
            <a:schemeClr val="accent1"/>
          </a:solidFill>
          <a:ln/>
        </p:spPr>
      </p:sp>
      <p:pic>
        <p:nvPicPr>
          <p:cNvPr id="10" name="Image 0" descr="Poor market fit"/>
          <p:cNvPicPr>
            <a:picLocks noChangeAspect="1"/>
          </p:cNvPicPr>
          <p:nvPr/>
        </p:nvPicPr>
        <p:blipFill>
          <a:blip r:embed="rId3"/>
          <a:stretch>
            <a:fillRect/>
          </a:stretch>
        </p:blipFill>
        <p:spPr>
          <a:xfrm>
            <a:off x="6157935" y="1960839"/>
            <a:ext cx="266273" cy="266273"/>
          </a:xfrm>
          <a:prstGeom prst="rect">
            <a:avLst/>
          </a:prstGeom>
        </p:spPr>
      </p:pic>
      <p:sp>
        <p:nvSpPr>
          <p:cNvPr id="11" name="Text 8"/>
          <p:cNvSpPr txBox="1"/>
          <p:nvPr/>
        </p:nvSpPr>
        <p:spPr>
          <a:xfrm>
            <a:off x="6766560" y="1783080"/>
            <a:ext cx="4754880" cy="310896"/>
          </a:xfrm>
          <a:prstGeom prst="rect">
            <a:avLst/>
          </a:prstGeom>
          <a:noFill/>
          <a:ln/>
        </p:spPr>
        <p:txBody>
          <a:bodyPr wrap="square" lIns="0" tIns="0" rIns="0" bIns="0" rtlCol="0" anchor="ctr"/>
          <a:lstStyle/>
          <a:p>
            <a:pPr marL="0" indent="0">
              <a:buNone/>
            </a:pPr>
            <a:r>
              <a:rPr lang="en-US" sz="1700" b="1" dirty="0">
                <a:solidFill>
                  <a:schemeClr val="tx2"/>
                </a:solidFill>
              </a:rPr>
              <a:t>Poor market fit</a:t>
            </a:r>
            <a:endParaRPr lang="en-US" sz="1700" dirty="0"/>
          </a:p>
        </p:txBody>
      </p:sp>
      <p:sp>
        <p:nvSpPr>
          <p:cNvPr id="12" name="Text 9"/>
          <p:cNvSpPr txBox="1"/>
          <p:nvPr/>
        </p:nvSpPr>
        <p:spPr>
          <a:xfrm>
            <a:off x="6766560" y="2121408"/>
            <a:ext cx="4754880" cy="274320"/>
          </a:xfrm>
          <a:prstGeom prst="rect">
            <a:avLst/>
          </a:prstGeom>
          <a:noFill/>
          <a:ln/>
        </p:spPr>
        <p:txBody>
          <a:bodyPr wrap="square" lIns="0" tIns="0" rIns="0" bIns="0" rtlCol="0" anchor="ctr"/>
          <a:lstStyle/>
          <a:p>
            <a:pPr marL="0" indent="0">
              <a:buNone/>
            </a:pPr>
            <a:r>
              <a:rPr lang="en-US" sz="1400" dirty="0">
                <a:solidFill>
                  <a:schemeClr val="tx1"/>
                </a:solidFill>
              </a:rPr>
              <a:t>Building something customers do not need</a:t>
            </a:r>
            <a:endParaRPr lang="en-US" sz="1400" dirty="0"/>
          </a:p>
        </p:txBody>
      </p:sp>
      <p:sp>
        <p:nvSpPr>
          <p:cNvPr id="13" name="Cause card 2"/>
          <p:cNvSpPr/>
          <p:nvPr/>
        </p:nvSpPr>
        <p:spPr>
          <a:xfrm>
            <a:off x="5852160" y="2596896"/>
            <a:ext cx="5788152" cy="804672"/>
          </a:xfrm>
          <a:prstGeom prst="roundRect">
            <a:avLst>
              <a:gd name="adj" fmla="val 13636"/>
            </a:avLst>
          </a:prstGeom>
          <a:solidFill>
            <a:schemeClr val="bg1"/>
          </a:solidFill>
          <a:ln/>
          <a:effectLst>
            <a:outerShdw blurRad="101600" dist="25400" dir="5400000" algn="bl" rotWithShape="0">
              <a:srgbClr val="0B1630">
                <a:alpha val="12000"/>
              </a:srgbClr>
            </a:outerShdw>
          </a:effectLst>
        </p:spPr>
      </p:sp>
      <p:sp>
        <p:nvSpPr>
          <p:cNvPr id="14" name="Intense competition circle"/>
          <p:cNvSpPr/>
          <p:nvPr/>
        </p:nvSpPr>
        <p:spPr>
          <a:xfrm>
            <a:off x="6035040" y="2743200"/>
            <a:ext cx="512064" cy="512064"/>
          </a:xfrm>
          <a:prstGeom prst="ellipse">
            <a:avLst/>
          </a:prstGeom>
          <a:solidFill>
            <a:schemeClr val="accent2"/>
          </a:solidFill>
          <a:ln/>
        </p:spPr>
      </p:sp>
      <p:pic>
        <p:nvPicPr>
          <p:cNvPr id="15" name="Image 1" descr="Intense competition"/>
          <p:cNvPicPr>
            <a:picLocks noChangeAspect="1"/>
          </p:cNvPicPr>
          <p:nvPr/>
        </p:nvPicPr>
        <p:blipFill>
          <a:blip r:embed="rId4"/>
          <a:stretch>
            <a:fillRect/>
          </a:stretch>
        </p:blipFill>
        <p:spPr>
          <a:xfrm>
            <a:off x="6157935" y="2866095"/>
            <a:ext cx="266273" cy="266273"/>
          </a:xfrm>
          <a:prstGeom prst="rect">
            <a:avLst/>
          </a:prstGeom>
        </p:spPr>
      </p:pic>
      <p:sp>
        <p:nvSpPr>
          <p:cNvPr id="16" name="Text 12"/>
          <p:cNvSpPr txBox="1"/>
          <p:nvPr/>
        </p:nvSpPr>
        <p:spPr>
          <a:xfrm>
            <a:off x="6766560" y="2688336"/>
            <a:ext cx="4754880" cy="310896"/>
          </a:xfrm>
          <a:prstGeom prst="rect">
            <a:avLst/>
          </a:prstGeom>
          <a:noFill/>
          <a:ln/>
        </p:spPr>
        <p:txBody>
          <a:bodyPr wrap="square" lIns="0" tIns="0" rIns="0" bIns="0" rtlCol="0" anchor="ctr"/>
          <a:lstStyle/>
          <a:p>
            <a:pPr marL="0" indent="0">
              <a:buNone/>
            </a:pPr>
            <a:r>
              <a:rPr lang="en-US" sz="1700" b="1" dirty="0">
                <a:solidFill>
                  <a:schemeClr val="tx2"/>
                </a:solidFill>
              </a:rPr>
              <a:t>Intense competition</a:t>
            </a:r>
            <a:endParaRPr lang="en-US" sz="1700" dirty="0"/>
          </a:p>
        </p:txBody>
      </p:sp>
      <p:sp>
        <p:nvSpPr>
          <p:cNvPr id="17" name="Text 13"/>
          <p:cNvSpPr txBox="1"/>
          <p:nvPr/>
        </p:nvSpPr>
        <p:spPr>
          <a:xfrm>
            <a:off x="6766560" y="3026664"/>
            <a:ext cx="4754880" cy="274320"/>
          </a:xfrm>
          <a:prstGeom prst="rect">
            <a:avLst/>
          </a:prstGeom>
          <a:noFill/>
          <a:ln/>
        </p:spPr>
        <p:txBody>
          <a:bodyPr wrap="square" lIns="0" tIns="0" rIns="0" bIns="0" rtlCol="0" anchor="ctr"/>
          <a:lstStyle/>
          <a:p>
            <a:pPr marL="0" indent="0">
              <a:buNone/>
            </a:pPr>
            <a:r>
              <a:rPr lang="en-US" sz="1400" dirty="0">
                <a:solidFill>
                  <a:schemeClr val="tx1"/>
                </a:solidFill>
              </a:rPr>
              <a:t>Established players already own the segment</a:t>
            </a:r>
            <a:endParaRPr lang="en-US" sz="1400" dirty="0"/>
          </a:p>
        </p:txBody>
      </p:sp>
      <p:sp>
        <p:nvSpPr>
          <p:cNvPr id="18" name="Cause card 3"/>
          <p:cNvSpPr/>
          <p:nvPr/>
        </p:nvSpPr>
        <p:spPr>
          <a:xfrm>
            <a:off x="5852160" y="3502152"/>
            <a:ext cx="5788152" cy="804672"/>
          </a:xfrm>
          <a:prstGeom prst="roundRect">
            <a:avLst>
              <a:gd name="adj" fmla="val 13636"/>
            </a:avLst>
          </a:prstGeom>
          <a:solidFill>
            <a:schemeClr val="bg1"/>
          </a:solidFill>
          <a:ln/>
          <a:effectLst>
            <a:outerShdw blurRad="101600" dist="25400" dir="5400000" algn="bl" rotWithShape="0">
              <a:srgbClr val="0B1630">
                <a:alpha val="12000"/>
              </a:srgbClr>
            </a:outerShdw>
          </a:effectLst>
        </p:spPr>
      </p:sp>
      <p:sp>
        <p:nvSpPr>
          <p:cNvPr id="19" name="Budget limitations circle"/>
          <p:cNvSpPr/>
          <p:nvPr/>
        </p:nvSpPr>
        <p:spPr>
          <a:xfrm>
            <a:off x="6035040" y="3648456"/>
            <a:ext cx="512064" cy="512064"/>
          </a:xfrm>
          <a:prstGeom prst="ellipse">
            <a:avLst/>
          </a:prstGeom>
          <a:solidFill>
            <a:schemeClr val="accent3"/>
          </a:solidFill>
          <a:ln/>
        </p:spPr>
      </p:sp>
      <p:pic>
        <p:nvPicPr>
          <p:cNvPr id="20" name="Image 2" descr="Budget limitations"/>
          <p:cNvPicPr>
            <a:picLocks noChangeAspect="1"/>
          </p:cNvPicPr>
          <p:nvPr/>
        </p:nvPicPr>
        <p:blipFill>
          <a:blip r:embed="rId5"/>
          <a:stretch>
            <a:fillRect/>
          </a:stretch>
        </p:blipFill>
        <p:spPr>
          <a:xfrm>
            <a:off x="6157935" y="3771351"/>
            <a:ext cx="266273" cy="266273"/>
          </a:xfrm>
          <a:prstGeom prst="rect">
            <a:avLst/>
          </a:prstGeom>
        </p:spPr>
      </p:pic>
      <p:sp>
        <p:nvSpPr>
          <p:cNvPr id="21" name="Text 16"/>
          <p:cNvSpPr txBox="1"/>
          <p:nvPr/>
        </p:nvSpPr>
        <p:spPr>
          <a:xfrm>
            <a:off x="6766560" y="3593592"/>
            <a:ext cx="4754880" cy="310896"/>
          </a:xfrm>
          <a:prstGeom prst="rect">
            <a:avLst/>
          </a:prstGeom>
          <a:noFill/>
          <a:ln/>
        </p:spPr>
        <p:txBody>
          <a:bodyPr wrap="square" lIns="0" tIns="0" rIns="0" bIns="0" rtlCol="0" anchor="ctr"/>
          <a:lstStyle/>
          <a:p>
            <a:pPr marL="0" indent="0">
              <a:buNone/>
            </a:pPr>
            <a:r>
              <a:rPr lang="en-US" sz="1700" b="1" dirty="0">
                <a:solidFill>
                  <a:schemeClr val="tx2"/>
                </a:solidFill>
              </a:rPr>
              <a:t>Budget limitations</a:t>
            </a:r>
            <a:endParaRPr lang="en-US" sz="1700" dirty="0"/>
          </a:p>
        </p:txBody>
      </p:sp>
      <p:sp>
        <p:nvSpPr>
          <p:cNvPr id="22" name="Text 17"/>
          <p:cNvSpPr txBox="1"/>
          <p:nvPr/>
        </p:nvSpPr>
        <p:spPr>
          <a:xfrm>
            <a:off x="6766560" y="3931920"/>
            <a:ext cx="4754880" cy="274320"/>
          </a:xfrm>
          <a:prstGeom prst="rect">
            <a:avLst/>
          </a:prstGeom>
          <a:noFill/>
          <a:ln/>
        </p:spPr>
        <p:txBody>
          <a:bodyPr wrap="square" lIns="0" tIns="0" rIns="0" bIns="0" rtlCol="0" anchor="ctr"/>
          <a:lstStyle/>
          <a:p>
            <a:pPr marL="0" indent="0">
              <a:buNone/>
            </a:pPr>
            <a:r>
              <a:rPr lang="en-US" sz="1400" dirty="0">
                <a:solidFill>
                  <a:schemeClr val="tx1"/>
                </a:solidFill>
              </a:rPr>
              <a:t>Funds run out before the idea proves itself</a:t>
            </a:r>
            <a:endParaRPr lang="en-US" sz="1400" dirty="0"/>
          </a:p>
        </p:txBody>
      </p:sp>
      <p:sp>
        <p:nvSpPr>
          <p:cNvPr id="23" name="Cause card 4"/>
          <p:cNvSpPr/>
          <p:nvPr/>
        </p:nvSpPr>
        <p:spPr>
          <a:xfrm>
            <a:off x="5852160" y="4407408"/>
            <a:ext cx="5788152" cy="804672"/>
          </a:xfrm>
          <a:prstGeom prst="roundRect">
            <a:avLst>
              <a:gd name="adj" fmla="val 13636"/>
            </a:avLst>
          </a:prstGeom>
          <a:solidFill>
            <a:schemeClr val="bg1"/>
          </a:solidFill>
          <a:ln/>
          <a:effectLst>
            <a:outerShdw blurRad="101600" dist="25400" dir="5400000" algn="bl" rotWithShape="0">
              <a:srgbClr val="0B1630">
                <a:alpha val="12000"/>
              </a:srgbClr>
            </a:outerShdw>
          </a:effectLst>
        </p:spPr>
      </p:sp>
      <p:sp>
        <p:nvSpPr>
          <p:cNvPr id="24" name="Operational challenges circle"/>
          <p:cNvSpPr/>
          <p:nvPr/>
        </p:nvSpPr>
        <p:spPr>
          <a:xfrm>
            <a:off x="6035040" y="4553712"/>
            <a:ext cx="512064" cy="512064"/>
          </a:xfrm>
          <a:prstGeom prst="ellipse">
            <a:avLst/>
          </a:prstGeom>
          <a:solidFill>
            <a:schemeClr val="accent6"/>
          </a:solidFill>
          <a:ln/>
        </p:spPr>
      </p:sp>
      <p:pic>
        <p:nvPicPr>
          <p:cNvPr id="25" name="Image 3" descr="Operational challenges"/>
          <p:cNvPicPr>
            <a:picLocks noChangeAspect="1"/>
          </p:cNvPicPr>
          <p:nvPr/>
        </p:nvPicPr>
        <p:blipFill>
          <a:blip r:embed="rId6"/>
          <a:stretch>
            <a:fillRect/>
          </a:stretch>
        </p:blipFill>
        <p:spPr>
          <a:xfrm>
            <a:off x="6157935" y="4676607"/>
            <a:ext cx="266273" cy="266273"/>
          </a:xfrm>
          <a:prstGeom prst="rect">
            <a:avLst/>
          </a:prstGeom>
        </p:spPr>
      </p:pic>
      <p:sp>
        <p:nvSpPr>
          <p:cNvPr id="26" name="Text 20"/>
          <p:cNvSpPr txBox="1"/>
          <p:nvPr/>
        </p:nvSpPr>
        <p:spPr>
          <a:xfrm>
            <a:off x="6766560" y="4498848"/>
            <a:ext cx="4754880" cy="310896"/>
          </a:xfrm>
          <a:prstGeom prst="rect">
            <a:avLst/>
          </a:prstGeom>
          <a:noFill/>
          <a:ln/>
        </p:spPr>
        <p:txBody>
          <a:bodyPr wrap="square" lIns="0" tIns="0" rIns="0" bIns="0" rtlCol="0" anchor="ctr"/>
          <a:lstStyle/>
          <a:p>
            <a:pPr marL="0" indent="0">
              <a:buNone/>
            </a:pPr>
            <a:r>
              <a:rPr lang="en-US" sz="1700" b="1" dirty="0">
                <a:solidFill>
                  <a:schemeClr val="tx2"/>
                </a:solidFill>
              </a:rPr>
              <a:t>Operational challenges</a:t>
            </a:r>
            <a:endParaRPr lang="en-US" sz="1700" dirty="0"/>
          </a:p>
        </p:txBody>
      </p:sp>
      <p:sp>
        <p:nvSpPr>
          <p:cNvPr id="27" name="Text 21"/>
          <p:cNvSpPr txBox="1"/>
          <p:nvPr/>
        </p:nvSpPr>
        <p:spPr>
          <a:xfrm>
            <a:off x="6766560" y="4837176"/>
            <a:ext cx="4754880" cy="274320"/>
          </a:xfrm>
          <a:prstGeom prst="rect">
            <a:avLst/>
          </a:prstGeom>
          <a:noFill/>
          <a:ln/>
        </p:spPr>
        <p:txBody>
          <a:bodyPr wrap="square" lIns="0" tIns="0" rIns="0" bIns="0" rtlCol="0" anchor="ctr"/>
          <a:lstStyle/>
          <a:p>
            <a:pPr marL="0" indent="0">
              <a:buNone/>
            </a:pPr>
            <a:r>
              <a:rPr lang="en-US" sz="1400" dirty="0">
                <a:solidFill>
                  <a:schemeClr val="tx1"/>
                </a:solidFill>
              </a:rPr>
              <a:t>Teams and processes cannot deliver the plan</a:t>
            </a:r>
            <a:endParaRPr lang="en-US" sz="1400" dirty="0"/>
          </a:p>
        </p:txBody>
      </p:sp>
      <p:sp>
        <p:nvSpPr>
          <p:cNvPr id="28" name="Cause card 5"/>
          <p:cNvSpPr/>
          <p:nvPr/>
        </p:nvSpPr>
        <p:spPr>
          <a:xfrm>
            <a:off x="5852160" y="5312664"/>
            <a:ext cx="5788152" cy="804672"/>
          </a:xfrm>
          <a:prstGeom prst="roundRect">
            <a:avLst>
              <a:gd name="adj" fmla="val 13636"/>
            </a:avLst>
          </a:prstGeom>
          <a:solidFill>
            <a:schemeClr val="bg1"/>
          </a:solidFill>
          <a:ln/>
          <a:effectLst>
            <a:outerShdw blurRad="101600" dist="25400" dir="5400000" algn="bl" rotWithShape="0">
              <a:srgbClr val="0B1630">
                <a:alpha val="12000"/>
              </a:srgbClr>
            </a:outerShdw>
          </a:effectLst>
        </p:spPr>
      </p:sp>
      <p:sp>
        <p:nvSpPr>
          <p:cNvPr id="29" name="Inadequate planning circle"/>
          <p:cNvSpPr/>
          <p:nvPr/>
        </p:nvSpPr>
        <p:spPr>
          <a:xfrm>
            <a:off x="6035040" y="5458968"/>
            <a:ext cx="512064" cy="512064"/>
          </a:xfrm>
          <a:prstGeom prst="ellipse">
            <a:avLst/>
          </a:prstGeom>
          <a:solidFill>
            <a:schemeClr val="accent4"/>
          </a:solidFill>
          <a:ln/>
        </p:spPr>
      </p:sp>
      <p:pic>
        <p:nvPicPr>
          <p:cNvPr id="30" name="Image 4" descr="Inadequate planning"/>
          <p:cNvPicPr>
            <a:picLocks noChangeAspect="1"/>
          </p:cNvPicPr>
          <p:nvPr/>
        </p:nvPicPr>
        <p:blipFill>
          <a:blip r:embed="rId7"/>
          <a:stretch>
            <a:fillRect/>
          </a:stretch>
        </p:blipFill>
        <p:spPr>
          <a:xfrm>
            <a:off x="6157935" y="5581863"/>
            <a:ext cx="266273" cy="266273"/>
          </a:xfrm>
          <a:prstGeom prst="rect">
            <a:avLst/>
          </a:prstGeom>
        </p:spPr>
      </p:pic>
      <p:sp>
        <p:nvSpPr>
          <p:cNvPr id="31" name="Text 24"/>
          <p:cNvSpPr txBox="1"/>
          <p:nvPr/>
        </p:nvSpPr>
        <p:spPr>
          <a:xfrm>
            <a:off x="6766560" y="5404104"/>
            <a:ext cx="4754880" cy="310896"/>
          </a:xfrm>
          <a:prstGeom prst="rect">
            <a:avLst/>
          </a:prstGeom>
          <a:noFill/>
          <a:ln/>
        </p:spPr>
        <p:txBody>
          <a:bodyPr wrap="square" lIns="0" tIns="0" rIns="0" bIns="0" rtlCol="0" anchor="ctr"/>
          <a:lstStyle/>
          <a:p>
            <a:pPr marL="0" indent="0">
              <a:buNone/>
            </a:pPr>
            <a:r>
              <a:rPr lang="en-US" sz="1700" b="1" dirty="0">
                <a:solidFill>
                  <a:schemeClr val="tx2"/>
                </a:solidFill>
              </a:rPr>
              <a:t>Inadequate planning</a:t>
            </a:r>
            <a:endParaRPr lang="en-US" sz="1700" dirty="0"/>
          </a:p>
        </p:txBody>
      </p:sp>
      <p:sp>
        <p:nvSpPr>
          <p:cNvPr id="32" name="Text 25"/>
          <p:cNvSpPr txBox="1"/>
          <p:nvPr/>
        </p:nvSpPr>
        <p:spPr>
          <a:xfrm>
            <a:off x="6766560" y="5742432"/>
            <a:ext cx="4754880" cy="274320"/>
          </a:xfrm>
          <a:prstGeom prst="rect">
            <a:avLst/>
          </a:prstGeom>
          <a:noFill/>
          <a:ln/>
        </p:spPr>
        <p:txBody>
          <a:bodyPr wrap="square" lIns="0" tIns="0" rIns="0" bIns="0" rtlCol="0" anchor="ctr"/>
          <a:lstStyle/>
          <a:p>
            <a:pPr marL="0" indent="0">
              <a:buNone/>
            </a:pPr>
            <a:r>
              <a:rPr lang="en-US" sz="1400" dirty="0">
                <a:solidFill>
                  <a:schemeClr val="tx1"/>
                </a:solidFill>
              </a:rPr>
              <a:t>No clear roadmap or fallback plan</a:t>
            </a:r>
            <a:endParaRPr lang="en-US" sz="1400" dirty="0"/>
          </a:p>
        </p:txBody>
      </p:sp>
      <p:sp>
        <p:nvSpPr>
          <p:cNvPr id="33"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Objectives and Outcomes</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What Prediction AI delivers to every user</a:t>
            </a:r>
            <a:endParaRPr lang="en-US" sz="1600" dirty="0"/>
          </a:p>
        </p:txBody>
      </p:sp>
      <p:sp>
        <p:nvSpPr>
          <p:cNvPr id="4" name="Outcome card 1"/>
          <p:cNvSpPr/>
          <p:nvPr/>
        </p:nvSpPr>
        <p:spPr>
          <a:xfrm>
            <a:off x="548640" y="1691640"/>
            <a:ext cx="2615184"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5" name="Idea evaluation circle"/>
          <p:cNvSpPr/>
          <p:nvPr/>
        </p:nvSpPr>
        <p:spPr>
          <a:xfrm>
            <a:off x="749808" y="1892808"/>
            <a:ext cx="566928" cy="566928"/>
          </a:xfrm>
          <a:prstGeom prst="ellipse">
            <a:avLst/>
          </a:prstGeom>
          <a:solidFill>
            <a:schemeClr val="accent1"/>
          </a:solidFill>
          <a:ln/>
        </p:spPr>
      </p:sp>
      <p:pic>
        <p:nvPicPr>
          <p:cNvPr id="6" name="Image 0" descr="Idea evaluation"/>
          <p:cNvPicPr>
            <a:picLocks noChangeAspect="1"/>
          </p:cNvPicPr>
          <p:nvPr/>
        </p:nvPicPr>
        <p:blipFill>
          <a:blip r:embed="rId3"/>
          <a:stretch>
            <a:fillRect/>
          </a:stretch>
        </p:blipFill>
        <p:spPr>
          <a:xfrm>
            <a:off x="885871" y="2028871"/>
            <a:ext cx="294803" cy="294803"/>
          </a:xfrm>
          <a:prstGeom prst="rect">
            <a:avLst/>
          </a:prstGeom>
        </p:spPr>
      </p:pic>
      <p:sp>
        <p:nvSpPr>
          <p:cNvPr id="7" name="Text 4"/>
          <p:cNvSpPr txBox="1"/>
          <p:nvPr/>
        </p:nvSpPr>
        <p:spPr>
          <a:xfrm>
            <a:off x="749808" y="2606040"/>
            <a:ext cx="2212848" cy="320040"/>
          </a:xfrm>
          <a:prstGeom prst="rect">
            <a:avLst/>
          </a:prstGeom>
          <a:noFill/>
          <a:ln/>
        </p:spPr>
        <p:txBody>
          <a:bodyPr wrap="square" lIns="0" tIns="0" rIns="0" bIns="0" rtlCol="0" anchor="ctr"/>
          <a:lstStyle/>
          <a:p>
            <a:pPr marL="0" indent="0">
              <a:buNone/>
            </a:pPr>
            <a:r>
              <a:rPr lang="en-US" sz="1700" b="1" dirty="0">
                <a:solidFill>
                  <a:schemeClr val="tx2"/>
                </a:solidFill>
              </a:rPr>
              <a:t>Idea evaluation</a:t>
            </a:r>
            <a:endParaRPr lang="en-US" sz="1700" dirty="0"/>
          </a:p>
        </p:txBody>
      </p:sp>
      <p:sp>
        <p:nvSpPr>
          <p:cNvPr id="8" name="Text 5"/>
          <p:cNvSpPr txBox="1"/>
          <p:nvPr/>
        </p:nvSpPr>
        <p:spPr>
          <a:xfrm>
            <a:off x="749808" y="2953512"/>
            <a:ext cx="2212848" cy="731520"/>
          </a:xfrm>
          <a:prstGeom prst="rect">
            <a:avLst/>
          </a:prstGeom>
          <a:noFill/>
          <a:ln/>
        </p:spPr>
        <p:txBody>
          <a:bodyPr wrap="square" lIns="0" tIns="0" rIns="0" bIns="0" rtlCol="0" anchor="t"/>
          <a:lstStyle/>
          <a:p>
            <a:pPr marL="0" indent="0">
              <a:buNone/>
            </a:pPr>
            <a:r>
              <a:rPr lang="en-US" sz="1400" dirty="0">
                <a:solidFill>
                  <a:schemeClr val="tx1"/>
                </a:solidFill>
              </a:rPr>
              <a:t>AI review of startup ideas and project plans</a:t>
            </a:r>
            <a:endParaRPr lang="en-US" sz="1400" dirty="0"/>
          </a:p>
        </p:txBody>
      </p:sp>
      <p:sp>
        <p:nvSpPr>
          <p:cNvPr id="9" name="Outcome card 2"/>
          <p:cNvSpPr/>
          <p:nvPr/>
        </p:nvSpPr>
        <p:spPr>
          <a:xfrm>
            <a:off x="3374136" y="1691640"/>
            <a:ext cx="2615184"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10" name="Risk scoring circle"/>
          <p:cNvSpPr/>
          <p:nvPr/>
        </p:nvSpPr>
        <p:spPr>
          <a:xfrm>
            <a:off x="3575304" y="1892808"/>
            <a:ext cx="566928" cy="566928"/>
          </a:xfrm>
          <a:prstGeom prst="ellipse">
            <a:avLst/>
          </a:prstGeom>
          <a:solidFill>
            <a:schemeClr val="accent2"/>
          </a:solidFill>
          <a:ln/>
        </p:spPr>
      </p:sp>
      <p:pic>
        <p:nvPicPr>
          <p:cNvPr id="11" name="Image 1" descr="Risk scoring"/>
          <p:cNvPicPr>
            <a:picLocks noChangeAspect="1"/>
          </p:cNvPicPr>
          <p:nvPr/>
        </p:nvPicPr>
        <p:blipFill>
          <a:blip r:embed="rId4"/>
          <a:stretch>
            <a:fillRect/>
          </a:stretch>
        </p:blipFill>
        <p:spPr>
          <a:xfrm>
            <a:off x="3711367" y="2028871"/>
            <a:ext cx="294803" cy="294803"/>
          </a:xfrm>
          <a:prstGeom prst="rect">
            <a:avLst/>
          </a:prstGeom>
        </p:spPr>
      </p:pic>
      <p:sp>
        <p:nvSpPr>
          <p:cNvPr id="12" name="Text 8"/>
          <p:cNvSpPr txBox="1"/>
          <p:nvPr/>
        </p:nvSpPr>
        <p:spPr>
          <a:xfrm>
            <a:off x="3575304" y="2606040"/>
            <a:ext cx="2212848" cy="320040"/>
          </a:xfrm>
          <a:prstGeom prst="rect">
            <a:avLst/>
          </a:prstGeom>
          <a:noFill/>
          <a:ln/>
        </p:spPr>
        <p:txBody>
          <a:bodyPr wrap="square" lIns="0" tIns="0" rIns="0" bIns="0" rtlCol="0" anchor="ctr"/>
          <a:lstStyle/>
          <a:p>
            <a:pPr marL="0" indent="0">
              <a:buNone/>
            </a:pPr>
            <a:r>
              <a:rPr lang="en-US" sz="1700" b="1" dirty="0">
                <a:solidFill>
                  <a:schemeClr val="tx2"/>
                </a:solidFill>
              </a:rPr>
              <a:t>Risk scoring</a:t>
            </a:r>
            <a:endParaRPr lang="en-US" sz="1700" dirty="0"/>
          </a:p>
        </p:txBody>
      </p:sp>
      <p:sp>
        <p:nvSpPr>
          <p:cNvPr id="13" name="Text 9"/>
          <p:cNvSpPr txBox="1"/>
          <p:nvPr/>
        </p:nvSpPr>
        <p:spPr>
          <a:xfrm>
            <a:off x="3575304" y="2953512"/>
            <a:ext cx="2212848" cy="731520"/>
          </a:xfrm>
          <a:prstGeom prst="rect">
            <a:avLst/>
          </a:prstGeom>
          <a:noFill/>
          <a:ln/>
        </p:spPr>
        <p:txBody>
          <a:bodyPr wrap="square" lIns="0" tIns="0" rIns="0" bIns="0" rtlCol="0" anchor="t"/>
          <a:lstStyle/>
          <a:p>
            <a:pPr marL="0" indent="0">
              <a:buNone/>
            </a:pPr>
            <a:r>
              <a:rPr lang="en-US" sz="1400" dirty="0">
                <a:solidFill>
                  <a:schemeClr val="tx1"/>
                </a:solidFill>
              </a:rPr>
              <a:t>Overall risk and success probability</a:t>
            </a:r>
            <a:endParaRPr lang="en-US" sz="1400" dirty="0"/>
          </a:p>
        </p:txBody>
      </p:sp>
      <p:sp>
        <p:nvSpPr>
          <p:cNvPr id="14" name="Outcome card 3"/>
          <p:cNvSpPr/>
          <p:nvPr/>
        </p:nvSpPr>
        <p:spPr>
          <a:xfrm>
            <a:off x="6199632" y="1691640"/>
            <a:ext cx="2615184"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15" name="SWOT analysis circle"/>
          <p:cNvSpPr/>
          <p:nvPr/>
        </p:nvSpPr>
        <p:spPr>
          <a:xfrm>
            <a:off x="6400800" y="1892808"/>
            <a:ext cx="566928" cy="566928"/>
          </a:xfrm>
          <a:prstGeom prst="ellipse">
            <a:avLst/>
          </a:prstGeom>
          <a:solidFill>
            <a:schemeClr val="accent6"/>
          </a:solidFill>
          <a:ln/>
        </p:spPr>
      </p:sp>
      <p:pic>
        <p:nvPicPr>
          <p:cNvPr id="16" name="Image 2" descr="SWOT analysis"/>
          <p:cNvPicPr>
            <a:picLocks noChangeAspect="1"/>
          </p:cNvPicPr>
          <p:nvPr/>
        </p:nvPicPr>
        <p:blipFill>
          <a:blip r:embed="rId5"/>
          <a:stretch>
            <a:fillRect/>
          </a:stretch>
        </p:blipFill>
        <p:spPr>
          <a:xfrm>
            <a:off x="6536863" y="2028871"/>
            <a:ext cx="294803" cy="294803"/>
          </a:xfrm>
          <a:prstGeom prst="rect">
            <a:avLst/>
          </a:prstGeom>
        </p:spPr>
      </p:pic>
      <p:sp>
        <p:nvSpPr>
          <p:cNvPr id="17" name="Text 12"/>
          <p:cNvSpPr txBox="1"/>
          <p:nvPr/>
        </p:nvSpPr>
        <p:spPr>
          <a:xfrm>
            <a:off x="6400800" y="2606040"/>
            <a:ext cx="2212848" cy="320040"/>
          </a:xfrm>
          <a:prstGeom prst="rect">
            <a:avLst/>
          </a:prstGeom>
          <a:noFill/>
          <a:ln/>
        </p:spPr>
        <p:txBody>
          <a:bodyPr wrap="square" lIns="0" tIns="0" rIns="0" bIns="0" rtlCol="0" anchor="ctr"/>
          <a:lstStyle/>
          <a:p>
            <a:pPr marL="0" indent="0">
              <a:buNone/>
            </a:pPr>
            <a:r>
              <a:rPr lang="en-US" sz="1700" b="1" dirty="0">
                <a:solidFill>
                  <a:schemeClr val="tx2"/>
                </a:solidFill>
              </a:rPr>
              <a:t>SWOT analysis</a:t>
            </a:r>
            <a:endParaRPr lang="en-US" sz="1700" dirty="0"/>
          </a:p>
        </p:txBody>
      </p:sp>
      <p:sp>
        <p:nvSpPr>
          <p:cNvPr id="18" name="Text 13"/>
          <p:cNvSpPr txBox="1"/>
          <p:nvPr/>
        </p:nvSpPr>
        <p:spPr>
          <a:xfrm>
            <a:off x="6400800" y="2953512"/>
            <a:ext cx="2212848" cy="731520"/>
          </a:xfrm>
          <a:prstGeom prst="rect">
            <a:avLst/>
          </a:prstGeom>
          <a:noFill/>
          <a:ln/>
        </p:spPr>
        <p:txBody>
          <a:bodyPr wrap="square" lIns="0" tIns="0" rIns="0" bIns="0" rtlCol="0" anchor="t"/>
          <a:lstStyle/>
          <a:p>
            <a:pPr marL="0" indent="0">
              <a:buNone/>
            </a:pPr>
            <a:r>
              <a:rPr lang="en-US" sz="1400" dirty="0">
                <a:solidFill>
                  <a:schemeClr val="tx1"/>
                </a:solidFill>
              </a:rPr>
              <a:t>Strengths, weaknesses, opportunities, threats</a:t>
            </a:r>
            <a:endParaRPr lang="en-US" sz="1400" dirty="0"/>
          </a:p>
        </p:txBody>
      </p:sp>
      <p:sp>
        <p:nvSpPr>
          <p:cNvPr id="19" name="Outcome card 4"/>
          <p:cNvSpPr/>
          <p:nvPr/>
        </p:nvSpPr>
        <p:spPr>
          <a:xfrm>
            <a:off x="9025128" y="1691640"/>
            <a:ext cx="2615184"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20" name="Market and competitors circle"/>
          <p:cNvSpPr/>
          <p:nvPr/>
        </p:nvSpPr>
        <p:spPr>
          <a:xfrm>
            <a:off x="9226296" y="1892808"/>
            <a:ext cx="566928" cy="566928"/>
          </a:xfrm>
          <a:prstGeom prst="ellipse">
            <a:avLst/>
          </a:prstGeom>
          <a:solidFill>
            <a:schemeClr val="accent1"/>
          </a:solidFill>
          <a:ln/>
        </p:spPr>
      </p:sp>
      <p:pic>
        <p:nvPicPr>
          <p:cNvPr id="21" name="Image 3" descr="Market and competitors"/>
          <p:cNvPicPr>
            <a:picLocks noChangeAspect="1"/>
          </p:cNvPicPr>
          <p:nvPr/>
        </p:nvPicPr>
        <p:blipFill>
          <a:blip r:embed="rId6"/>
          <a:stretch>
            <a:fillRect/>
          </a:stretch>
        </p:blipFill>
        <p:spPr>
          <a:xfrm>
            <a:off x="9362359" y="2028871"/>
            <a:ext cx="294803" cy="294803"/>
          </a:xfrm>
          <a:prstGeom prst="rect">
            <a:avLst/>
          </a:prstGeom>
        </p:spPr>
      </p:pic>
      <p:sp>
        <p:nvSpPr>
          <p:cNvPr id="22" name="Text 16"/>
          <p:cNvSpPr txBox="1"/>
          <p:nvPr/>
        </p:nvSpPr>
        <p:spPr>
          <a:xfrm>
            <a:off x="9226296" y="2606040"/>
            <a:ext cx="2212848" cy="320040"/>
          </a:xfrm>
          <a:prstGeom prst="rect">
            <a:avLst/>
          </a:prstGeom>
          <a:noFill/>
          <a:ln/>
        </p:spPr>
        <p:txBody>
          <a:bodyPr wrap="square" lIns="0" tIns="0" rIns="0" bIns="0" rtlCol="0" anchor="ctr"/>
          <a:lstStyle/>
          <a:p>
            <a:pPr marL="0" indent="0">
              <a:buNone/>
            </a:pPr>
            <a:r>
              <a:rPr lang="en-US" sz="1700" b="1" dirty="0">
                <a:solidFill>
                  <a:schemeClr val="tx2"/>
                </a:solidFill>
              </a:rPr>
              <a:t>Market and competitors</a:t>
            </a:r>
            <a:endParaRPr lang="en-US" sz="1700" dirty="0"/>
          </a:p>
        </p:txBody>
      </p:sp>
      <p:sp>
        <p:nvSpPr>
          <p:cNvPr id="23" name="Text 17"/>
          <p:cNvSpPr txBox="1"/>
          <p:nvPr/>
        </p:nvSpPr>
        <p:spPr>
          <a:xfrm>
            <a:off x="9226296" y="2953512"/>
            <a:ext cx="2212848" cy="731520"/>
          </a:xfrm>
          <a:prstGeom prst="rect">
            <a:avLst/>
          </a:prstGeom>
          <a:noFill/>
          <a:ln/>
        </p:spPr>
        <p:txBody>
          <a:bodyPr wrap="square" lIns="0" tIns="0" rIns="0" bIns="0" rtlCol="0" anchor="t"/>
          <a:lstStyle/>
          <a:p>
            <a:pPr marL="0" indent="0">
              <a:buNone/>
            </a:pPr>
            <a:r>
              <a:rPr lang="en-US" sz="1400" dirty="0">
                <a:solidFill>
                  <a:schemeClr val="tx1"/>
                </a:solidFill>
              </a:rPr>
              <a:t>Market opportunity and competitor insight</a:t>
            </a:r>
            <a:endParaRPr lang="en-US" sz="1400" dirty="0"/>
          </a:p>
        </p:txBody>
      </p:sp>
      <p:sp>
        <p:nvSpPr>
          <p:cNvPr id="24" name="Outcome card 5"/>
          <p:cNvSpPr/>
          <p:nvPr/>
        </p:nvSpPr>
        <p:spPr>
          <a:xfrm>
            <a:off x="548640" y="3931920"/>
            <a:ext cx="2615184"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25" name="Critical risks circle"/>
          <p:cNvSpPr/>
          <p:nvPr/>
        </p:nvSpPr>
        <p:spPr>
          <a:xfrm>
            <a:off x="749808" y="4133088"/>
            <a:ext cx="566928" cy="566928"/>
          </a:xfrm>
          <a:prstGeom prst="ellipse">
            <a:avLst/>
          </a:prstGeom>
          <a:solidFill>
            <a:schemeClr val="accent3"/>
          </a:solidFill>
          <a:ln/>
        </p:spPr>
      </p:sp>
      <p:pic>
        <p:nvPicPr>
          <p:cNvPr id="26" name="Image 4" descr="Critical risks"/>
          <p:cNvPicPr>
            <a:picLocks noChangeAspect="1"/>
          </p:cNvPicPr>
          <p:nvPr/>
        </p:nvPicPr>
        <p:blipFill>
          <a:blip r:embed="rId7"/>
          <a:stretch>
            <a:fillRect/>
          </a:stretch>
        </p:blipFill>
        <p:spPr>
          <a:xfrm>
            <a:off x="885871" y="4269151"/>
            <a:ext cx="294803" cy="294803"/>
          </a:xfrm>
          <a:prstGeom prst="rect">
            <a:avLst/>
          </a:prstGeom>
        </p:spPr>
      </p:pic>
      <p:sp>
        <p:nvSpPr>
          <p:cNvPr id="27" name="Text 20"/>
          <p:cNvSpPr txBox="1"/>
          <p:nvPr/>
        </p:nvSpPr>
        <p:spPr>
          <a:xfrm>
            <a:off x="749808" y="4846320"/>
            <a:ext cx="2212848" cy="320040"/>
          </a:xfrm>
          <a:prstGeom prst="rect">
            <a:avLst/>
          </a:prstGeom>
          <a:noFill/>
          <a:ln/>
        </p:spPr>
        <p:txBody>
          <a:bodyPr wrap="square" lIns="0" tIns="0" rIns="0" bIns="0" rtlCol="0" anchor="ctr"/>
          <a:lstStyle/>
          <a:p>
            <a:pPr marL="0" indent="0">
              <a:buNone/>
            </a:pPr>
            <a:r>
              <a:rPr lang="en-US" sz="1700" b="1" dirty="0">
                <a:solidFill>
                  <a:schemeClr val="tx2"/>
                </a:solidFill>
              </a:rPr>
              <a:t>Critical risks</a:t>
            </a:r>
            <a:endParaRPr lang="en-US" sz="1700" dirty="0"/>
          </a:p>
        </p:txBody>
      </p:sp>
      <p:sp>
        <p:nvSpPr>
          <p:cNvPr id="28" name="Text 21"/>
          <p:cNvSpPr txBox="1"/>
          <p:nvPr/>
        </p:nvSpPr>
        <p:spPr>
          <a:xfrm>
            <a:off x="749808" y="5193792"/>
            <a:ext cx="2212848" cy="731520"/>
          </a:xfrm>
          <a:prstGeom prst="rect">
            <a:avLst/>
          </a:prstGeom>
          <a:noFill/>
          <a:ln/>
        </p:spPr>
        <p:txBody>
          <a:bodyPr wrap="square" lIns="0" tIns="0" rIns="0" bIns="0" rtlCol="0" anchor="t"/>
          <a:lstStyle/>
          <a:p>
            <a:pPr marL="0" indent="0">
              <a:buNone/>
            </a:pPr>
            <a:r>
              <a:rPr lang="en-US" sz="1400" dirty="0">
                <a:solidFill>
                  <a:schemeClr val="tx1"/>
                </a:solidFill>
              </a:rPr>
              <a:t>Business, technical, financial, operational</a:t>
            </a:r>
            <a:endParaRPr lang="en-US" sz="1400" dirty="0"/>
          </a:p>
        </p:txBody>
      </p:sp>
      <p:sp>
        <p:nvSpPr>
          <p:cNvPr id="29" name="Outcome card 6"/>
          <p:cNvSpPr/>
          <p:nvPr/>
        </p:nvSpPr>
        <p:spPr>
          <a:xfrm>
            <a:off x="3374136" y="3931920"/>
            <a:ext cx="2615184"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30" name="Mitigation circle"/>
          <p:cNvSpPr/>
          <p:nvPr/>
        </p:nvSpPr>
        <p:spPr>
          <a:xfrm>
            <a:off x="3575304" y="4133088"/>
            <a:ext cx="566928" cy="566928"/>
          </a:xfrm>
          <a:prstGeom prst="ellipse">
            <a:avLst/>
          </a:prstGeom>
          <a:solidFill>
            <a:schemeClr val="accent4"/>
          </a:solidFill>
          <a:ln/>
        </p:spPr>
      </p:sp>
      <p:pic>
        <p:nvPicPr>
          <p:cNvPr id="31" name="Image 5" descr="Mitigation"/>
          <p:cNvPicPr>
            <a:picLocks noChangeAspect="1"/>
          </p:cNvPicPr>
          <p:nvPr/>
        </p:nvPicPr>
        <p:blipFill>
          <a:blip r:embed="rId8"/>
          <a:stretch>
            <a:fillRect/>
          </a:stretch>
        </p:blipFill>
        <p:spPr>
          <a:xfrm>
            <a:off x="3711367" y="4269151"/>
            <a:ext cx="294803" cy="294803"/>
          </a:xfrm>
          <a:prstGeom prst="rect">
            <a:avLst/>
          </a:prstGeom>
        </p:spPr>
      </p:pic>
      <p:sp>
        <p:nvSpPr>
          <p:cNvPr id="32" name="Text 24"/>
          <p:cNvSpPr txBox="1"/>
          <p:nvPr/>
        </p:nvSpPr>
        <p:spPr>
          <a:xfrm>
            <a:off x="3575304" y="4846320"/>
            <a:ext cx="2212848" cy="320040"/>
          </a:xfrm>
          <a:prstGeom prst="rect">
            <a:avLst/>
          </a:prstGeom>
          <a:noFill/>
          <a:ln/>
        </p:spPr>
        <p:txBody>
          <a:bodyPr wrap="square" lIns="0" tIns="0" rIns="0" bIns="0" rtlCol="0" anchor="ctr"/>
          <a:lstStyle/>
          <a:p>
            <a:pPr marL="0" indent="0">
              <a:buNone/>
            </a:pPr>
            <a:r>
              <a:rPr lang="en-US" sz="1700" b="1" dirty="0">
                <a:solidFill>
                  <a:schemeClr val="tx2"/>
                </a:solidFill>
              </a:rPr>
              <a:t>Mitigation</a:t>
            </a:r>
            <a:endParaRPr lang="en-US" sz="1700" dirty="0"/>
          </a:p>
        </p:txBody>
      </p:sp>
      <p:sp>
        <p:nvSpPr>
          <p:cNvPr id="33" name="Text 25"/>
          <p:cNvSpPr txBox="1"/>
          <p:nvPr/>
        </p:nvSpPr>
        <p:spPr>
          <a:xfrm>
            <a:off x="3575304" y="5193792"/>
            <a:ext cx="2212848" cy="731520"/>
          </a:xfrm>
          <a:prstGeom prst="rect">
            <a:avLst/>
          </a:prstGeom>
          <a:noFill/>
          <a:ln/>
        </p:spPr>
        <p:txBody>
          <a:bodyPr wrap="square" lIns="0" tIns="0" rIns="0" bIns="0" rtlCol="0" anchor="t"/>
          <a:lstStyle/>
          <a:p>
            <a:pPr marL="0" indent="0">
              <a:buNone/>
            </a:pPr>
            <a:r>
              <a:rPr lang="en-US" sz="1400" dirty="0">
                <a:solidFill>
                  <a:schemeClr val="tx1"/>
                </a:solidFill>
              </a:rPr>
              <a:t>Personalised strategies and improvements</a:t>
            </a:r>
            <a:endParaRPr lang="en-US" sz="1400" dirty="0"/>
          </a:p>
        </p:txBody>
      </p:sp>
      <p:sp>
        <p:nvSpPr>
          <p:cNvPr id="34" name="Outcome card 7"/>
          <p:cNvSpPr/>
          <p:nvPr/>
        </p:nvSpPr>
        <p:spPr>
          <a:xfrm>
            <a:off x="6199632" y="3931920"/>
            <a:ext cx="2615184"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35" name="Dashboard circle"/>
          <p:cNvSpPr/>
          <p:nvPr/>
        </p:nvSpPr>
        <p:spPr>
          <a:xfrm>
            <a:off x="6400800" y="4133088"/>
            <a:ext cx="566928" cy="566928"/>
          </a:xfrm>
          <a:prstGeom prst="ellipse">
            <a:avLst/>
          </a:prstGeom>
          <a:solidFill>
            <a:schemeClr val="accent6"/>
          </a:solidFill>
          <a:ln/>
        </p:spPr>
      </p:sp>
      <p:pic>
        <p:nvPicPr>
          <p:cNvPr id="36" name="Image 6" descr="Dashboard"/>
          <p:cNvPicPr>
            <a:picLocks noChangeAspect="1"/>
          </p:cNvPicPr>
          <p:nvPr/>
        </p:nvPicPr>
        <p:blipFill>
          <a:blip r:embed="rId9"/>
          <a:stretch>
            <a:fillRect/>
          </a:stretch>
        </p:blipFill>
        <p:spPr>
          <a:xfrm>
            <a:off x="6536863" y="4269151"/>
            <a:ext cx="294803" cy="294803"/>
          </a:xfrm>
          <a:prstGeom prst="rect">
            <a:avLst/>
          </a:prstGeom>
        </p:spPr>
      </p:pic>
      <p:sp>
        <p:nvSpPr>
          <p:cNvPr id="37" name="Text 28"/>
          <p:cNvSpPr txBox="1"/>
          <p:nvPr/>
        </p:nvSpPr>
        <p:spPr>
          <a:xfrm>
            <a:off x="6400800" y="4846320"/>
            <a:ext cx="2212848" cy="320040"/>
          </a:xfrm>
          <a:prstGeom prst="rect">
            <a:avLst/>
          </a:prstGeom>
          <a:noFill/>
          <a:ln/>
        </p:spPr>
        <p:txBody>
          <a:bodyPr wrap="square" lIns="0" tIns="0" rIns="0" bIns="0" rtlCol="0" anchor="ctr"/>
          <a:lstStyle/>
          <a:p>
            <a:pPr marL="0" indent="0">
              <a:buNone/>
            </a:pPr>
            <a:r>
              <a:rPr lang="en-US" sz="1700" b="1" dirty="0">
                <a:solidFill>
                  <a:schemeClr val="tx2"/>
                </a:solidFill>
              </a:rPr>
              <a:t>Dashboard</a:t>
            </a:r>
            <a:endParaRPr lang="en-US" sz="1700" dirty="0"/>
          </a:p>
        </p:txBody>
      </p:sp>
      <p:sp>
        <p:nvSpPr>
          <p:cNvPr id="38" name="Text 29"/>
          <p:cNvSpPr txBox="1"/>
          <p:nvPr/>
        </p:nvSpPr>
        <p:spPr>
          <a:xfrm>
            <a:off x="6400800" y="5193792"/>
            <a:ext cx="2212848" cy="731520"/>
          </a:xfrm>
          <a:prstGeom prst="rect">
            <a:avLst/>
          </a:prstGeom>
          <a:noFill/>
          <a:ln/>
        </p:spPr>
        <p:txBody>
          <a:bodyPr wrap="square" lIns="0" tIns="0" rIns="0" bIns="0" rtlCol="0" anchor="t"/>
          <a:lstStyle/>
          <a:p>
            <a:pPr marL="0" indent="0">
              <a:buNone/>
            </a:pPr>
            <a:r>
              <a:rPr lang="en-US" sz="1400" dirty="0">
                <a:solidFill>
                  <a:schemeClr val="tx1"/>
                </a:solidFill>
              </a:rPr>
              <a:t>Interactive risk visualisation</a:t>
            </a:r>
            <a:endParaRPr lang="en-US" sz="1400" dirty="0"/>
          </a:p>
        </p:txBody>
      </p:sp>
      <p:sp>
        <p:nvSpPr>
          <p:cNvPr id="39" name="Outcome card 8"/>
          <p:cNvSpPr/>
          <p:nvPr/>
        </p:nvSpPr>
        <p:spPr>
          <a:xfrm>
            <a:off x="9025128" y="3931920"/>
            <a:ext cx="2615184"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40" name="Feasibility reports circle"/>
          <p:cNvSpPr/>
          <p:nvPr/>
        </p:nvSpPr>
        <p:spPr>
          <a:xfrm>
            <a:off x="9226296" y="4133088"/>
            <a:ext cx="566928" cy="566928"/>
          </a:xfrm>
          <a:prstGeom prst="ellipse">
            <a:avLst/>
          </a:prstGeom>
          <a:solidFill>
            <a:schemeClr val="accent5"/>
          </a:solidFill>
          <a:ln/>
        </p:spPr>
      </p:sp>
      <p:pic>
        <p:nvPicPr>
          <p:cNvPr id="41" name="Image 7" descr="Feasibility reports"/>
          <p:cNvPicPr>
            <a:picLocks noChangeAspect="1"/>
          </p:cNvPicPr>
          <p:nvPr/>
        </p:nvPicPr>
        <p:blipFill>
          <a:blip r:embed="rId10"/>
          <a:stretch>
            <a:fillRect/>
          </a:stretch>
        </p:blipFill>
        <p:spPr>
          <a:xfrm>
            <a:off x="9362359" y="4269151"/>
            <a:ext cx="294803" cy="294803"/>
          </a:xfrm>
          <a:prstGeom prst="rect">
            <a:avLst/>
          </a:prstGeom>
        </p:spPr>
      </p:pic>
      <p:sp>
        <p:nvSpPr>
          <p:cNvPr id="42" name="Text 32"/>
          <p:cNvSpPr txBox="1"/>
          <p:nvPr/>
        </p:nvSpPr>
        <p:spPr>
          <a:xfrm>
            <a:off x="9226296" y="4846320"/>
            <a:ext cx="2212848" cy="320040"/>
          </a:xfrm>
          <a:prstGeom prst="rect">
            <a:avLst/>
          </a:prstGeom>
          <a:noFill/>
          <a:ln/>
        </p:spPr>
        <p:txBody>
          <a:bodyPr wrap="square" lIns="0" tIns="0" rIns="0" bIns="0" rtlCol="0" anchor="ctr"/>
          <a:lstStyle/>
          <a:p>
            <a:pPr marL="0" indent="0">
              <a:buNone/>
            </a:pPr>
            <a:r>
              <a:rPr lang="en-US" sz="1700" b="1" dirty="0">
                <a:solidFill>
                  <a:schemeClr val="tx2"/>
                </a:solidFill>
              </a:rPr>
              <a:t>Feasibility reports</a:t>
            </a:r>
            <a:endParaRPr lang="en-US" sz="1700" dirty="0"/>
          </a:p>
        </p:txBody>
      </p:sp>
      <p:sp>
        <p:nvSpPr>
          <p:cNvPr id="43" name="Text 33"/>
          <p:cNvSpPr txBox="1"/>
          <p:nvPr/>
        </p:nvSpPr>
        <p:spPr>
          <a:xfrm>
            <a:off x="9226296" y="5193792"/>
            <a:ext cx="2212848" cy="731520"/>
          </a:xfrm>
          <a:prstGeom prst="rect">
            <a:avLst/>
          </a:prstGeom>
          <a:noFill/>
          <a:ln/>
        </p:spPr>
        <p:txBody>
          <a:bodyPr wrap="square" lIns="0" tIns="0" rIns="0" bIns="0" rtlCol="0" anchor="t"/>
          <a:lstStyle/>
          <a:p>
            <a:pPr marL="0" indent="0">
              <a:buNone/>
            </a:pPr>
            <a:r>
              <a:rPr lang="en-US" sz="1400" dirty="0">
                <a:solidFill>
                  <a:schemeClr val="tx1"/>
                </a:solidFill>
              </a:rPr>
              <a:t>Exportable viability and assessment reports</a:t>
            </a:r>
            <a:endParaRPr lang="en-US" sz="1400" dirty="0"/>
          </a:p>
        </p:txBody>
      </p:sp>
      <p:sp>
        <p:nvSpPr>
          <p:cNvPr id="44"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Core Modules</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Six modules working together as one pipeline</a:t>
            </a:r>
            <a:endParaRPr lang="en-US" sz="1600" dirty="0"/>
          </a:p>
        </p:txBody>
      </p:sp>
      <p:sp>
        <p:nvSpPr>
          <p:cNvPr id="4" name="Module card 1"/>
          <p:cNvSpPr/>
          <p:nvPr/>
        </p:nvSpPr>
        <p:spPr>
          <a:xfrm>
            <a:off x="548640" y="1691640"/>
            <a:ext cx="3547872"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5" name="Module number 1"/>
          <p:cNvSpPr/>
          <p:nvPr/>
        </p:nvSpPr>
        <p:spPr>
          <a:xfrm>
            <a:off x="731520" y="1892808"/>
            <a:ext cx="457200" cy="457200"/>
          </a:xfrm>
          <a:prstGeom prst="ellipse">
            <a:avLst/>
          </a:prstGeom>
          <a:solidFill>
            <a:schemeClr val="accent1"/>
          </a:solidFill>
          <a:ln/>
        </p:spPr>
      </p:sp>
      <p:sp>
        <p:nvSpPr>
          <p:cNvPr id="6" name="Text 4"/>
          <p:cNvSpPr txBox="1"/>
          <p:nvPr/>
        </p:nvSpPr>
        <p:spPr>
          <a:xfrm>
            <a:off x="731520" y="189280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1325880" y="1847088"/>
            <a:ext cx="2587752" cy="548640"/>
          </a:xfrm>
          <a:prstGeom prst="rect">
            <a:avLst/>
          </a:prstGeom>
          <a:noFill/>
          <a:ln/>
        </p:spPr>
        <p:txBody>
          <a:bodyPr wrap="square" lIns="0" tIns="0" rIns="0" bIns="0" rtlCol="0" anchor="ctr"/>
          <a:lstStyle/>
          <a:p>
            <a:pPr marL="0" indent="0">
              <a:buNone/>
            </a:pPr>
            <a:r>
              <a:rPr lang="en-US" sz="1600" b="1" dirty="0">
                <a:solidFill>
                  <a:schemeClr val="tx2"/>
                </a:solidFill>
              </a:rPr>
              <a:t>Idea &amp; Project Information Collection</a:t>
            </a:r>
            <a:endParaRPr lang="en-US" sz="1600" dirty="0"/>
          </a:p>
        </p:txBody>
      </p:sp>
      <p:sp>
        <p:nvSpPr>
          <p:cNvPr id="8" name="Text 6"/>
          <p:cNvSpPr txBox="1"/>
          <p:nvPr/>
        </p:nvSpPr>
        <p:spPr>
          <a:xfrm>
            <a:off x="731520" y="2560320"/>
            <a:ext cx="3182112" cy="1097280"/>
          </a:xfrm>
          <a:prstGeom prst="rect">
            <a:avLst/>
          </a:prstGeom>
          <a:noFill/>
          <a:ln/>
        </p:spPr>
        <p:txBody>
          <a:bodyPr wrap="square" lIns="0" tIns="0" rIns="0" bIns="0" rtlCol="0" anchor="t"/>
          <a:lstStyle/>
          <a:p>
            <a:pPr marL="0" indent="0">
              <a:buNone/>
            </a:pPr>
            <a:r>
              <a:rPr lang="en-US" sz="1400" dirty="0">
                <a:solidFill>
                  <a:schemeClr val="tx1"/>
                </a:solidFill>
              </a:rPr>
              <a:t>Captures the idea, target market, budget, resources and objectives, and stores each proposal.</a:t>
            </a:r>
            <a:endParaRPr lang="en-US" sz="1400" dirty="0"/>
          </a:p>
        </p:txBody>
      </p:sp>
      <p:sp>
        <p:nvSpPr>
          <p:cNvPr id="9" name="Module card 2"/>
          <p:cNvSpPr/>
          <p:nvPr/>
        </p:nvSpPr>
        <p:spPr>
          <a:xfrm>
            <a:off x="4320540" y="1691640"/>
            <a:ext cx="3547872"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10" name="Module number 2"/>
          <p:cNvSpPr/>
          <p:nvPr/>
        </p:nvSpPr>
        <p:spPr>
          <a:xfrm>
            <a:off x="4503420" y="1892808"/>
            <a:ext cx="457200" cy="457200"/>
          </a:xfrm>
          <a:prstGeom prst="ellipse">
            <a:avLst/>
          </a:prstGeom>
          <a:solidFill>
            <a:schemeClr val="accent1"/>
          </a:solidFill>
          <a:ln/>
        </p:spPr>
      </p:sp>
      <p:sp>
        <p:nvSpPr>
          <p:cNvPr id="11" name="Text 9"/>
          <p:cNvSpPr txBox="1"/>
          <p:nvPr/>
        </p:nvSpPr>
        <p:spPr>
          <a:xfrm>
            <a:off x="4503420" y="189280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5097780" y="1847088"/>
            <a:ext cx="2587752" cy="548640"/>
          </a:xfrm>
          <a:prstGeom prst="rect">
            <a:avLst/>
          </a:prstGeom>
          <a:noFill/>
          <a:ln/>
        </p:spPr>
        <p:txBody>
          <a:bodyPr wrap="square" lIns="0" tIns="0" rIns="0" bIns="0" rtlCol="0" anchor="ctr"/>
          <a:lstStyle/>
          <a:p>
            <a:pPr marL="0" indent="0">
              <a:buNone/>
            </a:pPr>
            <a:r>
              <a:rPr lang="en-US" sz="1600" b="1" dirty="0">
                <a:solidFill>
                  <a:schemeClr val="tx2"/>
                </a:solidFill>
              </a:rPr>
              <a:t>Market &amp; Competitor Intelligence</a:t>
            </a:r>
            <a:endParaRPr lang="en-US" sz="1600" dirty="0"/>
          </a:p>
        </p:txBody>
      </p:sp>
      <p:sp>
        <p:nvSpPr>
          <p:cNvPr id="13" name="Text 11"/>
          <p:cNvSpPr txBox="1"/>
          <p:nvPr/>
        </p:nvSpPr>
        <p:spPr>
          <a:xfrm>
            <a:off x="4503420" y="2560320"/>
            <a:ext cx="3182112" cy="1097280"/>
          </a:xfrm>
          <a:prstGeom prst="rect">
            <a:avLst/>
          </a:prstGeom>
          <a:noFill/>
          <a:ln/>
        </p:spPr>
        <p:txBody>
          <a:bodyPr wrap="square" lIns="0" tIns="0" rIns="0" bIns="0" rtlCol="0" anchor="t"/>
          <a:lstStyle/>
          <a:p>
            <a:pPr marL="0" indent="0">
              <a:buNone/>
            </a:pPr>
            <a:r>
              <a:rPr lang="en-US" sz="1400" dirty="0">
                <a:solidFill>
                  <a:schemeClr val="tx1"/>
                </a:solidFill>
              </a:rPr>
              <a:t>Analyses the target market, key competitors, industry challenges and growth potential.</a:t>
            </a:r>
            <a:endParaRPr lang="en-US" sz="1400" dirty="0"/>
          </a:p>
        </p:txBody>
      </p:sp>
      <p:sp>
        <p:nvSpPr>
          <p:cNvPr id="14" name="Module card 3"/>
          <p:cNvSpPr/>
          <p:nvPr/>
        </p:nvSpPr>
        <p:spPr>
          <a:xfrm>
            <a:off x="8092440" y="1691640"/>
            <a:ext cx="3547872"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15" name="Module number 3"/>
          <p:cNvSpPr/>
          <p:nvPr/>
        </p:nvSpPr>
        <p:spPr>
          <a:xfrm>
            <a:off x="8275320" y="1892808"/>
            <a:ext cx="457200" cy="457200"/>
          </a:xfrm>
          <a:prstGeom prst="ellipse">
            <a:avLst/>
          </a:prstGeom>
          <a:solidFill>
            <a:schemeClr val="accent1"/>
          </a:solidFill>
          <a:ln/>
        </p:spPr>
      </p:sp>
      <p:sp>
        <p:nvSpPr>
          <p:cNvPr id="16" name="Text 14"/>
          <p:cNvSpPr txBox="1"/>
          <p:nvPr/>
        </p:nvSpPr>
        <p:spPr>
          <a:xfrm>
            <a:off x="8275320" y="189280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5"/>
          <p:cNvSpPr txBox="1"/>
          <p:nvPr/>
        </p:nvSpPr>
        <p:spPr>
          <a:xfrm>
            <a:off x="8869680" y="1847088"/>
            <a:ext cx="2587752" cy="548640"/>
          </a:xfrm>
          <a:prstGeom prst="rect">
            <a:avLst/>
          </a:prstGeom>
          <a:noFill/>
          <a:ln/>
        </p:spPr>
        <p:txBody>
          <a:bodyPr wrap="square" lIns="0" tIns="0" rIns="0" bIns="0" rtlCol="0" anchor="ctr"/>
          <a:lstStyle/>
          <a:p>
            <a:pPr marL="0" indent="0">
              <a:buNone/>
            </a:pPr>
            <a:r>
              <a:rPr lang="en-US" sz="1600" b="1" dirty="0">
                <a:solidFill>
                  <a:schemeClr val="tx2"/>
                </a:solidFill>
              </a:rPr>
              <a:t>Risk Assessment &amp; Scoring</a:t>
            </a:r>
            <a:endParaRPr lang="en-US" sz="1600" dirty="0"/>
          </a:p>
        </p:txBody>
      </p:sp>
      <p:sp>
        <p:nvSpPr>
          <p:cNvPr id="18" name="Text 16"/>
          <p:cNvSpPr txBox="1"/>
          <p:nvPr/>
        </p:nvSpPr>
        <p:spPr>
          <a:xfrm>
            <a:off x="8275320" y="2560320"/>
            <a:ext cx="3182112" cy="1097280"/>
          </a:xfrm>
          <a:prstGeom prst="rect">
            <a:avLst/>
          </a:prstGeom>
          <a:noFill/>
          <a:ln/>
        </p:spPr>
        <p:txBody>
          <a:bodyPr wrap="square" lIns="0" tIns="0" rIns="0" bIns="0" rtlCol="0" anchor="t"/>
          <a:lstStyle/>
          <a:p>
            <a:pPr marL="0" indent="0">
              <a:buNone/>
            </a:pPr>
            <a:r>
              <a:rPr lang="en-US" sz="1400" dirty="0">
                <a:solidFill>
                  <a:schemeClr val="tx1"/>
                </a:solidFill>
              </a:rPr>
              <a:t>Evaluates business, financial, operational and technical risk and prioritises high-impact factors.</a:t>
            </a:r>
            <a:endParaRPr lang="en-US" sz="1400" dirty="0"/>
          </a:p>
        </p:txBody>
      </p:sp>
      <p:sp>
        <p:nvSpPr>
          <p:cNvPr id="19" name="Module card 4"/>
          <p:cNvSpPr/>
          <p:nvPr/>
        </p:nvSpPr>
        <p:spPr>
          <a:xfrm>
            <a:off x="548640" y="3931920"/>
            <a:ext cx="3547872"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20" name="Module number 4"/>
          <p:cNvSpPr/>
          <p:nvPr/>
        </p:nvSpPr>
        <p:spPr>
          <a:xfrm>
            <a:off x="731520" y="4133088"/>
            <a:ext cx="457200" cy="457200"/>
          </a:xfrm>
          <a:prstGeom prst="ellipse">
            <a:avLst/>
          </a:prstGeom>
          <a:solidFill>
            <a:schemeClr val="accent1"/>
          </a:solidFill>
          <a:ln/>
        </p:spPr>
      </p:sp>
      <p:sp>
        <p:nvSpPr>
          <p:cNvPr id="21" name="Text 19"/>
          <p:cNvSpPr txBox="1"/>
          <p:nvPr/>
        </p:nvSpPr>
        <p:spPr>
          <a:xfrm>
            <a:off x="731520" y="413308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2" name="Text 20"/>
          <p:cNvSpPr txBox="1"/>
          <p:nvPr/>
        </p:nvSpPr>
        <p:spPr>
          <a:xfrm>
            <a:off x="1325880" y="4087368"/>
            <a:ext cx="2587752" cy="548640"/>
          </a:xfrm>
          <a:prstGeom prst="rect">
            <a:avLst/>
          </a:prstGeom>
          <a:noFill/>
          <a:ln/>
        </p:spPr>
        <p:txBody>
          <a:bodyPr wrap="square" lIns="0" tIns="0" rIns="0" bIns="0" rtlCol="0" anchor="ctr"/>
          <a:lstStyle/>
          <a:p>
            <a:pPr marL="0" indent="0">
              <a:buNone/>
            </a:pPr>
            <a:r>
              <a:rPr lang="en-US" sz="1600" b="1" dirty="0">
                <a:solidFill>
                  <a:schemeClr val="tx2"/>
                </a:solidFill>
              </a:rPr>
              <a:t>SWOT &amp; Strategic Evaluation</a:t>
            </a:r>
            <a:endParaRPr lang="en-US" sz="1600" dirty="0"/>
          </a:p>
        </p:txBody>
      </p:sp>
      <p:sp>
        <p:nvSpPr>
          <p:cNvPr id="23" name="Text 21"/>
          <p:cNvSpPr txBox="1"/>
          <p:nvPr/>
        </p:nvSpPr>
        <p:spPr>
          <a:xfrm>
            <a:off x="731520" y="4800600"/>
            <a:ext cx="3182112" cy="1097280"/>
          </a:xfrm>
          <a:prstGeom prst="rect">
            <a:avLst/>
          </a:prstGeom>
          <a:noFill/>
          <a:ln/>
        </p:spPr>
        <p:txBody>
          <a:bodyPr wrap="square" lIns="0" tIns="0" rIns="0" bIns="0" rtlCol="0" anchor="t"/>
          <a:lstStyle/>
          <a:p>
            <a:pPr marL="0" indent="0">
              <a:buNone/>
            </a:pPr>
            <a:r>
              <a:rPr lang="en-US" sz="1400" dirty="0">
                <a:solidFill>
                  <a:schemeClr val="tx1"/>
                </a:solidFill>
              </a:rPr>
              <a:t>Generates the SWOT, checks feasibility and sustainability, and highlights strategic gaps.</a:t>
            </a:r>
            <a:endParaRPr lang="en-US" sz="1400" dirty="0"/>
          </a:p>
        </p:txBody>
      </p:sp>
      <p:sp>
        <p:nvSpPr>
          <p:cNvPr id="24" name="Module card 5"/>
          <p:cNvSpPr/>
          <p:nvPr/>
        </p:nvSpPr>
        <p:spPr>
          <a:xfrm>
            <a:off x="4320540" y="3931920"/>
            <a:ext cx="3547872"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25" name="Module number 5"/>
          <p:cNvSpPr/>
          <p:nvPr/>
        </p:nvSpPr>
        <p:spPr>
          <a:xfrm>
            <a:off x="4503420" y="4133088"/>
            <a:ext cx="457200" cy="457200"/>
          </a:xfrm>
          <a:prstGeom prst="ellipse">
            <a:avLst/>
          </a:prstGeom>
          <a:solidFill>
            <a:schemeClr val="accent1"/>
          </a:solidFill>
          <a:ln/>
        </p:spPr>
      </p:sp>
      <p:sp>
        <p:nvSpPr>
          <p:cNvPr id="26" name="Text 24"/>
          <p:cNvSpPr txBox="1"/>
          <p:nvPr/>
        </p:nvSpPr>
        <p:spPr>
          <a:xfrm>
            <a:off x="4503420" y="413308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7" name="Text 25"/>
          <p:cNvSpPr txBox="1"/>
          <p:nvPr/>
        </p:nvSpPr>
        <p:spPr>
          <a:xfrm>
            <a:off x="5097780" y="4087368"/>
            <a:ext cx="2587752" cy="548640"/>
          </a:xfrm>
          <a:prstGeom prst="rect">
            <a:avLst/>
          </a:prstGeom>
          <a:noFill/>
          <a:ln/>
        </p:spPr>
        <p:txBody>
          <a:bodyPr wrap="square" lIns="0" tIns="0" rIns="0" bIns="0" rtlCol="0" anchor="ctr"/>
          <a:lstStyle/>
          <a:p>
            <a:pPr marL="0" indent="0">
              <a:buNone/>
            </a:pPr>
            <a:r>
              <a:rPr lang="en-US" sz="1600" b="1" dirty="0">
                <a:solidFill>
                  <a:schemeClr val="tx2"/>
                </a:solidFill>
              </a:rPr>
              <a:t>Recommendation &amp; Mitigation</a:t>
            </a:r>
            <a:endParaRPr lang="en-US" sz="1600" dirty="0"/>
          </a:p>
        </p:txBody>
      </p:sp>
      <p:sp>
        <p:nvSpPr>
          <p:cNvPr id="28" name="Text 26"/>
          <p:cNvSpPr txBox="1"/>
          <p:nvPr/>
        </p:nvSpPr>
        <p:spPr>
          <a:xfrm>
            <a:off x="4503420" y="4800600"/>
            <a:ext cx="3182112" cy="1097280"/>
          </a:xfrm>
          <a:prstGeom prst="rect">
            <a:avLst/>
          </a:prstGeom>
          <a:noFill/>
          <a:ln/>
        </p:spPr>
        <p:txBody>
          <a:bodyPr wrap="square" lIns="0" tIns="0" rIns="0" bIns="0" rtlCol="0" anchor="t"/>
          <a:lstStyle/>
          <a:p>
            <a:pPr marL="0" indent="0">
              <a:buNone/>
            </a:pPr>
            <a:r>
              <a:rPr lang="en-US" sz="1400" dirty="0">
                <a:solidFill>
                  <a:schemeClr val="tx1"/>
                </a:solidFill>
              </a:rPr>
              <a:t>Produces actionable recommendations, mitigation strategies and improvement plans.</a:t>
            </a:r>
            <a:endParaRPr lang="en-US" sz="1400" dirty="0"/>
          </a:p>
        </p:txBody>
      </p:sp>
      <p:sp>
        <p:nvSpPr>
          <p:cNvPr id="29" name="Module card 6"/>
          <p:cNvSpPr/>
          <p:nvPr/>
        </p:nvSpPr>
        <p:spPr>
          <a:xfrm>
            <a:off x="8092440" y="3931920"/>
            <a:ext cx="3547872"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30" name="Module number 6"/>
          <p:cNvSpPr/>
          <p:nvPr/>
        </p:nvSpPr>
        <p:spPr>
          <a:xfrm>
            <a:off x="8275320" y="4133088"/>
            <a:ext cx="457200" cy="457200"/>
          </a:xfrm>
          <a:prstGeom prst="ellipse">
            <a:avLst/>
          </a:prstGeom>
          <a:solidFill>
            <a:schemeClr val="accent1"/>
          </a:solidFill>
          <a:ln/>
        </p:spPr>
      </p:sp>
      <p:sp>
        <p:nvSpPr>
          <p:cNvPr id="31" name="Text 29"/>
          <p:cNvSpPr txBox="1"/>
          <p:nvPr/>
        </p:nvSpPr>
        <p:spPr>
          <a:xfrm>
            <a:off x="8275320" y="413308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32" name="Text 30"/>
          <p:cNvSpPr txBox="1"/>
          <p:nvPr/>
        </p:nvSpPr>
        <p:spPr>
          <a:xfrm>
            <a:off x="8869680" y="4087368"/>
            <a:ext cx="2587752" cy="548640"/>
          </a:xfrm>
          <a:prstGeom prst="rect">
            <a:avLst/>
          </a:prstGeom>
          <a:noFill/>
          <a:ln/>
        </p:spPr>
        <p:txBody>
          <a:bodyPr wrap="square" lIns="0" tIns="0" rIns="0" bIns="0" rtlCol="0" anchor="ctr"/>
          <a:lstStyle/>
          <a:p>
            <a:pPr marL="0" indent="0">
              <a:buNone/>
            </a:pPr>
            <a:r>
              <a:rPr lang="en-US" sz="1600" b="1" dirty="0">
                <a:solidFill>
                  <a:schemeClr val="tx2"/>
                </a:solidFill>
              </a:rPr>
              <a:t>Dashboard &amp; Reporting</a:t>
            </a:r>
            <a:endParaRPr lang="en-US" sz="1600" dirty="0"/>
          </a:p>
        </p:txBody>
      </p:sp>
      <p:sp>
        <p:nvSpPr>
          <p:cNvPr id="33" name="Text 31"/>
          <p:cNvSpPr txBox="1"/>
          <p:nvPr/>
        </p:nvSpPr>
        <p:spPr>
          <a:xfrm>
            <a:off x="8275320" y="4800600"/>
            <a:ext cx="3182112" cy="1097280"/>
          </a:xfrm>
          <a:prstGeom prst="rect">
            <a:avLst/>
          </a:prstGeom>
          <a:noFill/>
          <a:ln/>
        </p:spPr>
        <p:txBody>
          <a:bodyPr wrap="square" lIns="0" tIns="0" rIns="0" bIns="0" rtlCol="0" anchor="t"/>
          <a:lstStyle/>
          <a:p>
            <a:pPr marL="0" indent="0">
              <a:buNone/>
            </a:pPr>
            <a:r>
              <a:rPr lang="en-US" sz="1400" dirty="0">
                <a:solidFill>
                  <a:schemeClr val="tx1"/>
                </a:solidFill>
              </a:rPr>
              <a:t>Visualises risk, builds assessment reports and shares business insights.</a:t>
            </a:r>
            <a:endParaRPr lang="en-US" sz="1400" dirty="0"/>
          </a:p>
        </p:txBody>
      </p:sp>
      <p:sp>
        <p:nvSpPr>
          <p:cNvPr id="34"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Tech Stack</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One Python codebase, from data collection to deployment</a:t>
            </a:r>
            <a:endParaRPr lang="en-US" sz="1600" dirty="0"/>
          </a:p>
        </p:txBody>
      </p:sp>
      <p:sp>
        <p:nvSpPr>
          <p:cNvPr id="4" name="Python card"/>
          <p:cNvSpPr/>
          <p:nvPr/>
        </p:nvSpPr>
        <p:spPr>
          <a:xfrm>
            <a:off x="548640" y="1691640"/>
            <a:ext cx="2066544" cy="3063240"/>
          </a:xfrm>
          <a:prstGeom prst="roundRect">
            <a:avLst>
              <a:gd name="adj" fmla="val 5310"/>
            </a:avLst>
          </a:prstGeom>
          <a:solidFill>
            <a:schemeClr val="bg1"/>
          </a:solidFill>
          <a:ln/>
          <a:effectLst>
            <a:outerShdw blurRad="101600" dist="25400" dir="5400000" algn="bl" rotWithShape="0">
              <a:srgbClr val="0B1630">
                <a:alpha val="12000"/>
              </a:srgbClr>
            </a:outerShdw>
          </a:effectLst>
        </p:spPr>
      </p:sp>
      <p:sp>
        <p:nvSpPr>
          <p:cNvPr id="5" name="Python circle"/>
          <p:cNvSpPr/>
          <p:nvPr/>
        </p:nvSpPr>
        <p:spPr>
          <a:xfrm>
            <a:off x="731520" y="1920240"/>
            <a:ext cx="640080" cy="640080"/>
          </a:xfrm>
          <a:prstGeom prst="ellipse">
            <a:avLst/>
          </a:prstGeom>
          <a:solidFill>
            <a:schemeClr val="accent1"/>
          </a:solidFill>
          <a:ln/>
        </p:spPr>
      </p:sp>
      <p:pic>
        <p:nvPicPr>
          <p:cNvPr id="6" name="Image 0" descr="Python"/>
          <p:cNvPicPr>
            <a:picLocks noChangeAspect="1"/>
          </p:cNvPicPr>
          <p:nvPr/>
        </p:nvPicPr>
        <p:blipFill>
          <a:blip r:embed="rId3"/>
          <a:stretch>
            <a:fillRect/>
          </a:stretch>
        </p:blipFill>
        <p:spPr>
          <a:xfrm>
            <a:off x="885139" y="2073859"/>
            <a:ext cx="332842" cy="332842"/>
          </a:xfrm>
          <a:prstGeom prst="rect">
            <a:avLst/>
          </a:prstGeom>
        </p:spPr>
      </p:pic>
      <p:sp>
        <p:nvSpPr>
          <p:cNvPr id="7" name="Text 4"/>
          <p:cNvSpPr txBox="1"/>
          <p:nvPr/>
        </p:nvSpPr>
        <p:spPr>
          <a:xfrm>
            <a:off x="731520" y="2697480"/>
            <a:ext cx="1700784" cy="365760"/>
          </a:xfrm>
          <a:prstGeom prst="rect">
            <a:avLst/>
          </a:prstGeom>
          <a:noFill/>
          <a:ln/>
        </p:spPr>
        <p:txBody>
          <a:bodyPr wrap="square" lIns="0" tIns="0" rIns="0" bIns="0" rtlCol="0" anchor="ctr"/>
          <a:lstStyle/>
          <a:p>
            <a:pPr marL="0" indent="0">
              <a:buNone/>
            </a:pPr>
            <a:r>
              <a:rPr lang="en-US" sz="2000" b="1" dirty="0">
                <a:solidFill>
                  <a:schemeClr val="tx2"/>
                </a:solidFill>
              </a:rPr>
              <a:t>Python</a:t>
            </a:r>
            <a:endParaRPr lang="en-US" sz="2000" dirty="0"/>
          </a:p>
        </p:txBody>
      </p:sp>
      <p:sp>
        <p:nvSpPr>
          <p:cNvPr id="8" name="Text 5"/>
          <p:cNvSpPr txBox="1"/>
          <p:nvPr/>
        </p:nvSpPr>
        <p:spPr>
          <a:xfrm>
            <a:off x="731520" y="3063240"/>
            <a:ext cx="1700784" cy="274320"/>
          </a:xfrm>
          <a:prstGeom prst="rect">
            <a:avLst/>
          </a:prstGeom>
          <a:noFill/>
          <a:ln/>
        </p:spPr>
        <p:txBody>
          <a:bodyPr wrap="square" lIns="0" tIns="0" rIns="0" bIns="0" rtlCol="0" anchor="ctr"/>
          <a:lstStyle/>
          <a:p>
            <a:pPr marL="0" indent="0">
              <a:buNone/>
            </a:pPr>
            <a:r>
              <a:rPr lang="en-US" sz="1100" b="1" kern="0" spc="200" dirty="0">
                <a:solidFill>
                  <a:schemeClr val="accent1"/>
                </a:solidFill>
              </a:rPr>
              <a:t>CORE LANGUAGE</a:t>
            </a:r>
            <a:endParaRPr lang="en-US" sz="1100" dirty="0"/>
          </a:p>
        </p:txBody>
      </p:sp>
      <p:sp>
        <p:nvSpPr>
          <p:cNvPr id="9" name="Text 6"/>
          <p:cNvSpPr txBox="1"/>
          <p:nvPr/>
        </p:nvSpPr>
        <p:spPr>
          <a:xfrm>
            <a:off x="731520" y="3383280"/>
            <a:ext cx="1700784" cy="1280160"/>
          </a:xfrm>
          <a:prstGeom prst="rect">
            <a:avLst/>
          </a:prstGeom>
          <a:noFill/>
          <a:ln/>
        </p:spPr>
        <p:txBody>
          <a:bodyPr wrap="square" lIns="0" tIns="0" rIns="0" bIns="0" rtlCol="0" anchor="t"/>
          <a:lstStyle/>
          <a:p>
            <a:pPr marL="0" indent="0">
              <a:buNone/>
            </a:pPr>
            <a:r>
              <a:rPr lang="en-US" sz="1400" dirty="0">
                <a:solidFill>
                  <a:schemeClr val="tx1"/>
                </a:solidFill>
              </a:rPr>
              <a:t>Modular backend with one file per engine: risk, SWOT, feasibility and reports.</a:t>
            </a:r>
            <a:endParaRPr lang="en-US" sz="1400" dirty="0"/>
          </a:p>
        </p:txBody>
      </p:sp>
      <p:sp>
        <p:nvSpPr>
          <p:cNvPr id="10" name="Streamlit card"/>
          <p:cNvSpPr/>
          <p:nvPr/>
        </p:nvSpPr>
        <p:spPr>
          <a:xfrm>
            <a:off x="2798064" y="1691640"/>
            <a:ext cx="2066544" cy="3063240"/>
          </a:xfrm>
          <a:prstGeom prst="roundRect">
            <a:avLst>
              <a:gd name="adj" fmla="val 5310"/>
            </a:avLst>
          </a:prstGeom>
          <a:solidFill>
            <a:schemeClr val="bg1"/>
          </a:solidFill>
          <a:ln/>
          <a:effectLst>
            <a:outerShdw blurRad="101600" dist="25400" dir="5400000" algn="bl" rotWithShape="0">
              <a:srgbClr val="0B1630">
                <a:alpha val="12000"/>
              </a:srgbClr>
            </a:outerShdw>
          </a:effectLst>
        </p:spPr>
      </p:sp>
      <p:sp>
        <p:nvSpPr>
          <p:cNvPr id="11" name="Streamlit circle"/>
          <p:cNvSpPr/>
          <p:nvPr/>
        </p:nvSpPr>
        <p:spPr>
          <a:xfrm>
            <a:off x="2980944" y="1920240"/>
            <a:ext cx="640080" cy="640080"/>
          </a:xfrm>
          <a:prstGeom prst="ellipse">
            <a:avLst/>
          </a:prstGeom>
          <a:solidFill>
            <a:schemeClr val="accent2"/>
          </a:solidFill>
          <a:ln/>
        </p:spPr>
      </p:sp>
      <p:pic>
        <p:nvPicPr>
          <p:cNvPr id="12" name="Image 1" descr="Streamlit"/>
          <p:cNvPicPr>
            <a:picLocks noChangeAspect="1"/>
          </p:cNvPicPr>
          <p:nvPr/>
        </p:nvPicPr>
        <p:blipFill>
          <a:blip r:embed="rId4"/>
          <a:stretch>
            <a:fillRect/>
          </a:stretch>
        </p:blipFill>
        <p:spPr>
          <a:xfrm>
            <a:off x="3134563" y="2073859"/>
            <a:ext cx="332842" cy="332842"/>
          </a:xfrm>
          <a:prstGeom prst="rect">
            <a:avLst/>
          </a:prstGeom>
        </p:spPr>
      </p:pic>
      <p:sp>
        <p:nvSpPr>
          <p:cNvPr id="13" name="Text 9"/>
          <p:cNvSpPr txBox="1"/>
          <p:nvPr/>
        </p:nvSpPr>
        <p:spPr>
          <a:xfrm>
            <a:off x="2980944" y="2697480"/>
            <a:ext cx="1700784" cy="365760"/>
          </a:xfrm>
          <a:prstGeom prst="rect">
            <a:avLst/>
          </a:prstGeom>
          <a:noFill/>
          <a:ln/>
        </p:spPr>
        <p:txBody>
          <a:bodyPr wrap="square" lIns="0" tIns="0" rIns="0" bIns="0" rtlCol="0" anchor="ctr"/>
          <a:lstStyle/>
          <a:p>
            <a:pPr marL="0" indent="0">
              <a:buNone/>
            </a:pPr>
            <a:r>
              <a:rPr lang="en-US" sz="2000" b="1" dirty="0">
                <a:solidFill>
                  <a:schemeClr val="tx2"/>
                </a:solidFill>
              </a:rPr>
              <a:t>Streamlit</a:t>
            </a:r>
            <a:endParaRPr lang="en-US" sz="2000" dirty="0"/>
          </a:p>
        </p:txBody>
      </p:sp>
      <p:sp>
        <p:nvSpPr>
          <p:cNvPr id="14" name="Text 10"/>
          <p:cNvSpPr txBox="1"/>
          <p:nvPr/>
        </p:nvSpPr>
        <p:spPr>
          <a:xfrm>
            <a:off x="2980944" y="3063240"/>
            <a:ext cx="1700784" cy="274320"/>
          </a:xfrm>
          <a:prstGeom prst="rect">
            <a:avLst/>
          </a:prstGeom>
          <a:noFill/>
          <a:ln/>
        </p:spPr>
        <p:txBody>
          <a:bodyPr wrap="square" lIns="0" tIns="0" rIns="0" bIns="0" rtlCol="0" anchor="ctr"/>
          <a:lstStyle/>
          <a:p>
            <a:pPr marL="0" indent="0">
              <a:buNone/>
            </a:pPr>
            <a:r>
              <a:rPr lang="en-US" sz="1100" b="1" kern="0" spc="200" dirty="0">
                <a:solidFill>
                  <a:schemeClr val="accent1"/>
                </a:solidFill>
              </a:rPr>
              <a:t>WEB DASHBOARD</a:t>
            </a:r>
            <a:endParaRPr lang="en-US" sz="1100" dirty="0"/>
          </a:p>
        </p:txBody>
      </p:sp>
      <p:sp>
        <p:nvSpPr>
          <p:cNvPr id="15" name="Text 11"/>
          <p:cNvSpPr txBox="1"/>
          <p:nvPr/>
        </p:nvSpPr>
        <p:spPr>
          <a:xfrm>
            <a:off x="2980944" y="3383280"/>
            <a:ext cx="1700784" cy="1280160"/>
          </a:xfrm>
          <a:prstGeom prst="rect">
            <a:avLst/>
          </a:prstGeom>
          <a:noFill/>
          <a:ln/>
        </p:spPr>
        <p:txBody>
          <a:bodyPr wrap="square" lIns="0" tIns="0" rIns="0" bIns="0" rtlCol="0" anchor="t"/>
          <a:lstStyle/>
          <a:p>
            <a:pPr marL="0" indent="0">
              <a:buNone/>
            </a:pPr>
            <a:r>
              <a:rPr lang="en-US" sz="1400" dirty="0">
                <a:solidFill>
                  <a:schemeClr val="tx1"/>
                </a:solidFill>
              </a:rPr>
              <a:t>Four tabs: Project Input, Risk Assessment, Recommendations and Dashboard.</a:t>
            </a:r>
            <a:endParaRPr lang="en-US" sz="1400" dirty="0"/>
          </a:p>
        </p:txBody>
      </p:sp>
      <p:sp>
        <p:nvSpPr>
          <p:cNvPr id="16" name="Google Gemini card"/>
          <p:cNvSpPr/>
          <p:nvPr/>
        </p:nvSpPr>
        <p:spPr>
          <a:xfrm>
            <a:off x="5047488" y="1691640"/>
            <a:ext cx="2066544" cy="3063240"/>
          </a:xfrm>
          <a:prstGeom prst="roundRect">
            <a:avLst>
              <a:gd name="adj" fmla="val 5310"/>
            </a:avLst>
          </a:prstGeom>
          <a:solidFill>
            <a:schemeClr val="bg1"/>
          </a:solidFill>
          <a:ln/>
          <a:effectLst>
            <a:outerShdw blurRad="101600" dist="25400" dir="5400000" algn="bl" rotWithShape="0">
              <a:srgbClr val="0B1630">
                <a:alpha val="12000"/>
              </a:srgbClr>
            </a:outerShdw>
          </a:effectLst>
        </p:spPr>
      </p:sp>
      <p:sp>
        <p:nvSpPr>
          <p:cNvPr id="17" name="Google Gemini circle"/>
          <p:cNvSpPr/>
          <p:nvPr/>
        </p:nvSpPr>
        <p:spPr>
          <a:xfrm>
            <a:off x="5230368" y="1920240"/>
            <a:ext cx="640080" cy="640080"/>
          </a:xfrm>
          <a:prstGeom prst="ellipse">
            <a:avLst/>
          </a:prstGeom>
          <a:solidFill>
            <a:schemeClr val="accent6"/>
          </a:solidFill>
          <a:ln/>
        </p:spPr>
      </p:sp>
      <p:pic>
        <p:nvPicPr>
          <p:cNvPr id="18" name="Image 2" descr="Google Gemini"/>
          <p:cNvPicPr>
            <a:picLocks noChangeAspect="1"/>
          </p:cNvPicPr>
          <p:nvPr/>
        </p:nvPicPr>
        <p:blipFill>
          <a:blip r:embed="rId5"/>
          <a:stretch>
            <a:fillRect/>
          </a:stretch>
        </p:blipFill>
        <p:spPr>
          <a:xfrm>
            <a:off x="5383987" y="2073859"/>
            <a:ext cx="332842" cy="332842"/>
          </a:xfrm>
          <a:prstGeom prst="rect">
            <a:avLst/>
          </a:prstGeom>
        </p:spPr>
      </p:pic>
      <p:sp>
        <p:nvSpPr>
          <p:cNvPr id="19" name="Text 14"/>
          <p:cNvSpPr txBox="1"/>
          <p:nvPr/>
        </p:nvSpPr>
        <p:spPr>
          <a:xfrm>
            <a:off x="5230368" y="2697480"/>
            <a:ext cx="1700784" cy="365760"/>
          </a:xfrm>
          <a:prstGeom prst="rect">
            <a:avLst/>
          </a:prstGeom>
          <a:noFill/>
          <a:ln/>
        </p:spPr>
        <p:txBody>
          <a:bodyPr wrap="square" lIns="0" tIns="0" rIns="0" bIns="0" rtlCol="0" anchor="ctr"/>
          <a:lstStyle/>
          <a:p>
            <a:pPr marL="0" indent="0">
              <a:buNone/>
            </a:pPr>
            <a:r>
              <a:rPr lang="en-US" sz="2000" b="1" dirty="0">
                <a:solidFill>
                  <a:schemeClr val="tx2"/>
                </a:solidFill>
              </a:rPr>
              <a:t>Google Gemini</a:t>
            </a:r>
            <a:endParaRPr lang="en-US" sz="2000" dirty="0"/>
          </a:p>
        </p:txBody>
      </p:sp>
      <p:sp>
        <p:nvSpPr>
          <p:cNvPr id="20" name="Text 15"/>
          <p:cNvSpPr txBox="1"/>
          <p:nvPr/>
        </p:nvSpPr>
        <p:spPr>
          <a:xfrm>
            <a:off x="5230368" y="3063240"/>
            <a:ext cx="1700784" cy="274320"/>
          </a:xfrm>
          <a:prstGeom prst="rect">
            <a:avLst/>
          </a:prstGeom>
          <a:noFill/>
          <a:ln/>
        </p:spPr>
        <p:txBody>
          <a:bodyPr wrap="square" lIns="0" tIns="0" rIns="0" bIns="0" rtlCol="0" anchor="ctr"/>
          <a:lstStyle/>
          <a:p>
            <a:pPr marL="0" indent="0">
              <a:buNone/>
            </a:pPr>
            <a:r>
              <a:rPr lang="en-US" sz="1100" b="1" kern="0" spc="200" dirty="0">
                <a:solidFill>
                  <a:schemeClr val="accent1"/>
                </a:solidFill>
              </a:rPr>
              <a:t>LLM REASONING</a:t>
            </a:r>
            <a:endParaRPr lang="en-US" sz="1100" dirty="0"/>
          </a:p>
        </p:txBody>
      </p:sp>
      <p:sp>
        <p:nvSpPr>
          <p:cNvPr id="21" name="Text 16"/>
          <p:cNvSpPr txBox="1"/>
          <p:nvPr/>
        </p:nvSpPr>
        <p:spPr>
          <a:xfrm>
            <a:off x="5230368" y="3383280"/>
            <a:ext cx="1700784" cy="1280160"/>
          </a:xfrm>
          <a:prstGeom prst="rect">
            <a:avLst/>
          </a:prstGeom>
          <a:noFill/>
          <a:ln/>
        </p:spPr>
        <p:txBody>
          <a:bodyPr wrap="square" lIns="0" tIns="0" rIns="0" bIns="0" rtlCol="0" anchor="t"/>
          <a:lstStyle/>
          <a:p>
            <a:pPr marL="0" indent="0">
              <a:buNone/>
            </a:pPr>
            <a:r>
              <a:rPr lang="en-US" sz="1400" dirty="0">
                <a:solidFill>
                  <a:schemeClr val="tx1"/>
                </a:solidFill>
              </a:rPr>
              <a:t>Writes recommendations and insights. Demo Mode works without an API key.</a:t>
            </a:r>
            <a:endParaRPr lang="en-US" sz="1400" dirty="0"/>
          </a:p>
        </p:txBody>
      </p:sp>
      <p:sp>
        <p:nvSpPr>
          <p:cNvPr id="22" name="LangGraph card"/>
          <p:cNvSpPr/>
          <p:nvPr/>
        </p:nvSpPr>
        <p:spPr>
          <a:xfrm>
            <a:off x="7296912" y="1691640"/>
            <a:ext cx="2066544" cy="3063240"/>
          </a:xfrm>
          <a:prstGeom prst="roundRect">
            <a:avLst>
              <a:gd name="adj" fmla="val 5310"/>
            </a:avLst>
          </a:prstGeom>
          <a:solidFill>
            <a:schemeClr val="bg1"/>
          </a:solidFill>
          <a:ln/>
          <a:effectLst>
            <a:outerShdw blurRad="101600" dist="25400" dir="5400000" algn="bl" rotWithShape="0">
              <a:srgbClr val="0B1630">
                <a:alpha val="12000"/>
              </a:srgbClr>
            </a:outerShdw>
          </a:effectLst>
        </p:spPr>
      </p:sp>
      <p:sp>
        <p:nvSpPr>
          <p:cNvPr id="23" name="LangGraph circle"/>
          <p:cNvSpPr/>
          <p:nvPr/>
        </p:nvSpPr>
        <p:spPr>
          <a:xfrm>
            <a:off x="7479792" y="1920240"/>
            <a:ext cx="640080" cy="640080"/>
          </a:xfrm>
          <a:prstGeom prst="ellipse">
            <a:avLst/>
          </a:prstGeom>
          <a:solidFill>
            <a:schemeClr val="accent4"/>
          </a:solidFill>
          <a:ln/>
        </p:spPr>
      </p:sp>
      <p:pic>
        <p:nvPicPr>
          <p:cNvPr id="24" name="Image 3" descr="LangGraph"/>
          <p:cNvPicPr>
            <a:picLocks noChangeAspect="1"/>
          </p:cNvPicPr>
          <p:nvPr/>
        </p:nvPicPr>
        <p:blipFill>
          <a:blip r:embed="rId6"/>
          <a:stretch>
            <a:fillRect/>
          </a:stretch>
        </p:blipFill>
        <p:spPr>
          <a:xfrm>
            <a:off x="7633411" y="2073859"/>
            <a:ext cx="332842" cy="332842"/>
          </a:xfrm>
          <a:prstGeom prst="rect">
            <a:avLst/>
          </a:prstGeom>
        </p:spPr>
      </p:pic>
      <p:sp>
        <p:nvSpPr>
          <p:cNvPr id="25" name="Text 19"/>
          <p:cNvSpPr txBox="1"/>
          <p:nvPr/>
        </p:nvSpPr>
        <p:spPr>
          <a:xfrm>
            <a:off x="7479792" y="2697480"/>
            <a:ext cx="1700784" cy="365760"/>
          </a:xfrm>
          <a:prstGeom prst="rect">
            <a:avLst/>
          </a:prstGeom>
          <a:noFill/>
          <a:ln/>
        </p:spPr>
        <p:txBody>
          <a:bodyPr wrap="square" lIns="0" tIns="0" rIns="0" bIns="0" rtlCol="0" anchor="ctr"/>
          <a:lstStyle/>
          <a:p>
            <a:pPr marL="0" indent="0">
              <a:buNone/>
            </a:pPr>
            <a:r>
              <a:rPr lang="en-US" sz="2000" b="1" dirty="0">
                <a:solidFill>
                  <a:schemeClr val="tx2"/>
                </a:solidFill>
              </a:rPr>
              <a:t>LangGraph</a:t>
            </a:r>
            <a:endParaRPr lang="en-US" sz="2000" dirty="0"/>
          </a:p>
        </p:txBody>
      </p:sp>
      <p:sp>
        <p:nvSpPr>
          <p:cNvPr id="26" name="Text 20"/>
          <p:cNvSpPr txBox="1"/>
          <p:nvPr/>
        </p:nvSpPr>
        <p:spPr>
          <a:xfrm>
            <a:off x="7479792" y="3063240"/>
            <a:ext cx="1700784" cy="274320"/>
          </a:xfrm>
          <a:prstGeom prst="rect">
            <a:avLst/>
          </a:prstGeom>
          <a:noFill/>
          <a:ln/>
        </p:spPr>
        <p:txBody>
          <a:bodyPr wrap="square" lIns="0" tIns="0" rIns="0" bIns="0" rtlCol="0" anchor="ctr"/>
          <a:lstStyle/>
          <a:p>
            <a:pPr marL="0" indent="0">
              <a:buNone/>
            </a:pPr>
            <a:r>
              <a:rPr lang="en-US" sz="1100" b="1" kern="0" spc="200" dirty="0">
                <a:solidFill>
                  <a:schemeClr val="accent1"/>
                </a:solidFill>
              </a:rPr>
              <a:t>AGENT WORKFLOW</a:t>
            </a:r>
            <a:endParaRPr lang="en-US" sz="1100" dirty="0"/>
          </a:p>
        </p:txBody>
      </p:sp>
      <p:sp>
        <p:nvSpPr>
          <p:cNvPr id="27" name="Text 21"/>
          <p:cNvSpPr txBox="1"/>
          <p:nvPr/>
        </p:nvSpPr>
        <p:spPr>
          <a:xfrm>
            <a:off x="7479792" y="3383280"/>
            <a:ext cx="1700784" cy="1280160"/>
          </a:xfrm>
          <a:prstGeom prst="rect">
            <a:avLst/>
          </a:prstGeom>
          <a:noFill/>
          <a:ln/>
        </p:spPr>
        <p:txBody>
          <a:bodyPr wrap="square" lIns="0" tIns="0" rIns="0" bIns="0" rtlCol="0" anchor="t"/>
          <a:lstStyle/>
          <a:p>
            <a:pPr marL="0" indent="0">
              <a:buNone/>
            </a:pPr>
            <a:r>
              <a:rPr lang="en-US" sz="1400" dirty="0">
                <a:solidFill>
                  <a:schemeClr val="tx1"/>
                </a:solidFill>
              </a:rPr>
              <a:t>Six connected nodes share one state, from input to final response.</a:t>
            </a:r>
            <a:endParaRPr lang="en-US" sz="1400" dirty="0"/>
          </a:p>
        </p:txBody>
      </p:sp>
      <p:sp>
        <p:nvSpPr>
          <p:cNvPr id="28" name="SQLite card"/>
          <p:cNvSpPr/>
          <p:nvPr/>
        </p:nvSpPr>
        <p:spPr>
          <a:xfrm>
            <a:off x="9546336" y="1691640"/>
            <a:ext cx="2066544" cy="3063240"/>
          </a:xfrm>
          <a:prstGeom prst="roundRect">
            <a:avLst>
              <a:gd name="adj" fmla="val 5310"/>
            </a:avLst>
          </a:prstGeom>
          <a:solidFill>
            <a:schemeClr val="bg1"/>
          </a:solidFill>
          <a:ln/>
          <a:effectLst>
            <a:outerShdw blurRad="101600" dist="25400" dir="5400000" algn="bl" rotWithShape="0">
              <a:srgbClr val="0B1630">
                <a:alpha val="12000"/>
              </a:srgbClr>
            </a:outerShdw>
          </a:effectLst>
        </p:spPr>
      </p:sp>
      <p:sp>
        <p:nvSpPr>
          <p:cNvPr id="29" name="SQLite circle"/>
          <p:cNvSpPr/>
          <p:nvPr/>
        </p:nvSpPr>
        <p:spPr>
          <a:xfrm>
            <a:off x="9729216" y="1920240"/>
            <a:ext cx="640080" cy="640080"/>
          </a:xfrm>
          <a:prstGeom prst="ellipse">
            <a:avLst/>
          </a:prstGeom>
          <a:solidFill>
            <a:schemeClr val="accent5"/>
          </a:solidFill>
          <a:ln/>
        </p:spPr>
      </p:sp>
      <p:pic>
        <p:nvPicPr>
          <p:cNvPr id="30" name="Image 4" descr="SQLite"/>
          <p:cNvPicPr>
            <a:picLocks noChangeAspect="1"/>
          </p:cNvPicPr>
          <p:nvPr/>
        </p:nvPicPr>
        <p:blipFill>
          <a:blip r:embed="rId7"/>
          <a:stretch>
            <a:fillRect/>
          </a:stretch>
        </p:blipFill>
        <p:spPr>
          <a:xfrm>
            <a:off x="9882835" y="2073859"/>
            <a:ext cx="332842" cy="332842"/>
          </a:xfrm>
          <a:prstGeom prst="rect">
            <a:avLst/>
          </a:prstGeom>
        </p:spPr>
      </p:pic>
      <p:sp>
        <p:nvSpPr>
          <p:cNvPr id="31" name="Text 24"/>
          <p:cNvSpPr txBox="1"/>
          <p:nvPr/>
        </p:nvSpPr>
        <p:spPr>
          <a:xfrm>
            <a:off x="9729216" y="2697480"/>
            <a:ext cx="1700784" cy="365760"/>
          </a:xfrm>
          <a:prstGeom prst="rect">
            <a:avLst/>
          </a:prstGeom>
          <a:noFill/>
          <a:ln/>
        </p:spPr>
        <p:txBody>
          <a:bodyPr wrap="square" lIns="0" tIns="0" rIns="0" bIns="0" rtlCol="0" anchor="ctr"/>
          <a:lstStyle/>
          <a:p>
            <a:pPr marL="0" indent="0">
              <a:buNone/>
            </a:pPr>
            <a:r>
              <a:rPr lang="en-US" sz="2000" b="1" dirty="0">
                <a:solidFill>
                  <a:schemeClr val="tx2"/>
                </a:solidFill>
              </a:rPr>
              <a:t>SQLite</a:t>
            </a:r>
            <a:endParaRPr lang="en-US" sz="2000" dirty="0"/>
          </a:p>
        </p:txBody>
      </p:sp>
      <p:sp>
        <p:nvSpPr>
          <p:cNvPr id="32" name="Text 25"/>
          <p:cNvSpPr txBox="1"/>
          <p:nvPr/>
        </p:nvSpPr>
        <p:spPr>
          <a:xfrm>
            <a:off x="9729216" y="3063240"/>
            <a:ext cx="1700784" cy="274320"/>
          </a:xfrm>
          <a:prstGeom prst="rect">
            <a:avLst/>
          </a:prstGeom>
          <a:noFill/>
          <a:ln/>
        </p:spPr>
        <p:txBody>
          <a:bodyPr wrap="square" lIns="0" tIns="0" rIns="0" bIns="0" rtlCol="0" anchor="ctr"/>
          <a:lstStyle/>
          <a:p>
            <a:pPr marL="0" indent="0">
              <a:buNone/>
            </a:pPr>
            <a:r>
              <a:rPr lang="en-US" sz="1100" b="1" kern="0" spc="200" dirty="0">
                <a:solidFill>
                  <a:schemeClr val="accent1"/>
                </a:solidFill>
              </a:rPr>
              <a:t>LOCAL DATABASE</a:t>
            </a:r>
            <a:endParaRPr lang="en-US" sz="1100" dirty="0"/>
          </a:p>
        </p:txBody>
      </p:sp>
      <p:sp>
        <p:nvSpPr>
          <p:cNvPr id="33" name="Text 26"/>
          <p:cNvSpPr txBox="1"/>
          <p:nvPr/>
        </p:nvSpPr>
        <p:spPr>
          <a:xfrm>
            <a:off x="9729216" y="3383280"/>
            <a:ext cx="1700784" cy="1280160"/>
          </a:xfrm>
          <a:prstGeom prst="rect">
            <a:avLst/>
          </a:prstGeom>
          <a:noFill/>
          <a:ln/>
        </p:spPr>
        <p:txBody>
          <a:bodyPr wrap="square" lIns="0" tIns="0" rIns="0" bIns="0" rtlCol="0" anchor="t"/>
          <a:lstStyle/>
          <a:p>
            <a:pPr marL="0" indent="0">
              <a:buNone/>
            </a:pPr>
            <a:r>
              <a:rPr lang="en-US" sz="1400" dirty="0">
                <a:solidFill>
                  <a:schemeClr val="tx1"/>
                </a:solidFill>
              </a:rPr>
              <a:t>Stores projects, risks, recommendations and reports. No server needed.</a:t>
            </a:r>
            <a:endParaRPr lang="en-US" sz="1400" dirty="0"/>
          </a:p>
        </p:txBody>
      </p:sp>
      <p:sp>
        <p:nvSpPr>
          <p:cNvPr id="34" name="Deployment band"/>
          <p:cNvSpPr/>
          <p:nvPr/>
        </p:nvSpPr>
        <p:spPr>
          <a:xfrm>
            <a:off x="548640" y="5029200"/>
            <a:ext cx="11091672" cy="1188720"/>
          </a:xfrm>
          <a:prstGeom prst="roundRect">
            <a:avLst>
              <a:gd name="adj" fmla="val 9231"/>
            </a:avLst>
          </a:prstGeom>
          <a:solidFill>
            <a:schemeClr val="tx2"/>
          </a:solidFill>
          <a:ln/>
        </p:spPr>
      </p:sp>
      <p:sp>
        <p:nvSpPr>
          <p:cNvPr id="35" name="Cloud circle"/>
          <p:cNvSpPr/>
          <p:nvPr/>
        </p:nvSpPr>
        <p:spPr>
          <a:xfrm>
            <a:off x="822960" y="5349240"/>
            <a:ext cx="548640" cy="548640"/>
          </a:xfrm>
          <a:prstGeom prst="ellipse">
            <a:avLst/>
          </a:prstGeom>
          <a:solidFill>
            <a:schemeClr val="accent1"/>
          </a:solidFill>
          <a:ln/>
        </p:spPr>
      </p:sp>
      <p:pic>
        <p:nvPicPr>
          <p:cNvPr id="36" name="Image 5" descr="Cloud"/>
          <p:cNvPicPr>
            <a:picLocks noChangeAspect="1"/>
          </p:cNvPicPr>
          <p:nvPr/>
        </p:nvPicPr>
        <p:blipFill>
          <a:blip r:embed="rId8"/>
          <a:stretch>
            <a:fillRect/>
          </a:stretch>
        </p:blipFill>
        <p:spPr>
          <a:xfrm>
            <a:off x="954634" y="5480914"/>
            <a:ext cx="285293" cy="285293"/>
          </a:xfrm>
          <a:prstGeom prst="rect">
            <a:avLst/>
          </a:prstGeom>
        </p:spPr>
      </p:pic>
      <p:sp>
        <p:nvSpPr>
          <p:cNvPr id="37" name="Text 29"/>
          <p:cNvSpPr txBox="1"/>
          <p:nvPr/>
        </p:nvSpPr>
        <p:spPr>
          <a:xfrm>
            <a:off x="1600200" y="5303520"/>
            <a:ext cx="4206240" cy="365760"/>
          </a:xfrm>
          <a:prstGeom prst="rect">
            <a:avLst/>
          </a:prstGeom>
          <a:noFill/>
          <a:ln/>
        </p:spPr>
        <p:txBody>
          <a:bodyPr wrap="square" lIns="0" tIns="0" rIns="0" bIns="0" rtlCol="0" anchor="ctr"/>
          <a:lstStyle/>
          <a:p>
            <a:pPr marL="0" indent="0">
              <a:buNone/>
            </a:pPr>
            <a:r>
              <a:rPr lang="en-US" sz="2000" b="1" dirty="0">
                <a:solidFill>
                  <a:schemeClr val="bg1"/>
                </a:solidFill>
              </a:rPr>
              <a:t>Deployed on Streamlit Cloud</a:t>
            </a:r>
            <a:endParaRPr lang="en-US" sz="2000" dirty="0"/>
          </a:p>
        </p:txBody>
      </p:sp>
      <p:sp>
        <p:nvSpPr>
          <p:cNvPr id="38" name="Text 30"/>
          <p:cNvSpPr txBox="1"/>
          <p:nvPr/>
        </p:nvSpPr>
        <p:spPr>
          <a:xfrm>
            <a:off x="1600200" y="5687568"/>
            <a:ext cx="4206240" cy="320040"/>
          </a:xfrm>
          <a:prstGeom prst="rect">
            <a:avLst/>
          </a:prstGeom>
          <a:noFill/>
          <a:ln/>
        </p:spPr>
        <p:txBody>
          <a:bodyPr wrap="square" lIns="0" tIns="0" rIns="0" bIns="0" rtlCol="0" anchor="ctr"/>
          <a:lstStyle/>
          <a:p>
            <a:pPr marL="0" indent="0">
              <a:buNone/>
            </a:pPr>
            <a:r>
              <a:rPr lang="en-US" sz="1400" b="1" u="sng" dirty="0">
                <a:solidFill>
                  <a:schemeClr val="accent3"/>
                </a:solidFill>
              </a:rPr>
              <a:t>https://prediction-ai-app.streamlit.app/</a:t>
            </a:r>
            <a:endParaRPr lang="en-US" sz="1400" dirty="0"/>
          </a:p>
        </p:txBody>
      </p:sp>
      <p:sp>
        <p:nvSpPr>
          <p:cNvPr id="39" name="Link hit area">
            <a:hlinkClick r:id="rId9"/>
          </p:cNvPr>
          <p:cNvSpPr/>
          <p:nvPr/>
        </p:nvSpPr>
        <p:spPr>
          <a:xfrm>
            <a:off x="1600200" y="5669280"/>
            <a:ext cx="4206240" cy="365760"/>
          </a:xfrm>
          <a:prstGeom prst="rect">
            <a:avLst/>
          </a:prstGeom>
          <a:solidFill>
            <a:schemeClr val="bg1">
              <a:alpha val="0"/>
            </a:schemeClr>
          </a:solidFill>
          <a:ln/>
        </p:spPr>
      </p:sp>
      <p:sp>
        <p:nvSpPr>
          <p:cNvPr id="40" name="Text 32"/>
          <p:cNvSpPr txBox="1"/>
          <p:nvPr/>
        </p:nvSpPr>
        <p:spPr>
          <a:xfrm>
            <a:off x="6309360" y="5212080"/>
            <a:ext cx="5029200" cy="822960"/>
          </a:xfrm>
          <a:prstGeom prst="rect">
            <a:avLst/>
          </a:prstGeom>
          <a:noFill/>
          <a:ln/>
        </p:spPr>
        <p:txBody>
          <a:bodyPr wrap="square" lIns="0" tIns="0" rIns="0" bIns="0" rtlCol="0" anchor="ctr"/>
          <a:lstStyle/>
          <a:p>
            <a:pPr marL="0" indent="0">
              <a:buNone/>
            </a:pPr>
            <a:r>
              <a:rPr lang="en-US" sz="1400" dirty="0">
                <a:solidFill>
                  <a:schemeClr val="bg2"/>
                </a:solidFill>
              </a:rPr>
              <a:t>A Streamlit front end, Gemini reasoning orchestrated by LangGraph, and results stored in SQLite, all in one Python app.</a:t>
            </a:r>
            <a:endParaRPr lang="en-US" sz="1400" dirty="0"/>
          </a:p>
        </p:txBody>
      </p:sp>
      <p:sp>
        <p:nvSpPr>
          <p:cNvPr id="41"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Tech Stack Evolution</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How the tools changed as the project grew</a:t>
            </a:r>
            <a:endParaRPr lang="en-US" sz="1600" dirty="0"/>
          </a:p>
        </p:txBody>
      </p:sp>
      <p:sp>
        <p:nvSpPr>
          <p:cNvPr id="4" name="Text 2"/>
          <p:cNvSpPr txBox="1"/>
          <p:nvPr/>
        </p:nvSpPr>
        <p:spPr>
          <a:xfrm>
            <a:off x="2926080" y="1572768"/>
            <a:ext cx="283464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INTERFACE</a:t>
            </a:r>
            <a:endParaRPr lang="en-US" sz="1200" dirty="0"/>
          </a:p>
        </p:txBody>
      </p:sp>
      <p:sp>
        <p:nvSpPr>
          <p:cNvPr id="5" name="Text 3"/>
          <p:cNvSpPr txBox="1"/>
          <p:nvPr/>
        </p:nvSpPr>
        <p:spPr>
          <a:xfrm>
            <a:off x="5852160" y="1572768"/>
            <a:ext cx="283464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DATA</a:t>
            </a:r>
            <a:endParaRPr lang="en-US" sz="1200" dirty="0"/>
          </a:p>
        </p:txBody>
      </p:sp>
      <p:sp>
        <p:nvSpPr>
          <p:cNvPr id="6" name="Text 4"/>
          <p:cNvSpPr txBox="1"/>
          <p:nvPr/>
        </p:nvSpPr>
        <p:spPr>
          <a:xfrm>
            <a:off x="8778240" y="1572768"/>
            <a:ext cx="283464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INTELLIGENCE</a:t>
            </a:r>
            <a:endParaRPr lang="en-US" sz="1200" dirty="0"/>
          </a:p>
        </p:txBody>
      </p:sp>
      <p:sp>
        <p:nvSpPr>
          <p:cNvPr id="7" name="Evolution label 1"/>
          <p:cNvSpPr/>
          <p:nvPr/>
        </p:nvSpPr>
        <p:spPr>
          <a:xfrm>
            <a:off x="548640" y="1920240"/>
            <a:ext cx="2286000" cy="932688"/>
          </a:xfrm>
          <a:prstGeom prst="roundRect">
            <a:avLst>
              <a:gd name="adj" fmla="val 11765"/>
            </a:avLst>
          </a:prstGeom>
          <a:solidFill>
            <a:schemeClr val="accent1"/>
          </a:solidFill>
          <a:ln/>
        </p:spPr>
      </p:sp>
      <p:sp>
        <p:nvSpPr>
          <p:cNvPr id="8" name="Text 6"/>
          <p:cNvSpPr txBox="1"/>
          <p:nvPr/>
        </p:nvSpPr>
        <p:spPr>
          <a:xfrm>
            <a:off x="548640" y="1920240"/>
            <a:ext cx="2286000" cy="932688"/>
          </a:xfrm>
          <a:prstGeom prst="rect">
            <a:avLst/>
          </a:prstGeom>
          <a:noFill/>
          <a:ln/>
        </p:spPr>
        <p:txBody>
          <a:bodyPr wrap="square" lIns="0" tIns="0" rIns="0" bIns="0" rtlCol="0" anchor="ctr"/>
          <a:lstStyle/>
          <a:p>
            <a:pPr marL="0" indent="0" algn="ctr">
              <a:buNone/>
            </a:pPr>
            <a:r>
              <a:rPr lang="en-US" sz="1700" b="1" dirty="0">
                <a:solidFill>
                  <a:schemeClr val="bg1"/>
                </a:solidFill>
              </a:rPr>
              <a:t>Data collection</a:t>
            </a:r>
            <a:endParaRPr lang="en-US" sz="1700" dirty="0"/>
          </a:p>
        </p:txBody>
      </p:sp>
      <p:sp>
        <p:nvSpPr>
          <p:cNvPr id="9" name="Evolution cell 1-1"/>
          <p:cNvSpPr/>
          <p:nvPr/>
        </p:nvSpPr>
        <p:spPr>
          <a:xfrm>
            <a:off x="2926080" y="1920240"/>
            <a:ext cx="2834640" cy="932688"/>
          </a:xfrm>
          <a:prstGeom prst="roundRect">
            <a:avLst>
              <a:gd name="adj" fmla="val 11765"/>
            </a:avLst>
          </a:prstGeom>
          <a:solidFill>
            <a:schemeClr val="bg1"/>
          </a:solidFill>
          <a:ln/>
          <a:effectLst>
            <a:outerShdw blurRad="101600" dist="25400" dir="5400000" algn="bl" rotWithShape="0">
              <a:srgbClr val="0B1630">
                <a:alpha val="12000"/>
              </a:srgbClr>
            </a:outerShdw>
          </a:effectLst>
        </p:spPr>
      </p:sp>
      <p:sp>
        <p:nvSpPr>
          <p:cNvPr id="10" name="Text 8"/>
          <p:cNvSpPr txBox="1"/>
          <p:nvPr/>
        </p:nvSpPr>
        <p:spPr>
          <a:xfrm>
            <a:off x="3063240" y="1920240"/>
            <a:ext cx="2560320" cy="932688"/>
          </a:xfrm>
          <a:prstGeom prst="rect">
            <a:avLst/>
          </a:prstGeom>
          <a:noFill/>
          <a:ln/>
        </p:spPr>
        <p:txBody>
          <a:bodyPr wrap="square" lIns="0" tIns="0" rIns="0" bIns="0" rtlCol="0" anchor="ctr"/>
          <a:lstStyle/>
          <a:p>
            <a:pPr marL="0" indent="0">
              <a:buNone/>
            </a:pPr>
            <a:r>
              <a:rPr lang="en-US" sz="1400" dirty="0">
                <a:solidFill>
                  <a:schemeClr val="tx1"/>
                </a:solidFill>
              </a:rPr>
              <a:t>Flask + Jinja templates</a:t>
            </a:r>
            <a:endParaRPr lang="en-US" sz="1400" dirty="0"/>
          </a:p>
        </p:txBody>
      </p:sp>
      <p:sp>
        <p:nvSpPr>
          <p:cNvPr id="11" name="Evolution cell 1-2"/>
          <p:cNvSpPr/>
          <p:nvPr/>
        </p:nvSpPr>
        <p:spPr>
          <a:xfrm>
            <a:off x="5852160" y="1920240"/>
            <a:ext cx="2834640" cy="932688"/>
          </a:xfrm>
          <a:prstGeom prst="roundRect">
            <a:avLst>
              <a:gd name="adj" fmla="val 11765"/>
            </a:avLst>
          </a:prstGeom>
          <a:solidFill>
            <a:schemeClr val="bg1"/>
          </a:solidFill>
          <a:ln/>
          <a:effectLst>
            <a:outerShdw blurRad="101600" dist="25400" dir="5400000" algn="bl" rotWithShape="0">
              <a:srgbClr val="0B1630">
                <a:alpha val="12000"/>
              </a:srgbClr>
            </a:outerShdw>
          </a:effectLst>
        </p:spPr>
      </p:sp>
      <p:sp>
        <p:nvSpPr>
          <p:cNvPr id="12" name="Text 10"/>
          <p:cNvSpPr txBox="1"/>
          <p:nvPr/>
        </p:nvSpPr>
        <p:spPr>
          <a:xfrm>
            <a:off x="5989320" y="1920240"/>
            <a:ext cx="2560320" cy="932688"/>
          </a:xfrm>
          <a:prstGeom prst="rect">
            <a:avLst/>
          </a:prstGeom>
          <a:noFill/>
          <a:ln/>
        </p:spPr>
        <p:txBody>
          <a:bodyPr wrap="square" lIns="0" tIns="0" rIns="0" bIns="0" rtlCol="0" anchor="ctr"/>
          <a:lstStyle/>
          <a:p>
            <a:pPr marL="0" indent="0">
              <a:buNone/>
            </a:pPr>
            <a:r>
              <a:rPr lang="en-US" sz="1400" dirty="0">
                <a:solidFill>
                  <a:schemeClr val="tx1"/>
                </a:solidFill>
              </a:rPr>
              <a:t>PostgreSQL, psycopg2, Pandas</a:t>
            </a:r>
            <a:endParaRPr lang="en-US" sz="1400" dirty="0"/>
          </a:p>
        </p:txBody>
      </p:sp>
      <p:sp>
        <p:nvSpPr>
          <p:cNvPr id="13" name="Evolution cell 1-3"/>
          <p:cNvSpPr/>
          <p:nvPr/>
        </p:nvSpPr>
        <p:spPr>
          <a:xfrm>
            <a:off x="8778240" y="1920240"/>
            <a:ext cx="2834640" cy="932688"/>
          </a:xfrm>
          <a:prstGeom prst="roundRect">
            <a:avLst>
              <a:gd name="adj" fmla="val 11765"/>
            </a:avLst>
          </a:prstGeom>
          <a:solidFill>
            <a:schemeClr val="bg1"/>
          </a:solidFill>
          <a:ln/>
          <a:effectLst>
            <a:outerShdw blurRad="101600" dist="25400" dir="5400000" algn="bl" rotWithShape="0">
              <a:srgbClr val="0B1630">
                <a:alpha val="12000"/>
              </a:srgbClr>
            </a:outerShdw>
          </a:effectLst>
        </p:spPr>
      </p:sp>
      <p:sp>
        <p:nvSpPr>
          <p:cNvPr id="14" name="Text 12"/>
          <p:cNvSpPr txBox="1"/>
          <p:nvPr/>
        </p:nvSpPr>
        <p:spPr>
          <a:xfrm>
            <a:off x="8915400" y="1920240"/>
            <a:ext cx="2560320" cy="932688"/>
          </a:xfrm>
          <a:prstGeom prst="rect">
            <a:avLst/>
          </a:prstGeom>
          <a:noFill/>
          <a:ln/>
        </p:spPr>
        <p:txBody>
          <a:bodyPr wrap="square" lIns="0" tIns="0" rIns="0" bIns="0" rtlCol="0" anchor="ctr"/>
          <a:lstStyle/>
          <a:p>
            <a:pPr marL="0" indent="0">
              <a:buNone/>
            </a:pPr>
            <a:r>
              <a:rPr lang="en-US" sz="1400" dirty="0">
                <a:solidFill>
                  <a:schemeClr val="tx1"/>
                </a:solidFill>
              </a:rPr>
              <a:t>Gemini / OpenAI and LangGraph planned</a:t>
            </a:r>
            <a:endParaRPr lang="en-US" sz="1400" dirty="0"/>
          </a:p>
        </p:txBody>
      </p:sp>
      <p:sp>
        <p:nvSpPr>
          <p:cNvPr id="15" name="Evolution label 2"/>
          <p:cNvSpPr/>
          <p:nvPr/>
        </p:nvSpPr>
        <p:spPr>
          <a:xfrm>
            <a:off x="548640" y="2999232"/>
            <a:ext cx="2286000" cy="932688"/>
          </a:xfrm>
          <a:prstGeom prst="roundRect">
            <a:avLst>
              <a:gd name="adj" fmla="val 11765"/>
            </a:avLst>
          </a:prstGeom>
          <a:solidFill>
            <a:schemeClr val="accent6"/>
          </a:solidFill>
          <a:ln/>
        </p:spPr>
      </p:sp>
      <p:sp>
        <p:nvSpPr>
          <p:cNvPr id="16" name="Text 14"/>
          <p:cNvSpPr txBox="1"/>
          <p:nvPr/>
        </p:nvSpPr>
        <p:spPr>
          <a:xfrm>
            <a:off x="548640" y="2999232"/>
            <a:ext cx="2286000" cy="932688"/>
          </a:xfrm>
          <a:prstGeom prst="rect">
            <a:avLst/>
          </a:prstGeom>
          <a:noFill/>
          <a:ln/>
        </p:spPr>
        <p:txBody>
          <a:bodyPr wrap="square" lIns="0" tIns="0" rIns="0" bIns="0" rtlCol="0" anchor="ctr"/>
          <a:lstStyle/>
          <a:p>
            <a:pPr marL="0" indent="0" algn="ctr">
              <a:buNone/>
            </a:pPr>
            <a:r>
              <a:rPr lang="en-US" sz="1700" b="1" dirty="0">
                <a:solidFill>
                  <a:schemeClr val="bg1"/>
                </a:solidFill>
              </a:rPr>
              <a:t>Risk &amp; SWOT</a:t>
            </a:r>
            <a:endParaRPr lang="en-US" sz="1700" dirty="0"/>
          </a:p>
        </p:txBody>
      </p:sp>
      <p:sp>
        <p:nvSpPr>
          <p:cNvPr id="17" name="Evolution cell 2-1"/>
          <p:cNvSpPr/>
          <p:nvPr/>
        </p:nvSpPr>
        <p:spPr>
          <a:xfrm>
            <a:off x="2926080" y="2999232"/>
            <a:ext cx="2834640" cy="932688"/>
          </a:xfrm>
          <a:prstGeom prst="roundRect">
            <a:avLst>
              <a:gd name="adj" fmla="val 11765"/>
            </a:avLst>
          </a:prstGeom>
          <a:solidFill>
            <a:schemeClr val="bg1"/>
          </a:solidFill>
          <a:ln/>
          <a:effectLst>
            <a:outerShdw blurRad="101600" dist="25400" dir="5400000" algn="bl" rotWithShape="0">
              <a:srgbClr val="0B1630">
                <a:alpha val="12000"/>
              </a:srgbClr>
            </a:outerShdw>
          </a:effectLst>
        </p:spPr>
      </p:sp>
      <p:sp>
        <p:nvSpPr>
          <p:cNvPr id="18" name="Text 16"/>
          <p:cNvSpPr txBox="1"/>
          <p:nvPr/>
        </p:nvSpPr>
        <p:spPr>
          <a:xfrm>
            <a:off x="3063240" y="2999232"/>
            <a:ext cx="2560320" cy="932688"/>
          </a:xfrm>
          <a:prstGeom prst="rect">
            <a:avLst/>
          </a:prstGeom>
          <a:noFill/>
          <a:ln/>
        </p:spPr>
        <p:txBody>
          <a:bodyPr wrap="square" lIns="0" tIns="0" rIns="0" bIns="0" rtlCol="0" anchor="ctr"/>
          <a:lstStyle/>
          <a:p>
            <a:pPr marL="0" indent="0">
              <a:buNone/>
            </a:pPr>
            <a:r>
              <a:rPr lang="en-US" sz="1400" dirty="0">
                <a:solidFill>
                  <a:schemeClr val="tx1"/>
                </a:solidFill>
              </a:rPr>
              <a:t>Streamlit: selectboxes, sliders, metrics</a:t>
            </a:r>
            <a:endParaRPr lang="en-US" sz="1400" dirty="0"/>
          </a:p>
        </p:txBody>
      </p:sp>
      <p:sp>
        <p:nvSpPr>
          <p:cNvPr id="19" name="Evolution cell 2-2"/>
          <p:cNvSpPr/>
          <p:nvPr/>
        </p:nvSpPr>
        <p:spPr>
          <a:xfrm>
            <a:off x="5852160" y="2999232"/>
            <a:ext cx="2834640" cy="932688"/>
          </a:xfrm>
          <a:prstGeom prst="roundRect">
            <a:avLst>
              <a:gd name="adj" fmla="val 11765"/>
            </a:avLst>
          </a:prstGeom>
          <a:solidFill>
            <a:schemeClr val="bg1"/>
          </a:solidFill>
          <a:ln/>
          <a:effectLst>
            <a:outerShdw blurRad="101600" dist="25400" dir="5400000" algn="bl" rotWithShape="0">
              <a:srgbClr val="0B1630">
                <a:alpha val="12000"/>
              </a:srgbClr>
            </a:outerShdw>
          </a:effectLst>
        </p:spPr>
      </p:sp>
      <p:sp>
        <p:nvSpPr>
          <p:cNvPr id="20" name="Text 18"/>
          <p:cNvSpPr txBox="1"/>
          <p:nvPr/>
        </p:nvSpPr>
        <p:spPr>
          <a:xfrm>
            <a:off x="5989320" y="2999232"/>
            <a:ext cx="2560320" cy="932688"/>
          </a:xfrm>
          <a:prstGeom prst="rect">
            <a:avLst/>
          </a:prstGeom>
          <a:noFill/>
          <a:ln/>
        </p:spPr>
        <p:txBody>
          <a:bodyPr wrap="square" lIns="0" tIns="0" rIns="0" bIns="0" rtlCol="0" anchor="ctr"/>
          <a:lstStyle/>
          <a:p>
            <a:pPr marL="0" indent="0">
              <a:buNone/>
            </a:pPr>
            <a:r>
              <a:rPr lang="en-US" sz="1400" dirty="0">
                <a:solidFill>
                  <a:schemeClr val="tx1"/>
                </a:solidFill>
              </a:rPr>
              <a:t>Risk, SWOT and prediction tables</a:t>
            </a:r>
            <a:endParaRPr lang="en-US" sz="1400" dirty="0"/>
          </a:p>
        </p:txBody>
      </p:sp>
      <p:sp>
        <p:nvSpPr>
          <p:cNvPr id="21" name="Evolution cell 2-3"/>
          <p:cNvSpPr/>
          <p:nvPr/>
        </p:nvSpPr>
        <p:spPr>
          <a:xfrm>
            <a:off x="8778240" y="2999232"/>
            <a:ext cx="2834640" cy="932688"/>
          </a:xfrm>
          <a:prstGeom prst="roundRect">
            <a:avLst>
              <a:gd name="adj" fmla="val 11765"/>
            </a:avLst>
          </a:prstGeom>
          <a:solidFill>
            <a:schemeClr val="bg1"/>
          </a:solidFill>
          <a:ln/>
          <a:effectLst>
            <a:outerShdw blurRad="101600" dist="25400" dir="5400000" algn="bl" rotWithShape="0">
              <a:srgbClr val="0B1630">
                <a:alpha val="12000"/>
              </a:srgbClr>
            </a:outerShdw>
          </a:effectLst>
        </p:spPr>
      </p:sp>
      <p:sp>
        <p:nvSpPr>
          <p:cNvPr id="22" name="Text 20"/>
          <p:cNvSpPr txBox="1"/>
          <p:nvPr/>
        </p:nvSpPr>
        <p:spPr>
          <a:xfrm>
            <a:off x="8915400" y="2999232"/>
            <a:ext cx="2560320" cy="932688"/>
          </a:xfrm>
          <a:prstGeom prst="rect">
            <a:avLst/>
          </a:prstGeom>
          <a:noFill/>
          <a:ln/>
        </p:spPr>
        <p:txBody>
          <a:bodyPr wrap="square" lIns="0" tIns="0" rIns="0" bIns="0" rtlCol="0" anchor="ctr"/>
          <a:lstStyle/>
          <a:p>
            <a:pPr marL="0" indent="0">
              <a:buNone/>
            </a:pPr>
            <a:r>
              <a:rPr lang="en-US" sz="1400" dirty="0">
                <a:solidFill>
                  <a:schemeClr val="tx1"/>
                </a:solidFill>
              </a:rPr>
              <a:t>Rule-based risk, SWOT and feasibility engines</a:t>
            </a:r>
            <a:endParaRPr lang="en-US" sz="1400" dirty="0"/>
          </a:p>
        </p:txBody>
      </p:sp>
      <p:sp>
        <p:nvSpPr>
          <p:cNvPr id="23" name="Evolution label 3"/>
          <p:cNvSpPr/>
          <p:nvPr/>
        </p:nvSpPr>
        <p:spPr>
          <a:xfrm>
            <a:off x="548640" y="4078224"/>
            <a:ext cx="2286000" cy="932688"/>
          </a:xfrm>
          <a:prstGeom prst="roundRect">
            <a:avLst>
              <a:gd name="adj" fmla="val 11765"/>
            </a:avLst>
          </a:prstGeom>
          <a:solidFill>
            <a:schemeClr val="accent4"/>
          </a:solidFill>
          <a:ln/>
        </p:spPr>
      </p:sp>
      <p:sp>
        <p:nvSpPr>
          <p:cNvPr id="24" name="Text 22"/>
          <p:cNvSpPr txBox="1"/>
          <p:nvPr/>
        </p:nvSpPr>
        <p:spPr>
          <a:xfrm>
            <a:off x="548640" y="4078224"/>
            <a:ext cx="2286000" cy="932688"/>
          </a:xfrm>
          <a:prstGeom prst="rect">
            <a:avLst/>
          </a:prstGeom>
          <a:noFill/>
          <a:ln/>
        </p:spPr>
        <p:txBody>
          <a:bodyPr wrap="square" lIns="0" tIns="0" rIns="0" bIns="0" rtlCol="0" anchor="ctr"/>
          <a:lstStyle/>
          <a:p>
            <a:pPr marL="0" indent="0" algn="ctr">
              <a:buNone/>
            </a:pPr>
            <a:r>
              <a:rPr lang="en-US" sz="1700" b="1" dirty="0">
                <a:solidFill>
                  <a:schemeClr val="bg1"/>
                </a:solidFill>
              </a:rPr>
              <a:t>Recommendations</a:t>
            </a:r>
            <a:endParaRPr lang="en-US" sz="1700" dirty="0"/>
          </a:p>
        </p:txBody>
      </p:sp>
      <p:sp>
        <p:nvSpPr>
          <p:cNvPr id="25" name="Evolution cell 3-1"/>
          <p:cNvSpPr/>
          <p:nvPr/>
        </p:nvSpPr>
        <p:spPr>
          <a:xfrm>
            <a:off x="2926080" y="4078224"/>
            <a:ext cx="2834640" cy="932688"/>
          </a:xfrm>
          <a:prstGeom prst="roundRect">
            <a:avLst>
              <a:gd name="adj" fmla="val 11765"/>
            </a:avLst>
          </a:prstGeom>
          <a:solidFill>
            <a:schemeClr val="bg1"/>
          </a:solidFill>
          <a:ln/>
          <a:effectLst>
            <a:outerShdw blurRad="101600" dist="25400" dir="5400000" algn="bl" rotWithShape="0">
              <a:srgbClr val="0B1630">
                <a:alpha val="12000"/>
              </a:srgbClr>
            </a:outerShdw>
          </a:effectLst>
        </p:spPr>
      </p:sp>
      <p:sp>
        <p:nvSpPr>
          <p:cNvPr id="26" name="Text 24"/>
          <p:cNvSpPr txBox="1"/>
          <p:nvPr/>
        </p:nvSpPr>
        <p:spPr>
          <a:xfrm>
            <a:off x="3063240" y="4078224"/>
            <a:ext cx="2560320" cy="932688"/>
          </a:xfrm>
          <a:prstGeom prst="rect">
            <a:avLst/>
          </a:prstGeom>
          <a:noFill/>
          <a:ln/>
        </p:spPr>
        <p:txBody>
          <a:bodyPr wrap="square" lIns="0" tIns="0" rIns="0" bIns="0" rtlCol="0" anchor="ctr"/>
          <a:lstStyle/>
          <a:p>
            <a:pPr marL="0" indent="0">
              <a:buNone/>
            </a:pPr>
            <a:r>
              <a:rPr lang="en-US" sz="1400" dirty="0">
                <a:solidFill>
                  <a:schemeClr val="tx1"/>
                </a:solidFill>
              </a:rPr>
              <a:t>Streamlit tabs</a:t>
            </a:r>
            <a:endParaRPr lang="en-US" sz="1400" dirty="0"/>
          </a:p>
        </p:txBody>
      </p:sp>
      <p:sp>
        <p:nvSpPr>
          <p:cNvPr id="27" name="Evolution cell 3-2"/>
          <p:cNvSpPr/>
          <p:nvPr/>
        </p:nvSpPr>
        <p:spPr>
          <a:xfrm>
            <a:off x="5852160" y="4078224"/>
            <a:ext cx="2834640" cy="932688"/>
          </a:xfrm>
          <a:prstGeom prst="roundRect">
            <a:avLst>
              <a:gd name="adj" fmla="val 11765"/>
            </a:avLst>
          </a:prstGeom>
          <a:solidFill>
            <a:schemeClr val="bg1"/>
          </a:solidFill>
          <a:ln/>
          <a:effectLst>
            <a:outerShdw blurRad="101600" dist="25400" dir="5400000" algn="bl" rotWithShape="0">
              <a:srgbClr val="0B1630">
                <a:alpha val="12000"/>
              </a:srgbClr>
            </a:outerShdw>
          </a:effectLst>
        </p:spPr>
      </p:sp>
      <p:sp>
        <p:nvSpPr>
          <p:cNvPr id="28" name="Text 26"/>
          <p:cNvSpPr txBox="1"/>
          <p:nvPr/>
        </p:nvSpPr>
        <p:spPr>
          <a:xfrm>
            <a:off x="5989320" y="4078224"/>
            <a:ext cx="2560320" cy="932688"/>
          </a:xfrm>
          <a:prstGeom prst="rect">
            <a:avLst/>
          </a:prstGeom>
          <a:noFill/>
          <a:ln/>
        </p:spPr>
        <p:txBody>
          <a:bodyPr wrap="square" lIns="0" tIns="0" rIns="0" bIns="0" rtlCol="0" anchor="ctr"/>
          <a:lstStyle/>
          <a:p>
            <a:pPr marL="0" indent="0">
              <a:buNone/>
            </a:pPr>
            <a:r>
              <a:rPr lang="en-US" sz="1400" dirty="0">
                <a:solidFill>
                  <a:schemeClr val="tx1"/>
                </a:solidFill>
              </a:rPr>
              <a:t>SQLite with five linked tables</a:t>
            </a:r>
            <a:endParaRPr lang="en-US" sz="1400" dirty="0"/>
          </a:p>
        </p:txBody>
      </p:sp>
      <p:sp>
        <p:nvSpPr>
          <p:cNvPr id="29" name="Evolution cell 3-3"/>
          <p:cNvSpPr/>
          <p:nvPr/>
        </p:nvSpPr>
        <p:spPr>
          <a:xfrm>
            <a:off x="8778240" y="4078224"/>
            <a:ext cx="2834640" cy="932688"/>
          </a:xfrm>
          <a:prstGeom prst="roundRect">
            <a:avLst>
              <a:gd name="adj" fmla="val 11765"/>
            </a:avLst>
          </a:prstGeom>
          <a:solidFill>
            <a:schemeClr val="bg1"/>
          </a:solidFill>
          <a:ln/>
          <a:effectLst>
            <a:outerShdw blurRad="101600" dist="25400" dir="5400000" algn="bl" rotWithShape="0">
              <a:srgbClr val="0B1630">
                <a:alpha val="12000"/>
              </a:srgbClr>
            </a:outerShdw>
          </a:effectLst>
        </p:spPr>
      </p:sp>
      <p:sp>
        <p:nvSpPr>
          <p:cNvPr id="30" name="Text 28"/>
          <p:cNvSpPr txBox="1"/>
          <p:nvPr/>
        </p:nvSpPr>
        <p:spPr>
          <a:xfrm>
            <a:off x="8915400" y="4078224"/>
            <a:ext cx="2560320" cy="932688"/>
          </a:xfrm>
          <a:prstGeom prst="rect">
            <a:avLst/>
          </a:prstGeom>
          <a:noFill/>
          <a:ln/>
        </p:spPr>
        <p:txBody>
          <a:bodyPr wrap="square" lIns="0" tIns="0" rIns="0" bIns="0" rtlCol="0" anchor="ctr"/>
          <a:lstStyle/>
          <a:p>
            <a:pPr marL="0" indent="0">
              <a:buNone/>
            </a:pPr>
            <a:r>
              <a:rPr lang="en-US" sz="1400" dirty="0">
                <a:solidFill>
                  <a:schemeClr val="tx1"/>
                </a:solidFill>
              </a:rPr>
              <a:t>Gemini plus a six-node LangGraph agent</a:t>
            </a:r>
            <a:endParaRPr lang="en-US" sz="1400" dirty="0"/>
          </a:p>
        </p:txBody>
      </p:sp>
      <p:sp>
        <p:nvSpPr>
          <p:cNvPr id="31" name="Evolution label 4"/>
          <p:cNvSpPr/>
          <p:nvPr/>
        </p:nvSpPr>
        <p:spPr>
          <a:xfrm>
            <a:off x="548640" y="5157216"/>
            <a:ext cx="2286000" cy="932688"/>
          </a:xfrm>
          <a:prstGeom prst="roundRect">
            <a:avLst>
              <a:gd name="adj" fmla="val 11765"/>
            </a:avLst>
          </a:prstGeom>
          <a:solidFill>
            <a:schemeClr val="accent3"/>
          </a:solidFill>
          <a:ln/>
        </p:spPr>
      </p:sp>
      <p:sp>
        <p:nvSpPr>
          <p:cNvPr id="32" name="Text 30"/>
          <p:cNvSpPr txBox="1"/>
          <p:nvPr/>
        </p:nvSpPr>
        <p:spPr>
          <a:xfrm>
            <a:off x="548640" y="5157216"/>
            <a:ext cx="2286000" cy="932688"/>
          </a:xfrm>
          <a:prstGeom prst="rect">
            <a:avLst/>
          </a:prstGeom>
          <a:noFill/>
          <a:ln/>
        </p:spPr>
        <p:txBody>
          <a:bodyPr wrap="square" lIns="0" tIns="0" rIns="0" bIns="0" rtlCol="0" anchor="ctr"/>
          <a:lstStyle/>
          <a:p>
            <a:pPr marL="0" indent="0" algn="ctr">
              <a:buNone/>
            </a:pPr>
            <a:r>
              <a:rPr lang="en-US" sz="1700" b="1" dirty="0">
                <a:solidFill>
                  <a:schemeClr val="tx1"/>
                </a:solidFill>
              </a:rPr>
              <a:t>Dashboard &amp; launch</a:t>
            </a:r>
            <a:endParaRPr lang="en-US" sz="1700" dirty="0"/>
          </a:p>
        </p:txBody>
      </p:sp>
      <p:sp>
        <p:nvSpPr>
          <p:cNvPr id="33" name="Evolution cell 4-1"/>
          <p:cNvSpPr/>
          <p:nvPr/>
        </p:nvSpPr>
        <p:spPr>
          <a:xfrm>
            <a:off x="2926080" y="5157216"/>
            <a:ext cx="2834640" cy="932688"/>
          </a:xfrm>
          <a:prstGeom prst="roundRect">
            <a:avLst>
              <a:gd name="adj" fmla="val 11765"/>
            </a:avLst>
          </a:prstGeom>
          <a:solidFill>
            <a:schemeClr val="bg1"/>
          </a:solidFill>
          <a:ln/>
          <a:effectLst>
            <a:outerShdw blurRad="101600" dist="25400" dir="5400000" algn="bl" rotWithShape="0">
              <a:srgbClr val="0B1630">
                <a:alpha val="12000"/>
              </a:srgbClr>
            </a:outerShdw>
          </a:effectLst>
        </p:spPr>
      </p:sp>
      <p:sp>
        <p:nvSpPr>
          <p:cNvPr id="34" name="Text 32"/>
          <p:cNvSpPr txBox="1"/>
          <p:nvPr/>
        </p:nvSpPr>
        <p:spPr>
          <a:xfrm>
            <a:off x="3063240" y="5157216"/>
            <a:ext cx="2560320" cy="932688"/>
          </a:xfrm>
          <a:prstGeom prst="rect">
            <a:avLst/>
          </a:prstGeom>
          <a:noFill/>
          <a:ln/>
        </p:spPr>
        <p:txBody>
          <a:bodyPr wrap="square" lIns="0" tIns="0" rIns="0" bIns="0" rtlCol="0" anchor="ctr"/>
          <a:lstStyle/>
          <a:p>
            <a:pPr marL="0" indent="0">
              <a:buNone/>
            </a:pPr>
            <a:r>
              <a:rPr lang="en-US" sz="1400" dirty="0">
                <a:solidFill>
                  <a:schemeClr val="tx1"/>
                </a:solidFill>
              </a:rPr>
              <a:t>Streamlit dashboard, deployed online</a:t>
            </a:r>
            <a:endParaRPr lang="en-US" sz="1400" dirty="0"/>
          </a:p>
        </p:txBody>
      </p:sp>
      <p:sp>
        <p:nvSpPr>
          <p:cNvPr id="35" name="Evolution cell 4-2"/>
          <p:cNvSpPr/>
          <p:nvPr/>
        </p:nvSpPr>
        <p:spPr>
          <a:xfrm>
            <a:off x="5852160" y="5157216"/>
            <a:ext cx="2834640" cy="932688"/>
          </a:xfrm>
          <a:prstGeom prst="roundRect">
            <a:avLst>
              <a:gd name="adj" fmla="val 11765"/>
            </a:avLst>
          </a:prstGeom>
          <a:solidFill>
            <a:schemeClr val="bg1"/>
          </a:solidFill>
          <a:ln/>
          <a:effectLst>
            <a:outerShdw blurRad="101600" dist="25400" dir="5400000" algn="bl" rotWithShape="0">
              <a:srgbClr val="0B1630">
                <a:alpha val="12000"/>
              </a:srgbClr>
            </a:outerShdw>
          </a:effectLst>
        </p:spPr>
      </p:sp>
      <p:sp>
        <p:nvSpPr>
          <p:cNvPr id="36" name="Text 34"/>
          <p:cNvSpPr txBox="1"/>
          <p:nvPr/>
        </p:nvSpPr>
        <p:spPr>
          <a:xfrm>
            <a:off x="5989320" y="5157216"/>
            <a:ext cx="2560320" cy="932688"/>
          </a:xfrm>
          <a:prstGeom prst="rect">
            <a:avLst/>
          </a:prstGeom>
          <a:noFill/>
          <a:ln/>
        </p:spPr>
        <p:txBody>
          <a:bodyPr wrap="square" lIns="0" tIns="0" rIns="0" bIns="0" rtlCol="0" anchor="ctr"/>
          <a:lstStyle/>
          <a:p>
            <a:pPr marL="0" indent="0">
              <a:buNone/>
            </a:pPr>
            <a:r>
              <a:rPr lang="en-US" sz="1400" dirty="0">
                <a:solidFill>
                  <a:schemeClr val="tx1"/>
                </a:solidFill>
              </a:rPr>
              <a:t>SQLite, analytics-ready tables</a:t>
            </a:r>
            <a:endParaRPr lang="en-US" sz="1400" dirty="0"/>
          </a:p>
        </p:txBody>
      </p:sp>
      <p:sp>
        <p:nvSpPr>
          <p:cNvPr id="37" name="Evolution cell 4-3"/>
          <p:cNvSpPr/>
          <p:nvPr/>
        </p:nvSpPr>
        <p:spPr>
          <a:xfrm>
            <a:off x="8778240" y="5157216"/>
            <a:ext cx="2834640" cy="932688"/>
          </a:xfrm>
          <a:prstGeom prst="roundRect">
            <a:avLst>
              <a:gd name="adj" fmla="val 11765"/>
            </a:avLst>
          </a:prstGeom>
          <a:solidFill>
            <a:schemeClr val="bg1"/>
          </a:solidFill>
          <a:ln/>
          <a:effectLst>
            <a:outerShdw blurRad="101600" dist="25400" dir="5400000" algn="bl" rotWithShape="0">
              <a:srgbClr val="0B1630">
                <a:alpha val="12000"/>
              </a:srgbClr>
            </a:outerShdw>
          </a:effectLst>
        </p:spPr>
      </p:sp>
      <p:sp>
        <p:nvSpPr>
          <p:cNvPr id="38" name="Text 36"/>
          <p:cNvSpPr txBox="1"/>
          <p:nvPr/>
        </p:nvSpPr>
        <p:spPr>
          <a:xfrm>
            <a:off x="8915400" y="5157216"/>
            <a:ext cx="2560320" cy="932688"/>
          </a:xfrm>
          <a:prstGeom prst="rect">
            <a:avLst/>
          </a:prstGeom>
          <a:noFill/>
          <a:ln/>
        </p:spPr>
        <p:txBody>
          <a:bodyPr wrap="square" lIns="0" tIns="0" rIns="0" bIns="0" rtlCol="0" anchor="ctr"/>
          <a:lstStyle/>
          <a:p>
            <a:pPr marL="0" indent="0">
              <a:buNone/>
            </a:pPr>
            <a:r>
              <a:rPr lang="en-US" sz="1400" dirty="0">
                <a:solidFill>
                  <a:schemeClr val="tx1"/>
                </a:solidFill>
              </a:rPr>
              <a:t>Same agent feeds the final report</a:t>
            </a:r>
            <a:endParaRPr lang="en-US" sz="1400" dirty="0"/>
          </a:p>
        </p:txBody>
      </p:sp>
      <p:sp>
        <p:nvSpPr>
          <p:cNvPr id="39"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System Flow</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From a submitted idea to an exportable risk report</a:t>
            </a:r>
            <a:endParaRPr lang="en-US" sz="1600" dirty="0"/>
          </a:p>
        </p:txBody>
      </p:sp>
      <p:sp>
        <p:nvSpPr>
          <p:cNvPr id="4" name="Flow arrow 1"/>
          <p:cNvSpPr/>
          <p:nvPr/>
        </p:nvSpPr>
        <p:spPr>
          <a:xfrm>
            <a:off x="1696212" y="1810512"/>
            <a:ext cx="1276502" cy="0"/>
          </a:xfrm>
          <a:prstGeom prst="line">
            <a:avLst/>
          </a:prstGeom>
          <a:noFill/>
          <a:ln w="19050">
            <a:solidFill>
              <a:schemeClr val="accent5"/>
            </a:solidFill>
            <a:prstDash val="solid"/>
            <a:tailEnd type="triangle"/>
          </a:ln>
        </p:spPr>
      </p:sp>
      <p:sp>
        <p:nvSpPr>
          <p:cNvPr id="5" name="Project input circle"/>
          <p:cNvSpPr/>
          <p:nvPr/>
        </p:nvSpPr>
        <p:spPr>
          <a:xfrm>
            <a:off x="1143000" y="1554480"/>
            <a:ext cx="502920" cy="502920"/>
          </a:xfrm>
          <a:prstGeom prst="ellipse">
            <a:avLst/>
          </a:prstGeom>
          <a:solidFill>
            <a:schemeClr val="accent1"/>
          </a:solidFill>
          <a:ln/>
        </p:spPr>
      </p:sp>
      <p:pic>
        <p:nvPicPr>
          <p:cNvPr id="6" name="Image 0" descr="Project input"/>
          <p:cNvPicPr>
            <a:picLocks noChangeAspect="1"/>
          </p:cNvPicPr>
          <p:nvPr/>
        </p:nvPicPr>
        <p:blipFill>
          <a:blip r:embed="rId3"/>
          <a:stretch>
            <a:fillRect/>
          </a:stretch>
        </p:blipFill>
        <p:spPr>
          <a:xfrm>
            <a:off x="1263701" y="1675181"/>
            <a:ext cx="261518" cy="261518"/>
          </a:xfrm>
          <a:prstGeom prst="rect">
            <a:avLst/>
          </a:prstGeom>
        </p:spPr>
      </p:pic>
      <p:sp>
        <p:nvSpPr>
          <p:cNvPr id="7" name="Step card 1"/>
          <p:cNvSpPr/>
          <p:nvPr/>
        </p:nvSpPr>
        <p:spPr>
          <a:xfrm>
            <a:off x="548640" y="2286000"/>
            <a:ext cx="1691640" cy="1783080"/>
          </a:xfrm>
          <a:prstGeom prst="roundRect">
            <a:avLst>
              <a:gd name="adj" fmla="val 5405"/>
            </a:avLst>
          </a:prstGeom>
          <a:solidFill>
            <a:schemeClr val="bg1"/>
          </a:solidFill>
          <a:ln/>
          <a:effectLst>
            <a:outerShdw blurRad="101600" dist="25400" dir="5400000" algn="bl" rotWithShape="0">
              <a:srgbClr val="0B1630">
                <a:alpha val="12000"/>
              </a:srgbClr>
            </a:outerShdw>
          </a:effectLst>
        </p:spPr>
      </p:sp>
      <p:sp>
        <p:nvSpPr>
          <p:cNvPr id="8" name="Text 5"/>
          <p:cNvSpPr txBox="1"/>
          <p:nvPr/>
        </p:nvSpPr>
        <p:spPr>
          <a:xfrm>
            <a:off x="640080" y="2377440"/>
            <a:ext cx="1508760" cy="566928"/>
          </a:xfrm>
          <a:prstGeom prst="rect">
            <a:avLst/>
          </a:prstGeom>
          <a:noFill/>
          <a:ln/>
        </p:spPr>
        <p:txBody>
          <a:bodyPr wrap="square" lIns="0" tIns="0" rIns="0" bIns="0" rtlCol="0" anchor="t"/>
          <a:lstStyle/>
          <a:p>
            <a:pPr marL="0" indent="0">
              <a:buNone/>
            </a:pPr>
            <a:r>
              <a:rPr lang="en-US" sz="1600" b="1" dirty="0">
                <a:solidFill>
                  <a:schemeClr val="tx2"/>
                </a:solidFill>
              </a:rPr>
              <a:t>Project input</a:t>
            </a:r>
            <a:endParaRPr lang="en-US" sz="1600" dirty="0"/>
          </a:p>
        </p:txBody>
      </p:sp>
      <p:sp>
        <p:nvSpPr>
          <p:cNvPr id="9" name="Text 6"/>
          <p:cNvSpPr txBox="1"/>
          <p:nvPr/>
        </p:nvSpPr>
        <p:spPr>
          <a:xfrm>
            <a:off x="640080" y="2971800"/>
            <a:ext cx="1508760" cy="914400"/>
          </a:xfrm>
          <a:prstGeom prst="rect">
            <a:avLst/>
          </a:prstGeom>
          <a:noFill/>
          <a:ln/>
        </p:spPr>
        <p:txBody>
          <a:bodyPr wrap="square" lIns="0" tIns="0" rIns="0" bIns="0" rtlCol="0" anchor="t"/>
          <a:lstStyle/>
          <a:p>
            <a:pPr marL="0" indent="0">
              <a:buNone/>
            </a:pPr>
            <a:r>
              <a:rPr lang="en-US" sz="1400" dirty="0">
                <a:solidFill>
                  <a:schemeClr val="tx1"/>
                </a:solidFill>
              </a:rPr>
              <a:t>Name, industry, model, market, budget, description</a:t>
            </a:r>
            <a:endParaRPr lang="en-US" sz="1400" dirty="0"/>
          </a:p>
        </p:txBody>
      </p:sp>
      <p:sp>
        <p:nvSpPr>
          <p:cNvPr id="10" name="Flow arrow 2"/>
          <p:cNvSpPr/>
          <p:nvPr/>
        </p:nvSpPr>
        <p:spPr>
          <a:xfrm>
            <a:off x="3576218" y="1810512"/>
            <a:ext cx="1276502" cy="0"/>
          </a:xfrm>
          <a:prstGeom prst="line">
            <a:avLst/>
          </a:prstGeom>
          <a:noFill/>
          <a:ln w="19050">
            <a:solidFill>
              <a:schemeClr val="accent5"/>
            </a:solidFill>
            <a:prstDash val="solid"/>
            <a:tailEnd type="triangle"/>
          </a:ln>
        </p:spPr>
      </p:sp>
      <p:sp>
        <p:nvSpPr>
          <p:cNvPr id="11" name="Market &amp; competitor intel circle"/>
          <p:cNvSpPr/>
          <p:nvPr/>
        </p:nvSpPr>
        <p:spPr>
          <a:xfrm>
            <a:off x="3023006" y="1554480"/>
            <a:ext cx="502920" cy="502920"/>
          </a:xfrm>
          <a:prstGeom prst="ellipse">
            <a:avLst/>
          </a:prstGeom>
          <a:solidFill>
            <a:schemeClr val="accent6"/>
          </a:solidFill>
          <a:ln/>
        </p:spPr>
      </p:sp>
      <p:pic>
        <p:nvPicPr>
          <p:cNvPr id="12" name="Image 1" descr="Market &amp; competitor intel"/>
          <p:cNvPicPr>
            <a:picLocks noChangeAspect="1"/>
          </p:cNvPicPr>
          <p:nvPr/>
        </p:nvPicPr>
        <p:blipFill>
          <a:blip r:embed="rId4"/>
          <a:stretch>
            <a:fillRect/>
          </a:stretch>
        </p:blipFill>
        <p:spPr>
          <a:xfrm>
            <a:off x="3143707" y="1675181"/>
            <a:ext cx="261518" cy="261518"/>
          </a:xfrm>
          <a:prstGeom prst="rect">
            <a:avLst/>
          </a:prstGeom>
        </p:spPr>
      </p:pic>
      <p:sp>
        <p:nvSpPr>
          <p:cNvPr id="13" name="Step card 2"/>
          <p:cNvSpPr/>
          <p:nvPr/>
        </p:nvSpPr>
        <p:spPr>
          <a:xfrm>
            <a:off x="2428646" y="2286000"/>
            <a:ext cx="1691640" cy="1783080"/>
          </a:xfrm>
          <a:prstGeom prst="roundRect">
            <a:avLst>
              <a:gd name="adj" fmla="val 5405"/>
            </a:avLst>
          </a:prstGeom>
          <a:solidFill>
            <a:schemeClr val="bg1"/>
          </a:solidFill>
          <a:ln/>
          <a:effectLst>
            <a:outerShdw blurRad="101600" dist="25400" dir="5400000" algn="bl" rotWithShape="0">
              <a:srgbClr val="0B1630">
                <a:alpha val="12000"/>
              </a:srgbClr>
            </a:outerShdw>
          </a:effectLst>
        </p:spPr>
      </p:sp>
      <p:sp>
        <p:nvSpPr>
          <p:cNvPr id="14" name="Text 10"/>
          <p:cNvSpPr txBox="1"/>
          <p:nvPr/>
        </p:nvSpPr>
        <p:spPr>
          <a:xfrm>
            <a:off x="2520086" y="2377440"/>
            <a:ext cx="1508760" cy="566928"/>
          </a:xfrm>
          <a:prstGeom prst="rect">
            <a:avLst/>
          </a:prstGeom>
          <a:noFill/>
          <a:ln/>
        </p:spPr>
        <p:txBody>
          <a:bodyPr wrap="square" lIns="0" tIns="0" rIns="0" bIns="0" rtlCol="0" anchor="t"/>
          <a:lstStyle/>
          <a:p>
            <a:pPr marL="0" indent="0">
              <a:buNone/>
            </a:pPr>
            <a:r>
              <a:rPr lang="en-US" sz="1600" b="1" dirty="0">
                <a:solidFill>
                  <a:schemeClr val="tx2"/>
                </a:solidFill>
              </a:rPr>
              <a:t>Market &amp; competitor intel</a:t>
            </a:r>
            <a:endParaRPr lang="en-US" sz="1600" dirty="0"/>
          </a:p>
        </p:txBody>
      </p:sp>
      <p:sp>
        <p:nvSpPr>
          <p:cNvPr id="15" name="Text 11"/>
          <p:cNvSpPr txBox="1"/>
          <p:nvPr/>
        </p:nvSpPr>
        <p:spPr>
          <a:xfrm>
            <a:off x="2520086" y="2971800"/>
            <a:ext cx="1508760" cy="914400"/>
          </a:xfrm>
          <a:prstGeom prst="rect">
            <a:avLst/>
          </a:prstGeom>
          <a:noFill/>
          <a:ln/>
        </p:spPr>
        <p:txBody>
          <a:bodyPr wrap="square" lIns="0" tIns="0" rIns="0" bIns="0" rtlCol="0" anchor="t"/>
          <a:lstStyle/>
          <a:p>
            <a:pPr marL="0" indent="0">
              <a:buNone/>
            </a:pPr>
            <a:r>
              <a:rPr lang="en-US" sz="1400" dirty="0">
                <a:solidFill>
                  <a:schemeClr val="tx1"/>
                </a:solidFill>
              </a:rPr>
              <a:t>TAM, SAM, SOM and competitor landscape</a:t>
            </a:r>
            <a:endParaRPr lang="en-US" sz="1400" dirty="0"/>
          </a:p>
        </p:txBody>
      </p:sp>
      <p:sp>
        <p:nvSpPr>
          <p:cNvPr id="16" name="Flow arrow 3"/>
          <p:cNvSpPr/>
          <p:nvPr/>
        </p:nvSpPr>
        <p:spPr>
          <a:xfrm>
            <a:off x="5456225" y="1810512"/>
            <a:ext cx="1276502" cy="0"/>
          </a:xfrm>
          <a:prstGeom prst="line">
            <a:avLst/>
          </a:prstGeom>
          <a:noFill/>
          <a:ln w="19050">
            <a:solidFill>
              <a:schemeClr val="accent5"/>
            </a:solidFill>
            <a:prstDash val="solid"/>
            <a:tailEnd type="triangle"/>
          </a:ln>
        </p:spPr>
      </p:sp>
      <p:sp>
        <p:nvSpPr>
          <p:cNvPr id="17" name="Risk scoring &amp; SWOT circle"/>
          <p:cNvSpPr/>
          <p:nvPr/>
        </p:nvSpPr>
        <p:spPr>
          <a:xfrm>
            <a:off x="4903013" y="1554480"/>
            <a:ext cx="502920" cy="502920"/>
          </a:xfrm>
          <a:prstGeom prst="ellipse">
            <a:avLst/>
          </a:prstGeom>
          <a:solidFill>
            <a:schemeClr val="accent2"/>
          </a:solidFill>
          <a:ln/>
        </p:spPr>
      </p:sp>
      <p:pic>
        <p:nvPicPr>
          <p:cNvPr id="18" name="Image 2" descr="Risk scoring &amp; SWOT"/>
          <p:cNvPicPr>
            <a:picLocks noChangeAspect="1"/>
          </p:cNvPicPr>
          <p:nvPr/>
        </p:nvPicPr>
        <p:blipFill>
          <a:blip r:embed="rId5"/>
          <a:stretch>
            <a:fillRect/>
          </a:stretch>
        </p:blipFill>
        <p:spPr>
          <a:xfrm>
            <a:off x="5023714" y="1675181"/>
            <a:ext cx="261518" cy="261518"/>
          </a:xfrm>
          <a:prstGeom prst="rect">
            <a:avLst/>
          </a:prstGeom>
        </p:spPr>
      </p:pic>
      <p:sp>
        <p:nvSpPr>
          <p:cNvPr id="19" name="Step card 3"/>
          <p:cNvSpPr/>
          <p:nvPr/>
        </p:nvSpPr>
        <p:spPr>
          <a:xfrm>
            <a:off x="4308653" y="2286000"/>
            <a:ext cx="1691640" cy="1783080"/>
          </a:xfrm>
          <a:prstGeom prst="roundRect">
            <a:avLst>
              <a:gd name="adj" fmla="val 5405"/>
            </a:avLst>
          </a:prstGeom>
          <a:solidFill>
            <a:schemeClr val="bg1"/>
          </a:solidFill>
          <a:ln/>
          <a:effectLst>
            <a:outerShdw blurRad="101600" dist="25400" dir="5400000" algn="bl" rotWithShape="0">
              <a:srgbClr val="0B1630">
                <a:alpha val="12000"/>
              </a:srgbClr>
            </a:outerShdw>
          </a:effectLst>
        </p:spPr>
      </p:sp>
      <p:sp>
        <p:nvSpPr>
          <p:cNvPr id="20" name="Text 15"/>
          <p:cNvSpPr txBox="1"/>
          <p:nvPr/>
        </p:nvSpPr>
        <p:spPr>
          <a:xfrm>
            <a:off x="4400093" y="2377440"/>
            <a:ext cx="1508760" cy="566928"/>
          </a:xfrm>
          <a:prstGeom prst="rect">
            <a:avLst/>
          </a:prstGeom>
          <a:noFill/>
          <a:ln/>
        </p:spPr>
        <p:txBody>
          <a:bodyPr wrap="square" lIns="0" tIns="0" rIns="0" bIns="0" rtlCol="0" anchor="t"/>
          <a:lstStyle/>
          <a:p>
            <a:pPr marL="0" indent="0">
              <a:buNone/>
            </a:pPr>
            <a:r>
              <a:rPr lang="en-US" sz="1600" b="1" dirty="0">
                <a:solidFill>
                  <a:schemeClr val="tx2"/>
                </a:solidFill>
              </a:rPr>
              <a:t>Risk scoring &amp; SWOT</a:t>
            </a:r>
            <a:endParaRPr lang="en-US" sz="1600" dirty="0"/>
          </a:p>
        </p:txBody>
      </p:sp>
      <p:sp>
        <p:nvSpPr>
          <p:cNvPr id="21" name="Text 16"/>
          <p:cNvSpPr txBox="1"/>
          <p:nvPr/>
        </p:nvSpPr>
        <p:spPr>
          <a:xfrm>
            <a:off x="4400093" y="2971800"/>
            <a:ext cx="1508760" cy="914400"/>
          </a:xfrm>
          <a:prstGeom prst="rect">
            <a:avLst/>
          </a:prstGeom>
          <a:noFill/>
          <a:ln/>
        </p:spPr>
        <p:txBody>
          <a:bodyPr wrap="square" lIns="0" tIns="0" rIns="0" bIns="0" rtlCol="0" anchor="t"/>
          <a:lstStyle/>
          <a:p>
            <a:pPr marL="0" indent="0">
              <a:buNone/>
            </a:pPr>
            <a:r>
              <a:rPr lang="en-US" sz="1400" dirty="0">
                <a:solidFill>
                  <a:schemeClr val="tx1"/>
                </a:solidFill>
              </a:rPr>
              <a:t>Risk score, success probability, SWOT, feasibility</a:t>
            </a:r>
            <a:endParaRPr lang="en-US" sz="1400" dirty="0"/>
          </a:p>
        </p:txBody>
      </p:sp>
      <p:sp>
        <p:nvSpPr>
          <p:cNvPr id="22" name="Flow arrow 4"/>
          <p:cNvSpPr/>
          <p:nvPr/>
        </p:nvSpPr>
        <p:spPr>
          <a:xfrm>
            <a:off x="7336231" y="1810512"/>
            <a:ext cx="1276502" cy="0"/>
          </a:xfrm>
          <a:prstGeom prst="line">
            <a:avLst/>
          </a:prstGeom>
          <a:noFill/>
          <a:ln w="19050">
            <a:solidFill>
              <a:schemeClr val="accent5"/>
            </a:solidFill>
            <a:prstDash val="solid"/>
            <a:tailEnd type="triangle"/>
          </a:ln>
        </p:spPr>
      </p:sp>
      <p:sp>
        <p:nvSpPr>
          <p:cNvPr id="23" name="AI advice circle"/>
          <p:cNvSpPr/>
          <p:nvPr/>
        </p:nvSpPr>
        <p:spPr>
          <a:xfrm>
            <a:off x="6783019" y="1554480"/>
            <a:ext cx="502920" cy="502920"/>
          </a:xfrm>
          <a:prstGeom prst="ellipse">
            <a:avLst/>
          </a:prstGeom>
          <a:solidFill>
            <a:schemeClr val="accent1"/>
          </a:solidFill>
          <a:ln/>
        </p:spPr>
      </p:sp>
      <p:pic>
        <p:nvPicPr>
          <p:cNvPr id="24" name="Image 3" descr="AI advice"/>
          <p:cNvPicPr>
            <a:picLocks noChangeAspect="1"/>
          </p:cNvPicPr>
          <p:nvPr/>
        </p:nvPicPr>
        <p:blipFill>
          <a:blip r:embed="rId6"/>
          <a:stretch>
            <a:fillRect/>
          </a:stretch>
        </p:blipFill>
        <p:spPr>
          <a:xfrm>
            <a:off x="6903720" y="1675181"/>
            <a:ext cx="261518" cy="261518"/>
          </a:xfrm>
          <a:prstGeom prst="rect">
            <a:avLst/>
          </a:prstGeom>
        </p:spPr>
      </p:pic>
      <p:sp>
        <p:nvSpPr>
          <p:cNvPr id="25" name="Step card 4"/>
          <p:cNvSpPr/>
          <p:nvPr/>
        </p:nvSpPr>
        <p:spPr>
          <a:xfrm>
            <a:off x="6188659" y="2286000"/>
            <a:ext cx="1691640" cy="1783080"/>
          </a:xfrm>
          <a:prstGeom prst="roundRect">
            <a:avLst>
              <a:gd name="adj" fmla="val 5405"/>
            </a:avLst>
          </a:prstGeom>
          <a:solidFill>
            <a:schemeClr val="bg1"/>
          </a:solidFill>
          <a:ln/>
          <a:effectLst>
            <a:outerShdw blurRad="101600" dist="25400" dir="5400000" algn="bl" rotWithShape="0">
              <a:srgbClr val="0B1630">
                <a:alpha val="12000"/>
              </a:srgbClr>
            </a:outerShdw>
          </a:effectLst>
        </p:spPr>
      </p:sp>
      <p:sp>
        <p:nvSpPr>
          <p:cNvPr id="26" name="Text 20"/>
          <p:cNvSpPr txBox="1"/>
          <p:nvPr/>
        </p:nvSpPr>
        <p:spPr>
          <a:xfrm>
            <a:off x="6280099" y="2377440"/>
            <a:ext cx="1508760" cy="566928"/>
          </a:xfrm>
          <a:prstGeom prst="rect">
            <a:avLst/>
          </a:prstGeom>
          <a:noFill/>
          <a:ln/>
        </p:spPr>
        <p:txBody>
          <a:bodyPr wrap="square" lIns="0" tIns="0" rIns="0" bIns="0" rtlCol="0" anchor="t"/>
          <a:lstStyle/>
          <a:p>
            <a:pPr marL="0" indent="0">
              <a:buNone/>
            </a:pPr>
            <a:r>
              <a:rPr lang="en-US" sz="1600" b="1" dirty="0">
                <a:solidFill>
                  <a:schemeClr val="tx2"/>
                </a:solidFill>
              </a:rPr>
              <a:t>AI advice</a:t>
            </a:r>
            <a:endParaRPr lang="en-US" sz="1600" dirty="0"/>
          </a:p>
        </p:txBody>
      </p:sp>
      <p:sp>
        <p:nvSpPr>
          <p:cNvPr id="27" name="Text 21"/>
          <p:cNvSpPr txBox="1"/>
          <p:nvPr/>
        </p:nvSpPr>
        <p:spPr>
          <a:xfrm>
            <a:off x="6280099" y="2971800"/>
            <a:ext cx="1508760" cy="914400"/>
          </a:xfrm>
          <a:prstGeom prst="rect">
            <a:avLst/>
          </a:prstGeom>
          <a:noFill/>
          <a:ln/>
        </p:spPr>
        <p:txBody>
          <a:bodyPr wrap="square" lIns="0" tIns="0" rIns="0" bIns="0" rtlCol="0" anchor="t"/>
          <a:lstStyle/>
          <a:p>
            <a:pPr marL="0" indent="0">
              <a:buNone/>
            </a:pPr>
            <a:r>
              <a:rPr lang="en-US" sz="1400" dirty="0">
                <a:solidFill>
                  <a:schemeClr val="tx1"/>
                </a:solidFill>
              </a:rPr>
              <a:t>Gemini recommendations and mitigation through LangGraph</a:t>
            </a:r>
            <a:endParaRPr lang="en-US" sz="1400" dirty="0"/>
          </a:p>
        </p:txBody>
      </p:sp>
      <p:sp>
        <p:nvSpPr>
          <p:cNvPr id="28" name="Flow arrow 5"/>
          <p:cNvSpPr/>
          <p:nvPr/>
        </p:nvSpPr>
        <p:spPr>
          <a:xfrm>
            <a:off x="9216238" y="1810512"/>
            <a:ext cx="1276502" cy="0"/>
          </a:xfrm>
          <a:prstGeom prst="line">
            <a:avLst/>
          </a:prstGeom>
          <a:noFill/>
          <a:ln w="19050">
            <a:solidFill>
              <a:schemeClr val="accent5"/>
            </a:solidFill>
            <a:prstDash val="solid"/>
            <a:tailEnd type="triangle"/>
          </a:ln>
        </p:spPr>
      </p:sp>
      <p:sp>
        <p:nvSpPr>
          <p:cNvPr id="29" name="Saved to SQLite circle"/>
          <p:cNvSpPr/>
          <p:nvPr/>
        </p:nvSpPr>
        <p:spPr>
          <a:xfrm>
            <a:off x="8663026" y="1554480"/>
            <a:ext cx="502920" cy="502920"/>
          </a:xfrm>
          <a:prstGeom prst="ellipse">
            <a:avLst/>
          </a:prstGeom>
          <a:solidFill>
            <a:schemeClr val="accent5"/>
          </a:solidFill>
          <a:ln/>
        </p:spPr>
      </p:sp>
      <p:pic>
        <p:nvPicPr>
          <p:cNvPr id="30" name="Image 4" descr="Saved to SQLite"/>
          <p:cNvPicPr>
            <a:picLocks noChangeAspect="1"/>
          </p:cNvPicPr>
          <p:nvPr/>
        </p:nvPicPr>
        <p:blipFill>
          <a:blip r:embed="rId7"/>
          <a:stretch>
            <a:fillRect/>
          </a:stretch>
        </p:blipFill>
        <p:spPr>
          <a:xfrm>
            <a:off x="8783726" y="1675181"/>
            <a:ext cx="261518" cy="261518"/>
          </a:xfrm>
          <a:prstGeom prst="rect">
            <a:avLst/>
          </a:prstGeom>
        </p:spPr>
      </p:pic>
      <p:sp>
        <p:nvSpPr>
          <p:cNvPr id="31" name="Step card 5"/>
          <p:cNvSpPr/>
          <p:nvPr/>
        </p:nvSpPr>
        <p:spPr>
          <a:xfrm>
            <a:off x="8068666" y="2286000"/>
            <a:ext cx="1691640" cy="1783080"/>
          </a:xfrm>
          <a:prstGeom prst="roundRect">
            <a:avLst>
              <a:gd name="adj" fmla="val 5405"/>
            </a:avLst>
          </a:prstGeom>
          <a:solidFill>
            <a:schemeClr val="bg1"/>
          </a:solidFill>
          <a:ln/>
          <a:effectLst>
            <a:outerShdw blurRad="101600" dist="25400" dir="5400000" algn="bl" rotWithShape="0">
              <a:srgbClr val="0B1630">
                <a:alpha val="12000"/>
              </a:srgbClr>
            </a:outerShdw>
          </a:effectLst>
        </p:spPr>
      </p:sp>
      <p:sp>
        <p:nvSpPr>
          <p:cNvPr id="32" name="Text 25"/>
          <p:cNvSpPr txBox="1"/>
          <p:nvPr/>
        </p:nvSpPr>
        <p:spPr>
          <a:xfrm>
            <a:off x="8160106" y="2377440"/>
            <a:ext cx="1508760" cy="566928"/>
          </a:xfrm>
          <a:prstGeom prst="rect">
            <a:avLst/>
          </a:prstGeom>
          <a:noFill/>
          <a:ln/>
        </p:spPr>
        <p:txBody>
          <a:bodyPr wrap="square" lIns="0" tIns="0" rIns="0" bIns="0" rtlCol="0" anchor="t"/>
          <a:lstStyle/>
          <a:p>
            <a:pPr marL="0" indent="0">
              <a:buNone/>
            </a:pPr>
            <a:r>
              <a:rPr lang="en-US" sz="1600" b="1" dirty="0">
                <a:solidFill>
                  <a:schemeClr val="tx2"/>
                </a:solidFill>
              </a:rPr>
              <a:t>Saved to SQLite</a:t>
            </a:r>
            <a:endParaRPr lang="en-US" sz="1600" dirty="0"/>
          </a:p>
        </p:txBody>
      </p:sp>
      <p:sp>
        <p:nvSpPr>
          <p:cNvPr id="33" name="Text 26"/>
          <p:cNvSpPr txBox="1"/>
          <p:nvPr/>
        </p:nvSpPr>
        <p:spPr>
          <a:xfrm>
            <a:off x="8160106" y="2971800"/>
            <a:ext cx="1508760" cy="914400"/>
          </a:xfrm>
          <a:prstGeom prst="rect">
            <a:avLst/>
          </a:prstGeom>
          <a:noFill/>
          <a:ln/>
        </p:spPr>
        <p:txBody>
          <a:bodyPr wrap="square" lIns="0" tIns="0" rIns="0" bIns="0" rtlCol="0" anchor="t"/>
          <a:lstStyle/>
          <a:p>
            <a:pPr marL="0" indent="0">
              <a:buNone/>
            </a:pPr>
            <a:r>
              <a:rPr lang="en-US" sz="1400" dirty="0">
                <a:solidFill>
                  <a:schemeClr val="tx1"/>
                </a:solidFill>
              </a:rPr>
              <a:t>One saved result feeds the dashboard and report</a:t>
            </a:r>
            <a:endParaRPr lang="en-US" sz="1400" dirty="0"/>
          </a:p>
        </p:txBody>
      </p:sp>
      <p:sp>
        <p:nvSpPr>
          <p:cNvPr id="34" name="Dashboard &amp; report circle"/>
          <p:cNvSpPr/>
          <p:nvPr/>
        </p:nvSpPr>
        <p:spPr>
          <a:xfrm>
            <a:off x="10543032" y="1554480"/>
            <a:ext cx="502920" cy="502920"/>
          </a:xfrm>
          <a:prstGeom prst="ellipse">
            <a:avLst/>
          </a:prstGeom>
          <a:solidFill>
            <a:schemeClr val="accent4"/>
          </a:solidFill>
          <a:ln/>
        </p:spPr>
      </p:sp>
      <p:pic>
        <p:nvPicPr>
          <p:cNvPr id="35" name="Image 5" descr="Dashboard &amp; report"/>
          <p:cNvPicPr>
            <a:picLocks noChangeAspect="1"/>
          </p:cNvPicPr>
          <p:nvPr/>
        </p:nvPicPr>
        <p:blipFill>
          <a:blip r:embed="rId8"/>
          <a:stretch>
            <a:fillRect/>
          </a:stretch>
        </p:blipFill>
        <p:spPr>
          <a:xfrm>
            <a:off x="10663733" y="1675181"/>
            <a:ext cx="261518" cy="261518"/>
          </a:xfrm>
          <a:prstGeom prst="rect">
            <a:avLst/>
          </a:prstGeom>
        </p:spPr>
      </p:pic>
      <p:sp>
        <p:nvSpPr>
          <p:cNvPr id="36" name="Step card 6"/>
          <p:cNvSpPr/>
          <p:nvPr/>
        </p:nvSpPr>
        <p:spPr>
          <a:xfrm>
            <a:off x="9948672" y="2286000"/>
            <a:ext cx="1691640" cy="1783080"/>
          </a:xfrm>
          <a:prstGeom prst="roundRect">
            <a:avLst>
              <a:gd name="adj" fmla="val 5405"/>
            </a:avLst>
          </a:prstGeom>
          <a:solidFill>
            <a:schemeClr val="bg1"/>
          </a:solidFill>
          <a:ln/>
          <a:effectLst>
            <a:outerShdw blurRad="101600" dist="25400" dir="5400000" algn="bl" rotWithShape="0">
              <a:srgbClr val="0B1630">
                <a:alpha val="12000"/>
              </a:srgbClr>
            </a:outerShdw>
          </a:effectLst>
        </p:spPr>
      </p:sp>
      <p:sp>
        <p:nvSpPr>
          <p:cNvPr id="37" name="Text 29"/>
          <p:cNvSpPr txBox="1"/>
          <p:nvPr/>
        </p:nvSpPr>
        <p:spPr>
          <a:xfrm>
            <a:off x="10040112" y="2377440"/>
            <a:ext cx="1508760" cy="566928"/>
          </a:xfrm>
          <a:prstGeom prst="rect">
            <a:avLst/>
          </a:prstGeom>
          <a:noFill/>
          <a:ln/>
        </p:spPr>
        <p:txBody>
          <a:bodyPr wrap="square" lIns="0" tIns="0" rIns="0" bIns="0" rtlCol="0" anchor="t"/>
          <a:lstStyle/>
          <a:p>
            <a:pPr marL="0" indent="0">
              <a:buNone/>
            </a:pPr>
            <a:r>
              <a:rPr lang="en-US" sz="1600" b="1" dirty="0">
                <a:solidFill>
                  <a:schemeClr val="tx2"/>
                </a:solidFill>
              </a:rPr>
              <a:t>Dashboard &amp; report</a:t>
            </a:r>
            <a:endParaRPr lang="en-US" sz="1600" dirty="0"/>
          </a:p>
        </p:txBody>
      </p:sp>
      <p:sp>
        <p:nvSpPr>
          <p:cNvPr id="38" name="Text 30"/>
          <p:cNvSpPr txBox="1"/>
          <p:nvPr/>
        </p:nvSpPr>
        <p:spPr>
          <a:xfrm>
            <a:off x="10040112" y="2971800"/>
            <a:ext cx="1508760" cy="914400"/>
          </a:xfrm>
          <a:prstGeom prst="rect">
            <a:avLst/>
          </a:prstGeom>
          <a:noFill/>
          <a:ln/>
        </p:spPr>
        <p:txBody>
          <a:bodyPr wrap="square" lIns="0" tIns="0" rIns="0" bIns="0" rtlCol="0" anchor="t"/>
          <a:lstStyle/>
          <a:p>
            <a:pPr marL="0" indent="0">
              <a:buNone/>
            </a:pPr>
            <a:r>
              <a:rPr lang="en-US" sz="1400" dirty="0">
                <a:solidFill>
                  <a:schemeClr val="tx1"/>
                </a:solidFill>
              </a:rPr>
              <a:t>Risk analytics, assessment report, Export and Share</a:t>
            </a:r>
            <a:endParaRPr lang="en-US" sz="1400" dirty="0"/>
          </a:p>
        </p:txBody>
      </p:sp>
      <p:sp>
        <p:nvSpPr>
          <p:cNvPr id="39" name="LangGraph panel"/>
          <p:cNvSpPr/>
          <p:nvPr/>
        </p:nvSpPr>
        <p:spPr>
          <a:xfrm>
            <a:off x="548640" y="4526280"/>
            <a:ext cx="11091672" cy="1783080"/>
          </a:xfrm>
          <a:prstGeom prst="roundRect">
            <a:avLst>
              <a:gd name="adj" fmla="val 6154"/>
            </a:avLst>
          </a:prstGeom>
          <a:solidFill>
            <a:schemeClr val="tx2"/>
          </a:solidFill>
          <a:ln/>
        </p:spPr>
      </p:sp>
      <p:sp>
        <p:nvSpPr>
          <p:cNvPr id="40" name="Text 32"/>
          <p:cNvSpPr txBox="1"/>
          <p:nvPr/>
        </p:nvSpPr>
        <p:spPr>
          <a:xfrm>
            <a:off x="822960" y="4709160"/>
            <a:ext cx="3017520" cy="365760"/>
          </a:xfrm>
          <a:prstGeom prst="rect">
            <a:avLst/>
          </a:prstGeom>
          <a:noFill/>
          <a:ln/>
        </p:spPr>
        <p:txBody>
          <a:bodyPr wrap="square" lIns="0" tIns="0" rIns="0" bIns="0" rtlCol="0" anchor="ctr"/>
          <a:lstStyle/>
          <a:p>
            <a:pPr marL="0" indent="0">
              <a:buNone/>
            </a:pPr>
            <a:r>
              <a:rPr lang="en-US" sz="1800" b="1" dirty="0">
                <a:solidFill>
                  <a:schemeClr val="bg1"/>
                </a:solidFill>
              </a:rPr>
              <a:t>Inside the LangGraph agent</a:t>
            </a:r>
            <a:endParaRPr lang="en-US" sz="1800" dirty="0"/>
          </a:p>
        </p:txBody>
      </p:sp>
      <p:sp>
        <p:nvSpPr>
          <p:cNvPr id="41" name="Text 33"/>
          <p:cNvSpPr txBox="1"/>
          <p:nvPr/>
        </p:nvSpPr>
        <p:spPr>
          <a:xfrm>
            <a:off x="822960" y="5120640"/>
            <a:ext cx="3017520" cy="1097280"/>
          </a:xfrm>
          <a:prstGeom prst="rect">
            <a:avLst/>
          </a:prstGeom>
          <a:noFill/>
          <a:ln/>
        </p:spPr>
        <p:txBody>
          <a:bodyPr wrap="square" lIns="0" tIns="0" rIns="0" bIns="0" rtlCol="0" anchor="t"/>
          <a:lstStyle/>
          <a:p>
            <a:pPr marL="0" indent="0">
              <a:buNone/>
            </a:pPr>
            <a:r>
              <a:rPr lang="en-US" sz="1400" dirty="0">
                <a:solidFill>
                  <a:schemeClr val="bg2"/>
                </a:solidFill>
              </a:rPr>
              <a:t>Every node reads one shared state, adds its output and hands it on. With no API key, Demo Mode still completes the run.</a:t>
            </a:r>
            <a:endParaRPr lang="en-US" sz="1400" dirty="0"/>
          </a:p>
        </p:txBody>
      </p:sp>
      <p:sp>
        <p:nvSpPr>
          <p:cNvPr id="42" name="Node 1"/>
          <p:cNvSpPr/>
          <p:nvPr/>
        </p:nvSpPr>
        <p:spPr>
          <a:xfrm>
            <a:off x="4160520" y="4709160"/>
            <a:ext cx="2340864" cy="676656"/>
          </a:xfrm>
          <a:prstGeom prst="roundRect">
            <a:avLst>
              <a:gd name="adj" fmla="val 10811"/>
            </a:avLst>
          </a:prstGeom>
          <a:solidFill>
            <a:schemeClr val="bg1">
              <a:alpha val="10000"/>
            </a:schemeClr>
          </a:solidFill>
          <a:ln/>
        </p:spPr>
      </p:sp>
      <p:sp>
        <p:nvSpPr>
          <p:cNvPr id="43" name="Text 35"/>
          <p:cNvSpPr txBox="1"/>
          <p:nvPr/>
        </p:nvSpPr>
        <p:spPr>
          <a:xfrm>
            <a:off x="4270248" y="4709160"/>
            <a:ext cx="2157984" cy="676656"/>
          </a:xfrm>
          <a:prstGeom prst="rect">
            <a:avLst/>
          </a:prstGeom>
          <a:noFill/>
          <a:ln/>
        </p:spPr>
        <p:txBody>
          <a:bodyPr wrap="square" lIns="0" tIns="0" rIns="0" bIns="0" rtlCol="0" anchor="ctr"/>
          <a:lstStyle/>
          <a:p>
            <a:pPr marL="0" indent="0">
              <a:buNone/>
            </a:pPr>
            <a:r>
              <a:rPr lang="en-US" sz="1400" b="1" dirty="0">
                <a:solidFill>
                  <a:schemeClr val="bg1"/>
                </a:solidFill>
              </a:rPr>
              <a:t>1  Project analysis</a:t>
            </a:r>
            <a:endParaRPr lang="en-US" sz="1400" dirty="0"/>
          </a:p>
          <a:p>
            <a:pPr marL="0" indent="0">
              <a:buNone/>
            </a:pPr>
            <a:r>
              <a:rPr lang="en-US" sz="1100" dirty="0">
                <a:solidFill>
                  <a:schemeClr val="accent3"/>
                </a:solidFill>
                <a:latin typeface="Courier New" pitchFamily="34" charset="0"/>
                <a:ea typeface="Courier New" pitchFamily="34" charset="-122"/>
                <a:cs typeface="Courier New" pitchFamily="34" charset="-120"/>
              </a:rPr>
              <a:t>analyze_project</a:t>
            </a:r>
            <a:endParaRPr lang="en-US" sz="1400" dirty="0"/>
          </a:p>
        </p:txBody>
      </p:sp>
      <p:sp>
        <p:nvSpPr>
          <p:cNvPr id="44" name="Node 2"/>
          <p:cNvSpPr/>
          <p:nvPr/>
        </p:nvSpPr>
        <p:spPr>
          <a:xfrm>
            <a:off x="6647688" y="4709160"/>
            <a:ext cx="2340864" cy="676656"/>
          </a:xfrm>
          <a:prstGeom prst="roundRect">
            <a:avLst>
              <a:gd name="adj" fmla="val 10811"/>
            </a:avLst>
          </a:prstGeom>
          <a:solidFill>
            <a:schemeClr val="bg1">
              <a:alpha val="10000"/>
            </a:schemeClr>
          </a:solidFill>
          <a:ln/>
        </p:spPr>
      </p:sp>
      <p:sp>
        <p:nvSpPr>
          <p:cNvPr id="45" name="Text 37"/>
          <p:cNvSpPr txBox="1"/>
          <p:nvPr/>
        </p:nvSpPr>
        <p:spPr>
          <a:xfrm>
            <a:off x="6757416" y="4709160"/>
            <a:ext cx="2157984" cy="676656"/>
          </a:xfrm>
          <a:prstGeom prst="rect">
            <a:avLst/>
          </a:prstGeom>
          <a:noFill/>
          <a:ln/>
        </p:spPr>
        <p:txBody>
          <a:bodyPr wrap="square" lIns="0" tIns="0" rIns="0" bIns="0" rtlCol="0" anchor="ctr"/>
          <a:lstStyle/>
          <a:p>
            <a:pPr marL="0" indent="0">
              <a:buNone/>
            </a:pPr>
            <a:r>
              <a:rPr lang="en-US" sz="1400" b="1" dirty="0">
                <a:solidFill>
                  <a:schemeClr val="bg1"/>
                </a:solidFill>
              </a:rPr>
              <a:t>2  Risk analysis</a:t>
            </a:r>
            <a:endParaRPr lang="en-US" sz="1400" dirty="0"/>
          </a:p>
          <a:p>
            <a:pPr marL="0" indent="0">
              <a:buNone/>
            </a:pPr>
            <a:r>
              <a:rPr lang="en-US" sz="1100" dirty="0">
                <a:solidFill>
                  <a:schemeClr val="accent3"/>
                </a:solidFill>
                <a:latin typeface="Courier New" pitchFamily="34" charset="0"/>
                <a:ea typeface="Courier New" pitchFamily="34" charset="-122"/>
                <a:cs typeface="Courier New" pitchFamily="34" charset="-120"/>
              </a:rPr>
              <a:t>analyze_risks</a:t>
            </a:r>
            <a:endParaRPr lang="en-US" sz="1400" dirty="0"/>
          </a:p>
        </p:txBody>
      </p:sp>
      <p:sp>
        <p:nvSpPr>
          <p:cNvPr id="46" name="Node 3"/>
          <p:cNvSpPr/>
          <p:nvPr/>
        </p:nvSpPr>
        <p:spPr>
          <a:xfrm>
            <a:off x="9134856" y="4709160"/>
            <a:ext cx="2340864" cy="676656"/>
          </a:xfrm>
          <a:prstGeom prst="roundRect">
            <a:avLst>
              <a:gd name="adj" fmla="val 10811"/>
            </a:avLst>
          </a:prstGeom>
          <a:solidFill>
            <a:schemeClr val="bg1">
              <a:alpha val="10000"/>
            </a:schemeClr>
          </a:solidFill>
          <a:ln/>
        </p:spPr>
      </p:sp>
      <p:sp>
        <p:nvSpPr>
          <p:cNvPr id="47" name="Text 39"/>
          <p:cNvSpPr txBox="1"/>
          <p:nvPr/>
        </p:nvSpPr>
        <p:spPr>
          <a:xfrm>
            <a:off x="9244584" y="4709160"/>
            <a:ext cx="2157984" cy="676656"/>
          </a:xfrm>
          <a:prstGeom prst="rect">
            <a:avLst/>
          </a:prstGeom>
          <a:noFill/>
          <a:ln/>
        </p:spPr>
        <p:txBody>
          <a:bodyPr wrap="square" lIns="0" tIns="0" rIns="0" bIns="0" rtlCol="0" anchor="ctr"/>
          <a:lstStyle/>
          <a:p>
            <a:pPr marL="0" indent="0">
              <a:buNone/>
            </a:pPr>
            <a:r>
              <a:rPr lang="en-US" sz="1400" b="1" dirty="0">
                <a:solidFill>
                  <a:schemeClr val="bg1"/>
                </a:solidFill>
              </a:rPr>
              <a:t>3  Recommendation</a:t>
            </a:r>
            <a:endParaRPr lang="en-US" sz="1400" dirty="0"/>
          </a:p>
          <a:p>
            <a:pPr marL="0" indent="0">
              <a:buNone/>
            </a:pPr>
            <a:r>
              <a:rPr lang="en-US" sz="1100" dirty="0">
                <a:solidFill>
                  <a:schemeClr val="accent3"/>
                </a:solidFill>
                <a:latin typeface="Courier New" pitchFamily="34" charset="0"/>
                <a:ea typeface="Courier New" pitchFamily="34" charset="-122"/>
                <a:cs typeface="Courier New" pitchFamily="34" charset="-120"/>
              </a:rPr>
              <a:t>generate_recommendations</a:t>
            </a:r>
            <a:endParaRPr lang="en-US" sz="1400" dirty="0"/>
          </a:p>
        </p:txBody>
      </p:sp>
      <p:sp>
        <p:nvSpPr>
          <p:cNvPr id="48" name="Node 4"/>
          <p:cNvSpPr/>
          <p:nvPr/>
        </p:nvSpPr>
        <p:spPr>
          <a:xfrm>
            <a:off x="4160520" y="5495544"/>
            <a:ext cx="2340864" cy="676656"/>
          </a:xfrm>
          <a:prstGeom prst="roundRect">
            <a:avLst>
              <a:gd name="adj" fmla="val 10811"/>
            </a:avLst>
          </a:prstGeom>
          <a:solidFill>
            <a:schemeClr val="bg1">
              <a:alpha val="10000"/>
            </a:schemeClr>
          </a:solidFill>
          <a:ln/>
        </p:spPr>
      </p:sp>
      <p:sp>
        <p:nvSpPr>
          <p:cNvPr id="49" name="Text 41"/>
          <p:cNvSpPr txBox="1"/>
          <p:nvPr/>
        </p:nvSpPr>
        <p:spPr>
          <a:xfrm>
            <a:off x="4270248" y="5495544"/>
            <a:ext cx="2157984" cy="676656"/>
          </a:xfrm>
          <a:prstGeom prst="rect">
            <a:avLst/>
          </a:prstGeom>
          <a:noFill/>
          <a:ln/>
        </p:spPr>
        <p:txBody>
          <a:bodyPr wrap="square" lIns="0" tIns="0" rIns="0" bIns="0" rtlCol="0" anchor="ctr"/>
          <a:lstStyle/>
          <a:p>
            <a:pPr marL="0" indent="0">
              <a:buNone/>
            </a:pPr>
            <a:r>
              <a:rPr lang="en-US" sz="1400" b="1" dirty="0">
                <a:solidFill>
                  <a:schemeClr val="bg1"/>
                </a:solidFill>
              </a:rPr>
              <a:t>4  Mitigation</a:t>
            </a:r>
            <a:endParaRPr lang="en-US" sz="1400" dirty="0"/>
          </a:p>
          <a:p>
            <a:pPr marL="0" indent="0">
              <a:buNone/>
            </a:pPr>
            <a:r>
              <a:rPr lang="en-US" sz="1100" dirty="0">
                <a:solidFill>
                  <a:schemeClr val="accent3"/>
                </a:solidFill>
                <a:latin typeface="Courier New" pitchFamily="34" charset="0"/>
                <a:ea typeface="Courier New" pitchFamily="34" charset="-122"/>
                <a:cs typeface="Courier New" pitchFamily="34" charset="-120"/>
              </a:rPr>
              <a:t>generate_mitigation</a:t>
            </a:r>
            <a:endParaRPr lang="en-US" sz="1400" dirty="0"/>
          </a:p>
        </p:txBody>
      </p:sp>
      <p:sp>
        <p:nvSpPr>
          <p:cNvPr id="50" name="Node 5"/>
          <p:cNvSpPr/>
          <p:nvPr/>
        </p:nvSpPr>
        <p:spPr>
          <a:xfrm>
            <a:off x="6647688" y="5495544"/>
            <a:ext cx="2340864" cy="676656"/>
          </a:xfrm>
          <a:prstGeom prst="roundRect">
            <a:avLst>
              <a:gd name="adj" fmla="val 10811"/>
            </a:avLst>
          </a:prstGeom>
          <a:solidFill>
            <a:schemeClr val="bg1">
              <a:alpha val="10000"/>
            </a:schemeClr>
          </a:solidFill>
          <a:ln/>
        </p:spPr>
      </p:sp>
      <p:sp>
        <p:nvSpPr>
          <p:cNvPr id="51" name="Text 43"/>
          <p:cNvSpPr txBox="1"/>
          <p:nvPr/>
        </p:nvSpPr>
        <p:spPr>
          <a:xfrm>
            <a:off x="6757416" y="5495544"/>
            <a:ext cx="2157984" cy="676656"/>
          </a:xfrm>
          <a:prstGeom prst="rect">
            <a:avLst/>
          </a:prstGeom>
          <a:noFill/>
          <a:ln/>
        </p:spPr>
        <p:txBody>
          <a:bodyPr wrap="square" lIns="0" tIns="0" rIns="0" bIns="0" rtlCol="0" anchor="ctr"/>
          <a:lstStyle/>
          <a:p>
            <a:pPr marL="0" indent="0">
              <a:buNone/>
            </a:pPr>
            <a:r>
              <a:rPr lang="en-US" sz="1400" b="1" dirty="0">
                <a:solidFill>
                  <a:schemeClr val="bg1"/>
                </a:solidFill>
              </a:rPr>
              <a:t>5  Improvements</a:t>
            </a:r>
            <a:endParaRPr lang="en-US" sz="1400" dirty="0"/>
          </a:p>
          <a:p>
            <a:pPr marL="0" indent="0">
              <a:buNone/>
            </a:pPr>
            <a:r>
              <a:rPr lang="en-US" sz="1100" dirty="0">
                <a:solidFill>
                  <a:schemeClr val="accent3"/>
                </a:solidFill>
                <a:latin typeface="Courier New" pitchFamily="34" charset="0"/>
                <a:ea typeface="Courier New" pitchFamily="34" charset="-122"/>
                <a:cs typeface="Courier New" pitchFamily="34" charset="-120"/>
              </a:rPr>
              <a:t>generate_improvements</a:t>
            </a:r>
            <a:endParaRPr lang="en-US" sz="1400" dirty="0"/>
          </a:p>
        </p:txBody>
      </p:sp>
      <p:sp>
        <p:nvSpPr>
          <p:cNvPr id="52" name="Node 6"/>
          <p:cNvSpPr/>
          <p:nvPr/>
        </p:nvSpPr>
        <p:spPr>
          <a:xfrm>
            <a:off x="9134856" y="5495544"/>
            <a:ext cx="2340864" cy="676656"/>
          </a:xfrm>
          <a:prstGeom prst="roundRect">
            <a:avLst>
              <a:gd name="adj" fmla="val 10811"/>
            </a:avLst>
          </a:prstGeom>
          <a:solidFill>
            <a:schemeClr val="bg1">
              <a:alpha val="10000"/>
            </a:schemeClr>
          </a:solidFill>
          <a:ln/>
        </p:spPr>
      </p:sp>
      <p:sp>
        <p:nvSpPr>
          <p:cNvPr id="53" name="Text 45"/>
          <p:cNvSpPr txBox="1"/>
          <p:nvPr/>
        </p:nvSpPr>
        <p:spPr>
          <a:xfrm>
            <a:off x="9244584" y="5495544"/>
            <a:ext cx="2157984" cy="676656"/>
          </a:xfrm>
          <a:prstGeom prst="rect">
            <a:avLst/>
          </a:prstGeom>
          <a:noFill/>
          <a:ln/>
        </p:spPr>
        <p:txBody>
          <a:bodyPr wrap="square" lIns="0" tIns="0" rIns="0" bIns="0" rtlCol="0" anchor="ctr"/>
          <a:lstStyle/>
          <a:p>
            <a:pPr marL="0" indent="0">
              <a:buNone/>
            </a:pPr>
            <a:r>
              <a:rPr lang="en-US" sz="1400" b="1" dirty="0">
                <a:solidFill>
                  <a:schemeClr val="bg1"/>
                </a:solidFill>
              </a:rPr>
              <a:t>6  Final response</a:t>
            </a:r>
            <a:endParaRPr lang="en-US" sz="1400" dirty="0"/>
          </a:p>
          <a:p>
            <a:pPr marL="0" indent="0">
              <a:buNone/>
            </a:pPr>
            <a:r>
              <a:rPr lang="en-US" sz="1100" dirty="0">
                <a:solidFill>
                  <a:schemeClr val="accent3"/>
                </a:solidFill>
                <a:latin typeface="Courier New" pitchFamily="34" charset="0"/>
                <a:ea typeface="Courier New" pitchFamily="34" charset="-122"/>
                <a:cs typeface="Courier New" pitchFamily="34" charset="-120"/>
              </a:rPr>
              <a:t>generate_final_response</a:t>
            </a:r>
            <a:endParaRPr lang="en-US" sz="1400" dirty="0"/>
          </a:p>
        </p:txBody>
      </p:sp>
      <p:sp>
        <p:nvSpPr>
          <p:cNvPr id="54"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System Architecture</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A layered design that carries an idea from the user to the database and back</a:t>
            </a:r>
            <a:endParaRPr lang="en-US" sz="1600" dirty="0"/>
          </a:p>
        </p:txBody>
      </p:sp>
      <p:sp>
        <p:nvSpPr>
          <p:cNvPr id="4" name="Users band"/>
          <p:cNvSpPr/>
          <p:nvPr/>
        </p:nvSpPr>
        <p:spPr>
          <a:xfrm>
            <a:off x="548640" y="1645920"/>
            <a:ext cx="11091672" cy="749808"/>
          </a:xfrm>
          <a:prstGeom prst="roundRect">
            <a:avLst>
              <a:gd name="adj" fmla="val 14634"/>
            </a:avLst>
          </a:prstGeom>
          <a:solidFill>
            <a:schemeClr val="bg1"/>
          </a:solidFill>
          <a:ln/>
          <a:effectLst>
            <a:outerShdw blurRad="101600" dist="25400" dir="5400000" algn="bl" rotWithShape="0">
              <a:srgbClr val="0B1630">
                <a:alpha val="12000"/>
              </a:srgbClr>
            </a:outerShdw>
          </a:effectLst>
        </p:spPr>
      </p:sp>
      <p:sp>
        <p:nvSpPr>
          <p:cNvPr id="5" name="Users label"/>
          <p:cNvSpPr/>
          <p:nvPr/>
        </p:nvSpPr>
        <p:spPr>
          <a:xfrm>
            <a:off x="548640" y="1645920"/>
            <a:ext cx="2286000" cy="749808"/>
          </a:xfrm>
          <a:prstGeom prst="roundRect">
            <a:avLst>
              <a:gd name="adj" fmla="val 14634"/>
            </a:avLst>
          </a:prstGeom>
          <a:solidFill>
            <a:schemeClr val="accent5"/>
          </a:solidFill>
          <a:ln/>
        </p:spPr>
      </p:sp>
      <p:sp>
        <p:nvSpPr>
          <p:cNvPr id="6" name="Text 4"/>
          <p:cNvSpPr txBox="1"/>
          <p:nvPr/>
        </p:nvSpPr>
        <p:spPr>
          <a:xfrm>
            <a:off x="548640" y="1645920"/>
            <a:ext cx="2286000" cy="749808"/>
          </a:xfrm>
          <a:prstGeom prst="rect">
            <a:avLst/>
          </a:prstGeom>
          <a:noFill/>
          <a:ln/>
        </p:spPr>
        <p:txBody>
          <a:bodyPr wrap="square" lIns="0" tIns="0" rIns="0" bIns="0" rtlCol="0" anchor="ctr"/>
          <a:lstStyle/>
          <a:p>
            <a:pPr marL="0" indent="0" algn="ctr">
              <a:buNone/>
            </a:pPr>
            <a:r>
              <a:rPr lang="en-US" sz="1700" b="1" dirty="0">
                <a:solidFill>
                  <a:schemeClr val="bg1"/>
                </a:solidFill>
              </a:rPr>
              <a:t>Users</a:t>
            </a:r>
            <a:endParaRPr lang="en-US" sz="1700" dirty="0"/>
          </a:p>
        </p:txBody>
      </p:sp>
      <p:sp>
        <p:nvSpPr>
          <p:cNvPr id="7" name="Users chip 1"/>
          <p:cNvSpPr/>
          <p:nvPr/>
        </p:nvSpPr>
        <p:spPr>
          <a:xfrm>
            <a:off x="3017520" y="1746504"/>
            <a:ext cx="1618488" cy="548640"/>
          </a:xfrm>
          <a:prstGeom prst="roundRect">
            <a:avLst>
              <a:gd name="adj" fmla="val 13333"/>
            </a:avLst>
          </a:prstGeom>
          <a:solidFill>
            <a:schemeClr val="bg2"/>
          </a:solidFill>
          <a:ln/>
        </p:spPr>
      </p:sp>
      <p:sp>
        <p:nvSpPr>
          <p:cNvPr id="8" name="Text 6"/>
          <p:cNvSpPr txBox="1"/>
          <p:nvPr/>
        </p:nvSpPr>
        <p:spPr>
          <a:xfrm>
            <a:off x="3017520" y="1746504"/>
            <a:ext cx="1618488" cy="548640"/>
          </a:xfrm>
          <a:prstGeom prst="rect">
            <a:avLst/>
          </a:prstGeom>
          <a:noFill/>
          <a:ln/>
        </p:spPr>
        <p:txBody>
          <a:bodyPr wrap="square" lIns="508" tIns="508" rIns="508" bIns="508" rtlCol="0" anchor="ctr"/>
          <a:lstStyle/>
          <a:p>
            <a:pPr marL="0" indent="0" algn="ctr">
              <a:buNone/>
            </a:pPr>
            <a:r>
              <a:rPr lang="en-US" sz="1400" dirty="0">
                <a:solidFill>
                  <a:schemeClr val="tx1"/>
                </a:solidFill>
              </a:rPr>
              <a:t>Entrepreneurs</a:t>
            </a:r>
            <a:endParaRPr lang="en-US" sz="1400" dirty="0"/>
          </a:p>
        </p:txBody>
      </p:sp>
      <p:sp>
        <p:nvSpPr>
          <p:cNvPr id="9" name="Users chip 2"/>
          <p:cNvSpPr/>
          <p:nvPr/>
        </p:nvSpPr>
        <p:spPr>
          <a:xfrm>
            <a:off x="4745736" y="1746504"/>
            <a:ext cx="1618488" cy="548640"/>
          </a:xfrm>
          <a:prstGeom prst="roundRect">
            <a:avLst>
              <a:gd name="adj" fmla="val 13333"/>
            </a:avLst>
          </a:prstGeom>
          <a:solidFill>
            <a:schemeClr val="bg2"/>
          </a:solidFill>
          <a:ln/>
        </p:spPr>
      </p:sp>
      <p:sp>
        <p:nvSpPr>
          <p:cNvPr id="10" name="Text 8"/>
          <p:cNvSpPr txBox="1"/>
          <p:nvPr/>
        </p:nvSpPr>
        <p:spPr>
          <a:xfrm>
            <a:off x="4745736" y="1746504"/>
            <a:ext cx="1618488" cy="548640"/>
          </a:xfrm>
          <a:prstGeom prst="rect">
            <a:avLst/>
          </a:prstGeom>
          <a:noFill/>
          <a:ln/>
        </p:spPr>
        <p:txBody>
          <a:bodyPr wrap="square" lIns="508" tIns="508" rIns="508" bIns="508" rtlCol="0" anchor="ctr"/>
          <a:lstStyle/>
          <a:p>
            <a:pPr marL="0" indent="0" algn="ctr">
              <a:buNone/>
            </a:pPr>
            <a:r>
              <a:rPr lang="en-US" sz="1400" dirty="0">
                <a:solidFill>
                  <a:schemeClr val="tx1"/>
                </a:solidFill>
              </a:rPr>
              <a:t>Startup founders</a:t>
            </a:r>
            <a:endParaRPr lang="en-US" sz="1400" dirty="0"/>
          </a:p>
        </p:txBody>
      </p:sp>
      <p:sp>
        <p:nvSpPr>
          <p:cNvPr id="11" name="Users chip 3"/>
          <p:cNvSpPr/>
          <p:nvPr/>
        </p:nvSpPr>
        <p:spPr>
          <a:xfrm>
            <a:off x="6473952" y="1746504"/>
            <a:ext cx="1618488" cy="548640"/>
          </a:xfrm>
          <a:prstGeom prst="roundRect">
            <a:avLst>
              <a:gd name="adj" fmla="val 13333"/>
            </a:avLst>
          </a:prstGeom>
          <a:solidFill>
            <a:schemeClr val="bg2"/>
          </a:solidFill>
          <a:ln/>
        </p:spPr>
      </p:sp>
      <p:sp>
        <p:nvSpPr>
          <p:cNvPr id="12" name="Text 10"/>
          <p:cNvSpPr txBox="1"/>
          <p:nvPr/>
        </p:nvSpPr>
        <p:spPr>
          <a:xfrm>
            <a:off x="6473952" y="1746504"/>
            <a:ext cx="1618488" cy="548640"/>
          </a:xfrm>
          <a:prstGeom prst="rect">
            <a:avLst/>
          </a:prstGeom>
          <a:noFill/>
          <a:ln/>
        </p:spPr>
        <p:txBody>
          <a:bodyPr wrap="square" lIns="508" tIns="508" rIns="508" bIns="508" rtlCol="0" anchor="ctr"/>
          <a:lstStyle/>
          <a:p>
            <a:pPr marL="0" indent="0" algn="ctr">
              <a:buNone/>
            </a:pPr>
            <a:r>
              <a:rPr lang="en-US" sz="1400" dirty="0">
                <a:solidFill>
                  <a:schemeClr val="tx1"/>
                </a:solidFill>
              </a:rPr>
              <a:t>Students</a:t>
            </a:r>
            <a:endParaRPr lang="en-US" sz="1400" dirty="0"/>
          </a:p>
        </p:txBody>
      </p:sp>
      <p:sp>
        <p:nvSpPr>
          <p:cNvPr id="13" name="Users chip 4"/>
          <p:cNvSpPr/>
          <p:nvPr/>
        </p:nvSpPr>
        <p:spPr>
          <a:xfrm>
            <a:off x="8202168" y="1746504"/>
            <a:ext cx="1618488" cy="548640"/>
          </a:xfrm>
          <a:prstGeom prst="roundRect">
            <a:avLst>
              <a:gd name="adj" fmla="val 13333"/>
            </a:avLst>
          </a:prstGeom>
          <a:solidFill>
            <a:schemeClr val="bg2"/>
          </a:solidFill>
          <a:ln/>
        </p:spPr>
      </p:sp>
      <p:sp>
        <p:nvSpPr>
          <p:cNvPr id="14" name="Text 12"/>
          <p:cNvSpPr txBox="1"/>
          <p:nvPr/>
        </p:nvSpPr>
        <p:spPr>
          <a:xfrm>
            <a:off x="8202168" y="1746504"/>
            <a:ext cx="1618488" cy="548640"/>
          </a:xfrm>
          <a:prstGeom prst="rect">
            <a:avLst/>
          </a:prstGeom>
          <a:noFill/>
          <a:ln/>
        </p:spPr>
        <p:txBody>
          <a:bodyPr wrap="square" lIns="508" tIns="508" rIns="508" bIns="508" rtlCol="0" anchor="ctr"/>
          <a:lstStyle/>
          <a:p>
            <a:pPr marL="0" indent="0" algn="ctr">
              <a:buNone/>
            </a:pPr>
            <a:r>
              <a:rPr lang="en-US" sz="1400" dirty="0">
                <a:solidFill>
                  <a:schemeClr val="tx1"/>
                </a:solidFill>
              </a:rPr>
              <a:t>Hackathon teams</a:t>
            </a:r>
            <a:endParaRPr lang="en-US" sz="1400" dirty="0"/>
          </a:p>
        </p:txBody>
      </p:sp>
      <p:sp>
        <p:nvSpPr>
          <p:cNvPr id="15" name="Users chip 5"/>
          <p:cNvSpPr/>
          <p:nvPr/>
        </p:nvSpPr>
        <p:spPr>
          <a:xfrm>
            <a:off x="9930384" y="1746504"/>
            <a:ext cx="1618488" cy="548640"/>
          </a:xfrm>
          <a:prstGeom prst="roundRect">
            <a:avLst>
              <a:gd name="adj" fmla="val 13333"/>
            </a:avLst>
          </a:prstGeom>
          <a:solidFill>
            <a:schemeClr val="bg2"/>
          </a:solidFill>
          <a:ln/>
        </p:spPr>
      </p:sp>
      <p:sp>
        <p:nvSpPr>
          <p:cNvPr id="16" name="Text 14"/>
          <p:cNvSpPr txBox="1"/>
          <p:nvPr/>
        </p:nvSpPr>
        <p:spPr>
          <a:xfrm>
            <a:off x="9930384" y="1746504"/>
            <a:ext cx="1618488" cy="548640"/>
          </a:xfrm>
          <a:prstGeom prst="rect">
            <a:avLst/>
          </a:prstGeom>
          <a:noFill/>
          <a:ln/>
        </p:spPr>
        <p:txBody>
          <a:bodyPr wrap="square" lIns="508" tIns="508" rIns="508" bIns="508" rtlCol="0" anchor="ctr"/>
          <a:lstStyle/>
          <a:p>
            <a:pPr marL="0" indent="0" algn="ctr">
              <a:buNone/>
            </a:pPr>
            <a:r>
              <a:rPr lang="en-US" sz="1400" dirty="0">
                <a:solidFill>
                  <a:schemeClr val="tx1"/>
                </a:solidFill>
              </a:rPr>
              <a:t>Business analysts</a:t>
            </a:r>
            <a:endParaRPr lang="en-US" sz="1400" dirty="0"/>
          </a:p>
        </p:txBody>
      </p:sp>
      <p:sp>
        <p:nvSpPr>
          <p:cNvPr id="17" name="Layer arrow 1"/>
          <p:cNvSpPr/>
          <p:nvPr/>
        </p:nvSpPr>
        <p:spPr>
          <a:xfrm>
            <a:off x="1572768" y="2414016"/>
            <a:ext cx="237744" cy="155448"/>
          </a:xfrm>
          <a:prstGeom prst="downArrow">
            <a:avLst/>
          </a:prstGeom>
          <a:solidFill>
            <a:schemeClr val="accent5"/>
          </a:solidFill>
          <a:ln/>
        </p:spPr>
      </p:sp>
      <p:sp>
        <p:nvSpPr>
          <p:cNvPr id="18" name="Presentation band"/>
          <p:cNvSpPr/>
          <p:nvPr/>
        </p:nvSpPr>
        <p:spPr>
          <a:xfrm>
            <a:off x="548640" y="2578608"/>
            <a:ext cx="11091672" cy="749808"/>
          </a:xfrm>
          <a:prstGeom prst="roundRect">
            <a:avLst>
              <a:gd name="adj" fmla="val 14634"/>
            </a:avLst>
          </a:prstGeom>
          <a:solidFill>
            <a:schemeClr val="bg1"/>
          </a:solidFill>
          <a:ln/>
          <a:effectLst>
            <a:outerShdw blurRad="101600" dist="25400" dir="5400000" algn="bl" rotWithShape="0">
              <a:srgbClr val="0B1630">
                <a:alpha val="12000"/>
              </a:srgbClr>
            </a:outerShdw>
          </a:effectLst>
        </p:spPr>
      </p:sp>
      <p:sp>
        <p:nvSpPr>
          <p:cNvPr id="19" name="Presentation label"/>
          <p:cNvSpPr/>
          <p:nvPr/>
        </p:nvSpPr>
        <p:spPr>
          <a:xfrm>
            <a:off x="548640" y="2578608"/>
            <a:ext cx="2286000" cy="749808"/>
          </a:xfrm>
          <a:prstGeom prst="roundRect">
            <a:avLst>
              <a:gd name="adj" fmla="val 14634"/>
            </a:avLst>
          </a:prstGeom>
          <a:solidFill>
            <a:schemeClr val="accent1"/>
          </a:solidFill>
          <a:ln/>
        </p:spPr>
      </p:sp>
      <p:sp>
        <p:nvSpPr>
          <p:cNvPr id="20" name="Text 18"/>
          <p:cNvSpPr txBox="1"/>
          <p:nvPr/>
        </p:nvSpPr>
        <p:spPr>
          <a:xfrm>
            <a:off x="548640" y="2578608"/>
            <a:ext cx="2286000" cy="749808"/>
          </a:xfrm>
          <a:prstGeom prst="rect">
            <a:avLst/>
          </a:prstGeom>
          <a:noFill/>
          <a:ln/>
        </p:spPr>
        <p:txBody>
          <a:bodyPr wrap="square" lIns="0" tIns="0" rIns="0" bIns="0" rtlCol="0" anchor="ctr"/>
          <a:lstStyle/>
          <a:p>
            <a:pPr marL="0" indent="0" algn="ctr">
              <a:buNone/>
            </a:pPr>
            <a:r>
              <a:rPr lang="en-US" sz="1700" b="1" dirty="0">
                <a:solidFill>
                  <a:schemeClr val="bg1"/>
                </a:solidFill>
              </a:rPr>
              <a:t>Presentation</a:t>
            </a:r>
            <a:endParaRPr lang="en-US" sz="1700" dirty="0"/>
          </a:p>
        </p:txBody>
      </p:sp>
      <p:sp>
        <p:nvSpPr>
          <p:cNvPr id="21" name="Presentation chip 1"/>
          <p:cNvSpPr/>
          <p:nvPr/>
        </p:nvSpPr>
        <p:spPr>
          <a:xfrm>
            <a:off x="3017520" y="2679192"/>
            <a:ext cx="2050542" cy="548640"/>
          </a:xfrm>
          <a:prstGeom prst="roundRect">
            <a:avLst>
              <a:gd name="adj" fmla="val 13333"/>
            </a:avLst>
          </a:prstGeom>
          <a:solidFill>
            <a:schemeClr val="bg2"/>
          </a:solidFill>
          <a:ln/>
        </p:spPr>
      </p:sp>
      <p:sp>
        <p:nvSpPr>
          <p:cNvPr id="22" name="Text 20"/>
          <p:cNvSpPr txBox="1"/>
          <p:nvPr/>
        </p:nvSpPr>
        <p:spPr>
          <a:xfrm>
            <a:off x="3017520" y="2679192"/>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Streamlit dashboard</a:t>
            </a:r>
            <a:endParaRPr lang="en-US" sz="1400" dirty="0"/>
          </a:p>
        </p:txBody>
      </p:sp>
      <p:sp>
        <p:nvSpPr>
          <p:cNvPr id="23" name="Presentation chip 2"/>
          <p:cNvSpPr/>
          <p:nvPr/>
        </p:nvSpPr>
        <p:spPr>
          <a:xfrm>
            <a:off x="5177790" y="2679192"/>
            <a:ext cx="2050542" cy="548640"/>
          </a:xfrm>
          <a:prstGeom prst="roundRect">
            <a:avLst>
              <a:gd name="adj" fmla="val 13333"/>
            </a:avLst>
          </a:prstGeom>
          <a:solidFill>
            <a:schemeClr val="bg2"/>
          </a:solidFill>
          <a:ln/>
        </p:spPr>
      </p:sp>
      <p:sp>
        <p:nvSpPr>
          <p:cNvPr id="24" name="Text 22"/>
          <p:cNvSpPr txBox="1"/>
          <p:nvPr/>
        </p:nvSpPr>
        <p:spPr>
          <a:xfrm>
            <a:off x="5177790" y="2679192"/>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Project input</a:t>
            </a:r>
            <a:endParaRPr lang="en-US" sz="1400" dirty="0"/>
          </a:p>
        </p:txBody>
      </p:sp>
      <p:sp>
        <p:nvSpPr>
          <p:cNvPr id="25" name="Presentation chip 3"/>
          <p:cNvSpPr/>
          <p:nvPr/>
        </p:nvSpPr>
        <p:spPr>
          <a:xfrm>
            <a:off x="7338060" y="2679192"/>
            <a:ext cx="2050542" cy="548640"/>
          </a:xfrm>
          <a:prstGeom prst="roundRect">
            <a:avLst>
              <a:gd name="adj" fmla="val 13333"/>
            </a:avLst>
          </a:prstGeom>
          <a:solidFill>
            <a:schemeClr val="bg2"/>
          </a:solidFill>
          <a:ln/>
        </p:spPr>
      </p:sp>
      <p:sp>
        <p:nvSpPr>
          <p:cNvPr id="26" name="Text 24"/>
          <p:cNvSpPr txBox="1"/>
          <p:nvPr/>
        </p:nvSpPr>
        <p:spPr>
          <a:xfrm>
            <a:off x="7338060" y="2679192"/>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Risk analytics</a:t>
            </a:r>
            <a:endParaRPr lang="en-US" sz="1400" dirty="0"/>
          </a:p>
        </p:txBody>
      </p:sp>
      <p:sp>
        <p:nvSpPr>
          <p:cNvPr id="27" name="Presentation chip 4"/>
          <p:cNvSpPr/>
          <p:nvPr/>
        </p:nvSpPr>
        <p:spPr>
          <a:xfrm>
            <a:off x="9498330" y="2679192"/>
            <a:ext cx="2050542" cy="548640"/>
          </a:xfrm>
          <a:prstGeom prst="roundRect">
            <a:avLst>
              <a:gd name="adj" fmla="val 13333"/>
            </a:avLst>
          </a:prstGeom>
          <a:solidFill>
            <a:schemeClr val="bg2"/>
          </a:solidFill>
          <a:ln/>
        </p:spPr>
      </p:sp>
      <p:sp>
        <p:nvSpPr>
          <p:cNvPr id="28" name="Text 26"/>
          <p:cNvSpPr txBox="1"/>
          <p:nvPr/>
        </p:nvSpPr>
        <p:spPr>
          <a:xfrm>
            <a:off x="9498330" y="2679192"/>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Assessment reports</a:t>
            </a:r>
            <a:endParaRPr lang="en-US" sz="1400" dirty="0"/>
          </a:p>
        </p:txBody>
      </p:sp>
      <p:sp>
        <p:nvSpPr>
          <p:cNvPr id="29" name="Layer arrow 2"/>
          <p:cNvSpPr/>
          <p:nvPr/>
        </p:nvSpPr>
        <p:spPr>
          <a:xfrm>
            <a:off x="1572768" y="3346704"/>
            <a:ext cx="237744" cy="155448"/>
          </a:xfrm>
          <a:prstGeom prst="downArrow">
            <a:avLst/>
          </a:prstGeom>
          <a:solidFill>
            <a:schemeClr val="accent5"/>
          </a:solidFill>
          <a:ln/>
        </p:spPr>
      </p:sp>
      <p:sp>
        <p:nvSpPr>
          <p:cNvPr id="30" name="Analysis band"/>
          <p:cNvSpPr/>
          <p:nvPr/>
        </p:nvSpPr>
        <p:spPr>
          <a:xfrm>
            <a:off x="548640" y="3511296"/>
            <a:ext cx="11091672" cy="749808"/>
          </a:xfrm>
          <a:prstGeom prst="roundRect">
            <a:avLst>
              <a:gd name="adj" fmla="val 14634"/>
            </a:avLst>
          </a:prstGeom>
          <a:solidFill>
            <a:schemeClr val="bg1"/>
          </a:solidFill>
          <a:ln/>
          <a:effectLst>
            <a:outerShdw blurRad="101600" dist="25400" dir="5400000" algn="bl" rotWithShape="0">
              <a:srgbClr val="0B1630">
                <a:alpha val="12000"/>
              </a:srgbClr>
            </a:outerShdw>
          </a:effectLst>
        </p:spPr>
      </p:sp>
      <p:sp>
        <p:nvSpPr>
          <p:cNvPr id="31" name="Analysis label"/>
          <p:cNvSpPr/>
          <p:nvPr/>
        </p:nvSpPr>
        <p:spPr>
          <a:xfrm>
            <a:off x="548640" y="3511296"/>
            <a:ext cx="2286000" cy="749808"/>
          </a:xfrm>
          <a:prstGeom prst="roundRect">
            <a:avLst>
              <a:gd name="adj" fmla="val 14634"/>
            </a:avLst>
          </a:prstGeom>
          <a:solidFill>
            <a:schemeClr val="accent6"/>
          </a:solidFill>
          <a:ln/>
        </p:spPr>
      </p:sp>
      <p:sp>
        <p:nvSpPr>
          <p:cNvPr id="32" name="Text 30"/>
          <p:cNvSpPr txBox="1"/>
          <p:nvPr/>
        </p:nvSpPr>
        <p:spPr>
          <a:xfrm>
            <a:off x="548640" y="3511296"/>
            <a:ext cx="2286000" cy="749808"/>
          </a:xfrm>
          <a:prstGeom prst="rect">
            <a:avLst/>
          </a:prstGeom>
          <a:noFill/>
          <a:ln/>
        </p:spPr>
        <p:txBody>
          <a:bodyPr wrap="square" lIns="0" tIns="0" rIns="0" bIns="0" rtlCol="0" anchor="ctr"/>
          <a:lstStyle/>
          <a:p>
            <a:pPr marL="0" indent="0" algn="ctr">
              <a:buNone/>
            </a:pPr>
            <a:r>
              <a:rPr lang="en-US" sz="1700" b="1" dirty="0">
                <a:solidFill>
                  <a:schemeClr val="bg1"/>
                </a:solidFill>
              </a:rPr>
              <a:t>Analysis</a:t>
            </a:r>
            <a:endParaRPr lang="en-US" sz="1700" dirty="0"/>
          </a:p>
        </p:txBody>
      </p:sp>
      <p:sp>
        <p:nvSpPr>
          <p:cNvPr id="33" name="Analysis chip 1"/>
          <p:cNvSpPr/>
          <p:nvPr/>
        </p:nvSpPr>
        <p:spPr>
          <a:xfrm>
            <a:off x="3017520" y="3611880"/>
            <a:ext cx="2050542" cy="548640"/>
          </a:xfrm>
          <a:prstGeom prst="roundRect">
            <a:avLst>
              <a:gd name="adj" fmla="val 13333"/>
            </a:avLst>
          </a:prstGeom>
          <a:solidFill>
            <a:schemeClr val="bg2"/>
          </a:solidFill>
          <a:ln/>
        </p:spPr>
      </p:sp>
      <p:sp>
        <p:nvSpPr>
          <p:cNvPr id="34" name="Text 32"/>
          <p:cNvSpPr txBox="1"/>
          <p:nvPr/>
        </p:nvSpPr>
        <p:spPr>
          <a:xfrm>
            <a:off x="3017520" y="3611880"/>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Market intelligence</a:t>
            </a:r>
            <a:endParaRPr lang="en-US" sz="1400" dirty="0"/>
          </a:p>
        </p:txBody>
      </p:sp>
      <p:sp>
        <p:nvSpPr>
          <p:cNvPr id="35" name="Analysis chip 2"/>
          <p:cNvSpPr/>
          <p:nvPr/>
        </p:nvSpPr>
        <p:spPr>
          <a:xfrm>
            <a:off x="5177790" y="3611880"/>
            <a:ext cx="2050542" cy="548640"/>
          </a:xfrm>
          <a:prstGeom prst="roundRect">
            <a:avLst>
              <a:gd name="adj" fmla="val 13333"/>
            </a:avLst>
          </a:prstGeom>
          <a:solidFill>
            <a:schemeClr val="bg2"/>
          </a:solidFill>
          <a:ln/>
        </p:spPr>
      </p:sp>
      <p:sp>
        <p:nvSpPr>
          <p:cNvPr id="36" name="Text 34"/>
          <p:cNvSpPr txBox="1"/>
          <p:nvPr/>
        </p:nvSpPr>
        <p:spPr>
          <a:xfrm>
            <a:off x="5177790" y="3611880"/>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Risk scoring</a:t>
            </a:r>
            <a:endParaRPr lang="en-US" sz="1400" dirty="0"/>
          </a:p>
        </p:txBody>
      </p:sp>
      <p:sp>
        <p:nvSpPr>
          <p:cNvPr id="37" name="Analysis chip 3"/>
          <p:cNvSpPr/>
          <p:nvPr/>
        </p:nvSpPr>
        <p:spPr>
          <a:xfrm>
            <a:off x="7338060" y="3611880"/>
            <a:ext cx="2050542" cy="548640"/>
          </a:xfrm>
          <a:prstGeom prst="roundRect">
            <a:avLst>
              <a:gd name="adj" fmla="val 13333"/>
            </a:avLst>
          </a:prstGeom>
          <a:solidFill>
            <a:schemeClr val="bg2"/>
          </a:solidFill>
          <a:ln/>
        </p:spPr>
      </p:sp>
      <p:sp>
        <p:nvSpPr>
          <p:cNvPr id="38" name="Text 36"/>
          <p:cNvSpPr txBox="1"/>
          <p:nvPr/>
        </p:nvSpPr>
        <p:spPr>
          <a:xfrm>
            <a:off x="7338060" y="3611880"/>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SWOT analysis</a:t>
            </a:r>
            <a:endParaRPr lang="en-US" sz="1400" dirty="0"/>
          </a:p>
        </p:txBody>
      </p:sp>
      <p:sp>
        <p:nvSpPr>
          <p:cNvPr id="39" name="Analysis chip 4"/>
          <p:cNvSpPr/>
          <p:nvPr/>
        </p:nvSpPr>
        <p:spPr>
          <a:xfrm>
            <a:off x="9498330" y="3611880"/>
            <a:ext cx="2050542" cy="548640"/>
          </a:xfrm>
          <a:prstGeom prst="roundRect">
            <a:avLst>
              <a:gd name="adj" fmla="val 13333"/>
            </a:avLst>
          </a:prstGeom>
          <a:solidFill>
            <a:schemeClr val="bg2"/>
          </a:solidFill>
          <a:ln/>
        </p:spPr>
      </p:sp>
      <p:sp>
        <p:nvSpPr>
          <p:cNvPr id="40" name="Text 38"/>
          <p:cNvSpPr txBox="1"/>
          <p:nvPr/>
        </p:nvSpPr>
        <p:spPr>
          <a:xfrm>
            <a:off x="9498330" y="3611880"/>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Feasibility</a:t>
            </a:r>
            <a:endParaRPr lang="en-US" sz="1400" dirty="0"/>
          </a:p>
        </p:txBody>
      </p:sp>
      <p:sp>
        <p:nvSpPr>
          <p:cNvPr id="41" name="Layer arrow 3"/>
          <p:cNvSpPr/>
          <p:nvPr/>
        </p:nvSpPr>
        <p:spPr>
          <a:xfrm>
            <a:off x="1572768" y="4279392"/>
            <a:ext cx="237744" cy="155448"/>
          </a:xfrm>
          <a:prstGeom prst="downArrow">
            <a:avLst/>
          </a:prstGeom>
          <a:solidFill>
            <a:schemeClr val="accent5"/>
          </a:solidFill>
          <a:ln/>
        </p:spPr>
      </p:sp>
      <p:sp>
        <p:nvSpPr>
          <p:cNvPr id="42" name="AI orchestration band"/>
          <p:cNvSpPr/>
          <p:nvPr/>
        </p:nvSpPr>
        <p:spPr>
          <a:xfrm>
            <a:off x="548640" y="4443984"/>
            <a:ext cx="11091672" cy="749808"/>
          </a:xfrm>
          <a:prstGeom prst="roundRect">
            <a:avLst>
              <a:gd name="adj" fmla="val 14634"/>
            </a:avLst>
          </a:prstGeom>
          <a:solidFill>
            <a:schemeClr val="bg1"/>
          </a:solidFill>
          <a:ln/>
          <a:effectLst>
            <a:outerShdw blurRad="101600" dist="25400" dir="5400000" algn="bl" rotWithShape="0">
              <a:srgbClr val="0B1630">
                <a:alpha val="12000"/>
              </a:srgbClr>
            </a:outerShdw>
          </a:effectLst>
        </p:spPr>
      </p:sp>
      <p:sp>
        <p:nvSpPr>
          <p:cNvPr id="43" name="AI orchestration label"/>
          <p:cNvSpPr/>
          <p:nvPr/>
        </p:nvSpPr>
        <p:spPr>
          <a:xfrm>
            <a:off x="548640" y="4443984"/>
            <a:ext cx="2286000" cy="749808"/>
          </a:xfrm>
          <a:prstGeom prst="roundRect">
            <a:avLst>
              <a:gd name="adj" fmla="val 14634"/>
            </a:avLst>
          </a:prstGeom>
          <a:solidFill>
            <a:schemeClr val="accent4"/>
          </a:solidFill>
          <a:ln/>
        </p:spPr>
      </p:sp>
      <p:sp>
        <p:nvSpPr>
          <p:cNvPr id="44" name="Text 42"/>
          <p:cNvSpPr txBox="1"/>
          <p:nvPr/>
        </p:nvSpPr>
        <p:spPr>
          <a:xfrm>
            <a:off x="548640" y="4443984"/>
            <a:ext cx="2286000" cy="749808"/>
          </a:xfrm>
          <a:prstGeom prst="rect">
            <a:avLst/>
          </a:prstGeom>
          <a:noFill/>
          <a:ln/>
        </p:spPr>
        <p:txBody>
          <a:bodyPr wrap="square" lIns="0" tIns="0" rIns="0" bIns="0" rtlCol="0" anchor="ctr"/>
          <a:lstStyle/>
          <a:p>
            <a:pPr marL="0" indent="0" algn="ctr">
              <a:buNone/>
            </a:pPr>
            <a:r>
              <a:rPr lang="en-US" sz="1700" b="1" dirty="0">
                <a:solidFill>
                  <a:schemeClr val="bg1"/>
                </a:solidFill>
              </a:rPr>
              <a:t>AI orchestration</a:t>
            </a:r>
            <a:endParaRPr lang="en-US" sz="1700" dirty="0"/>
          </a:p>
        </p:txBody>
      </p:sp>
      <p:sp>
        <p:nvSpPr>
          <p:cNvPr id="45" name="AI orchestration chip 1"/>
          <p:cNvSpPr/>
          <p:nvPr/>
        </p:nvSpPr>
        <p:spPr>
          <a:xfrm>
            <a:off x="3017520" y="4544568"/>
            <a:ext cx="2050542" cy="548640"/>
          </a:xfrm>
          <a:prstGeom prst="roundRect">
            <a:avLst>
              <a:gd name="adj" fmla="val 13333"/>
            </a:avLst>
          </a:prstGeom>
          <a:solidFill>
            <a:schemeClr val="bg2"/>
          </a:solidFill>
          <a:ln/>
        </p:spPr>
      </p:sp>
      <p:sp>
        <p:nvSpPr>
          <p:cNvPr id="46" name="Text 44"/>
          <p:cNvSpPr txBox="1"/>
          <p:nvPr/>
        </p:nvSpPr>
        <p:spPr>
          <a:xfrm>
            <a:off x="3017520" y="4544568"/>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LangGraph agent</a:t>
            </a:r>
            <a:endParaRPr lang="en-US" sz="1400" dirty="0"/>
          </a:p>
        </p:txBody>
      </p:sp>
      <p:sp>
        <p:nvSpPr>
          <p:cNvPr id="47" name="AI orchestration chip 2"/>
          <p:cNvSpPr/>
          <p:nvPr/>
        </p:nvSpPr>
        <p:spPr>
          <a:xfrm>
            <a:off x="5177790" y="4544568"/>
            <a:ext cx="2050542" cy="548640"/>
          </a:xfrm>
          <a:prstGeom prst="roundRect">
            <a:avLst>
              <a:gd name="adj" fmla="val 13333"/>
            </a:avLst>
          </a:prstGeom>
          <a:solidFill>
            <a:schemeClr val="bg2"/>
          </a:solidFill>
          <a:ln/>
        </p:spPr>
      </p:sp>
      <p:sp>
        <p:nvSpPr>
          <p:cNvPr id="48" name="Text 46"/>
          <p:cNvSpPr txBox="1"/>
          <p:nvPr/>
        </p:nvSpPr>
        <p:spPr>
          <a:xfrm>
            <a:off x="5177790" y="4544568"/>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Gemini LLM</a:t>
            </a:r>
            <a:endParaRPr lang="en-US" sz="1400" dirty="0"/>
          </a:p>
        </p:txBody>
      </p:sp>
      <p:sp>
        <p:nvSpPr>
          <p:cNvPr id="49" name="AI orchestration chip 3"/>
          <p:cNvSpPr/>
          <p:nvPr/>
        </p:nvSpPr>
        <p:spPr>
          <a:xfrm>
            <a:off x="7338060" y="4544568"/>
            <a:ext cx="2050542" cy="548640"/>
          </a:xfrm>
          <a:prstGeom prst="roundRect">
            <a:avLst>
              <a:gd name="adj" fmla="val 13333"/>
            </a:avLst>
          </a:prstGeom>
          <a:solidFill>
            <a:schemeClr val="bg2"/>
          </a:solidFill>
          <a:ln/>
        </p:spPr>
      </p:sp>
      <p:sp>
        <p:nvSpPr>
          <p:cNvPr id="50" name="Text 48"/>
          <p:cNvSpPr txBox="1"/>
          <p:nvPr/>
        </p:nvSpPr>
        <p:spPr>
          <a:xfrm>
            <a:off x="7338060" y="4544568"/>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Recommendations</a:t>
            </a:r>
            <a:endParaRPr lang="en-US" sz="1400" dirty="0"/>
          </a:p>
        </p:txBody>
      </p:sp>
      <p:sp>
        <p:nvSpPr>
          <p:cNvPr id="51" name="AI orchestration chip 4"/>
          <p:cNvSpPr/>
          <p:nvPr/>
        </p:nvSpPr>
        <p:spPr>
          <a:xfrm>
            <a:off x="9498330" y="4544568"/>
            <a:ext cx="2050542" cy="548640"/>
          </a:xfrm>
          <a:prstGeom prst="roundRect">
            <a:avLst>
              <a:gd name="adj" fmla="val 13333"/>
            </a:avLst>
          </a:prstGeom>
          <a:solidFill>
            <a:schemeClr val="bg2"/>
          </a:solidFill>
          <a:ln/>
        </p:spPr>
      </p:sp>
      <p:sp>
        <p:nvSpPr>
          <p:cNvPr id="52" name="Text 50"/>
          <p:cNvSpPr txBox="1"/>
          <p:nvPr/>
        </p:nvSpPr>
        <p:spPr>
          <a:xfrm>
            <a:off x="9498330" y="4544568"/>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Mitigation</a:t>
            </a:r>
            <a:endParaRPr lang="en-US" sz="1400" dirty="0"/>
          </a:p>
        </p:txBody>
      </p:sp>
      <p:sp>
        <p:nvSpPr>
          <p:cNvPr id="53" name="Layer arrow 4"/>
          <p:cNvSpPr/>
          <p:nvPr/>
        </p:nvSpPr>
        <p:spPr>
          <a:xfrm>
            <a:off x="1572768" y="5212080"/>
            <a:ext cx="237744" cy="155448"/>
          </a:xfrm>
          <a:prstGeom prst="downArrow">
            <a:avLst/>
          </a:prstGeom>
          <a:solidFill>
            <a:schemeClr val="accent5"/>
          </a:solidFill>
          <a:ln/>
        </p:spPr>
      </p:sp>
      <p:sp>
        <p:nvSpPr>
          <p:cNvPr id="54" name="Data band"/>
          <p:cNvSpPr/>
          <p:nvPr/>
        </p:nvSpPr>
        <p:spPr>
          <a:xfrm>
            <a:off x="548640" y="5376672"/>
            <a:ext cx="11091672" cy="749808"/>
          </a:xfrm>
          <a:prstGeom prst="roundRect">
            <a:avLst>
              <a:gd name="adj" fmla="val 14634"/>
            </a:avLst>
          </a:prstGeom>
          <a:solidFill>
            <a:schemeClr val="bg1"/>
          </a:solidFill>
          <a:ln/>
          <a:effectLst>
            <a:outerShdw blurRad="101600" dist="25400" dir="5400000" algn="bl" rotWithShape="0">
              <a:srgbClr val="0B1630">
                <a:alpha val="12000"/>
              </a:srgbClr>
            </a:outerShdw>
          </a:effectLst>
        </p:spPr>
      </p:sp>
      <p:sp>
        <p:nvSpPr>
          <p:cNvPr id="55" name="Data label"/>
          <p:cNvSpPr/>
          <p:nvPr/>
        </p:nvSpPr>
        <p:spPr>
          <a:xfrm>
            <a:off x="548640" y="5376672"/>
            <a:ext cx="2286000" cy="749808"/>
          </a:xfrm>
          <a:prstGeom prst="roundRect">
            <a:avLst>
              <a:gd name="adj" fmla="val 14634"/>
            </a:avLst>
          </a:prstGeom>
          <a:solidFill>
            <a:schemeClr val="tx2"/>
          </a:solidFill>
          <a:ln/>
        </p:spPr>
      </p:sp>
      <p:sp>
        <p:nvSpPr>
          <p:cNvPr id="56" name="Text 54"/>
          <p:cNvSpPr txBox="1"/>
          <p:nvPr/>
        </p:nvSpPr>
        <p:spPr>
          <a:xfrm>
            <a:off x="548640" y="5376672"/>
            <a:ext cx="2286000" cy="749808"/>
          </a:xfrm>
          <a:prstGeom prst="rect">
            <a:avLst/>
          </a:prstGeom>
          <a:noFill/>
          <a:ln/>
        </p:spPr>
        <p:txBody>
          <a:bodyPr wrap="square" lIns="0" tIns="0" rIns="0" bIns="0" rtlCol="0" anchor="ctr"/>
          <a:lstStyle/>
          <a:p>
            <a:pPr marL="0" indent="0" algn="ctr">
              <a:buNone/>
            </a:pPr>
            <a:r>
              <a:rPr lang="en-US" sz="1700" b="1" dirty="0">
                <a:solidFill>
                  <a:schemeClr val="bg1"/>
                </a:solidFill>
              </a:rPr>
              <a:t>Data</a:t>
            </a:r>
            <a:endParaRPr lang="en-US" sz="1700" dirty="0"/>
          </a:p>
        </p:txBody>
      </p:sp>
      <p:sp>
        <p:nvSpPr>
          <p:cNvPr id="57" name="Data chip 1"/>
          <p:cNvSpPr/>
          <p:nvPr/>
        </p:nvSpPr>
        <p:spPr>
          <a:xfrm>
            <a:off x="3017520" y="5477256"/>
            <a:ext cx="2050542" cy="548640"/>
          </a:xfrm>
          <a:prstGeom prst="roundRect">
            <a:avLst>
              <a:gd name="adj" fmla="val 13333"/>
            </a:avLst>
          </a:prstGeom>
          <a:solidFill>
            <a:schemeClr val="bg2"/>
          </a:solidFill>
          <a:ln/>
        </p:spPr>
      </p:sp>
      <p:sp>
        <p:nvSpPr>
          <p:cNvPr id="58" name="Text 56"/>
          <p:cNvSpPr txBox="1"/>
          <p:nvPr/>
        </p:nvSpPr>
        <p:spPr>
          <a:xfrm>
            <a:off x="3017520" y="5477256"/>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SQLite database</a:t>
            </a:r>
            <a:endParaRPr lang="en-US" sz="1400" dirty="0"/>
          </a:p>
        </p:txBody>
      </p:sp>
      <p:sp>
        <p:nvSpPr>
          <p:cNvPr id="59" name="Data chip 2"/>
          <p:cNvSpPr/>
          <p:nvPr/>
        </p:nvSpPr>
        <p:spPr>
          <a:xfrm>
            <a:off x="5177790" y="5477256"/>
            <a:ext cx="2050542" cy="548640"/>
          </a:xfrm>
          <a:prstGeom prst="roundRect">
            <a:avLst>
              <a:gd name="adj" fmla="val 13333"/>
            </a:avLst>
          </a:prstGeom>
          <a:solidFill>
            <a:schemeClr val="bg2"/>
          </a:solidFill>
          <a:ln/>
        </p:spPr>
      </p:sp>
      <p:sp>
        <p:nvSpPr>
          <p:cNvPr id="60" name="Text 58"/>
          <p:cNvSpPr txBox="1"/>
          <p:nvPr/>
        </p:nvSpPr>
        <p:spPr>
          <a:xfrm>
            <a:off x="5177790" y="5477256"/>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Project records</a:t>
            </a:r>
            <a:endParaRPr lang="en-US" sz="1400" dirty="0"/>
          </a:p>
        </p:txBody>
      </p:sp>
      <p:sp>
        <p:nvSpPr>
          <p:cNvPr id="61" name="Data chip 3"/>
          <p:cNvSpPr/>
          <p:nvPr/>
        </p:nvSpPr>
        <p:spPr>
          <a:xfrm>
            <a:off x="7338060" y="5477256"/>
            <a:ext cx="2050542" cy="548640"/>
          </a:xfrm>
          <a:prstGeom prst="roundRect">
            <a:avLst>
              <a:gd name="adj" fmla="val 13333"/>
            </a:avLst>
          </a:prstGeom>
          <a:solidFill>
            <a:schemeClr val="bg2"/>
          </a:solidFill>
          <a:ln/>
        </p:spPr>
      </p:sp>
      <p:sp>
        <p:nvSpPr>
          <p:cNvPr id="62" name="Text 60"/>
          <p:cNvSpPr txBox="1"/>
          <p:nvPr/>
        </p:nvSpPr>
        <p:spPr>
          <a:xfrm>
            <a:off x="7338060" y="5477256"/>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Risk results</a:t>
            </a:r>
            <a:endParaRPr lang="en-US" sz="1400" dirty="0"/>
          </a:p>
        </p:txBody>
      </p:sp>
      <p:sp>
        <p:nvSpPr>
          <p:cNvPr id="63" name="Data chip 4"/>
          <p:cNvSpPr/>
          <p:nvPr/>
        </p:nvSpPr>
        <p:spPr>
          <a:xfrm>
            <a:off x="9498330" y="5477256"/>
            <a:ext cx="2050542" cy="548640"/>
          </a:xfrm>
          <a:prstGeom prst="roundRect">
            <a:avLst>
              <a:gd name="adj" fmla="val 13333"/>
            </a:avLst>
          </a:prstGeom>
          <a:solidFill>
            <a:schemeClr val="bg2"/>
          </a:solidFill>
          <a:ln/>
        </p:spPr>
      </p:sp>
      <p:sp>
        <p:nvSpPr>
          <p:cNvPr id="64" name="Text 62"/>
          <p:cNvSpPr txBox="1"/>
          <p:nvPr/>
        </p:nvSpPr>
        <p:spPr>
          <a:xfrm>
            <a:off x="9498330" y="5477256"/>
            <a:ext cx="2050542" cy="548640"/>
          </a:xfrm>
          <a:prstGeom prst="rect">
            <a:avLst/>
          </a:prstGeom>
          <a:noFill/>
          <a:ln/>
        </p:spPr>
        <p:txBody>
          <a:bodyPr wrap="square" lIns="508" tIns="508" rIns="508" bIns="508" rtlCol="0" anchor="ctr"/>
          <a:lstStyle/>
          <a:p>
            <a:pPr marL="0" indent="0" algn="ctr">
              <a:buNone/>
            </a:pPr>
            <a:r>
              <a:rPr lang="en-US" sz="1400" dirty="0">
                <a:solidFill>
                  <a:schemeClr val="tx1"/>
                </a:solidFill>
              </a:rPr>
              <a:t>Analytics logs</a:t>
            </a:r>
            <a:endParaRPr lang="en-US" sz="1400" dirty="0"/>
          </a:p>
        </p:txBody>
      </p:sp>
      <p:sp>
        <p:nvSpPr>
          <p:cNvPr id="6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Risk Assessment Engine</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Five risk categories feed a single score</a:t>
            </a:r>
            <a:endParaRPr lang="en-US" sz="1600" dirty="0"/>
          </a:p>
        </p:txBody>
      </p:sp>
      <p:sp>
        <p:nvSpPr>
          <p:cNvPr id="4" name="Financial risk card"/>
          <p:cNvSpPr/>
          <p:nvPr/>
        </p:nvSpPr>
        <p:spPr>
          <a:xfrm>
            <a:off x="548640" y="1645920"/>
            <a:ext cx="2101291"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5" name="Financial circle"/>
          <p:cNvSpPr/>
          <p:nvPr/>
        </p:nvSpPr>
        <p:spPr>
          <a:xfrm>
            <a:off x="749808" y="1828800"/>
            <a:ext cx="548640" cy="548640"/>
          </a:xfrm>
          <a:prstGeom prst="ellipse">
            <a:avLst/>
          </a:prstGeom>
          <a:solidFill>
            <a:schemeClr val="accent3"/>
          </a:solidFill>
          <a:ln/>
        </p:spPr>
      </p:sp>
      <p:pic>
        <p:nvPicPr>
          <p:cNvPr id="6" name="Image 0" descr="Financial"/>
          <p:cNvPicPr>
            <a:picLocks noChangeAspect="1"/>
          </p:cNvPicPr>
          <p:nvPr/>
        </p:nvPicPr>
        <p:blipFill>
          <a:blip r:embed="rId3"/>
          <a:stretch>
            <a:fillRect/>
          </a:stretch>
        </p:blipFill>
        <p:spPr>
          <a:xfrm>
            <a:off x="881482" y="1960474"/>
            <a:ext cx="285293" cy="285293"/>
          </a:xfrm>
          <a:prstGeom prst="rect">
            <a:avLst/>
          </a:prstGeom>
        </p:spPr>
      </p:pic>
      <p:sp>
        <p:nvSpPr>
          <p:cNvPr id="7" name="Text 4"/>
          <p:cNvSpPr txBox="1"/>
          <p:nvPr/>
        </p:nvSpPr>
        <p:spPr>
          <a:xfrm>
            <a:off x="749808" y="2514600"/>
            <a:ext cx="1735531" cy="320040"/>
          </a:xfrm>
          <a:prstGeom prst="rect">
            <a:avLst/>
          </a:prstGeom>
          <a:noFill/>
          <a:ln/>
        </p:spPr>
        <p:txBody>
          <a:bodyPr wrap="square" lIns="0" tIns="0" rIns="0" bIns="0" rtlCol="0" anchor="ctr"/>
          <a:lstStyle/>
          <a:p>
            <a:pPr marL="0" indent="0">
              <a:buNone/>
            </a:pPr>
            <a:r>
              <a:rPr lang="en-US" sz="1800" b="1" dirty="0">
                <a:solidFill>
                  <a:schemeClr val="tx2"/>
                </a:solidFill>
              </a:rPr>
              <a:t>Financial</a:t>
            </a:r>
            <a:endParaRPr lang="en-US" sz="1800" dirty="0"/>
          </a:p>
        </p:txBody>
      </p:sp>
      <p:sp>
        <p:nvSpPr>
          <p:cNvPr id="8" name="Text 5"/>
          <p:cNvSpPr txBox="1"/>
          <p:nvPr/>
        </p:nvSpPr>
        <p:spPr>
          <a:xfrm>
            <a:off x="749808" y="2862072"/>
            <a:ext cx="1735531" cy="777240"/>
          </a:xfrm>
          <a:prstGeom prst="rect">
            <a:avLst/>
          </a:prstGeom>
          <a:noFill/>
          <a:ln/>
        </p:spPr>
        <p:txBody>
          <a:bodyPr wrap="square" lIns="0" tIns="0" rIns="0" bIns="0" rtlCol="0" anchor="t"/>
          <a:lstStyle/>
          <a:p>
            <a:pPr marL="0" indent="0">
              <a:buNone/>
            </a:pPr>
            <a:r>
              <a:rPr lang="en-US" sz="1400" dirty="0">
                <a:solidFill>
                  <a:schemeClr val="tx1"/>
                </a:solidFill>
              </a:rPr>
              <a:t>Budget constraints and funding runway</a:t>
            </a:r>
            <a:endParaRPr lang="en-US" sz="1400" dirty="0"/>
          </a:p>
        </p:txBody>
      </p:sp>
      <p:sp>
        <p:nvSpPr>
          <p:cNvPr id="9" name="Market risk card"/>
          <p:cNvSpPr/>
          <p:nvPr/>
        </p:nvSpPr>
        <p:spPr>
          <a:xfrm>
            <a:off x="2796235" y="1645920"/>
            <a:ext cx="2101291"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10" name="Market circle"/>
          <p:cNvSpPr/>
          <p:nvPr/>
        </p:nvSpPr>
        <p:spPr>
          <a:xfrm>
            <a:off x="2997403" y="1828800"/>
            <a:ext cx="548640" cy="548640"/>
          </a:xfrm>
          <a:prstGeom prst="ellipse">
            <a:avLst/>
          </a:prstGeom>
          <a:solidFill>
            <a:schemeClr val="accent1"/>
          </a:solidFill>
          <a:ln/>
        </p:spPr>
      </p:sp>
      <p:pic>
        <p:nvPicPr>
          <p:cNvPr id="11" name="Image 1" descr="Market"/>
          <p:cNvPicPr>
            <a:picLocks noChangeAspect="1"/>
          </p:cNvPicPr>
          <p:nvPr/>
        </p:nvPicPr>
        <p:blipFill>
          <a:blip r:embed="rId4"/>
          <a:stretch>
            <a:fillRect/>
          </a:stretch>
        </p:blipFill>
        <p:spPr>
          <a:xfrm>
            <a:off x="3129077" y="1960474"/>
            <a:ext cx="285293" cy="285293"/>
          </a:xfrm>
          <a:prstGeom prst="rect">
            <a:avLst/>
          </a:prstGeom>
        </p:spPr>
      </p:pic>
      <p:sp>
        <p:nvSpPr>
          <p:cNvPr id="12" name="Text 8"/>
          <p:cNvSpPr txBox="1"/>
          <p:nvPr/>
        </p:nvSpPr>
        <p:spPr>
          <a:xfrm>
            <a:off x="2997403" y="2514600"/>
            <a:ext cx="1735531" cy="320040"/>
          </a:xfrm>
          <a:prstGeom prst="rect">
            <a:avLst/>
          </a:prstGeom>
          <a:noFill/>
          <a:ln/>
        </p:spPr>
        <p:txBody>
          <a:bodyPr wrap="square" lIns="0" tIns="0" rIns="0" bIns="0" rtlCol="0" anchor="ctr"/>
          <a:lstStyle/>
          <a:p>
            <a:pPr marL="0" indent="0">
              <a:buNone/>
            </a:pPr>
            <a:r>
              <a:rPr lang="en-US" sz="1800" b="1" dirty="0">
                <a:solidFill>
                  <a:schemeClr val="tx2"/>
                </a:solidFill>
              </a:rPr>
              <a:t>Market</a:t>
            </a:r>
            <a:endParaRPr lang="en-US" sz="1800" dirty="0"/>
          </a:p>
        </p:txBody>
      </p:sp>
      <p:sp>
        <p:nvSpPr>
          <p:cNvPr id="13" name="Text 9"/>
          <p:cNvSpPr txBox="1"/>
          <p:nvPr/>
        </p:nvSpPr>
        <p:spPr>
          <a:xfrm>
            <a:off x="2997403" y="2862072"/>
            <a:ext cx="1735531" cy="777240"/>
          </a:xfrm>
          <a:prstGeom prst="rect">
            <a:avLst/>
          </a:prstGeom>
          <a:noFill/>
          <a:ln/>
        </p:spPr>
        <p:txBody>
          <a:bodyPr wrap="square" lIns="0" tIns="0" rIns="0" bIns="0" rtlCol="0" anchor="t"/>
          <a:lstStyle/>
          <a:p>
            <a:pPr marL="0" indent="0">
              <a:buNone/>
            </a:pPr>
            <a:r>
              <a:rPr lang="en-US" sz="1400" dirty="0">
                <a:solidFill>
                  <a:schemeClr val="tx1"/>
                </a:solidFill>
              </a:rPr>
              <a:t>Competitor density and research quality</a:t>
            </a:r>
            <a:endParaRPr lang="en-US" sz="1400" dirty="0"/>
          </a:p>
        </p:txBody>
      </p:sp>
      <p:sp>
        <p:nvSpPr>
          <p:cNvPr id="14" name="Technical risk card"/>
          <p:cNvSpPr/>
          <p:nvPr/>
        </p:nvSpPr>
        <p:spPr>
          <a:xfrm>
            <a:off x="5043830" y="1645920"/>
            <a:ext cx="2101291"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15" name="Technical circle"/>
          <p:cNvSpPr/>
          <p:nvPr/>
        </p:nvSpPr>
        <p:spPr>
          <a:xfrm>
            <a:off x="5244998" y="1828800"/>
            <a:ext cx="548640" cy="548640"/>
          </a:xfrm>
          <a:prstGeom prst="ellipse">
            <a:avLst/>
          </a:prstGeom>
          <a:solidFill>
            <a:schemeClr val="accent6"/>
          </a:solidFill>
          <a:ln/>
        </p:spPr>
      </p:sp>
      <p:pic>
        <p:nvPicPr>
          <p:cNvPr id="16" name="Image 2" descr="Technical"/>
          <p:cNvPicPr>
            <a:picLocks noChangeAspect="1"/>
          </p:cNvPicPr>
          <p:nvPr/>
        </p:nvPicPr>
        <p:blipFill>
          <a:blip r:embed="rId5"/>
          <a:stretch>
            <a:fillRect/>
          </a:stretch>
        </p:blipFill>
        <p:spPr>
          <a:xfrm>
            <a:off x="5376672" y="1960474"/>
            <a:ext cx="285293" cy="285293"/>
          </a:xfrm>
          <a:prstGeom prst="rect">
            <a:avLst/>
          </a:prstGeom>
        </p:spPr>
      </p:pic>
      <p:sp>
        <p:nvSpPr>
          <p:cNvPr id="17" name="Text 12"/>
          <p:cNvSpPr txBox="1"/>
          <p:nvPr/>
        </p:nvSpPr>
        <p:spPr>
          <a:xfrm>
            <a:off x="5244998" y="2514600"/>
            <a:ext cx="1735531" cy="320040"/>
          </a:xfrm>
          <a:prstGeom prst="rect">
            <a:avLst/>
          </a:prstGeom>
          <a:noFill/>
          <a:ln/>
        </p:spPr>
        <p:txBody>
          <a:bodyPr wrap="square" lIns="0" tIns="0" rIns="0" bIns="0" rtlCol="0" anchor="ctr"/>
          <a:lstStyle/>
          <a:p>
            <a:pPr marL="0" indent="0">
              <a:buNone/>
            </a:pPr>
            <a:r>
              <a:rPr lang="en-US" sz="1800" b="1" dirty="0">
                <a:solidFill>
                  <a:schemeClr val="tx2"/>
                </a:solidFill>
              </a:rPr>
              <a:t>Technical</a:t>
            </a:r>
            <a:endParaRPr lang="en-US" sz="1800" dirty="0"/>
          </a:p>
        </p:txBody>
      </p:sp>
      <p:sp>
        <p:nvSpPr>
          <p:cNvPr id="18" name="Text 13"/>
          <p:cNvSpPr txBox="1"/>
          <p:nvPr/>
        </p:nvSpPr>
        <p:spPr>
          <a:xfrm>
            <a:off x="5244998" y="2862072"/>
            <a:ext cx="1735531" cy="777240"/>
          </a:xfrm>
          <a:prstGeom prst="rect">
            <a:avLst/>
          </a:prstGeom>
          <a:noFill/>
          <a:ln/>
        </p:spPr>
        <p:txBody>
          <a:bodyPr wrap="square" lIns="0" tIns="0" rIns="0" bIns="0" rtlCol="0" anchor="t"/>
          <a:lstStyle/>
          <a:p>
            <a:pPr marL="0" indent="0">
              <a:buNone/>
            </a:pPr>
            <a:r>
              <a:rPr lang="en-US" sz="1400" dirty="0">
                <a:solidFill>
                  <a:schemeClr val="tx1"/>
                </a:solidFill>
              </a:rPr>
              <a:t>Team expertise and innovation level</a:t>
            </a:r>
            <a:endParaRPr lang="en-US" sz="1400" dirty="0"/>
          </a:p>
        </p:txBody>
      </p:sp>
      <p:sp>
        <p:nvSpPr>
          <p:cNvPr id="19" name="Operational risk card"/>
          <p:cNvSpPr/>
          <p:nvPr/>
        </p:nvSpPr>
        <p:spPr>
          <a:xfrm>
            <a:off x="7291426" y="1645920"/>
            <a:ext cx="2101291"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20" name="Operational circle"/>
          <p:cNvSpPr/>
          <p:nvPr/>
        </p:nvSpPr>
        <p:spPr>
          <a:xfrm>
            <a:off x="7492594" y="1828800"/>
            <a:ext cx="548640" cy="548640"/>
          </a:xfrm>
          <a:prstGeom prst="ellipse">
            <a:avLst/>
          </a:prstGeom>
          <a:solidFill>
            <a:schemeClr val="accent5"/>
          </a:solidFill>
          <a:ln/>
        </p:spPr>
      </p:sp>
      <p:pic>
        <p:nvPicPr>
          <p:cNvPr id="21" name="Image 3" descr="Operational"/>
          <p:cNvPicPr>
            <a:picLocks noChangeAspect="1"/>
          </p:cNvPicPr>
          <p:nvPr/>
        </p:nvPicPr>
        <p:blipFill>
          <a:blip r:embed="rId6"/>
          <a:stretch>
            <a:fillRect/>
          </a:stretch>
        </p:blipFill>
        <p:spPr>
          <a:xfrm>
            <a:off x="7624267" y="1960474"/>
            <a:ext cx="285293" cy="285293"/>
          </a:xfrm>
          <a:prstGeom prst="rect">
            <a:avLst/>
          </a:prstGeom>
        </p:spPr>
      </p:pic>
      <p:sp>
        <p:nvSpPr>
          <p:cNvPr id="22" name="Text 16"/>
          <p:cNvSpPr txBox="1"/>
          <p:nvPr/>
        </p:nvSpPr>
        <p:spPr>
          <a:xfrm>
            <a:off x="7492594" y="2514600"/>
            <a:ext cx="1735531" cy="320040"/>
          </a:xfrm>
          <a:prstGeom prst="rect">
            <a:avLst/>
          </a:prstGeom>
          <a:noFill/>
          <a:ln/>
        </p:spPr>
        <p:txBody>
          <a:bodyPr wrap="square" lIns="0" tIns="0" rIns="0" bIns="0" rtlCol="0" anchor="ctr"/>
          <a:lstStyle/>
          <a:p>
            <a:pPr marL="0" indent="0">
              <a:buNone/>
            </a:pPr>
            <a:r>
              <a:rPr lang="en-US" sz="1800" b="1" dirty="0">
                <a:solidFill>
                  <a:schemeClr val="tx2"/>
                </a:solidFill>
              </a:rPr>
              <a:t>Operational</a:t>
            </a:r>
            <a:endParaRPr lang="en-US" sz="1800" dirty="0"/>
          </a:p>
        </p:txBody>
      </p:sp>
      <p:sp>
        <p:nvSpPr>
          <p:cNvPr id="23" name="Text 17"/>
          <p:cNvSpPr txBox="1"/>
          <p:nvPr/>
        </p:nvSpPr>
        <p:spPr>
          <a:xfrm>
            <a:off x="7492594" y="2862072"/>
            <a:ext cx="1735531" cy="777240"/>
          </a:xfrm>
          <a:prstGeom prst="rect">
            <a:avLst/>
          </a:prstGeom>
          <a:noFill/>
          <a:ln/>
        </p:spPr>
        <p:txBody>
          <a:bodyPr wrap="square" lIns="0" tIns="0" rIns="0" bIns="0" rtlCol="0" anchor="t"/>
          <a:lstStyle/>
          <a:p>
            <a:pPr marL="0" indent="0">
              <a:buNone/>
            </a:pPr>
            <a:r>
              <a:rPr lang="en-US" sz="1400" dirty="0">
                <a:solidFill>
                  <a:schemeClr val="tx1"/>
                </a:solidFill>
              </a:rPr>
              <a:t>Resource availability and day-to-day operations</a:t>
            </a:r>
            <a:endParaRPr lang="en-US" sz="1400" dirty="0"/>
          </a:p>
        </p:txBody>
      </p:sp>
      <p:sp>
        <p:nvSpPr>
          <p:cNvPr id="24" name="Execution risk card"/>
          <p:cNvSpPr/>
          <p:nvPr/>
        </p:nvSpPr>
        <p:spPr>
          <a:xfrm>
            <a:off x="9539021" y="1645920"/>
            <a:ext cx="2101291"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25" name="Execution circle"/>
          <p:cNvSpPr/>
          <p:nvPr/>
        </p:nvSpPr>
        <p:spPr>
          <a:xfrm>
            <a:off x="9740189" y="1828800"/>
            <a:ext cx="548640" cy="548640"/>
          </a:xfrm>
          <a:prstGeom prst="ellipse">
            <a:avLst/>
          </a:prstGeom>
          <a:solidFill>
            <a:schemeClr val="accent2"/>
          </a:solidFill>
          <a:ln/>
        </p:spPr>
      </p:sp>
      <p:pic>
        <p:nvPicPr>
          <p:cNvPr id="26" name="Image 4" descr="Execution"/>
          <p:cNvPicPr>
            <a:picLocks noChangeAspect="1"/>
          </p:cNvPicPr>
          <p:nvPr/>
        </p:nvPicPr>
        <p:blipFill>
          <a:blip r:embed="rId7"/>
          <a:stretch>
            <a:fillRect/>
          </a:stretch>
        </p:blipFill>
        <p:spPr>
          <a:xfrm>
            <a:off x="9871862" y="1960474"/>
            <a:ext cx="285293" cy="285293"/>
          </a:xfrm>
          <a:prstGeom prst="rect">
            <a:avLst/>
          </a:prstGeom>
        </p:spPr>
      </p:pic>
      <p:sp>
        <p:nvSpPr>
          <p:cNvPr id="27" name="Text 20"/>
          <p:cNvSpPr txBox="1"/>
          <p:nvPr/>
        </p:nvSpPr>
        <p:spPr>
          <a:xfrm>
            <a:off x="9740189" y="2514600"/>
            <a:ext cx="1735531" cy="320040"/>
          </a:xfrm>
          <a:prstGeom prst="rect">
            <a:avLst/>
          </a:prstGeom>
          <a:noFill/>
          <a:ln/>
        </p:spPr>
        <p:txBody>
          <a:bodyPr wrap="square" lIns="0" tIns="0" rIns="0" bIns="0" rtlCol="0" anchor="ctr"/>
          <a:lstStyle/>
          <a:p>
            <a:pPr marL="0" indent="0">
              <a:buNone/>
            </a:pPr>
            <a:r>
              <a:rPr lang="en-US" sz="1800" b="1" dirty="0">
                <a:solidFill>
                  <a:schemeClr val="tx2"/>
                </a:solidFill>
              </a:rPr>
              <a:t>Execution</a:t>
            </a:r>
            <a:endParaRPr lang="en-US" sz="1800" dirty="0"/>
          </a:p>
        </p:txBody>
      </p:sp>
      <p:sp>
        <p:nvSpPr>
          <p:cNvPr id="28" name="Text 21"/>
          <p:cNvSpPr txBox="1"/>
          <p:nvPr/>
        </p:nvSpPr>
        <p:spPr>
          <a:xfrm>
            <a:off x="9740189" y="2862072"/>
            <a:ext cx="1735531" cy="777240"/>
          </a:xfrm>
          <a:prstGeom prst="rect">
            <a:avLst/>
          </a:prstGeom>
          <a:noFill/>
          <a:ln/>
        </p:spPr>
        <p:txBody>
          <a:bodyPr wrap="square" lIns="0" tIns="0" rIns="0" bIns="0" rtlCol="0" anchor="t"/>
          <a:lstStyle/>
          <a:p>
            <a:pPr marL="0" indent="0">
              <a:buNone/>
            </a:pPr>
            <a:r>
              <a:rPr lang="en-US" sz="1400" dirty="0">
                <a:solidFill>
                  <a:schemeClr val="tx1"/>
                </a:solidFill>
              </a:rPr>
              <a:t>Capability to deliver the plan</a:t>
            </a:r>
            <a:endParaRPr lang="en-US" sz="1400" dirty="0"/>
          </a:p>
        </p:txBody>
      </p:sp>
      <p:sp>
        <p:nvSpPr>
          <p:cNvPr id="29" name="Inputs box"/>
          <p:cNvSpPr/>
          <p:nvPr/>
        </p:nvSpPr>
        <p:spPr>
          <a:xfrm>
            <a:off x="548640" y="4023360"/>
            <a:ext cx="3200400" cy="2103120"/>
          </a:xfrm>
          <a:prstGeom prst="roundRect">
            <a:avLst>
              <a:gd name="adj" fmla="val 5217"/>
            </a:avLst>
          </a:prstGeom>
          <a:solidFill>
            <a:schemeClr val="bg1"/>
          </a:solidFill>
          <a:ln/>
          <a:effectLst>
            <a:outerShdw blurRad="101600" dist="25400" dir="5400000" algn="bl" rotWithShape="0">
              <a:srgbClr val="0B1630">
                <a:alpha val="12000"/>
              </a:srgbClr>
            </a:outerShdw>
          </a:effectLst>
        </p:spPr>
      </p:sp>
      <p:sp>
        <p:nvSpPr>
          <p:cNvPr id="30" name="Text 23"/>
          <p:cNvSpPr txBox="1"/>
          <p:nvPr/>
        </p:nvSpPr>
        <p:spPr>
          <a:xfrm>
            <a:off x="777240" y="4206240"/>
            <a:ext cx="2743200" cy="365760"/>
          </a:xfrm>
          <a:prstGeom prst="rect">
            <a:avLst/>
          </a:prstGeom>
          <a:noFill/>
          <a:ln/>
        </p:spPr>
        <p:txBody>
          <a:bodyPr wrap="square" lIns="0" tIns="0" rIns="0" bIns="0" rtlCol="0" anchor="ctr"/>
          <a:lstStyle/>
          <a:p>
            <a:pPr marL="0" indent="0">
              <a:buNone/>
            </a:pPr>
            <a:r>
              <a:rPr lang="en-US" sz="1900" b="1" dirty="0">
                <a:solidFill>
                  <a:schemeClr val="tx2"/>
                </a:solidFill>
              </a:rPr>
              <a:t>Inputs</a:t>
            </a:r>
            <a:endParaRPr lang="en-US" sz="1900" dirty="0"/>
          </a:p>
        </p:txBody>
      </p:sp>
      <p:sp>
        <p:nvSpPr>
          <p:cNvPr id="31" name="Text 24"/>
          <p:cNvSpPr txBox="1"/>
          <p:nvPr/>
        </p:nvSpPr>
        <p:spPr>
          <a:xfrm>
            <a:off x="777240" y="4709160"/>
            <a:ext cx="274320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Project details and market data</a:t>
            </a:r>
            <a:endParaRPr lang="en-US" sz="1400" dirty="0"/>
          </a:p>
          <a:p>
            <a:pPr marL="342900" indent="-342900">
              <a:spcAft>
                <a:spcPts val="600"/>
              </a:spcAft>
              <a:buSzPct val="100000"/>
              <a:buChar char="•"/>
            </a:pPr>
            <a:r>
              <a:rPr lang="en-US" sz="1400" dirty="0">
                <a:solidFill>
                  <a:schemeClr val="tx1"/>
                </a:solidFill>
              </a:rPr>
              <a:t>Five risk inputs</a:t>
            </a:r>
            <a:endParaRPr lang="en-US" sz="1400" dirty="0"/>
          </a:p>
          <a:p>
            <a:pPr marL="342900" indent="-342900">
              <a:spcAft>
                <a:spcPts val="600"/>
              </a:spcAft>
              <a:buSzPct val="100000"/>
              <a:buChar char="•"/>
            </a:pPr>
            <a:r>
              <a:rPr lang="en-US" sz="1400" dirty="0">
                <a:solidFill>
                  <a:schemeClr val="tx1"/>
                </a:solidFill>
              </a:rPr>
              <a:t>Four feasibility sliders</a:t>
            </a:r>
            <a:endParaRPr lang="en-US" sz="1400" dirty="0"/>
          </a:p>
        </p:txBody>
      </p:sp>
      <p:sp>
        <p:nvSpPr>
          <p:cNvPr id="32" name="Engine arrow 1"/>
          <p:cNvSpPr/>
          <p:nvPr/>
        </p:nvSpPr>
        <p:spPr>
          <a:xfrm>
            <a:off x="3840480" y="5074920"/>
            <a:ext cx="562356" cy="0"/>
          </a:xfrm>
          <a:prstGeom prst="line">
            <a:avLst/>
          </a:prstGeom>
          <a:noFill/>
          <a:ln w="25400">
            <a:solidFill>
              <a:schemeClr val="accent5"/>
            </a:solidFill>
            <a:prstDash val="solid"/>
            <a:tailEnd type="triangle"/>
          </a:ln>
        </p:spPr>
      </p:sp>
      <p:sp>
        <p:nvSpPr>
          <p:cNvPr id="33" name="Scoring model box"/>
          <p:cNvSpPr/>
          <p:nvPr/>
        </p:nvSpPr>
        <p:spPr>
          <a:xfrm>
            <a:off x="4494276" y="4023360"/>
            <a:ext cx="3200400" cy="2103120"/>
          </a:xfrm>
          <a:prstGeom prst="roundRect">
            <a:avLst>
              <a:gd name="adj" fmla="val 5217"/>
            </a:avLst>
          </a:prstGeom>
          <a:solidFill>
            <a:schemeClr val="accent1"/>
          </a:solidFill>
          <a:ln/>
          <a:effectLst>
            <a:outerShdw blurRad="101600" dist="25400" dir="5400000" algn="bl" rotWithShape="0">
              <a:srgbClr val="0B1630">
                <a:alpha val="12000"/>
              </a:srgbClr>
            </a:outerShdw>
          </a:effectLst>
        </p:spPr>
      </p:sp>
      <p:sp>
        <p:nvSpPr>
          <p:cNvPr id="34" name="Text 27"/>
          <p:cNvSpPr txBox="1"/>
          <p:nvPr/>
        </p:nvSpPr>
        <p:spPr>
          <a:xfrm>
            <a:off x="4722876" y="4206240"/>
            <a:ext cx="2743200" cy="365760"/>
          </a:xfrm>
          <a:prstGeom prst="rect">
            <a:avLst/>
          </a:prstGeom>
          <a:noFill/>
          <a:ln/>
        </p:spPr>
        <p:txBody>
          <a:bodyPr wrap="square" lIns="0" tIns="0" rIns="0" bIns="0" rtlCol="0" anchor="ctr"/>
          <a:lstStyle/>
          <a:p>
            <a:pPr marL="0" indent="0">
              <a:buNone/>
            </a:pPr>
            <a:r>
              <a:rPr lang="en-US" sz="1900" b="1" dirty="0">
                <a:solidFill>
                  <a:schemeClr val="bg1"/>
                </a:solidFill>
              </a:rPr>
              <a:t>Scoring model</a:t>
            </a:r>
            <a:endParaRPr lang="en-US" sz="1900" dirty="0"/>
          </a:p>
        </p:txBody>
      </p:sp>
      <p:sp>
        <p:nvSpPr>
          <p:cNvPr id="35" name="Text 28"/>
          <p:cNvSpPr txBox="1"/>
          <p:nvPr/>
        </p:nvSpPr>
        <p:spPr>
          <a:xfrm>
            <a:off x="4722876" y="4709160"/>
            <a:ext cx="274320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Combines the five risk categories</a:t>
            </a:r>
            <a:endParaRPr lang="en-US" sz="1400" dirty="0"/>
          </a:p>
          <a:p>
            <a:pPr marL="342900" indent="-342900">
              <a:spcAft>
                <a:spcPts val="600"/>
              </a:spcAft>
              <a:buSzPct val="100000"/>
              <a:buChar char="•"/>
            </a:pPr>
            <a:r>
              <a:rPr lang="en-US" sz="1400" dirty="0">
                <a:solidFill>
                  <a:schemeClr val="bg1"/>
                </a:solidFill>
              </a:rPr>
              <a:t>Prioritises high-impact risk factors</a:t>
            </a:r>
            <a:endParaRPr lang="en-US" sz="1400" dirty="0"/>
          </a:p>
          <a:p>
            <a:pPr marL="342900" indent="-342900">
              <a:spcAft>
                <a:spcPts val="600"/>
              </a:spcAft>
              <a:buSzPct val="100000"/>
              <a:buChar char="•"/>
            </a:pPr>
            <a:r>
              <a:rPr lang="en-US" sz="1400" dirty="0">
                <a:solidFill>
                  <a:schemeClr val="bg1"/>
                </a:solidFill>
              </a:rPr>
              <a:t>Calculates a separate feasibility score</a:t>
            </a:r>
            <a:endParaRPr lang="en-US" sz="1400" dirty="0"/>
          </a:p>
        </p:txBody>
      </p:sp>
      <p:sp>
        <p:nvSpPr>
          <p:cNvPr id="36" name="Engine arrow 2"/>
          <p:cNvSpPr/>
          <p:nvPr/>
        </p:nvSpPr>
        <p:spPr>
          <a:xfrm>
            <a:off x="7786116" y="5074920"/>
            <a:ext cx="562356" cy="0"/>
          </a:xfrm>
          <a:prstGeom prst="line">
            <a:avLst/>
          </a:prstGeom>
          <a:noFill/>
          <a:ln w="25400">
            <a:solidFill>
              <a:schemeClr val="accent5"/>
            </a:solidFill>
            <a:prstDash val="solid"/>
            <a:tailEnd type="triangle"/>
          </a:ln>
        </p:spPr>
      </p:sp>
      <p:sp>
        <p:nvSpPr>
          <p:cNvPr id="37" name="Outputs box"/>
          <p:cNvSpPr/>
          <p:nvPr/>
        </p:nvSpPr>
        <p:spPr>
          <a:xfrm>
            <a:off x="8439912" y="4023360"/>
            <a:ext cx="3200400" cy="2103120"/>
          </a:xfrm>
          <a:prstGeom prst="roundRect">
            <a:avLst>
              <a:gd name="adj" fmla="val 5217"/>
            </a:avLst>
          </a:prstGeom>
          <a:solidFill>
            <a:schemeClr val="bg1"/>
          </a:solidFill>
          <a:ln/>
          <a:effectLst>
            <a:outerShdw blurRad="101600" dist="25400" dir="5400000" algn="bl" rotWithShape="0">
              <a:srgbClr val="0B1630">
                <a:alpha val="12000"/>
              </a:srgbClr>
            </a:outerShdw>
          </a:effectLst>
        </p:spPr>
      </p:sp>
      <p:sp>
        <p:nvSpPr>
          <p:cNvPr id="38" name="Text 31"/>
          <p:cNvSpPr txBox="1"/>
          <p:nvPr/>
        </p:nvSpPr>
        <p:spPr>
          <a:xfrm>
            <a:off x="8668512" y="4206240"/>
            <a:ext cx="2743200" cy="365760"/>
          </a:xfrm>
          <a:prstGeom prst="rect">
            <a:avLst/>
          </a:prstGeom>
          <a:noFill/>
          <a:ln/>
        </p:spPr>
        <p:txBody>
          <a:bodyPr wrap="square" lIns="0" tIns="0" rIns="0" bIns="0" rtlCol="0" anchor="ctr"/>
          <a:lstStyle/>
          <a:p>
            <a:pPr marL="0" indent="0">
              <a:buNone/>
            </a:pPr>
            <a:r>
              <a:rPr lang="en-US" sz="1900" b="1" dirty="0">
                <a:solidFill>
                  <a:schemeClr val="tx2"/>
                </a:solidFill>
              </a:rPr>
              <a:t>Outputs</a:t>
            </a:r>
            <a:endParaRPr lang="en-US" sz="1900" dirty="0"/>
          </a:p>
        </p:txBody>
      </p:sp>
      <p:sp>
        <p:nvSpPr>
          <p:cNvPr id="39" name="Text 32"/>
          <p:cNvSpPr txBox="1"/>
          <p:nvPr/>
        </p:nvSpPr>
        <p:spPr>
          <a:xfrm>
            <a:off x="8668512" y="4709160"/>
            <a:ext cx="274320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Overall risk score and risk status</a:t>
            </a:r>
            <a:endParaRPr lang="en-US" sz="1400" dirty="0"/>
          </a:p>
          <a:p>
            <a:pPr marL="342900" indent="-342900">
              <a:spcAft>
                <a:spcPts val="600"/>
              </a:spcAft>
              <a:buSzPct val="100000"/>
              <a:buChar char="•"/>
            </a:pPr>
            <a:r>
              <a:rPr lang="en-US" sz="1400" dirty="0">
                <a:solidFill>
                  <a:schemeClr val="tx1"/>
                </a:solidFill>
              </a:rPr>
              <a:t>Success probability</a:t>
            </a:r>
            <a:endParaRPr lang="en-US" sz="1400" dirty="0"/>
          </a:p>
          <a:p>
            <a:pPr marL="342900" indent="-342900">
              <a:spcAft>
                <a:spcPts val="600"/>
              </a:spcAft>
              <a:buSzPct val="100000"/>
              <a:buChar char="•"/>
            </a:pPr>
            <a:r>
              <a:rPr lang="en-US" sz="1400" dirty="0">
                <a:solidFill>
                  <a:schemeClr val="tx1"/>
                </a:solidFill>
              </a:rPr>
              <a:t>Feasibility score</a:t>
            </a:r>
            <a:endParaRPr lang="en-US" sz="1400" dirty="0"/>
          </a:p>
        </p:txBody>
      </p:sp>
      <p:sp>
        <p:nvSpPr>
          <p:cNvPr id="4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AI Recommendation Engine</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From identified risks to prioritised, actionable advice</a:t>
            </a:r>
            <a:endParaRPr lang="en-US" sz="1600" dirty="0"/>
          </a:p>
        </p:txBody>
      </p:sp>
      <p:sp>
        <p:nvSpPr>
          <p:cNvPr id="4" name="Anatomy card"/>
          <p:cNvSpPr/>
          <p:nvPr/>
        </p:nvSpPr>
        <p:spPr>
          <a:xfrm>
            <a:off x="548640" y="1691640"/>
            <a:ext cx="5394960" cy="4434840"/>
          </a:xfrm>
          <a:prstGeom prst="roundRect">
            <a:avLst>
              <a:gd name="adj" fmla="val 2474"/>
            </a:avLst>
          </a:prstGeom>
          <a:solidFill>
            <a:schemeClr val="bg1"/>
          </a:solidFill>
          <a:ln/>
          <a:effectLst>
            <a:outerShdw blurRad="101600" dist="25400" dir="5400000" algn="bl" rotWithShape="0">
              <a:srgbClr val="0B1630">
                <a:alpha val="12000"/>
              </a:srgbClr>
            </a:outerShdw>
          </a:effectLst>
        </p:spPr>
      </p:sp>
      <p:sp>
        <p:nvSpPr>
          <p:cNvPr id="5" name="Text 3"/>
          <p:cNvSpPr txBox="1"/>
          <p:nvPr/>
        </p:nvSpPr>
        <p:spPr>
          <a:xfrm>
            <a:off x="777240" y="1874520"/>
            <a:ext cx="4937760" cy="365760"/>
          </a:xfrm>
          <a:prstGeom prst="rect">
            <a:avLst/>
          </a:prstGeom>
          <a:noFill/>
          <a:ln/>
        </p:spPr>
        <p:txBody>
          <a:bodyPr wrap="square" lIns="0" tIns="0" rIns="0" bIns="0" rtlCol="0" anchor="ctr"/>
          <a:lstStyle/>
          <a:p>
            <a:pPr marL="0" indent="0">
              <a:buNone/>
            </a:pPr>
            <a:r>
              <a:rPr lang="en-US" sz="1800" b="1" dirty="0">
                <a:solidFill>
                  <a:schemeClr val="tx2"/>
                </a:solidFill>
              </a:rPr>
              <a:t>Anatomy of a recommendation</a:t>
            </a:r>
            <a:endParaRPr lang="en-US" sz="1800" dirty="0"/>
          </a:p>
        </p:txBody>
      </p:sp>
      <p:sp>
        <p:nvSpPr>
          <p:cNvPr id="6" name="Text 4"/>
          <p:cNvSpPr txBox="1"/>
          <p:nvPr/>
        </p:nvSpPr>
        <p:spPr>
          <a:xfrm>
            <a:off x="777240" y="2514600"/>
            <a:ext cx="1920240" cy="365760"/>
          </a:xfrm>
          <a:prstGeom prst="rect">
            <a:avLst/>
          </a:prstGeom>
          <a:noFill/>
          <a:ln/>
        </p:spPr>
        <p:txBody>
          <a:bodyPr wrap="square" lIns="0" tIns="0" rIns="0" bIns="0" rtlCol="0" anchor="ctr"/>
          <a:lstStyle/>
          <a:p>
            <a:pPr marL="0" indent="0">
              <a:buNone/>
            </a:pPr>
            <a:r>
              <a:rPr lang="en-US" sz="1500" b="1" dirty="0">
                <a:solidFill>
                  <a:schemeClr val="accent1"/>
                </a:solidFill>
              </a:rPr>
              <a:t>Category</a:t>
            </a:r>
            <a:endParaRPr lang="en-US" sz="1500" dirty="0"/>
          </a:p>
        </p:txBody>
      </p:sp>
      <p:sp>
        <p:nvSpPr>
          <p:cNvPr id="7" name="Text 5"/>
          <p:cNvSpPr txBox="1"/>
          <p:nvPr/>
        </p:nvSpPr>
        <p:spPr>
          <a:xfrm>
            <a:off x="2743200" y="2514600"/>
            <a:ext cx="3063240" cy="365760"/>
          </a:xfrm>
          <a:prstGeom prst="rect">
            <a:avLst/>
          </a:prstGeom>
          <a:noFill/>
          <a:ln/>
        </p:spPr>
        <p:txBody>
          <a:bodyPr wrap="square" lIns="0" tIns="0" rIns="0" bIns="0" rtlCol="0" anchor="ctr"/>
          <a:lstStyle/>
          <a:p>
            <a:pPr marL="0" indent="0">
              <a:buNone/>
            </a:pPr>
            <a:r>
              <a:rPr lang="en-US" sz="1400" dirty="0">
                <a:solidFill>
                  <a:schemeClr val="tx1"/>
                </a:solidFill>
              </a:rPr>
              <a:t>Technical, Financial or Market</a:t>
            </a:r>
            <a:endParaRPr lang="en-US" sz="1400" dirty="0"/>
          </a:p>
        </p:txBody>
      </p:sp>
      <p:sp>
        <p:nvSpPr>
          <p:cNvPr id="8" name="Row divider 1"/>
          <p:cNvSpPr/>
          <p:nvPr/>
        </p:nvSpPr>
        <p:spPr>
          <a:xfrm>
            <a:off x="777240" y="2990088"/>
            <a:ext cx="4937760" cy="0"/>
          </a:xfrm>
          <a:prstGeom prst="line">
            <a:avLst/>
          </a:prstGeom>
          <a:noFill/>
          <a:ln w="9525">
            <a:solidFill>
              <a:srgbClr val="D6E0F5"/>
            </a:solidFill>
            <a:prstDash val="solid"/>
          </a:ln>
        </p:spPr>
      </p:sp>
      <p:sp>
        <p:nvSpPr>
          <p:cNvPr id="9" name="Text 7"/>
          <p:cNvSpPr txBox="1"/>
          <p:nvPr/>
        </p:nvSpPr>
        <p:spPr>
          <a:xfrm>
            <a:off x="777240" y="3099816"/>
            <a:ext cx="1920240" cy="365760"/>
          </a:xfrm>
          <a:prstGeom prst="rect">
            <a:avLst/>
          </a:prstGeom>
          <a:noFill/>
          <a:ln/>
        </p:spPr>
        <p:txBody>
          <a:bodyPr wrap="square" lIns="0" tIns="0" rIns="0" bIns="0" rtlCol="0" anchor="ctr"/>
          <a:lstStyle/>
          <a:p>
            <a:pPr marL="0" indent="0">
              <a:buNone/>
            </a:pPr>
            <a:r>
              <a:rPr lang="en-US" sz="1500" b="1" dirty="0">
                <a:solidFill>
                  <a:schemeClr val="accent1"/>
                </a:solidFill>
              </a:rPr>
              <a:t>Priority</a:t>
            </a:r>
            <a:endParaRPr lang="en-US" sz="1500" dirty="0"/>
          </a:p>
        </p:txBody>
      </p:sp>
      <p:sp>
        <p:nvSpPr>
          <p:cNvPr id="10" name="Text 8"/>
          <p:cNvSpPr txBox="1"/>
          <p:nvPr/>
        </p:nvSpPr>
        <p:spPr>
          <a:xfrm>
            <a:off x="2743200" y="3099816"/>
            <a:ext cx="3063240" cy="365760"/>
          </a:xfrm>
          <a:prstGeom prst="rect">
            <a:avLst/>
          </a:prstGeom>
          <a:noFill/>
          <a:ln/>
        </p:spPr>
        <p:txBody>
          <a:bodyPr wrap="square" lIns="0" tIns="0" rIns="0" bIns="0" rtlCol="0" anchor="ctr"/>
          <a:lstStyle/>
          <a:p>
            <a:pPr marL="0" indent="0">
              <a:buNone/>
            </a:pPr>
            <a:r>
              <a:rPr lang="en-US" sz="1400" dirty="0">
                <a:solidFill>
                  <a:schemeClr val="tx1"/>
                </a:solidFill>
              </a:rPr>
              <a:t>Critical, High or Medium</a:t>
            </a:r>
            <a:endParaRPr lang="en-US" sz="1400" dirty="0"/>
          </a:p>
        </p:txBody>
      </p:sp>
      <p:sp>
        <p:nvSpPr>
          <p:cNvPr id="11" name="Row divider 2"/>
          <p:cNvSpPr/>
          <p:nvPr/>
        </p:nvSpPr>
        <p:spPr>
          <a:xfrm>
            <a:off x="777240" y="3575304"/>
            <a:ext cx="4937760" cy="0"/>
          </a:xfrm>
          <a:prstGeom prst="line">
            <a:avLst/>
          </a:prstGeom>
          <a:noFill/>
          <a:ln w="9525">
            <a:solidFill>
              <a:srgbClr val="D6E0F5"/>
            </a:solidFill>
            <a:prstDash val="solid"/>
          </a:ln>
        </p:spPr>
      </p:sp>
      <p:sp>
        <p:nvSpPr>
          <p:cNvPr id="12" name="Text 10"/>
          <p:cNvSpPr txBox="1"/>
          <p:nvPr/>
        </p:nvSpPr>
        <p:spPr>
          <a:xfrm>
            <a:off x="777240" y="3685032"/>
            <a:ext cx="1920240" cy="365760"/>
          </a:xfrm>
          <a:prstGeom prst="rect">
            <a:avLst/>
          </a:prstGeom>
          <a:noFill/>
          <a:ln/>
        </p:spPr>
        <p:txBody>
          <a:bodyPr wrap="square" lIns="0" tIns="0" rIns="0" bIns="0" rtlCol="0" anchor="ctr"/>
          <a:lstStyle/>
          <a:p>
            <a:pPr marL="0" indent="0">
              <a:buNone/>
            </a:pPr>
            <a:r>
              <a:rPr lang="en-US" sz="1500" b="1" dirty="0">
                <a:solidFill>
                  <a:schemeClr val="accent1"/>
                </a:solidFill>
              </a:rPr>
              <a:t>Problem</a:t>
            </a:r>
            <a:endParaRPr lang="en-US" sz="1500" dirty="0"/>
          </a:p>
        </p:txBody>
      </p:sp>
      <p:sp>
        <p:nvSpPr>
          <p:cNvPr id="13" name="Text 11"/>
          <p:cNvSpPr txBox="1"/>
          <p:nvPr/>
        </p:nvSpPr>
        <p:spPr>
          <a:xfrm>
            <a:off x="2743200" y="3685032"/>
            <a:ext cx="3063240" cy="365760"/>
          </a:xfrm>
          <a:prstGeom prst="rect">
            <a:avLst/>
          </a:prstGeom>
          <a:noFill/>
          <a:ln/>
        </p:spPr>
        <p:txBody>
          <a:bodyPr wrap="square" lIns="0" tIns="0" rIns="0" bIns="0" rtlCol="0" anchor="ctr"/>
          <a:lstStyle/>
          <a:p>
            <a:pPr marL="0" indent="0">
              <a:buNone/>
            </a:pPr>
            <a:r>
              <a:rPr lang="en-US" sz="1400" dirty="0">
                <a:solidFill>
                  <a:schemeClr val="tx1"/>
                </a:solidFill>
              </a:rPr>
              <a:t>The risk found in the project</a:t>
            </a:r>
            <a:endParaRPr lang="en-US" sz="1400" dirty="0"/>
          </a:p>
        </p:txBody>
      </p:sp>
      <p:sp>
        <p:nvSpPr>
          <p:cNvPr id="14" name="Row divider 3"/>
          <p:cNvSpPr/>
          <p:nvPr/>
        </p:nvSpPr>
        <p:spPr>
          <a:xfrm>
            <a:off x="777240" y="4160520"/>
            <a:ext cx="4937760" cy="0"/>
          </a:xfrm>
          <a:prstGeom prst="line">
            <a:avLst/>
          </a:prstGeom>
          <a:noFill/>
          <a:ln w="9525">
            <a:solidFill>
              <a:srgbClr val="D6E0F5"/>
            </a:solidFill>
            <a:prstDash val="solid"/>
          </a:ln>
        </p:spPr>
      </p:sp>
      <p:sp>
        <p:nvSpPr>
          <p:cNvPr id="15" name="Text 13"/>
          <p:cNvSpPr txBox="1"/>
          <p:nvPr/>
        </p:nvSpPr>
        <p:spPr>
          <a:xfrm>
            <a:off x="777240" y="4270248"/>
            <a:ext cx="1920240" cy="365760"/>
          </a:xfrm>
          <a:prstGeom prst="rect">
            <a:avLst/>
          </a:prstGeom>
          <a:noFill/>
          <a:ln/>
        </p:spPr>
        <p:txBody>
          <a:bodyPr wrap="square" lIns="0" tIns="0" rIns="0" bIns="0" rtlCol="0" anchor="ctr"/>
          <a:lstStyle/>
          <a:p>
            <a:pPr marL="0" indent="0">
              <a:buNone/>
            </a:pPr>
            <a:r>
              <a:rPr lang="en-US" sz="1500" b="1" dirty="0">
                <a:solidFill>
                  <a:schemeClr val="accent1"/>
                </a:solidFill>
              </a:rPr>
              <a:t>Why it matters</a:t>
            </a:r>
            <a:endParaRPr lang="en-US" sz="1500" dirty="0"/>
          </a:p>
        </p:txBody>
      </p:sp>
      <p:sp>
        <p:nvSpPr>
          <p:cNvPr id="16" name="Text 14"/>
          <p:cNvSpPr txBox="1"/>
          <p:nvPr/>
        </p:nvSpPr>
        <p:spPr>
          <a:xfrm>
            <a:off x="2743200" y="4270248"/>
            <a:ext cx="3063240" cy="365760"/>
          </a:xfrm>
          <a:prstGeom prst="rect">
            <a:avLst/>
          </a:prstGeom>
          <a:noFill/>
          <a:ln/>
        </p:spPr>
        <p:txBody>
          <a:bodyPr wrap="square" lIns="0" tIns="0" rIns="0" bIns="0" rtlCol="0" anchor="ctr"/>
          <a:lstStyle/>
          <a:p>
            <a:pPr marL="0" indent="0">
              <a:buNone/>
            </a:pPr>
            <a:r>
              <a:rPr lang="en-US" sz="1400" dirty="0">
                <a:solidFill>
                  <a:schemeClr val="tx1"/>
                </a:solidFill>
              </a:rPr>
              <a:t>How it can hurt the project</a:t>
            </a:r>
            <a:endParaRPr lang="en-US" sz="1400" dirty="0"/>
          </a:p>
        </p:txBody>
      </p:sp>
      <p:sp>
        <p:nvSpPr>
          <p:cNvPr id="17" name="Row divider 4"/>
          <p:cNvSpPr/>
          <p:nvPr/>
        </p:nvSpPr>
        <p:spPr>
          <a:xfrm>
            <a:off x="777240" y="4745736"/>
            <a:ext cx="4937760" cy="0"/>
          </a:xfrm>
          <a:prstGeom prst="line">
            <a:avLst/>
          </a:prstGeom>
          <a:noFill/>
          <a:ln w="9525">
            <a:solidFill>
              <a:srgbClr val="D6E0F5"/>
            </a:solidFill>
            <a:prstDash val="solid"/>
          </a:ln>
        </p:spPr>
      </p:sp>
      <p:sp>
        <p:nvSpPr>
          <p:cNvPr id="18" name="Text 16"/>
          <p:cNvSpPr txBox="1"/>
          <p:nvPr/>
        </p:nvSpPr>
        <p:spPr>
          <a:xfrm>
            <a:off x="777240" y="4855464"/>
            <a:ext cx="1920240" cy="365760"/>
          </a:xfrm>
          <a:prstGeom prst="rect">
            <a:avLst/>
          </a:prstGeom>
          <a:noFill/>
          <a:ln/>
        </p:spPr>
        <p:txBody>
          <a:bodyPr wrap="square" lIns="0" tIns="0" rIns="0" bIns="0" rtlCol="0" anchor="ctr"/>
          <a:lstStyle/>
          <a:p>
            <a:pPr marL="0" indent="0">
              <a:buNone/>
            </a:pPr>
            <a:r>
              <a:rPr lang="en-US" sz="1500" b="1" dirty="0">
                <a:solidFill>
                  <a:schemeClr val="accent1"/>
                </a:solidFill>
              </a:rPr>
              <a:t>Recommended action</a:t>
            </a:r>
            <a:endParaRPr lang="en-US" sz="1500" dirty="0"/>
          </a:p>
        </p:txBody>
      </p:sp>
      <p:sp>
        <p:nvSpPr>
          <p:cNvPr id="19" name="Text 17"/>
          <p:cNvSpPr txBox="1"/>
          <p:nvPr/>
        </p:nvSpPr>
        <p:spPr>
          <a:xfrm>
            <a:off x="2743200" y="4855464"/>
            <a:ext cx="3063240" cy="365760"/>
          </a:xfrm>
          <a:prstGeom prst="rect">
            <a:avLst/>
          </a:prstGeom>
          <a:noFill/>
          <a:ln/>
        </p:spPr>
        <p:txBody>
          <a:bodyPr wrap="square" lIns="0" tIns="0" rIns="0" bIns="0" rtlCol="0" anchor="ctr"/>
          <a:lstStyle/>
          <a:p>
            <a:pPr marL="0" indent="0">
              <a:buNone/>
            </a:pPr>
            <a:r>
              <a:rPr lang="en-US" sz="1400" dirty="0">
                <a:solidFill>
                  <a:schemeClr val="tx1"/>
                </a:solidFill>
              </a:rPr>
              <a:t>What to do about it</a:t>
            </a:r>
            <a:endParaRPr lang="en-US" sz="1400" dirty="0"/>
          </a:p>
        </p:txBody>
      </p:sp>
      <p:sp>
        <p:nvSpPr>
          <p:cNvPr id="20" name="Row divider 5"/>
          <p:cNvSpPr/>
          <p:nvPr/>
        </p:nvSpPr>
        <p:spPr>
          <a:xfrm>
            <a:off x="777240" y="5330952"/>
            <a:ext cx="4937760" cy="0"/>
          </a:xfrm>
          <a:prstGeom prst="line">
            <a:avLst/>
          </a:prstGeom>
          <a:noFill/>
          <a:ln w="9525">
            <a:solidFill>
              <a:srgbClr val="D6E0F5"/>
            </a:solidFill>
            <a:prstDash val="solid"/>
          </a:ln>
        </p:spPr>
      </p:sp>
      <p:sp>
        <p:nvSpPr>
          <p:cNvPr id="21" name="Text 19"/>
          <p:cNvSpPr txBox="1"/>
          <p:nvPr/>
        </p:nvSpPr>
        <p:spPr>
          <a:xfrm>
            <a:off x="777240" y="5440680"/>
            <a:ext cx="1920240" cy="365760"/>
          </a:xfrm>
          <a:prstGeom prst="rect">
            <a:avLst/>
          </a:prstGeom>
          <a:noFill/>
          <a:ln/>
        </p:spPr>
        <p:txBody>
          <a:bodyPr wrap="square" lIns="0" tIns="0" rIns="0" bIns="0" rtlCol="0" anchor="ctr"/>
          <a:lstStyle/>
          <a:p>
            <a:pPr marL="0" indent="0">
              <a:buNone/>
            </a:pPr>
            <a:r>
              <a:rPr lang="en-US" sz="1500" b="1" dirty="0">
                <a:solidFill>
                  <a:schemeClr val="accent1"/>
                </a:solidFill>
              </a:rPr>
              <a:t>Risk reduction</a:t>
            </a:r>
            <a:endParaRPr lang="en-US" sz="1500" dirty="0"/>
          </a:p>
        </p:txBody>
      </p:sp>
      <p:sp>
        <p:nvSpPr>
          <p:cNvPr id="22" name="Text 20"/>
          <p:cNvSpPr txBox="1"/>
          <p:nvPr/>
        </p:nvSpPr>
        <p:spPr>
          <a:xfrm>
            <a:off x="2743200" y="5440680"/>
            <a:ext cx="3063240" cy="365760"/>
          </a:xfrm>
          <a:prstGeom prst="rect">
            <a:avLst/>
          </a:prstGeom>
          <a:noFill/>
          <a:ln/>
        </p:spPr>
        <p:txBody>
          <a:bodyPr wrap="square" lIns="0" tIns="0" rIns="0" bIns="0" rtlCol="0" anchor="ctr"/>
          <a:lstStyle/>
          <a:p>
            <a:pPr marL="0" indent="0">
              <a:buNone/>
            </a:pPr>
            <a:r>
              <a:rPr lang="en-US" sz="1400" dirty="0">
                <a:solidFill>
                  <a:schemeClr val="tx1"/>
                </a:solidFill>
              </a:rPr>
              <a:t>The improvement it brings</a:t>
            </a:r>
            <a:endParaRPr lang="en-US" sz="1400" dirty="0"/>
          </a:p>
        </p:txBody>
      </p:sp>
      <p:sp>
        <p:nvSpPr>
          <p:cNvPr id="23" name="Strategic Recommendations card"/>
          <p:cNvSpPr/>
          <p:nvPr/>
        </p:nvSpPr>
        <p:spPr>
          <a:xfrm>
            <a:off x="6263640" y="1691640"/>
            <a:ext cx="5376672" cy="1024128"/>
          </a:xfrm>
          <a:prstGeom prst="roundRect">
            <a:avLst>
              <a:gd name="adj" fmla="val 10714"/>
            </a:avLst>
          </a:prstGeom>
          <a:solidFill>
            <a:schemeClr val="bg1"/>
          </a:solidFill>
          <a:ln/>
          <a:effectLst>
            <a:outerShdw blurRad="101600" dist="25400" dir="5400000" algn="bl" rotWithShape="0">
              <a:srgbClr val="0B1630">
                <a:alpha val="12000"/>
              </a:srgbClr>
            </a:outerShdw>
          </a:effectLst>
        </p:spPr>
      </p:sp>
      <p:sp>
        <p:nvSpPr>
          <p:cNvPr id="24" name="Strategic Recommendations circle"/>
          <p:cNvSpPr/>
          <p:nvPr/>
        </p:nvSpPr>
        <p:spPr>
          <a:xfrm>
            <a:off x="6464808" y="1929384"/>
            <a:ext cx="548640" cy="548640"/>
          </a:xfrm>
          <a:prstGeom prst="ellipse">
            <a:avLst/>
          </a:prstGeom>
          <a:solidFill>
            <a:schemeClr val="accent4"/>
          </a:solidFill>
          <a:ln/>
        </p:spPr>
      </p:sp>
      <p:pic>
        <p:nvPicPr>
          <p:cNvPr id="25" name="Image 0" descr="Strategic Recommendations"/>
          <p:cNvPicPr>
            <a:picLocks noChangeAspect="1"/>
          </p:cNvPicPr>
          <p:nvPr/>
        </p:nvPicPr>
        <p:blipFill>
          <a:blip r:embed="rId3"/>
          <a:stretch>
            <a:fillRect/>
          </a:stretch>
        </p:blipFill>
        <p:spPr>
          <a:xfrm>
            <a:off x="6596482" y="2061058"/>
            <a:ext cx="285293" cy="285293"/>
          </a:xfrm>
          <a:prstGeom prst="rect">
            <a:avLst/>
          </a:prstGeom>
        </p:spPr>
      </p:pic>
      <p:sp>
        <p:nvSpPr>
          <p:cNvPr id="26" name="Text 23"/>
          <p:cNvSpPr txBox="1"/>
          <p:nvPr/>
        </p:nvSpPr>
        <p:spPr>
          <a:xfrm>
            <a:off x="7223760" y="1847088"/>
            <a:ext cx="4251960" cy="329184"/>
          </a:xfrm>
          <a:prstGeom prst="rect">
            <a:avLst/>
          </a:prstGeom>
          <a:noFill/>
          <a:ln/>
        </p:spPr>
        <p:txBody>
          <a:bodyPr wrap="square" lIns="0" tIns="0" rIns="0" bIns="0" rtlCol="0" anchor="ctr"/>
          <a:lstStyle/>
          <a:p>
            <a:pPr marL="0" indent="0">
              <a:buNone/>
            </a:pPr>
            <a:r>
              <a:rPr lang="en-US" sz="1800" b="1" dirty="0">
                <a:solidFill>
                  <a:schemeClr val="tx2"/>
                </a:solidFill>
              </a:rPr>
              <a:t>Strategic Recommendations</a:t>
            </a:r>
            <a:endParaRPr lang="en-US" sz="1800" dirty="0"/>
          </a:p>
        </p:txBody>
      </p:sp>
      <p:sp>
        <p:nvSpPr>
          <p:cNvPr id="27" name="Text 24"/>
          <p:cNvSpPr txBox="1"/>
          <p:nvPr/>
        </p:nvSpPr>
        <p:spPr>
          <a:xfrm>
            <a:off x="7223760" y="2212848"/>
            <a:ext cx="4251960" cy="365760"/>
          </a:xfrm>
          <a:prstGeom prst="rect">
            <a:avLst/>
          </a:prstGeom>
          <a:noFill/>
          <a:ln/>
        </p:spPr>
        <p:txBody>
          <a:bodyPr wrap="square" lIns="0" tIns="0" rIns="0" bIns="0" rtlCol="0" anchor="ctr"/>
          <a:lstStyle/>
          <a:p>
            <a:pPr marL="0" indent="0">
              <a:buNone/>
            </a:pPr>
            <a:r>
              <a:rPr lang="en-US" sz="1400" dirty="0">
                <a:solidFill>
                  <a:schemeClr val="tx1"/>
                </a:solidFill>
              </a:rPr>
              <a:t>Ranked action cards tied to the risks found</a:t>
            </a:r>
            <a:endParaRPr lang="en-US" sz="1400" dirty="0"/>
          </a:p>
        </p:txBody>
      </p:sp>
      <p:sp>
        <p:nvSpPr>
          <p:cNvPr id="28" name="Risk Mitigation card"/>
          <p:cNvSpPr/>
          <p:nvPr/>
        </p:nvSpPr>
        <p:spPr>
          <a:xfrm>
            <a:off x="6263640" y="2880360"/>
            <a:ext cx="5376672" cy="1024128"/>
          </a:xfrm>
          <a:prstGeom prst="roundRect">
            <a:avLst>
              <a:gd name="adj" fmla="val 10714"/>
            </a:avLst>
          </a:prstGeom>
          <a:solidFill>
            <a:schemeClr val="bg1"/>
          </a:solidFill>
          <a:ln/>
          <a:effectLst>
            <a:outerShdw blurRad="101600" dist="25400" dir="5400000" algn="bl" rotWithShape="0">
              <a:srgbClr val="0B1630">
                <a:alpha val="12000"/>
              </a:srgbClr>
            </a:outerShdw>
          </a:effectLst>
        </p:spPr>
      </p:sp>
      <p:sp>
        <p:nvSpPr>
          <p:cNvPr id="29" name="Risk Mitigation circle"/>
          <p:cNvSpPr/>
          <p:nvPr/>
        </p:nvSpPr>
        <p:spPr>
          <a:xfrm>
            <a:off x="6464808" y="3118104"/>
            <a:ext cx="548640" cy="548640"/>
          </a:xfrm>
          <a:prstGeom prst="ellipse">
            <a:avLst/>
          </a:prstGeom>
          <a:solidFill>
            <a:schemeClr val="accent2"/>
          </a:solidFill>
          <a:ln/>
        </p:spPr>
      </p:sp>
      <p:pic>
        <p:nvPicPr>
          <p:cNvPr id="30" name="Image 1" descr="Risk Mitigation"/>
          <p:cNvPicPr>
            <a:picLocks noChangeAspect="1"/>
          </p:cNvPicPr>
          <p:nvPr/>
        </p:nvPicPr>
        <p:blipFill>
          <a:blip r:embed="rId4"/>
          <a:stretch>
            <a:fillRect/>
          </a:stretch>
        </p:blipFill>
        <p:spPr>
          <a:xfrm>
            <a:off x="6596482" y="3249778"/>
            <a:ext cx="285293" cy="285293"/>
          </a:xfrm>
          <a:prstGeom prst="rect">
            <a:avLst/>
          </a:prstGeom>
        </p:spPr>
      </p:pic>
      <p:sp>
        <p:nvSpPr>
          <p:cNvPr id="31" name="Text 27"/>
          <p:cNvSpPr txBox="1"/>
          <p:nvPr/>
        </p:nvSpPr>
        <p:spPr>
          <a:xfrm>
            <a:off x="7223760" y="3035808"/>
            <a:ext cx="4251960" cy="329184"/>
          </a:xfrm>
          <a:prstGeom prst="rect">
            <a:avLst/>
          </a:prstGeom>
          <a:noFill/>
          <a:ln/>
        </p:spPr>
        <p:txBody>
          <a:bodyPr wrap="square" lIns="0" tIns="0" rIns="0" bIns="0" rtlCol="0" anchor="ctr"/>
          <a:lstStyle/>
          <a:p>
            <a:pPr marL="0" indent="0">
              <a:buNone/>
            </a:pPr>
            <a:r>
              <a:rPr lang="en-US" sz="1800" b="1" dirty="0">
                <a:solidFill>
                  <a:schemeClr val="tx2"/>
                </a:solidFill>
              </a:rPr>
              <a:t>Risk Mitigation</a:t>
            </a:r>
            <a:endParaRPr lang="en-US" sz="1800" dirty="0"/>
          </a:p>
        </p:txBody>
      </p:sp>
      <p:sp>
        <p:nvSpPr>
          <p:cNvPr id="32" name="Text 28"/>
          <p:cNvSpPr txBox="1"/>
          <p:nvPr/>
        </p:nvSpPr>
        <p:spPr>
          <a:xfrm>
            <a:off x="7223760" y="3401568"/>
            <a:ext cx="4251960" cy="365760"/>
          </a:xfrm>
          <a:prstGeom prst="rect">
            <a:avLst/>
          </a:prstGeom>
          <a:noFill/>
          <a:ln/>
        </p:spPr>
        <p:txBody>
          <a:bodyPr wrap="square" lIns="0" tIns="0" rIns="0" bIns="0" rtlCol="0" anchor="ctr"/>
          <a:lstStyle/>
          <a:p>
            <a:pPr marL="0" indent="0">
              <a:buNone/>
            </a:pPr>
            <a:r>
              <a:rPr lang="en-US" sz="1400" dirty="0">
                <a:solidFill>
                  <a:schemeClr val="tx1"/>
                </a:solidFill>
              </a:rPr>
              <a:t>A mitigation strategy for each identified risk</a:t>
            </a:r>
            <a:endParaRPr lang="en-US" sz="1400" dirty="0"/>
          </a:p>
        </p:txBody>
      </p:sp>
      <p:sp>
        <p:nvSpPr>
          <p:cNvPr id="33" name="Improvements card"/>
          <p:cNvSpPr/>
          <p:nvPr/>
        </p:nvSpPr>
        <p:spPr>
          <a:xfrm>
            <a:off x="6263640" y="4069080"/>
            <a:ext cx="5376672" cy="1024128"/>
          </a:xfrm>
          <a:prstGeom prst="roundRect">
            <a:avLst>
              <a:gd name="adj" fmla="val 10714"/>
            </a:avLst>
          </a:prstGeom>
          <a:solidFill>
            <a:schemeClr val="bg1"/>
          </a:solidFill>
          <a:ln/>
          <a:effectLst>
            <a:outerShdw blurRad="101600" dist="25400" dir="5400000" algn="bl" rotWithShape="0">
              <a:srgbClr val="0B1630">
                <a:alpha val="12000"/>
              </a:srgbClr>
            </a:outerShdw>
          </a:effectLst>
        </p:spPr>
      </p:sp>
      <p:sp>
        <p:nvSpPr>
          <p:cNvPr id="34" name="Improvements circle"/>
          <p:cNvSpPr/>
          <p:nvPr/>
        </p:nvSpPr>
        <p:spPr>
          <a:xfrm>
            <a:off x="6464808" y="4306824"/>
            <a:ext cx="548640" cy="548640"/>
          </a:xfrm>
          <a:prstGeom prst="ellipse">
            <a:avLst/>
          </a:prstGeom>
          <a:solidFill>
            <a:schemeClr val="accent1"/>
          </a:solidFill>
          <a:ln/>
        </p:spPr>
      </p:sp>
      <p:pic>
        <p:nvPicPr>
          <p:cNvPr id="35" name="Image 2" descr="Improvements"/>
          <p:cNvPicPr>
            <a:picLocks noChangeAspect="1"/>
          </p:cNvPicPr>
          <p:nvPr/>
        </p:nvPicPr>
        <p:blipFill>
          <a:blip r:embed="rId5"/>
          <a:stretch>
            <a:fillRect/>
          </a:stretch>
        </p:blipFill>
        <p:spPr>
          <a:xfrm>
            <a:off x="6596482" y="4438498"/>
            <a:ext cx="285293" cy="285293"/>
          </a:xfrm>
          <a:prstGeom prst="rect">
            <a:avLst/>
          </a:prstGeom>
        </p:spPr>
      </p:pic>
      <p:sp>
        <p:nvSpPr>
          <p:cNvPr id="36" name="Text 31"/>
          <p:cNvSpPr txBox="1"/>
          <p:nvPr/>
        </p:nvSpPr>
        <p:spPr>
          <a:xfrm>
            <a:off x="7223760" y="4224528"/>
            <a:ext cx="4251960" cy="329184"/>
          </a:xfrm>
          <a:prstGeom prst="rect">
            <a:avLst/>
          </a:prstGeom>
          <a:noFill/>
          <a:ln/>
        </p:spPr>
        <p:txBody>
          <a:bodyPr wrap="square" lIns="0" tIns="0" rIns="0" bIns="0" rtlCol="0" anchor="ctr"/>
          <a:lstStyle/>
          <a:p>
            <a:pPr marL="0" indent="0">
              <a:buNone/>
            </a:pPr>
            <a:r>
              <a:rPr lang="en-US" sz="1800" b="1" dirty="0">
                <a:solidFill>
                  <a:schemeClr val="tx2"/>
                </a:solidFill>
              </a:rPr>
              <a:t>Improvements</a:t>
            </a:r>
            <a:endParaRPr lang="en-US" sz="1800" dirty="0"/>
          </a:p>
        </p:txBody>
      </p:sp>
      <p:sp>
        <p:nvSpPr>
          <p:cNvPr id="37" name="Text 32"/>
          <p:cNvSpPr txBox="1"/>
          <p:nvPr/>
        </p:nvSpPr>
        <p:spPr>
          <a:xfrm>
            <a:off x="7223760" y="4590288"/>
            <a:ext cx="4251960" cy="365760"/>
          </a:xfrm>
          <a:prstGeom prst="rect">
            <a:avLst/>
          </a:prstGeom>
          <a:noFill/>
          <a:ln/>
        </p:spPr>
        <p:txBody>
          <a:bodyPr wrap="square" lIns="0" tIns="0" rIns="0" bIns="0" rtlCol="0" anchor="ctr"/>
          <a:lstStyle/>
          <a:p>
            <a:pPr marL="0" indent="0">
              <a:buNone/>
            </a:pPr>
            <a:r>
              <a:rPr lang="en-US" sz="1400" dirty="0">
                <a:solidFill>
                  <a:schemeClr val="tx1"/>
                </a:solidFill>
              </a:rPr>
              <a:t>Ideas to lift opportunity, team, advantage and resources</a:t>
            </a:r>
            <a:endParaRPr lang="en-US" sz="1400" dirty="0"/>
          </a:p>
        </p:txBody>
      </p:sp>
      <p:sp>
        <p:nvSpPr>
          <p:cNvPr id="38" name="Gemini band"/>
          <p:cNvSpPr/>
          <p:nvPr/>
        </p:nvSpPr>
        <p:spPr>
          <a:xfrm>
            <a:off x="6263640" y="5303520"/>
            <a:ext cx="5376672" cy="822960"/>
          </a:xfrm>
          <a:prstGeom prst="roundRect">
            <a:avLst>
              <a:gd name="adj" fmla="val 13333"/>
            </a:avLst>
          </a:prstGeom>
          <a:solidFill>
            <a:schemeClr val="tx2"/>
          </a:solidFill>
          <a:ln/>
        </p:spPr>
      </p:sp>
      <p:sp>
        <p:nvSpPr>
          <p:cNvPr id="39" name="Text 34"/>
          <p:cNvSpPr txBox="1"/>
          <p:nvPr/>
        </p:nvSpPr>
        <p:spPr>
          <a:xfrm>
            <a:off x="6492240" y="5303520"/>
            <a:ext cx="4937760" cy="822960"/>
          </a:xfrm>
          <a:prstGeom prst="rect">
            <a:avLst/>
          </a:prstGeom>
          <a:noFill/>
          <a:ln/>
        </p:spPr>
        <p:txBody>
          <a:bodyPr wrap="square" lIns="0" tIns="0" rIns="0" bIns="0" rtlCol="0" anchor="ctr"/>
          <a:lstStyle/>
          <a:p>
            <a:pPr marL="0" indent="0">
              <a:buNone/>
            </a:pPr>
            <a:r>
              <a:rPr lang="en-US" sz="1400" dirty="0">
                <a:solidFill>
                  <a:schemeClr val="bg1"/>
                </a:solidFill>
              </a:rPr>
              <a:t>Powered by Gemini through the LangGraph agent. Demo Mode keeps it running without an API key.</a:t>
            </a:r>
            <a:endParaRPr lang="en-US" sz="1400" dirty="0"/>
          </a:p>
        </p:txBody>
      </p:sp>
      <p:sp>
        <p:nvSpPr>
          <p:cNvPr id="4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Database Structure</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SQLite: one project row, many linked result rows</a:t>
            </a:r>
            <a:endParaRPr lang="en-US" sz="1600" dirty="0"/>
          </a:p>
        </p:txBody>
      </p:sp>
      <p:sp>
        <p:nvSpPr>
          <p:cNvPr id="4" name="Projects card"/>
          <p:cNvSpPr/>
          <p:nvPr/>
        </p:nvSpPr>
        <p:spPr>
          <a:xfrm>
            <a:off x="548640" y="1600200"/>
            <a:ext cx="3063240" cy="3108960"/>
          </a:xfrm>
          <a:prstGeom prst="roundRect">
            <a:avLst>
              <a:gd name="adj" fmla="val 3582"/>
            </a:avLst>
          </a:prstGeom>
          <a:solidFill>
            <a:schemeClr val="tx2"/>
          </a:solidFill>
          <a:ln/>
          <a:effectLst>
            <a:outerShdw blurRad="101600" dist="25400" dir="5400000" algn="bl" rotWithShape="0">
              <a:srgbClr val="0B1630">
                <a:alpha val="12000"/>
              </a:srgbClr>
            </a:outerShdw>
          </a:effectLst>
        </p:spPr>
      </p:sp>
      <p:sp>
        <p:nvSpPr>
          <p:cNvPr id="5" name="Projects circle"/>
          <p:cNvSpPr/>
          <p:nvPr/>
        </p:nvSpPr>
        <p:spPr>
          <a:xfrm>
            <a:off x="777240" y="1783080"/>
            <a:ext cx="502920" cy="502920"/>
          </a:xfrm>
          <a:prstGeom prst="ellipse">
            <a:avLst/>
          </a:prstGeom>
          <a:solidFill>
            <a:schemeClr val="accent1"/>
          </a:solidFill>
          <a:ln/>
        </p:spPr>
      </p:sp>
      <p:pic>
        <p:nvPicPr>
          <p:cNvPr id="6" name="Image 0" descr="Projects"/>
          <p:cNvPicPr>
            <a:picLocks noChangeAspect="1"/>
          </p:cNvPicPr>
          <p:nvPr/>
        </p:nvPicPr>
        <p:blipFill>
          <a:blip r:embed="rId3"/>
          <a:stretch>
            <a:fillRect/>
          </a:stretch>
        </p:blipFill>
        <p:spPr>
          <a:xfrm>
            <a:off x="897941" y="1903781"/>
            <a:ext cx="261518" cy="261518"/>
          </a:xfrm>
          <a:prstGeom prst="rect">
            <a:avLst/>
          </a:prstGeom>
        </p:spPr>
      </p:pic>
      <p:sp>
        <p:nvSpPr>
          <p:cNvPr id="7" name="Text 4"/>
          <p:cNvSpPr txBox="1"/>
          <p:nvPr/>
        </p:nvSpPr>
        <p:spPr>
          <a:xfrm>
            <a:off x="1417320" y="1783080"/>
            <a:ext cx="2011680" cy="502920"/>
          </a:xfrm>
          <a:prstGeom prst="rect">
            <a:avLst/>
          </a:prstGeom>
          <a:noFill/>
          <a:ln/>
        </p:spPr>
        <p:txBody>
          <a:bodyPr wrap="square" lIns="0" tIns="0" rIns="0" bIns="0" rtlCol="0" anchor="ctr"/>
          <a:lstStyle/>
          <a:p>
            <a:pPr marL="0" indent="0">
              <a:buNone/>
            </a:pPr>
            <a:r>
              <a:rPr lang="en-US" sz="2200" b="1" dirty="0">
                <a:solidFill>
                  <a:schemeClr val="bg1"/>
                </a:solidFill>
              </a:rPr>
              <a:t>Projects</a:t>
            </a:r>
            <a:endParaRPr lang="en-US" sz="2200" dirty="0"/>
          </a:p>
        </p:txBody>
      </p:sp>
      <p:sp>
        <p:nvSpPr>
          <p:cNvPr id="8" name="Text 5"/>
          <p:cNvSpPr txBox="1"/>
          <p:nvPr/>
        </p:nvSpPr>
        <p:spPr>
          <a:xfrm>
            <a:off x="777240" y="2423160"/>
            <a:ext cx="2651760" cy="2194560"/>
          </a:xfrm>
          <a:prstGeom prst="rect">
            <a:avLst/>
          </a:prstGeom>
          <a:noFill/>
          <a:ln/>
        </p:spPr>
        <p:txBody>
          <a:bodyPr wrap="square" lIns="0" tIns="0" rIns="0" bIns="0" rtlCol="0" anchor="t"/>
          <a:lstStyle/>
          <a:p>
            <a:pPr marL="0" indent="0">
              <a:spcAft>
                <a:spcPts val="200"/>
              </a:spcAft>
              <a:buNone/>
            </a:pPr>
            <a:r>
              <a:rPr lang="en-US" sz="1400" dirty="0">
                <a:solidFill>
                  <a:schemeClr val="bg1"/>
                </a:solidFill>
              </a:rPr>
              <a:t>project_id</a:t>
            </a:r>
            <a:r>
              <a:rPr lang="en-US" sz="1400" b="1" dirty="0">
                <a:solidFill>
                  <a:schemeClr val="accent3"/>
                </a:solidFill>
              </a:rPr>
              <a:t>  PK</a:t>
            </a:r>
            <a:endParaRPr lang="en-US" sz="1400" dirty="0"/>
          </a:p>
          <a:p>
            <a:pPr marL="0" indent="0">
              <a:spcAft>
                <a:spcPts val="200"/>
              </a:spcAft>
              <a:buNone/>
            </a:pPr>
            <a:r>
              <a:rPr lang="en-US" sz="1400" dirty="0">
                <a:solidFill>
                  <a:schemeClr val="bg1"/>
                </a:solidFill>
              </a:rPr>
              <a:t>user_id</a:t>
            </a:r>
            <a:r>
              <a:rPr lang="en-US" sz="1400" b="1" dirty="0">
                <a:solidFill>
                  <a:schemeClr val="accent3"/>
                </a:solidFill>
              </a:rPr>
              <a:t>  FK</a:t>
            </a:r>
            <a:endParaRPr lang="en-US" sz="1400" dirty="0"/>
          </a:p>
          <a:p>
            <a:pPr marL="0" indent="0">
              <a:spcAft>
                <a:spcPts val="200"/>
              </a:spcAft>
              <a:buNone/>
            </a:pPr>
            <a:r>
              <a:rPr lang="en-US" sz="1400" dirty="0">
                <a:solidFill>
                  <a:schemeClr val="bg1"/>
                </a:solidFill>
              </a:rPr>
              <a:t>project_name</a:t>
            </a:r>
            <a:endParaRPr lang="en-US" sz="1400" dirty="0"/>
          </a:p>
          <a:p>
            <a:pPr marL="0" indent="0">
              <a:spcAft>
                <a:spcPts val="200"/>
              </a:spcAft>
              <a:buNone/>
            </a:pPr>
            <a:r>
              <a:rPr lang="en-US" sz="1400" dirty="0">
                <a:solidFill>
                  <a:schemeClr val="bg1"/>
                </a:solidFill>
              </a:rPr>
              <a:t>project_type</a:t>
            </a:r>
            <a:endParaRPr lang="en-US" sz="1400" dirty="0"/>
          </a:p>
          <a:p>
            <a:pPr marL="0" indent="0">
              <a:spcAft>
                <a:spcPts val="200"/>
              </a:spcAft>
              <a:buNone/>
            </a:pPr>
            <a:r>
              <a:rPr lang="en-US" sz="1400" dirty="0">
                <a:solidFill>
                  <a:schemeClr val="bg1"/>
                </a:solidFill>
              </a:rPr>
              <a:t>budget</a:t>
            </a:r>
            <a:endParaRPr lang="en-US" sz="1400" dirty="0"/>
          </a:p>
          <a:p>
            <a:pPr marL="0" indent="0">
              <a:spcAft>
                <a:spcPts val="200"/>
              </a:spcAft>
              <a:buNone/>
            </a:pPr>
            <a:r>
              <a:rPr lang="en-US" sz="1400" dirty="0">
                <a:solidFill>
                  <a:schemeClr val="bg1"/>
                </a:solidFill>
              </a:rPr>
              <a:t>target_market</a:t>
            </a:r>
            <a:endParaRPr lang="en-US" sz="1400" dirty="0"/>
          </a:p>
          <a:p>
            <a:pPr marL="0" indent="0">
              <a:spcAft>
                <a:spcPts val="200"/>
              </a:spcAft>
              <a:buNone/>
            </a:pPr>
            <a:r>
              <a:rPr lang="en-US" sz="1400" dirty="0">
                <a:solidFill>
                  <a:schemeClr val="bg1"/>
                </a:solidFill>
              </a:rPr>
              <a:t>description</a:t>
            </a:r>
            <a:endParaRPr lang="en-US" sz="1400" dirty="0"/>
          </a:p>
          <a:p>
            <a:pPr marL="0" indent="0">
              <a:spcAft>
                <a:spcPts val="200"/>
              </a:spcAft>
              <a:buNone/>
            </a:pPr>
            <a:r>
              <a:rPr lang="en-US" sz="1400" dirty="0">
                <a:solidFill>
                  <a:schemeClr val="bg1"/>
                </a:solidFill>
              </a:rPr>
              <a:t>created_at</a:t>
            </a:r>
            <a:endParaRPr lang="en-US" sz="1400" dirty="0"/>
          </a:p>
        </p:txBody>
      </p:sp>
      <p:sp>
        <p:nvSpPr>
          <p:cNvPr id="9" name="Text 6"/>
          <p:cNvSpPr txBox="1"/>
          <p:nvPr/>
        </p:nvSpPr>
        <p:spPr>
          <a:xfrm>
            <a:off x="548640" y="4937760"/>
            <a:ext cx="3063240" cy="1371600"/>
          </a:xfrm>
          <a:prstGeom prst="rect">
            <a:avLst/>
          </a:prstGeom>
          <a:noFill/>
          <a:ln/>
        </p:spPr>
        <p:txBody>
          <a:bodyPr wrap="square" lIns="0" tIns="0" rIns="0" bIns="0" rtlCol="0" anchor="t"/>
          <a:lstStyle/>
          <a:p>
            <a:pPr marL="0" indent="0">
              <a:buNone/>
            </a:pPr>
            <a:r>
              <a:rPr lang="en-US" sz="1400" dirty="0">
                <a:solidFill>
                  <a:schemeClr val="tx1"/>
                </a:solidFill>
              </a:rPr>
              <a:t>Every result table links back to a project through project_id. Analytics_Logs links through user_id.</a:t>
            </a:r>
            <a:endParaRPr lang="en-US" sz="1400" dirty="0"/>
          </a:p>
        </p:txBody>
      </p:sp>
      <p:sp>
        <p:nvSpPr>
          <p:cNvPr id="10" name="Risk_Assessments card"/>
          <p:cNvSpPr/>
          <p:nvPr/>
        </p:nvSpPr>
        <p:spPr>
          <a:xfrm>
            <a:off x="3931920" y="1600200"/>
            <a:ext cx="2423160" cy="2286000"/>
          </a:xfrm>
          <a:prstGeom prst="roundRect">
            <a:avLst>
              <a:gd name="adj" fmla="val 4800"/>
            </a:avLst>
          </a:prstGeom>
          <a:solidFill>
            <a:schemeClr val="bg1"/>
          </a:solidFill>
          <a:ln/>
          <a:effectLst>
            <a:outerShdw blurRad="101600" dist="25400" dir="5400000" algn="bl" rotWithShape="0">
              <a:srgbClr val="0B1630">
                <a:alpha val="12000"/>
              </a:srgbClr>
            </a:outerShdw>
          </a:effectLst>
        </p:spPr>
      </p:sp>
      <p:sp>
        <p:nvSpPr>
          <p:cNvPr id="11" name="Risk_Assessments circle"/>
          <p:cNvSpPr/>
          <p:nvPr/>
        </p:nvSpPr>
        <p:spPr>
          <a:xfrm>
            <a:off x="4069080" y="1737360"/>
            <a:ext cx="384048" cy="384048"/>
          </a:xfrm>
          <a:prstGeom prst="ellipse">
            <a:avLst/>
          </a:prstGeom>
          <a:solidFill>
            <a:schemeClr val="accent2"/>
          </a:solidFill>
          <a:ln/>
        </p:spPr>
      </p:sp>
      <p:pic>
        <p:nvPicPr>
          <p:cNvPr id="12" name="Image 1" descr="Risk_Assessments"/>
          <p:cNvPicPr>
            <a:picLocks noChangeAspect="1"/>
          </p:cNvPicPr>
          <p:nvPr/>
        </p:nvPicPr>
        <p:blipFill>
          <a:blip r:embed="rId4"/>
          <a:stretch>
            <a:fillRect/>
          </a:stretch>
        </p:blipFill>
        <p:spPr>
          <a:xfrm>
            <a:off x="4161252" y="1829532"/>
            <a:ext cx="199705" cy="199705"/>
          </a:xfrm>
          <a:prstGeom prst="rect">
            <a:avLst/>
          </a:prstGeom>
        </p:spPr>
      </p:pic>
      <p:sp>
        <p:nvSpPr>
          <p:cNvPr id="13" name="Text 9"/>
          <p:cNvSpPr txBox="1"/>
          <p:nvPr/>
        </p:nvSpPr>
        <p:spPr>
          <a:xfrm>
            <a:off x="4553712" y="1737360"/>
            <a:ext cx="1691640" cy="384048"/>
          </a:xfrm>
          <a:prstGeom prst="rect">
            <a:avLst/>
          </a:prstGeom>
          <a:noFill/>
          <a:ln/>
        </p:spPr>
        <p:txBody>
          <a:bodyPr wrap="square" lIns="0" tIns="0" rIns="0" bIns="0" rtlCol="0" anchor="ctr"/>
          <a:lstStyle/>
          <a:p>
            <a:pPr marL="0" indent="0">
              <a:buNone/>
            </a:pPr>
            <a:r>
              <a:rPr lang="en-US" sz="1400" b="1" dirty="0">
                <a:solidFill>
                  <a:schemeClr val="tx2"/>
                </a:solidFill>
              </a:rPr>
              <a:t>Risk_Assessments</a:t>
            </a:r>
            <a:endParaRPr lang="en-US" sz="1400" dirty="0"/>
          </a:p>
        </p:txBody>
      </p:sp>
      <p:sp>
        <p:nvSpPr>
          <p:cNvPr id="14" name="Text 10"/>
          <p:cNvSpPr txBox="1"/>
          <p:nvPr/>
        </p:nvSpPr>
        <p:spPr>
          <a:xfrm>
            <a:off x="4114800" y="2240280"/>
            <a:ext cx="2103120" cy="1554480"/>
          </a:xfrm>
          <a:prstGeom prst="rect">
            <a:avLst/>
          </a:prstGeom>
          <a:noFill/>
          <a:ln/>
        </p:spPr>
        <p:txBody>
          <a:bodyPr wrap="square" lIns="0" tIns="0" rIns="0" bIns="0" rtlCol="0" anchor="t"/>
          <a:lstStyle/>
          <a:p>
            <a:pPr marL="0" indent="0">
              <a:buNone/>
            </a:pPr>
            <a:r>
              <a:rPr lang="en-US" sz="1400" dirty="0">
                <a:solidFill>
                  <a:schemeClr val="tx1"/>
                </a:solidFill>
              </a:rPr>
              <a:t>risk_id</a:t>
            </a:r>
            <a:r>
              <a:rPr lang="en-US" sz="1400" b="1" dirty="0">
                <a:solidFill>
                  <a:schemeClr val="accent1"/>
                </a:solidFill>
              </a:rPr>
              <a:t>  PK</a:t>
            </a:r>
            <a:endParaRPr lang="en-US" sz="1400" dirty="0"/>
          </a:p>
          <a:p>
            <a:pPr marL="0" indent="0">
              <a:buNone/>
            </a:pPr>
            <a:r>
              <a:rPr lang="en-US" sz="1400" dirty="0">
                <a:solidFill>
                  <a:schemeClr val="tx1"/>
                </a:solidFill>
              </a:rPr>
              <a:t>project_id</a:t>
            </a:r>
            <a:r>
              <a:rPr lang="en-US" sz="1400" b="1" dirty="0">
                <a:solidFill>
                  <a:schemeClr val="accent1"/>
                </a:solidFill>
              </a:rPr>
              <a:t>  FK</a:t>
            </a:r>
            <a:endParaRPr lang="en-US" sz="1400" dirty="0"/>
          </a:p>
          <a:p>
            <a:pPr marL="0" indent="0">
              <a:buNone/>
            </a:pPr>
            <a:r>
              <a:rPr lang="en-US" sz="1400" dirty="0">
                <a:solidFill>
                  <a:schemeClr val="tx1"/>
                </a:solidFill>
              </a:rPr>
              <a:t>risk_category</a:t>
            </a:r>
            <a:endParaRPr lang="en-US" sz="1400" dirty="0"/>
          </a:p>
          <a:p>
            <a:pPr marL="0" indent="0">
              <a:buNone/>
            </a:pPr>
            <a:r>
              <a:rPr lang="en-US" sz="1400" dirty="0">
                <a:solidFill>
                  <a:schemeClr val="tx1"/>
                </a:solidFill>
              </a:rPr>
              <a:t>risk_score</a:t>
            </a:r>
            <a:endParaRPr lang="en-US" sz="1400" dirty="0"/>
          </a:p>
          <a:p>
            <a:pPr marL="0" indent="0">
              <a:buNone/>
            </a:pPr>
            <a:r>
              <a:rPr lang="en-US" sz="1400" dirty="0">
                <a:solidFill>
                  <a:schemeClr val="tx1"/>
                </a:solidFill>
              </a:rPr>
              <a:t>risk_description</a:t>
            </a:r>
            <a:endParaRPr lang="en-US" sz="1400" dirty="0"/>
          </a:p>
          <a:p>
            <a:pPr marL="0" indent="0">
              <a:buNone/>
            </a:pPr>
            <a:r>
              <a:rPr lang="en-US" sz="1400" dirty="0">
                <a:solidFill>
                  <a:schemeClr val="tx1"/>
                </a:solidFill>
              </a:rPr>
              <a:t>priority_level</a:t>
            </a:r>
            <a:endParaRPr lang="en-US" sz="1400" dirty="0"/>
          </a:p>
        </p:txBody>
      </p:sp>
      <p:sp>
        <p:nvSpPr>
          <p:cNvPr id="15" name="SWOT_Analysis card"/>
          <p:cNvSpPr/>
          <p:nvPr/>
        </p:nvSpPr>
        <p:spPr>
          <a:xfrm>
            <a:off x="6574536" y="1600200"/>
            <a:ext cx="2423160" cy="2286000"/>
          </a:xfrm>
          <a:prstGeom prst="roundRect">
            <a:avLst>
              <a:gd name="adj" fmla="val 4800"/>
            </a:avLst>
          </a:prstGeom>
          <a:solidFill>
            <a:schemeClr val="bg1"/>
          </a:solidFill>
          <a:ln/>
          <a:effectLst>
            <a:outerShdw blurRad="101600" dist="25400" dir="5400000" algn="bl" rotWithShape="0">
              <a:srgbClr val="0B1630">
                <a:alpha val="12000"/>
              </a:srgbClr>
            </a:outerShdw>
          </a:effectLst>
        </p:spPr>
      </p:sp>
      <p:sp>
        <p:nvSpPr>
          <p:cNvPr id="16" name="SWOT_Analysis circle"/>
          <p:cNvSpPr/>
          <p:nvPr/>
        </p:nvSpPr>
        <p:spPr>
          <a:xfrm>
            <a:off x="6711696" y="1737360"/>
            <a:ext cx="384048" cy="384048"/>
          </a:xfrm>
          <a:prstGeom prst="ellipse">
            <a:avLst/>
          </a:prstGeom>
          <a:solidFill>
            <a:schemeClr val="accent6"/>
          </a:solidFill>
          <a:ln/>
        </p:spPr>
      </p:sp>
      <p:pic>
        <p:nvPicPr>
          <p:cNvPr id="17" name="Image 2" descr="SWOT_Analysis"/>
          <p:cNvPicPr>
            <a:picLocks noChangeAspect="1"/>
          </p:cNvPicPr>
          <p:nvPr/>
        </p:nvPicPr>
        <p:blipFill>
          <a:blip r:embed="rId5"/>
          <a:stretch>
            <a:fillRect/>
          </a:stretch>
        </p:blipFill>
        <p:spPr>
          <a:xfrm>
            <a:off x="6803868" y="1829532"/>
            <a:ext cx="199705" cy="199705"/>
          </a:xfrm>
          <a:prstGeom prst="rect">
            <a:avLst/>
          </a:prstGeom>
        </p:spPr>
      </p:pic>
      <p:sp>
        <p:nvSpPr>
          <p:cNvPr id="18" name="Text 13"/>
          <p:cNvSpPr txBox="1"/>
          <p:nvPr/>
        </p:nvSpPr>
        <p:spPr>
          <a:xfrm>
            <a:off x="7196328" y="1737360"/>
            <a:ext cx="1691640" cy="384048"/>
          </a:xfrm>
          <a:prstGeom prst="rect">
            <a:avLst/>
          </a:prstGeom>
          <a:noFill/>
          <a:ln/>
        </p:spPr>
        <p:txBody>
          <a:bodyPr wrap="square" lIns="0" tIns="0" rIns="0" bIns="0" rtlCol="0" anchor="ctr"/>
          <a:lstStyle/>
          <a:p>
            <a:pPr marL="0" indent="0">
              <a:buNone/>
            </a:pPr>
            <a:r>
              <a:rPr lang="en-US" sz="1400" b="1" dirty="0">
                <a:solidFill>
                  <a:schemeClr val="tx2"/>
                </a:solidFill>
              </a:rPr>
              <a:t>SWOT_Analysis</a:t>
            </a:r>
            <a:endParaRPr lang="en-US" sz="1400" dirty="0"/>
          </a:p>
        </p:txBody>
      </p:sp>
      <p:sp>
        <p:nvSpPr>
          <p:cNvPr id="19" name="Text 14"/>
          <p:cNvSpPr txBox="1"/>
          <p:nvPr/>
        </p:nvSpPr>
        <p:spPr>
          <a:xfrm>
            <a:off x="6757416" y="2240280"/>
            <a:ext cx="2103120" cy="1554480"/>
          </a:xfrm>
          <a:prstGeom prst="rect">
            <a:avLst/>
          </a:prstGeom>
          <a:noFill/>
          <a:ln/>
        </p:spPr>
        <p:txBody>
          <a:bodyPr wrap="square" lIns="0" tIns="0" rIns="0" bIns="0" rtlCol="0" anchor="t"/>
          <a:lstStyle/>
          <a:p>
            <a:pPr marL="0" indent="0">
              <a:buNone/>
            </a:pPr>
            <a:r>
              <a:rPr lang="en-US" sz="1400" dirty="0">
                <a:solidFill>
                  <a:schemeClr val="tx1"/>
                </a:solidFill>
              </a:rPr>
              <a:t>swot_id</a:t>
            </a:r>
            <a:r>
              <a:rPr lang="en-US" sz="1400" b="1" dirty="0">
                <a:solidFill>
                  <a:schemeClr val="accent1"/>
                </a:solidFill>
              </a:rPr>
              <a:t>  PK</a:t>
            </a:r>
            <a:endParaRPr lang="en-US" sz="1400" dirty="0"/>
          </a:p>
          <a:p>
            <a:pPr marL="0" indent="0">
              <a:buNone/>
            </a:pPr>
            <a:r>
              <a:rPr lang="en-US" sz="1400" dirty="0">
                <a:solidFill>
                  <a:schemeClr val="tx1"/>
                </a:solidFill>
              </a:rPr>
              <a:t>project_id</a:t>
            </a:r>
            <a:r>
              <a:rPr lang="en-US" sz="1400" b="1" dirty="0">
                <a:solidFill>
                  <a:schemeClr val="accent1"/>
                </a:solidFill>
              </a:rPr>
              <a:t>  FK</a:t>
            </a:r>
            <a:endParaRPr lang="en-US" sz="1400" dirty="0"/>
          </a:p>
          <a:p>
            <a:pPr marL="0" indent="0">
              <a:buNone/>
            </a:pPr>
            <a:r>
              <a:rPr lang="en-US" sz="1400" dirty="0">
                <a:solidFill>
                  <a:schemeClr val="tx1"/>
                </a:solidFill>
              </a:rPr>
              <a:t>strengths</a:t>
            </a:r>
            <a:endParaRPr lang="en-US" sz="1400" dirty="0"/>
          </a:p>
          <a:p>
            <a:pPr marL="0" indent="0">
              <a:buNone/>
            </a:pPr>
            <a:r>
              <a:rPr lang="en-US" sz="1400" dirty="0">
                <a:solidFill>
                  <a:schemeClr val="tx1"/>
                </a:solidFill>
              </a:rPr>
              <a:t>weaknesses</a:t>
            </a:r>
            <a:endParaRPr lang="en-US" sz="1400" dirty="0"/>
          </a:p>
          <a:p>
            <a:pPr marL="0" indent="0">
              <a:buNone/>
            </a:pPr>
            <a:r>
              <a:rPr lang="en-US" sz="1400" dirty="0">
                <a:solidFill>
                  <a:schemeClr val="tx1"/>
                </a:solidFill>
              </a:rPr>
              <a:t>opportunities</a:t>
            </a:r>
            <a:endParaRPr lang="en-US" sz="1400" dirty="0"/>
          </a:p>
          <a:p>
            <a:pPr marL="0" indent="0">
              <a:buNone/>
            </a:pPr>
            <a:r>
              <a:rPr lang="en-US" sz="1400" dirty="0">
                <a:solidFill>
                  <a:schemeClr val="tx1"/>
                </a:solidFill>
              </a:rPr>
              <a:t>threats</a:t>
            </a:r>
            <a:endParaRPr lang="en-US" sz="1400" dirty="0"/>
          </a:p>
          <a:p>
            <a:pPr marL="0" indent="0">
              <a:buNone/>
            </a:pPr>
            <a:r>
              <a:rPr lang="en-US" sz="1400" dirty="0">
                <a:solidFill>
                  <a:schemeClr val="tx1"/>
                </a:solidFill>
              </a:rPr>
              <a:t>generated_at</a:t>
            </a:r>
            <a:endParaRPr lang="en-US" sz="1400" dirty="0"/>
          </a:p>
        </p:txBody>
      </p:sp>
      <p:sp>
        <p:nvSpPr>
          <p:cNvPr id="20" name="Success_Predictions card"/>
          <p:cNvSpPr/>
          <p:nvPr/>
        </p:nvSpPr>
        <p:spPr>
          <a:xfrm>
            <a:off x="9217152" y="1600200"/>
            <a:ext cx="2423160" cy="2286000"/>
          </a:xfrm>
          <a:prstGeom prst="roundRect">
            <a:avLst>
              <a:gd name="adj" fmla="val 4800"/>
            </a:avLst>
          </a:prstGeom>
          <a:solidFill>
            <a:schemeClr val="bg1"/>
          </a:solidFill>
          <a:ln/>
          <a:effectLst>
            <a:outerShdw blurRad="101600" dist="25400" dir="5400000" algn="bl" rotWithShape="0">
              <a:srgbClr val="0B1630">
                <a:alpha val="12000"/>
              </a:srgbClr>
            </a:outerShdw>
          </a:effectLst>
        </p:spPr>
      </p:sp>
      <p:sp>
        <p:nvSpPr>
          <p:cNvPr id="21" name="Success_Predictions circle"/>
          <p:cNvSpPr/>
          <p:nvPr/>
        </p:nvSpPr>
        <p:spPr>
          <a:xfrm>
            <a:off x="9354312" y="1737360"/>
            <a:ext cx="384048" cy="384048"/>
          </a:xfrm>
          <a:prstGeom prst="ellipse">
            <a:avLst/>
          </a:prstGeom>
          <a:solidFill>
            <a:schemeClr val="accent4"/>
          </a:solidFill>
          <a:ln/>
        </p:spPr>
      </p:sp>
      <p:pic>
        <p:nvPicPr>
          <p:cNvPr id="22" name="Image 3" descr="Success_Predictions"/>
          <p:cNvPicPr>
            <a:picLocks noChangeAspect="1"/>
          </p:cNvPicPr>
          <p:nvPr/>
        </p:nvPicPr>
        <p:blipFill>
          <a:blip r:embed="rId6"/>
          <a:stretch>
            <a:fillRect/>
          </a:stretch>
        </p:blipFill>
        <p:spPr>
          <a:xfrm>
            <a:off x="9446484" y="1829532"/>
            <a:ext cx="199705" cy="199705"/>
          </a:xfrm>
          <a:prstGeom prst="rect">
            <a:avLst/>
          </a:prstGeom>
        </p:spPr>
      </p:pic>
      <p:sp>
        <p:nvSpPr>
          <p:cNvPr id="23" name="Text 17"/>
          <p:cNvSpPr txBox="1"/>
          <p:nvPr/>
        </p:nvSpPr>
        <p:spPr>
          <a:xfrm>
            <a:off x="9838944" y="1737360"/>
            <a:ext cx="1691640" cy="384048"/>
          </a:xfrm>
          <a:prstGeom prst="rect">
            <a:avLst/>
          </a:prstGeom>
          <a:noFill/>
          <a:ln/>
        </p:spPr>
        <p:txBody>
          <a:bodyPr wrap="square" lIns="0" tIns="0" rIns="0" bIns="0" rtlCol="0" anchor="ctr"/>
          <a:lstStyle/>
          <a:p>
            <a:pPr marL="0" indent="0">
              <a:buNone/>
            </a:pPr>
            <a:r>
              <a:rPr lang="en-US" sz="1400" b="1" dirty="0">
                <a:solidFill>
                  <a:schemeClr val="tx2"/>
                </a:solidFill>
              </a:rPr>
              <a:t>Success_Predictions</a:t>
            </a:r>
            <a:endParaRPr lang="en-US" sz="1400" dirty="0"/>
          </a:p>
        </p:txBody>
      </p:sp>
      <p:sp>
        <p:nvSpPr>
          <p:cNvPr id="24" name="Text 18"/>
          <p:cNvSpPr txBox="1"/>
          <p:nvPr/>
        </p:nvSpPr>
        <p:spPr>
          <a:xfrm>
            <a:off x="9400032" y="2240280"/>
            <a:ext cx="2103120" cy="1554480"/>
          </a:xfrm>
          <a:prstGeom prst="rect">
            <a:avLst/>
          </a:prstGeom>
          <a:noFill/>
          <a:ln/>
        </p:spPr>
        <p:txBody>
          <a:bodyPr wrap="square" lIns="0" tIns="0" rIns="0" bIns="0" rtlCol="0" anchor="t"/>
          <a:lstStyle/>
          <a:p>
            <a:pPr marL="0" indent="0">
              <a:buNone/>
            </a:pPr>
            <a:r>
              <a:rPr lang="en-US" sz="1400" dirty="0">
                <a:solidFill>
                  <a:schemeClr val="tx1"/>
                </a:solidFill>
              </a:rPr>
              <a:t>prediction_id</a:t>
            </a:r>
            <a:r>
              <a:rPr lang="en-US" sz="1400" b="1" dirty="0">
                <a:solidFill>
                  <a:schemeClr val="accent1"/>
                </a:solidFill>
              </a:rPr>
              <a:t>  PK</a:t>
            </a:r>
            <a:endParaRPr lang="en-US" sz="1400" dirty="0"/>
          </a:p>
          <a:p>
            <a:pPr marL="0" indent="0">
              <a:buNone/>
            </a:pPr>
            <a:r>
              <a:rPr lang="en-US" sz="1400" dirty="0">
                <a:solidFill>
                  <a:schemeClr val="tx1"/>
                </a:solidFill>
              </a:rPr>
              <a:t>project_id</a:t>
            </a:r>
            <a:r>
              <a:rPr lang="en-US" sz="1400" b="1" dirty="0">
                <a:solidFill>
                  <a:schemeClr val="accent1"/>
                </a:solidFill>
              </a:rPr>
              <a:t>  FK</a:t>
            </a:r>
            <a:endParaRPr lang="en-US" sz="1400" dirty="0"/>
          </a:p>
          <a:p>
            <a:pPr marL="0" indent="0">
              <a:buNone/>
            </a:pPr>
            <a:r>
              <a:rPr lang="en-US" sz="1400" dirty="0">
                <a:solidFill>
                  <a:schemeClr val="tx1"/>
                </a:solidFill>
              </a:rPr>
              <a:t>success_probability</a:t>
            </a:r>
            <a:endParaRPr lang="en-US" sz="1400" dirty="0"/>
          </a:p>
          <a:p>
            <a:pPr marL="0" indent="0">
              <a:buNone/>
            </a:pPr>
            <a:r>
              <a:rPr lang="en-US" sz="1400" dirty="0">
                <a:solidFill>
                  <a:schemeClr val="tx1"/>
                </a:solidFill>
              </a:rPr>
              <a:t>overall_risk_score</a:t>
            </a:r>
            <a:endParaRPr lang="en-US" sz="1400" dirty="0"/>
          </a:p>
          <a:p>
            <a:pPr marL="0" indent="0">
              <a:buNone/>
            </a:pPr>
            <a:r>
              <a:rPr lang="en-US" sz="1400" dirty="0">
                <a:solidFill>
                  <a:schemeClr val="tx1"/>
                </a:solidFill>
              </a:rPr>
              <a:t>prediction_date</a:t>
            </a:r>
            <a:endParaRPr lang="en-US" sz="1400" dirty="0"/>
          </a:p>
        </p:txBody>
      </p:sp>
      <p:sp>
        <p:nvSpPr>
          <p:cNvPr id="25" name="Recommendations card"/>
          <p:cNvSpPr/>
          <p:nvPr/>
        </p:nvSpPr>
        <p:spPr>
          <a:xfrm>
            <a:off x="3931920" y="4069080"/>
            <a:ext cx="2423160" cy="2286000"/>
          </a:xfrm>
          <a:prstGeom prst="roundRect">
            <a:avLst>
              <a:gd name="adj" fmla="val 4800"/>
            </a:avLst>
          </a:prstGeom>
          <a:solidFill>
            <a:schemeClr val="bg1"/>
          </a:solidFill>
          <a:ln/>
          <a:effectLst>
            <a:outerShdw blurRad="101600" dist="25400" dir="5400000" algn="bl" rotWithShape="0">
              <a:srgbClr val="0B1630">
                <a:alpha val="12000"/>
              </a:srgbClr>
            </a:outerShdw>
          </a:effectLst>
        </p:spPr>
      </p:sp>
      <p:sp>
        <p:nvSpPr>
          <p:cNvPr id="26" name="Recommendations circle"/>
          <p:cNvSpPr/>
          <p:nvPr/>
        </p:nvSpPr>
        <p:spPr>
          <a:xfrm>
            <a:off x="4069080" y="4206240"/>
            <a:ext cx="384048" cy="384048"/>
          </a:xfrm>
          <a:prstGeom prst="ellipse">
            <a:avLst/>
          </a:prstGeom>
          <a:solidFill>
            <a:schemeClr val="accent1"/>
          </a:solidFill>
          <a:ln/>
        </p:spPr>
      </p:sp>
      <p:pic>
        <p:nvPicPr>
          <p:cNvPr id="27" name="Image 4" descr="Recommendations"/>
          <p:cNvPicPr>
            <a:picLocks noChangeAspect="1"/>
          </p:cNvPicPr>
          <p:nvPr/>
        </p:nvPicPr>
        <p:blipFill>
          <a:blip r:embed="rId7"/>
          <a:stretch>
            <a:fillRect/>
          </a:stretch>
        </p:blipFill>
        <p:spPr>
          <a:xfrm>
            <a:off x="4161252" y="4298412"/>
            <a:ext cx="199705" cy="199705"/>
          </a:xfrm>
          <a:prstGeom prst="rect">
            <a:avLst/>
          </a:prstGeom>
        </p:spPr>
      </p:pic>
      <p:sp>
        <p:nvSpPr>
          <p:cNvPr id="28" name="Text 21"/>
          <p:cNvSpPr txBox="1"/>
          <p:nvPr/>
        </p:nvSpPr>
        <p:spPr>
          <a:xfrm>
            <a:off x="4553712" y="4206240"/>
            <a:ext cx="1691640" cy="384048"/>
          </a:xfrm>
          <a:prstGeom prst="rect">
            <a:avLst/>
          </a:prstGeom>
          <a:noFill/>
          <a:ln/>
        </p:spPr>
        <p:txBody>
          <a:bodyPr wrap="square" lIns="0" tIns="0" rIns="0" bIns="0" rtlCol="0" anchor="ctr"/>
          <a:lstStyle/>
          <a:p>
            <a:pPr marL="0" indent="0">
              <a:buNone/>
            </a:pPr>
            <a:r>
              <a:rPr lang="en-US" sz="1400" b="1" dirty="0">
                <a:solidFill>
                  <a:schemeClr val="tx2"/>
                </a:solidFill>
              </a:rPr>
              <a:t>Recommendations</a:t>
            </a:r>
            <a:endParaRPr lang="en-US" sz="1400" dirty="0"/>
          </a:p>
        </p:txBody>
      </p:sp>
      <p:sp>
        <p:nvSpPr>
          <p:cNvPr id="29" name="Text 22"/>
          <p:cNvSpPr txBox="1"/>
          <p:nvPr/>
        </p:nvSpPr>
        <p:spPr>
          <a:xfrm>
            <a:off x="4114800" y="4709160"/>
            <a:ext cx="2103120" cy="1554480"/>
          </a:xfrm>
          <a:prstGeom prst="rect">
            <a:avLst/>
          </a:prstGeom>
          <a:noFill/>
          <a:ln/>
        </p:spPr>
        <p:txBody>
          <a:bodyPr wrap="square" lIns="0" tIns="0" rIns="0" bIns="0" rtlCol="0" anchor="t"/>
          <a:lstStyle/>
          <a:p>
            <a:pPr marL="0" indent="0">
              <a:buNone/>
            </a:pPr>
            <a:r>
              <a:rPr lang="en-US" sz="1400" dirty="0">
                <a:solidFill>
                  <a:schemeClr val="tx1"/>
                </a:solidFill>
              </a:rPr>
              <a:t>recommendation_id</a:t>
            </a:r>
            <a:r>
              <a:rPr lang="en-US" sz="1400" b="1" dirty="0">
                <a:solidFill>
                  <a:schemeClr val="accent1"/>
                </a:solidFill>
              </a:rPr>
              <a:t>  PK</a:t>
            </a:r>
            <a:endParaRPr lang="en-US" sz="1400" dirty="0"/>
          </a:p>
          <a:p>
            <a:pPr marL="0" indent="0">
              <a:buNone/>
            </a:pPr>
            <a:r>
              <a:rPr lang="en-US" sz="1400" dirty="0">
                <a:solidFill>
                  <a:schemeClr val="tx1"/>
                </a:solidFill>
              </a:rPr>
              <a:t>project_id</a:t>
            </a:r>
            <a:r>
              <a:rPr lang="en-US" sz="1400" b="1" dirty="0">
                <a:solidFill>
                  <a:schemeClr val="accent1"/>
                </a:solidFill>
              </a:rPr>
              <a:t>  FK</a:t>
            </a:r>
            <a:endParaRPr lang="en-US" sz="1400" dirty="0"/>
          </a:p>
          <a:p>
            <a:pPr marL="0" indent="0">
              <a:buNone/>
            </a:pPr>
            <a:r>
              <a:rPr lang="en-US" sz="1400" dirty="0">
                <a:solidFill>
                  <a:schemeClr val="tx1"/>
                </a:solidFill>
              </a:rPr>
              <a:t>recommendation_text</a:t>
            </a:r>
            <a:endParaRPr lang="en-US" sz="1400" dirty="0"/>
          </a:p>
          <a:p>
            <a:pPr marL="0" indent="0">
              <a:buNone/>
            </a:pPr>
            <a:r>
              <a:rPr lang="en-US" sz="1400" dirty="0">
                <a:solidFill>
                  <a:schemeClr val="tx1"/>
                </a:solidFill>
              </a:rPr>
              <a:t>risk_mitigation</a:t>
            </a:r>
            <a:endParaRPr lang="en-US" sz="1400" dirty="0"/>
          </a:p>
          <a:p>
            <a:pPr marL="0" indent="0">
              <a:buNone/>
            </a:pPr>
            <a:r>
              <a:rPr lang="en-US" sz="1400" dirty="0">
                <a:solidFill>
                  <a:schemeClr val="tx1"/>
                </a:solidFill>
              </a:rPr>
              <a:t>priority</a:t>
            </a:r>
            <a:endParaRPr lang="en-US" sz="1400" dirty="0"/>
          </a:p>
          <a:p>
            <a:pPr marL="0" indent="0">
              <a:buNone/>
            </a:pPr>
            <a:r>
              <a:rPr lang="en-US" sz="1400" dirty="0">
                <a:solidFill>
                  <a:schemeClr val="tx1"/>
                </a:solidFill>
              </a:rPr>
              <a:t>generated_at</a:t>
            </a:r>
            <a:endParaRPr lang="en-US" sz="1400" dirty="0"/>
          </a:p>
        </p:txBody>
      </p:sp>
      <p:sp>
        <p:nvSpPr>
          <p:cNvPr id="30" name="Assessment_Reports card"/>
          <p:cNvSpPr/>
          <p:nvPr/>
        </p:nvSpPr>
        <p:spPr>
          <a:xfrm>
            <a:off x="6574536" y="4069080"/>
            <a:ext cx="2423160" cy="2286000"/>
          </a:xfrm>
          <a:prstGeom prst="roundRect">
            <a:avLst>
              <a:gd name="adj" fmla="val 4800"/>
            </a:avLst>
          </a:prstGeom>
          <a:solidFill>
            <a:schemeClr val="bg1"/>
          </a:solidFill>
          <a:ln/>
          <a:effectLst>
            <a:outerShdw blurRad="101600" dist="25400" dir="5400000" algn="bl" rotWithShape="0">
              <a:srgbClr val="0B1630">
                <a:alpha val="12000"/>
              </a:srgbClr>
            </a:outerShdw>
          </a:effectLst>
        </p:spPr>
      </p:sp>
      <p:sp>
        <p:nvSpPr>
          <p:cNvPr id="31" name="Assessment_Reports circle"/>
          <p:cNvSpPr/>
          <p:nvPr/>
        </p:nvSpPr>
        <p:spPr>
          <a:xfrm>
            <a:off x="6711696" y="4206240"/>
            <a:ext cx="384048" cy="384048"/>
          </a:xfrm>
          <a:prstGeom prst="ellipse">
            <a:avLst/>
          </a:prstGeom>
          <a:solidFill>
            <a:schemeClr val="accent5"/>
          </a:solidFill>
          <a:ln/>
        </p:spPr>
      </p:sp>
      <p:pic>
        <p:nvPicPr>
          <p:cNvPr id="32" name="Image 5" descr="Assessment_Reports"/>
          <p:cNvPicPr>
            <a:picLocks noChangeAspect="1"/>
          </p:cNvPicPr>
          <p:nvPr/>
        </p:nvPicPr>
        <p:blipFill>
          <a:blip r:embed="rId8"/>
          <a:stretch>
            <a:fillRect/>
          </a:stretch>
        </p:blipFill>
        <p:spPr>
          <a:xfrm>
            <a:off x="6803868" y="4298412"/>
            <a:ext cx="199705" cy="199705"/>
          </a:xfrm>
          <a:prstGeom prst="rect">
            <a:avLst/>
          </a:prstGeom>
        </p:spPr>
      </p:pic>
      <p:sp>
        <p:nvSpPr>
          <p:cNvPr id="33" name="Text 25"/>
          <p:cNvSpPr txBox="1"/>
          <p:nvPr/>
        </p:nvSpPr>
        <p:spPr>
          <a:xfrm>
            <a:off x="7196328" y="4206240"/>
            <a:ext cx="1691640" cy="384048"/>
          </a:xfrm>
          <a:prstGeom prst="rect">
            <a:avLst/>
          </a:prstGeom>
          <a:noFill/>
          <a:ln/>
        </p:spPr>
        <p:txBody>
          <a:bodyPr wrap="square" lIns="0" tIns="0" rIns="0" bIns="0" rtlCol="0" anchor="ctr"/>
          <a:lstStyle/>
          <a:p>
            <a:pPr marL="0" indent="0">
              <a:buNone/>
            </a:pPr>
            <a:r>
              <a:rPr lang="en-US" sz="1400" b="1" dirty="0">
                <a:solidFill>
                  <a:schemeClr val="tx2"/>
                </a:solidFill>
              </a:rPr>
              <a:t>Assessment_Reports</a:t>
            </a:r>
            <a:endParaRPr lang="en-US" sz="1400" dirty="0"/>
          </a:p>
        </p:txBody>
      </p:sp>
      <p:sp>
        <p:nvSpPr>
          <p:cNvPr id="34" name="Text 26"/>
          <p:cNvSpPr txBox="1"/>
          <p:nvPr/>
        </p:nvSpPr>
        <p:spPr>
          <a:xfrm>
            <a:off x="6757416" y="4709160"/>
            <a:ext cx="2103120" cy="1554480"/>
          </a:xfrm>
          <a:prstGeom prst="rect">
            <a:avLst/>
          </a:prstGeom>
          <a:noFill/>
          <a:ln/>
        </p:spPr>
        <p:txBody>
          <a:bodyPr wrap="square" lIns="0" tIns="0" rIns="0" bIns="0" rtlCol="0" anchor="t"/>
          <a:lstStyle/>
          <a:p>
            <a:pPr marL="0" indent="0">
              <a:buNone/>
            </a:pPr>
            <a:r>
              <a:rPr lang="en-US" sz="1400" dirty="0">
                <a:solidFill>
                  <a:schemeClr val="tx1"/>
                </a:solidFill>
              </a:rPr>
              <a:t>report_id</a:t>
            </a:r>
            <a:r>
              <a:rPr lang="en-US" sz="1400" b="1" dirty="0">
                <a:solidFill>
                  <a:schemeClr val="accent1"/>
                </a:solidFill>
              </a:rPr>
              <a:t>  PK</a:t>
            </a:r>
            <a:endParaRPr lang="en-US" sz="1400" dirty="0"/>
          </a:p>
          <a:p>
            <a:pPr marL="0" indent="0">
              <a:buNone/>
            </a:pPr>
            <a:r>
              <a:rPr lang="en-US" sz="1400" dirty="0">
                <a:solidFill>
                  <a:schemeClr val="tx1"/>
                </a:solidFill>
              </a:rPr>
              <a:t>project_id</a:t>
            </a:r>
            <a:r>
              <a:rPr lang="en-US" sz="1400" b="1" dirty="0">
                <a:solidFill>
                  <a:schemeClr val="accent1"/>
                </a:solidFill>
              </a:rPr>
              <a:t>  FK</a:t>
            </a:r>
            <a:endParaRPr lang="en-US" sz="1400" dirty="0"/>
          </a:p>
          <a:p>
            <a:pPr marL="0" indent="0">
              <a:buNone/>
            </a:pPr>
            <a:r>
              <a:rPr lang="en-US" sz="1400" dirty="0">
                <a:solidFill>
                  <a:schemeClr val="tx1"/>
                </a:solidFill>
              </a:rPr>
              <a:t>report_path</a:t>
            </a:r>
            <a:endParaRPr lang="en-US" sz="1400" dirty="0"/>
          </a:p>
          <a:p>
            <a:pPr marL="0" indent="0">
              <a:buNone/>
            </a:pPr>
            <a:r>
              <a:rPr lang="en-US" sz="1400" dirty="0">
                <a:solidFill>
                  <a:schemeClr val="tx1"/>
                </a:solidFill>
              </a:rPr>
              <a:t>generated_at</a:t>
            </a:r>
            <a:endParaRPr lang="en-US" sz="1400" dirty="0"/>
          </a:p>
        </p:txBody>
      </p:sp>
      <p:sp>
        <p:nvSpPr>
          <p:cNvPr id="35" name="Analytics_Logs card"/>
          <p:cNvSpPr/>
          <p:nvPr/>
        </p:nvSpPr>
        <p:spPr>
          <a:xfrm>
            <a:off x="9217152" y="4069080"/>
            <a:ext cx="2423160" cy="2286000"/>
          </a:xfrm>
          <a:prstGeom prst="roundRect">
            <a:avLst>
              <a:gd name="adj" fmla="val 4800"/>
            </a:avLst>
          </a:prstGeom>
          <a:solidFill>
            <a:schemeClr val="bg1"/>
          </a:solidFill>
          <a:ln/>
          <a:effectLst>
            <a:outerShdw blurRad="101600" dist="25400" dir="5400000" algn="bl" rotWithShape="0">
              <a:srgbClr val="0B1630">
                <a:alpha val="12000"/>
              </a:srgbClr>
            </a:outerShdw>
          </a:effectLst>
        </p:spPr>
      </p:sp>
      <p:sp>
        <p:nvSpPr>
          <p:cNvPr id="36" name="Analytics_Logs circle"/>
          <p:cNvSpPr/>
          <p:nvPr/>
        </p:nvSpPr>
        <p:spPr>
          <a:xfrm>
            <a:off x="9354312" y="4206240"/>
            <a:ext cx="384048" cy="384048"/>
          </a:xfrm>
          <a:prstGeom prst="ellipse">
            <a:avLst/>
          </a:prstGeom>
          <a:solidFill>
            <a:schemeClr val="accent5"/>
          </a:solidFill>
          <a:ln/>
        </p:spPr>
      </p:sp>
      <p:pic>
        <p:nvPicPr>
          <p:cNvPr id="37" name="Image 6" descr="Analytics_Logs"/>
          <p:cNvPicPr>
            <a:picLocks noChangeAspect="1"/>
          </p:cNvPicPr>
          <p:nvPr/>
        </p:nvPicPr>
        <p:blipFill>
          <a:blip r:embed="rId9"/>
          <a:stretch>
            <a:fillRect/>
          </a:stretch>
        </p:blipFill>
        <p:spPr>
          <a:xfrm>
            <a:off x="9446484" y="4298412"/>
            <a:ext cx="199705" cy="199705"/>
          </a:xfrm>
          <a:prstGeom prst="rect">
            <a:avLst/>
          </a:prstGeom>
        </p:spPr>
      </p:pic>
      <p:sp>
        <p:nvSpPr>
          <p:cNvPr id="38" name="Text 29"/>
          <p:cNvSpPr txBox="1"/>
          <p:nvPr/>
        </p:nvSpPr>
        <p:spPr>
          <a:xfrm>
            <a:off x="9838944" y="4206240"/>
            <a:ext cx="1691640" cy="384048"/>
          </a:xfrm>
          <a:prstGeom prst="rect">
            <a:avLst/>
          </a:prstGeom>
          <a:noFill/>
          <a:ln/>
        </p:spPr>
        <p:txBody>
          <a:bodyPr wrap="square" lIns="0" tIns="0" rIns="0" bIns="0" rtlCol="0" anchor="ctr"/>
          <a:lstStyle/>
          <a:p>
            <a:pPr marL="0" indent="0">
              <a:buNone/>
            </a:pPr>
            <a:r>
              <a:rPr lang="en-US" sz="1400" b="1" dirty="0">
                <a:solidFill>
                  <a:schemeClr val="tx2"/>
                </a:solidFill>
              </a:rPr>
              <a:t>Analytics_Logs</a:t>
            </a:r>
            <a:endParaRPr lang="en-US" sz="1400" dirty="0"/>
          </a:p>
        </p:txBody>
      </p:sp>
      <p:sp>
        <p:nvSpPr>
          <p:cNvPr id="39" name="Text 30"/>
          <p:cNvSpPr txBox="1"/>
          <p:nvPr/>
        </p:nvSpPr>
        <p:spPr>
          <a:xfrm>
            <a:off x="9400032" y="4709160"/>
            <a:ext cx="2103120" cy="1554480"/>
          </a:xfrm>
          <a:prstGeom prst="rect">
            <a:avLst/>
          </a:prstGeom>
          <a:noFill/>
          <a:ln/>
        </p:spPr>
        <p:txBody>
          <a:bodyPr wrap="square" lIns="0" tIns="0" rIns="0" bIns="0" rtlCol="0" anchor="t"/>
          <a:lstStyle/>
          <a:p>
            <a:pPr marL="0" indent="0">
              <a:buNone/>
            </a:pPr>
            <a:r>
              <a:rPr lang="en-US" sz="1400" dirty="0">
                <a:solidFill>
                  <a:schemeClr val="tx1"/>
                </a:solidFill>
              </a:rPr>
              <a:t>log_id</a:t>
            </a:r>
            <a:r>
              <a:rPr lang="en-US" sz="1400" b="1" dirty="0">
                <a:solidFill>
                  <a:schemeClr val="accent1"/>
                </a:solidFill>
              </a:rPr>
              <a:t>  PK</a:t>
            </a:r>
            <a:endParaRPr lang="en-US" sz="1400" dirty="0"/>
          </a:p>
          <a:p>
            <a:pPr marL="0" indent="0">
              <a:buNone/>
            </a:pPr>
            <a:r>
              <a:rPr lang="en-US" sz="1400" dirty="0">
                <a:solidFill>
                  <a:schemeClr val="tx1"/>
                </a:solidFill>
              </a:rPr>
              <a:t>user_id</a:t>
            </a:r>
            <a:r>
              <a:rPr lang="en-US" sz="1400" b="1" dirty="0">
                <a:solidFill>
                  <a:schemeClr val="accent1"/>
                </a:solidFill>
              </a:rPr>
              <a:t>  FK</a:t>
            </a:r>
            <a:endParaRPr lang="en-US" sz="1400" dirty="0"/>
          </a:p>
          <a:p>
            <a:pPr marL="0" indent="0">
              <a:buNone/>
            </a:pPr>
            <a:r>
              <a:rPr lang="en-US" sz="1400" dirty="0">
                <a:solidFill>
                  <a:schemeClr val="tx1"/>
                </a:solidFill>
              </a:rPr>
              <a:t>activity_type</a:t>
            </a:r>
            <a:endParaRPr lang="en-US" sz="1400" dirty="0"/>
          </a:p>
          <a:p>
            <a:pPr marL="0" indent="0">
              <a:buNone/>
            </a:pPr>
            <a:r>
              <a:rPr lang="en-US" sz="1400" dirty="0">
                <a:solidFill>
                  <a:schemeClr val="tx1"/>
                </a:solidFill>
              </a:rPr>
              <a:t>timestamp</a:t>
            </a:r>
            <a:endParaRPr lang="en-US" sz="1400" dirty="0"/>
          </a:p>
        </p:txBody>
      </p:sp>
      <p:sp>
        <p:nvSpPr>
          <p:cNvPr id="4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Who It Helps and Success Targets</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Built for people who need to decide before they invest</a:t>
            </a:r>
            <a:endParaRPr lang="en-US" sz="1600" dirty="0"/>
          </a:p>
        </p:txBody>
      </p:sp>
      <p:sp>
        <p:nvSpPr>
          <p:cNvPr id="4" name="Text 2"/>
          <p:cNvSpPr txBox="1"/>
          <p:nvPr/>
        </p:nvSpPr>
        <p:spPr>
          <a:xfrm>
            <a:off x="548640" y="1600200"/>
            <a:ext cx="5212080" cy="365760"/>
          </a:xfrm>
          <a:prstGeom prst="rect">
            <a:avLst/>
          </a:prstGeom>
          <a:noFill/>
          <a:ln/>
        </p:spPr>
        <p:txBody>
          <a:bodyPr wrap="square" lIns="0" tIns="0" rIns="0" bIns="0" rtlCol="0" anchor="ctr"/>
          <a:lstStyle/>
          <a:p>
            <a:pPr marL="0" indent="0">
              <a:buNone/>
            </a:pPr>
            <a:r>
              <a:rPr lang="en-US" sz="2000" b="1" dirty="0">
                <a:solidFill>
                  <a:schemeClr val="accent1"/>
                </a:solidFill>
              </a:rPr>
              <a:t>Who it helps</a:t>
            </a:r>
            <a:endParaRPr lang="en-US" sz="2000" dirty="0"/>
          </a:p>
        </p:txBody>
      </p:sp>
      <p:sp>
        <p:nvSpPr>
          <p:cNvPr id="5" name="Entrepreneurs card"/>
          <p:cNvSpPr/>
          <p:nvPr/>
        </p:nvSpPr>
        <p:spPr>
          <a:xfrm>
            <a:off x="548640" y="2103120"/>
            <a:ext cx="5212080" cy="676656"/>
          </a:xfrm>
          <a:prstGeom prst="roundRect">
            <a:avLst>
              <a:gd name="adj" fmla="val 16216"/>
            </a:avLst>
          </a:prstGeom>
          <a:solidFill>
            <a:schemeClr val="bg1"/>
          </a:solidFill>
          <a:ln/>
          <a:effectLst>
            <a:outerShdw blurRad="101600" dist="25400" dir="5400000" algn="bl" rotWithShape="0">
              <a:srgbClr val="0B1630">
                <a:alpha val="12000"/>
              </a:srgbClr>
            </a:outerShdw>
          </a:effectLst>
        </p:spPr>
      </p:sp>
      <p:sp>
        <p:nvSpPr>
          <p:cNvPr id="6" name="Entrepreneurs circle"/>
          <p:cNvSpPr/>
          <p:nvPr/>
        </p:nvSpPr>
        <p:spPr>
          <a:xfrm>
            <a:off x="713232" y="2212848"/>
            <a:ext cx="457200" cy="457200"/>
          </a:xfrm>
          <a:prstGeom prst="ellipse">
            <a:avLst/>
          </a:prstGeom>
          <a:solidFill>
            <a:schemeClr val="accent1"/>
          </a:solidFill>
          <a:ln/>
        </p:spPr>
      </p:sp>
      <p:pic>
        <p:nvPicPr>
          <p:cNvPr id="7" name="Image 0" descr="Entrepreneurs"/>
          <p:cNvPicPr>
            <a:picLocks noChangeAspect="1"/>
          </p:cNvPicPr>
          <p:nvPr/>
        </p:nvPicPr>
        <p:blipFill>
          <a:blip r:embed="rId3"/>
          <a:stretch>
            <a:fillRect/>
          </a:stretch>
        </p:blipFill>
        <p:spPr>
          <a:xfrm>
            <a:off x="822960" y="2322576"/>
            <a:ext cx="237744" cy="237744"/>
          </a:xfrm>
          <a:prstGeom prst="rect">
            <a:avLst/>
          </a:prstGeom>
        </p:spPr>
      </p:pic>
      <p:sp>
        <p:nvSpPr>
          <p:cNvPr id="8" name="Text 5"/>
          <p:cNvSpPr txBox="1"/>
          <p:nvPr/>
        </p:nvSpPr>
        <p:spPr>
          <a:xfrm>
            <a:off x="1371600" y="2167128"/>
            <a:ext cx="4206240" cy="274320"/>
          </a:xfrm>
          <a:prstGeom prst="rect">
            <a:avLst/>
          </a:prstGeom>
          <a:noFill/>
          <a:ln/>
        </p:spPr>
        <p:txBody>
          <a:bodyPr wrap="square" lIns="0" tIns="0" rIns="0" bIns="0" rtlCol="0" anchor="ctr"/>
          <a:lstStyle/>
          <a:p>
            <a:pPr marL="0" indent="0">
              <a:buNone/>
            </a:pPr>
            <a:r>
              <a:rPr lang="en-US" sz="1600" b="1" dirty="0">
                <a:solidFill>
                  <a:schemeClr val="tx2"/>
                </a:solidFill>
              </a:rPr>
              <a:t>Entrepreneurs</a:t>
            </a:r>
            <a:endParaRPr lang="en-US" sz="1600" dirty="0"/>
          </a:p>
        </p:txBody>
      </p:sp>
      <p:sp>
        <p:nvSpPr>
          <p:cNvPr id="9" name="Text 6"/>
          <p:cNvSpPr txBox="1"/>
          <p:nvPr/>
        </p:nvSpPr>
        <p:spPr>
          <a:xfrm>
            <a:off x="1371600" y="2441448"/>
            <a:ext cx="4206240" cy="256032"/>
          </a:xfrm>
          <a:prstGeom prst="rect">
            <a:avLst/>
          </a:prstGeom>
          <a:noFill/>
          <a:ln/>
        </p:spPr>
        <p:txBody>
          <a:bodyPr wrap="square" lIns="0" tIns="0" rIns="0" bIns="0" rtlCol="0" anchor="ctr"/>
          <a:lstStyle/>
          <a:p>
            <a:pPr marL="0" indent="0">
              <a:buNone/>
            </a:pPr>
            <a:r>
              <a:rPr lang="en-US" sz="1400" dirty="0">
                <a:solidFill>
                  <a:schemeClr val="tx1"/>
                </a:solidFill>
              </a:rPr>
              <a:t>Test an idea before committing capital</a:t>
            </a:r>
            <a:endParaRPr lang="en-US" sz="1400" dirty="0"/>
          </a:p>
        </p:txBody>
      </p:sp>
      <p:sp>
        <p:nvSpPr>
          <p:cNvPr id="10" name="Startup founders card"/>
          <p:cNvSpPr/>
          <p:nvPr/>
        </p:nvSpPr>
        <p:spPr>
          <a:xfrm>
            <a:off x="548640" y="2889504"/>
            <a:ext cx="5212080" cy="676656"/>
          </a:xfrm>
          <a:prstGeom prst="roundRect">
            <a:avLst>
              <a:gd name="adj" fmla="val 16216"/>
            </a:avLst>
          </a:prstGeom>
          <a:solidFill>
            <a:schemeClr val="bg1"/>
          </a:solidFill>
          <a:ln/>
          <a:effectLst>
            <a:outerShdw blurRad="101600" dist="25400" dir="5400000" algn="bl" rotWithShape="0">
              <a:srgbClr val="0B1630">
                <a:alpha val="12000"/>
              </a:srgbClr>
            </a:outerShdw>
          </a:effectLst>
        </p:spPr>
      </p:sp>
      <p:sp>
        <p:nvSpPr>
          <p:cNvPr id="11" name="Startup founders circle"/>
          <p:cNvSpPr/>
          <p:nvPr/>
        </p:nvSpPr>
        <p:spPr>
          <a:xfrm>
            <a:off x="713232" y="2999232"/>
            <a:ext cx="457200" cy="457200"/>
          </a:xfrm>
          <a:prstGeom prst="ellipse">
            <a:avLst/>
          </a:prstGeom>
          <a:solidFill>
            <a:schemeClr val="accent2"/>
          </a:solidFill>
          <a:ln/>
        </p:spPr>
      </p:sp>
      <p:pic>
        <p:nvPicPr>
          <p:cNvPr id="12" name="Image 1" descr="Startup founders"/>
          <p:cNvPicPr>
            <a:picLocks noChangeAspect="1"/>
          </p:cNvPicPr>
          <p:nvPr/>
        </p:nvPicPr>
        <p:blipFill>
          <a:blip r:embed="rId4"/>
          <a:stretch>
            <a:fillRect/>
          </a:stretch>
        </p:blipFill>
        <p:spPr>
          <a:xfrm>
            <a:off x="822960" y="3108960"/>
            <a:ext cx="237744" cy="237744"/>
          </a:xfrm>
          <a:prstGeom prst="rect">
            <a:avLst/>
          </a:prstGeom>
        </p:spPr>
      </p:pic>
      <p:sp>
        <p:nvSpPr>
          <p:cNvPr id="13" name="Text 9"/>
          <p:cNvSpPr txBox="1"/>
          <p:nvPr/>
        </p:nvSpPr>
        <p:spPr>
          <a:xfrm>
            <a:off x="1371600" y="2953512"/>
            <a:ext cx="4206240" cy="274320"/>
          </a:xfrm>
          <a:prstGeom prst="rect">
            <a:avLst/>
          </a:prstGeom>
          <a:noFill/>
          <a:ln/>
        </p:spPr>
        <p:txBody>
          <a:bodyPr wrap="square" lIns="0" tIns="0" rIns="0" bIns="0" rtlCol="0" anchor="ctr"/>
          <a:lstStyle/>
          <a:p>
            <a:pPr marL="0" indent="0">
              <a:buNone/>
            </a:pPr>
            <a:r>
              <a:rPr lang="en-US" sz="1600" b="1" dirty="0">
                <a:solidFill>
                  <a:schemeClr val="tx2"/>
                </a:solidFill>
              </a:rPr>
              <a:t>Startup founders</a:t>
            </a:r>
            <a:endParaRPr lang="en-US" sz="1600" dirty="0"/>
          </a:p>
        </p:txBody>
      </p:sp>
      <p:sp>
        <p:nvSpPr>
          <p:cNvPr id="14" name="Text 10"/>
          <p:cNvSpPr txBox="1"/>
          <p:nvPr/>
        </p:nvSpPr>
        <p:spPr>
          <a:xfrm>
            <a:off x="1371600" y="3227832"/>
            <a:ext cx="4206240" cy="256032"/>
          </a:xfrm>
          <a:prstGeom prst="rect">
            <a:avLst/>
          </a:prstGeom>
          <a:noFill/>
          <a:ln/>
        </p:spPr>
        <p:txBody>
          <a:bodyPr wrap="square" lIns="0" tIns="0" rIns="0" bIns="0" rtlCol="0" anchor="ctr"/>
          <a:lstStyle/>
          <a:p>
            <a:pPr marL="0" indent="0">
              <a:buNone/>
            </a:pPr>
            <a:r>
              <a:rPr lang="en-US" sz="1400" dirty="0">
                <a:solidFill>
                  <a:schemeClr val="tx1"/>
                </a:solidFill>
              </a:rPr>
              <a:t>See market and funding risks early</a:t>
            </a:r>
            <a:endParaRPr lang="en-US" sz="1400" dirty="0"/>
          </a:p>
        </p:txBody>
      </p:sp>
      <p:sp>
        <p:nvSpPr>
          <p:cNvPr id="15" name="Students card"/>
          <p:cNvSpPr/>
          <p:nvPr/>
        </p:nvSpPr>
        <p:spPr>
          <a:xfrm>
            <a:off x="548640" y="3675888"/>
            <a:ext cx="5212080" cy="676656"/>
          </a:xfrm>
          <a:prstGeom prst="roundRect">
            <a:avLst>
              <a:gd name="adj" fmla="val 16216"/>
            </a:avLst>
          </a:prstGeom>
          <a:solidFill>
            <a:schemeClr val="bg1"/>
          </a:solidFill>
          <a:ln/>
          <a:effectLst>
            <a:outerShdw blurRad="101600" dist="25400" dir="5400000" algn="bl" rotWithShape="0">
              <a:srgbClr val="0B1630">
                <a:alpha val="12000"/>
              </a:srgbClr>
            </a:outerShdw>
          </a:effectLst>
        </p:spPr>
      </p:sp>
      <p:sp>
        <p:nvSpPr>
          <p:cNvPr id="16" name="Students circle"/>
          <p:cNvSpPr/>
          <p:nvPr/>
        </p:nvSpPr>
        <p:spPr>
          <a:xfrm>
            <a:off x="713232" y="3785616"/>
            <a:ext cx="457200" cy="457200"/>
          </a:xfrm>
          <a:prstGeom prst="ellipse">
            <a:avLst/>
          </a:prstGeom>
          <a:solidFill>
            <a:schemeClr val="accent6"/>
          </a:solidFill>
          <a:ln/>
        </p:spPr>
      </p:sp>
      <p:pic>
        <p:nvPicPr>
          <p:cNvPr id="17" name="Image 2" descr="Students"/>
          <p:cNvPicPr>
            <a:picLocks noChangeAspect="1"/>
          </p:cNvPicPr>
          <p:nvPr/>
        </p:nvPicPr>
        <p:blipFill>
          <a:blip r:embed="rId5"/>
          <a:stretch>
            <a:fillRect/>
          </a:stretch>
        </p:blipFill>
        <p:spPr>
          <a:xfrm>
            <a:off x="822960" y="3895344"/>
            <a:ext cx="237744" cy="237744"/>
          </a:xfrm>
          <a:prstGeom prst="rect">
            <a:avLst/>
          </a:prstGeom>
        </p:spPr>
      </p:pic>
      <p:sp>
        <p:nvSpPr>
          <p:cNvPr id="18" name="Text 13"/>
          <p:cNvSpPr txBox="1"/>
          <p:nvPr/>
        </p:nvSpPr>
        <p:spPr>
          <a:xfrm>
            <a:off x="1371600" y="3739896"/>
            <a:ext cx="4206240" cy="274320"/>
          </a:xfrm>
          <a:prstGeom prst="rect">
            <a:avLst/>
          </a:prstGeom>
          <a:noFill/>
          <a:ln/>
        </p:spPr>
        <p:txBody>
          <a:bodyPr wrap="square" lIns="0" tIns="0" rIns="0" bIns="0" rtlCol="0" anchor="ctr"/>
          <a:lstStyle/>
          <a:p>
            <a:pPr marL="0" indent="0">
              <a:buNone/>
            </a:pPr>
            <a:r>
              <a:rPr lang="en-US" sz="1600" b="1" dirty="0">
                <a:solidFill>
                  <a:schemeClr val="tx2"/>
                </a:solidFill>
              </a:rPr>
              <a:t>Students</a:t>
            </a:r>
            <a:endParaRPr lang="en-US" sz="1600" dirty="0"/>
          </a:p>
        </p:txBody>
      </p:sp>
      <p:sp>
        <p:nvSpPr>
          <p:cNvPr id="19" name="Text 14"/>
          <p:cNvSpPr txBox="1"/>
          <p:nvPr/>
        </p:nvSpPr>
        <p:spPr>
          <a:xfrm>
            <a:off x="1371600" y="4014216"/>
            <a:ext cx="4206240" cy="256032"/>
          </a:xfrm>
          <a:prstGeom prst="rect">
            <a:avLst/>
          </a:prstGeom>
          <a:noFill/>
          <a:ln/>
        </p:spPr>
        <p:txBody>
          <a:bodyPr wrap="square" lIns="0" tIns="0" rIns="0" bIns="0" rtlCol="0" anchor="ctr"/>
          <a:lstStyle/>
          <a:p>
            <a:pPr marL="0" indent="0">
              <a:buNone/>
            </a:pPr>
            <a:r>
              <a:rPr lang="en-US" sz="1400" dirty="0">
                <a:solidFill>
                  <a:schemeClr val="tx1"/>
                </a:solidFill>
              </a:rPr>
              <a:t>Strengthen college and capstone projects</a:t>
            </a:r>
            <a:endParaRPr lang="en-US" sz="1400" dirty="0"/>
          </a:p>
        </p:txBody>
      </p:sp>
      <p:sp>
        <p:nvSpPr>
          <p:cNvPr id="20" name="Hackathon teams card"/>
          <p:cNvSpPr/>
          <p:nvPr/>
        </p:nvSpPr>
        <p:spPr>
          <a:xfrm>
            <a:off x="548640" y="4462272"/>
            <a:ext cx="5212080" cy="676656"/>
          </a:xfrm>
          <a:prstGeom prst="roundRect">
            <a:avLst>
              <a:gd name="adj" fmla="val 16216"/>
            </a:avLst>
          </a:prstGeom>
          <a:solidFill>
            <a:schemeClr val="bg1"/>
          </a:solidFill>
          <a:ln/>
          <a:effectLst>
            <a:outerShdw blurRad="101600" dist="25400" dir="5400000" algn="bl" rotWithShape="0">
              <a:srgbClr val="0B1630">
                <a:alpha val="12000"/>
              </a:srgbClr>
            </a:outerShdw>
          </a:effectLst>
        </p:spPr>
      </p:sp>
      <p:sp>
        <p:nvSpPr>
          <p:cNvPr id="21" name="Hackathon teams circle"/>
          <p:cNvSpPr/>
          <p:nvPr/>
        </p:nvSpPr>
        <p:spPr>
          <a:xfrm>
            <a:off x="713232" y="4572000"/>
            <a:ext cx="457200" cy="457200"/>
          </a:xfrm>
          <a:prstGeom prst="ellipse">
            <a:avLst/>
          </a:prstGeom>
          <a:solidFill>
            <a:schemeClr val="accent4"/>
          </a:solidFill>
          <a:ln/>
        </p:spPr>
      </p:sp>
      <p:pic>
        <p:nvPicPr>
          <p:cNvPr id="22" name="Image 3" descr="Hackathon teams"/>
          <p:cNvPicPr>
            <a:picLocks noChangeAspect="1"/>
          </p:cNvPicPr>
          <p:nvPr/>
        </p:nvPicPr>
        <p:blipFill>
          <a:blip r:embed="rId6"/>
          <a:stretch>
            <a:fillRect/>
          </a:stretch>
        </p:blipFill>
        <p:spPr>
          <a:xfrm>
            <a:off x="822960" y="4681728"/>
            <a:ext cx="237744" cy="237744"/>
          </a:xfrm>
          <a:prstGeom prst="rect">
            <a:avLst/>
          </a:prstGeom>
        </p:spPr>
      </p:pic>
      <p:sp>
        <p:nvSpPr>
          <p:cNvPr id="23" name="Text 17"/>
          <p:cNvSpPr txBox="1"/>
          <p:nvPr/>
        </p:nvSpPr>
        <p:spPr>
          <a:xfrm>
            <a:off x="1371600" y="4526280"/>
            <a:ext cx="4206240" cy="274320"/>
          </a:xfrm>
          <a:prstGeom prst="rect">
            <a:avLst/>
          </a:prstGeom>
          <a:noFill/>
          <a:ln/>
        </p:spPr>
        <p:txBody>
          <a:bodyPr wrap="square" lIns="0" tIns="0" rIns="0" bIns="0" rtlCol="0" anchor="ctr"/>
          <a:lstStyle/>
          <a:p>
            <a:pPr marL="0" indent="0">
              <a:buNone/>
            </a:pPr>
            <a:r>
              <a:rPr lang="en-US" sz="1600" b="1" dirty="0">
                <a:solidFill>
                  <a:schemeClr val="tx2"/>
                </a:solidFill>
              </a:rPr>
              <a:t>Hackathon teams</a:t>
            </a:r>
            <a:endParaRPr lang="en-US" sz="1600" dirty="0"/>
          </a:p>
        </p:txBody>
      </p:sp>
      <p:sp>
        <p:nvSpPr>
          <p:cNvPr id="24" name="Text 18"/>
          <p:cNvSpPr txBox="1"/>
          <p:nvPr/>
        </p:nvSpPr>
        <p:spPr>
          <a:xfrm>
            <a:off x="1371600" y="4800600"/>
            <a:ext cx="4206240" cy="256032"/>
          </a:xfrm>
          <a:prstGeom prst="rect">
            <a:avLst/>
          </a:prstGeom>
          <a:noFill/>
          <a:ln/>
        </p:spPr>
        <p:txBody>
          <a:bodyPr wrap="square" lIns="0" tIns="0" rIns="0" bIns="0" rtlCol="0" anchor="ctr"/>
          <a:lstStyle/>
          <a:p>
            <a:pPr marL="0" indent="0">
              <a:buNone/>
            </a:pPr>
            <a:r>
              <a:rPr lang="en-US" sz="1400" dirty="0">
                <a:solidFill>
                  <a:schemeClr val="tx1"/>
                </a:solidFill>
              </a:rPr>
              <a:t>Judge whether a solution can succeed</a:t>
            </a:r>
            <a:endParaRPr lang="en-US" sz="1400" dirty="0"/>
          </a:p>
        </p:txBody>
      </p:sp>
      <p:sp>
        <p:nvSpPr>
          <p:cNvPr id="25" name="Business analysts card"/>
          <p:cNvSpPr/>
          <p:nvPr/>
        </p:nvSpPr>
        <p:spPr>
          <a:xfrm>
            <a:off x="548640" y="5248656"/>
            <a:ext cx="5212080" cy="676656"/>
          </a:xfrm>
          <a:prstGeom prst="roundRect">
            <a:avLst>
              <a:gd name="adj" fmla="val 16216"/>
            </a:avLst>
          </a:prstGeom>
          <a:solidFill>
            <a:schemeClr val="bg1"/>
          </a:solidFill>
          <a:ln/>
          <a:effectLst>
            <a:outerShdw blurRad="101600" dist="25400" dir="5400000" algn="bl" rotWithShape="0">
              <a:srgbClr val="0B1630">
                <a:alpha val="12000"/>
              </a:srgbClr>
            </a:outerShdw>
          </a:effectLst>
        </p:spPr>
      </p:sp>
      <p:sp>
        <p:nvSpPr>
          <p:cNvPr id="26" name="Business analysts circle"/>
          <p:cNvSpPr/>
          <p:nvPr/>
        </p:nvSpPr>
        <p:spPr>
          <a:xfrm>
            <a:off x="713232" y="5358384"/>
            <a:ext cx="457200" cy="457200"/>
          </a:xfrm>
          <a:prstGeom prst="ellipse">
            <a:avLst/>
          </a:prstGeom>
          <a:solidFill>
            <a:schemeClr val="accent5"/>
          </a:solidFill>
          <a:ln/>
        </p:spPr>
      </p:sp>
      <p:pic>
        <p:nvPicPr>
          <p:cNvPr id="27" name="Image 4" descr="Business analysts"/>
          <p:cNvPicPr>
            <a:picLocks noChangeAspect="1"/>
          </p:cNvPicPr>
          <p:nvPr/>
        </p:nvPicPr>
        <p:blipFill>
          <a:blip r:embed="rId7"/>
          <a:stretch>
            <a:fillRect/>
          </a:stretch>
        </p:blipFill>
        <p:spPr>
          <a:xfrm>
            <a:off x="822960" y="5468112"/>
            <a:ext cx="237744" cy="237744"/>
          </a:xfrm>
          <a:prstGeom prst="rect">
            <a:avLst/>
          </a:prstGeom>
        </p:spPr>
      </p:pic>
      <p:sp>
        <p:nvSpPr>
          <p:cNvPr id="28" name="Text 21"/>
          <p:cNvSpPr txBox="1"/>
          <p:nvPr/>
        </p:nvSpPr>
        <p:spPr>
          <a:xfrm>
            <a:off x="1371600" y="5312664"/>
            <a:ext cx="4206240" cy="274320"/>
          </a:xfrm>
          <a:prstGeom prst="rect">
            <a:avLst/>
          </a:prstGeom>
          <a:noFill/>
          <a:ln/>
        </p:spPr>
        <p:txBody>
          <a:bodyPr wrap="square" lIns="0" tIns="0" rIns="0" bIns="0" rtlCol="0" anchor="ctr"/>
          <a:lstStyle/>
          <a:p>
            <a:pPr marL="0" indent="0">
              <a:buNone/>
            </a:pPr>
            <a:r>
              <a:rPr lang="en-US" sz="1600" b="1" dirty="0">
                <a:solidFill>
                  <a:schemeClr val="tx2"/>
                </a:solidFill>
              </a:rPr>
              <a:t>Business analysts</a:t>
            </a:r>
            <a:endParaRPr lang="en-US" sz="1600" dirty="0"/>
          </a:p>
        </p:txBody>
      </p:sp>
      <p:sp>
        <p:nvSpPr>
          <p:cNvPr id="29" name="Text 22"/>
          <p:cNvSpPr txBox="1"/>
          <p:nvPr/>
        </p:nvSpPr>
        <p:spPr>
          <a:xfrm>
            <a:off x="1371600" y="5586984"/>
            <a:ext cx="4206240" cy="256032"/>
          </a:xfrm>
          <a:prstGeom prst="rect">
            <a:avLst/>
          </a:prstGeom>
          <a:noFill/>
          <a:ln/>
        </p:spPr>
        <p:txBody>
          <a:bodyPr wrap="square" lIns="0" tIns="0" rIns="0" bIns="0" rtlCol="0" anchor="ctr"/>
          <a:lstStyle/>
          <a:p>
            <a:pPr marL="0" indent="0">
              <a:buNone/>
            </a:pPr>
            <a:r>
              <a:rPr lang="en-US" sz="1400" dirty="0">
                <a:solidFill>
                  <a:schemeClr val="tx1"/>
                </a:solidFill>
              </a:rPr>
              <a:t>Back viability decisions with data</a:t>
            </a:r>
            <a:endParaRPr lang="en-US" sz="1400" dirty="0"/>
          </a:p>
        </p:txBody>
      </p:sp>
      <p:sp>
        <p:nvSpPr>
          <p:cNvPr id="30" name="Text 23"/>
          <p:cNvSpPr txBox="1"/>
          <p:nvPr/>
        </p:nvSpPr>
        <p:spPr>
          <a:xfrm>
            <a:off x="6126480" y="1600200"/>
            <a:ext cx="5486400" cy="365760"/>
          </a:xfrm>
          <a:prstGeom prst="rect">
            <a:avLst/>
          </a:prstGeom>
          <a:noFill/>
          <a:ln/>
        </p:spPr>
        <p:txBody>
          <a:bodyPr wrap="square" lIns="0" tIns="0" rIns="0" bIns="0" rtlCol="0" anchor="ctr"/>
          <a:lstStyle/>
          <a:p>
            <a:pPr marL="0" indent="0">
              <a:buNone/>
            </a:pPr>
            <a:r>
              <a:rPr lang="en-US" sz="2000" b="1" dirty="0">
                <a:solidFill>
                  <a:schemeClr val="accent1"/>
                </a:solidFill>
              </a:rPr>
              <a:t>Success targets</a:t>
            </a:r>
            <a:endParaRPr lang="en-US" sz="2000" dirty="0"/>
          </a:p>
        </p:txBody>
      </p:sp>
      <p:sp>
        <p:nvSpPr>
          <p:cNvPr id="31" name="Target card 1"/>
          <p:cNvSpPr/>
          <p:nvPr/>
        </p:nvSpPr>
        <p:spPr>
          <a:xfrm>
            <a:off x="6126480" y="2103120"/>
            <a:ext cx="2651760" cy="1920240"/>
          </a:xfrm>
          <a:prstGeom prst="roundRect">
            <a:avLst>
              <a:gd name="adj" fmla="val 5714"/>
            </a:avLst>
          </a:prstGeom>
          <a:solidFill>
            <a:schemeClr val="bg1"/>
          </a:solidFill>
          <a:ln/>
          <a:effectLst>
            <a:outerShdw blurRad="101600" dist="25400" dir="5400000" algn="bl" rotWithShape="0">
              <a:srgbClr val="0B1630">
                <a:alpha val="12000"/>
              </a:srgbClr>
            </a:outerShdw>
          </a:effectLst>
        </p:spPr>
      </p:sp>
      <p:sp>
        <p:nvSpPr>
          <p:cNvPr id="32" name="Text 25"/>
          <p:cNvSpPr txBox="1"/>
          <p:nvPr/>
        </p:nvSpPr>
        <p:spPr>
          <a:xfrm>
            <a:off x="6309360" y="2331720"/>
            <a:ext cx="2286000" cy="73152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5 sec</a:t>
            </a:r>
            <a:endParaRPr lang="en-US" sz="3000" dirty="0"/>
          </a:p>
        </p:txBody>
      </p:sp>
      <p:sp>
        <p:nvSpPr>
          <p:cNvPr id="33" name="Text 26"/>
          <p:cNvSpPr txBox="1"/>
          <p:nvPr/>
        </p:nvSpPr>
        <p:spPr>
          <a:xfrm>
            <a:off x="6309360" y="3108960"/>
            <a:ext cx="2286000" cy="777240"/>
          </a:xfrm>
          <a:prstGeom prst="rect">
            <a:avLst/>
          </a:prstGeom>
          <a:noFill/>
          <a:ln/>
        </p:spPr>
        <p:txBody>
          <a:bodyPr wrap="square" lIns="0" tIns="0" rIns="0" bIns="0" rtlCol="0" anchor="t"/>
          <a:lstStyle/>
          <a:p>
            <a:pPr marL="0" indent="0">
              <a:buNone/>
            </a:pPr>
            <a:r>
              <a:rPr lang="en-US" sz="1400" dirty="0">
                <a:solidFill>
                  <a:schemeClr val="tx1"/>
                </a:solidFill>
              </a:rPr>
              <a:t>Target time to generate an assessment report</a:t>
            </a:r>
            <a:endParaRPr lang="en-US" sz="1400" dirty="0"/>
          </a:p>
        </p:txBody>
      </p:sp>
      <p:sp>
        <p:nvSpPr>
          <p:cNvPr id="34" name="Target card 2"/>
          <p:cNvSpPr/>
          <p:nvPr/>
        </p:nvSpPr>
        <p:spPr>
          <a:xfrm>
            <a:off x="8988552" y="2103120"/>
            <a:ext cx="2651760" cy="1920240"/>
          </a:xfrm>
          <a:prstGeom prst="roundRect">
            <a:avLst>
              <a:gd name="adj" fmla="val 5714"/>
            </a:avLst>
          </a:prstGeom>
          <a:solidFill>
            <a:schemeClr val="bg1"/>
          </a:solidFill>
          <a:ln/>
          <a:effectLst>
            <a:outerShdw blurRad="101600" dist="25400" dir="5400000" algn="bl" rotWithShape="0">
              <a:srgbClr val="0B1630">
                <a:alpha val="12000"/>
              </a:srgbClr>
            </a:outerShdw>
          </a:effectLst>
        </p:spPr>
      </p:sp>
      <p:sp>
        <p:nvSpPr>
          <p:cNvPr id="35" name="Text 28"/>
          <p:cNvSpPr txBox="1"/>
          <p:nvPr/>
        </p:nvSpPr>
        <p:spPr>
          <a:xfrm>
            <a:off x="9171432" y="2331720"/>
            <a:ext cx="2286000" cy="731520"/>
          </a:xfrm>
          <a:prstGeom prst="rect">
            <a:avLst/>
          </a:prstGeom>
          <a:noFill/>
          <a:ln/>
        </p:spPr>
        <p:txBody>
          <a:bodyPr wrap="square" lIns="0" tIns="0" rIns="0" bIns="0" rtlCol="0" anchor="ctr"/>
          <a:lstStyle/>
          <a:p>
            <a:pPr marL="0" indent="0">
              <a:buNone/>
            </a:pPr>
            <a:r>
              <a:rPr lang="en-US" sz="3000" b="1" dirty="0">
                <a:solidFill>
                  <a:schemeClr val="accent4"/>
                </a:solidFill>
                <a:latin typeface="Cambria" pitchFamily="34" charset="0"/>
                <a:ea typeface="Cambria" pitchFamily="34" charset="-122"/>
                <a:cs typeface="Cambria" pitchFamily="34" charset="-120"/>
              </a:rPr>
              <a:t>85%+</a:t>
            </a:r>
            <a:endParaRPr lang="en-US" sz="3000" dirty="0"/>
          </a:p>
        </p:txBody>
      </p:sp>
      <p:sp>
        <p:nvSpPr>
          <p:cNvPr id="36" name="Text 29"/>
          <p:cNvSpPr txBox="1"/>
          <p:nvPr/>
        </p:nvSpPr>
        <p:spPr>
          <a:xfrm>
            <a:off x="9171432" y="3108960"/>
            <a:ext cx="2286000" cy="777240"/>
          </a:xfrm>
          <a:prstGeom prst="rect">
            <a:avLst/>
          </a:prstGeom>
          <a:noFill/>
          <a:ln/>
        </p:spPr>
        <p:txBody>
          <a:bodyPr wrap="square" lIns="0" tIns="0" rIns="0" bIns="0" rtlCol="0" anchor="t"/>
          <a:lstStyle/>
          <a:p>
            <a:pPr marL="0" indent="0">
              <a:buNone/>
            </a:pPr>
            <a:r>
              <a:rPr lang="en-US" sz="1400" dirty="0">
                <a:solidFill>
                  <a:schemeClr val="tx1"/>
                </a:solidFill>
              </a:rPr>
              <a:t>Target user satisfaction during testing</a:t>
            </a:r>
            <a:endParaRPr lang="en-US" sz="1400" dirty="0"/>
          </a:p>
        </p:txBody>
      </p:sp>
      <p:sp>
        <p:nvSpPr>
          <p:cNvPr id="37" name="Target card 3"/>
          <p:cNvSpPr/>
          <p:nvPr/>
        </p:nvSpPr>
        <p:spPr>
          <a:xfrm>
            <a:off x="6126480" y="4233672"/>
            <a:ext cx="2651760" cy="1920240"/>
          </a:xfrm>
          <a:prstGeom prst="roundRect">
            <a:avLst>
              <a:gd name="adj" fmla="val 5714"/>
            </a:avLst>
          </a:prstGeom>
          <a:solidFill>
            <a:schemeClr val="bg1"/>
          </a:solidFill>
          <a:ln/>
          <a:effectLst>
            <a:outerShdw blurRad="101600" dist="25400" dir="5400000" algn="bl" rotWithShape="0">
              <a:srgbClr val="0B1630">
                <a:alpha val="12000"/>
              </a:srgbClr>
            </a:outerShdw>
          </a:effectLst>
        </p:spPr>
      </p:sp>
      <p:sp>
        <p:nvSpPr>
          <p:cNvPr id="38" name="Text 31"/>
          <p:cNvSpPr txBox="1"/>
          <p:nvPr/>
        </p:nvSpPr>
        <p:spPr>
          <a:xfrm>
            <a:off x="6309360" y="4462272"/>
            <a:ext cx="2286000" cy="731520"/>
          </a:xfrm>
          <a:prstGeom prst="rect">
            <a:avLst/>
          </a:prstGeom>
          <a:noFill/>
          <a:ln/>
        </p:spPr>
        <p:txBody>
          <a:bodyPr wrap="square" lIns="0" tIns="0" rIns="0" bIns="0" rtlCol="0" anchor="ctr"/>
          <a:lstStyle/>
          <a:p>
            <a:pPr marL="0" indent="0">
              <a:buNone/>
            </a:pPr>
            <a:r>
              <a:rPr lang="en-US" sz="3000" b="1" dirty="0">
                <a:solidFill>
                  <a:schemeClr val="accent6"/>
                </a:solidFill>
                <a:latin typeface="Cambria" pitchFamily="34" charset="0"/>
                <a:ea typeface="Cambria" pitchFamily="34" charset="-122"/>
                <a:cs typeface="Cambria" pitchFamily="34" charset="-120"/>
              </a:rPr>
              <a:t>Consistent</a:t>
            </a:r>
            <a:endParaRPr lang="en-US" sz="3000" dirty="0"/>
          </a:p>
        </p:txBody>
      </p:sp>
      <p:sp>
        <p:nvSpPr>
          <p:cNvPr id="39" name="Text 32"/>
          <p:cNvSpPr txBox="1"/>
          <p:nvPr/>
        </p:nvSpPr>
        <p:spPr>
          <a:xfrm>
            <a:off x="6309360" y="5239512"/>
            <a:ext cx="2286000" cy="777240"/>
          </a:xfrm>
          <a:prstGeom prst="rect">
            <a:avLst/>
          </a:prstGeom>
          <a:noFill/>
          <a:ln/>
        </p:spPr>
        <p:txBody>
          <a:bodyPr wrap="square" lIns="0" tIns="0" rIns="0" bIns="0" rtlCol="0" anchor="t"/>
          <a:lstStyle/>
          <a:p>
            <a:pPr marL="0" indent="0">
              <a:buNone/>
            </a:pPr>
            <a:r>
              <a:rPr lang="en-US" sz="1400" dirty="0">
                <a:solidFill>
                  <a:schemeClr val="tx1"/>
                </a:solidFill>
              </a:rPr>
              <a:t>Risk scoring that gives repeatable evaluations</a:t>
            </a:r>
            <a:endParaRPr lang="en-US" sz="1400" dirty="0"/>
          </a:p>
        </p:txBody>
      </p:sp>
      <p:sp>
        <p:nvSpPr>
          <p:cNvPr id="40" name="Target card 4"/>
          <p:cNvSpPr/>
          <p:nvPr/>
        </p:nvSpPr>
        <p:spPr>
          <a:xfrm>
            <a:off x="8988552" y="4233672"/>
            <a:ext cx="2651760" cy="1920240"/>
          </a:xfrm>
          <a:prstGeom prst="roundRect">
            <a:avLst>
              <a:gd name="adj" fmla="val 5714"/>
            </a:avLst>
          </a:prstGeom>
          <a:solidFill>
            <a:schemeClr val="bg1"/>
          </a:solidFill>
          <a:ln/>
          <a:effectLst>
            <a:outerShdw blurRad="101600" dist="25400" dir="5400000" algn="bl" rotWithShape="0">
              <a:srgbClr val="0B1630">
                <a:alpha val="12000"/>
              </a:srgbClr>
            </a:outerShdw>
          </a:effectLst>
        </p:spPr>
      </p:sp>
      <p:sp>
        <p:nvSpPr>
          <p:cNvPr id="41" name="Text 34"/>
          <p:cNvSpPr txBox="1"/>
          <p:nvPr/>
        </p:nvSpPr>
        <p:spPr>
          <a:xfrm>
            <a:off x="9171432" y="4462272"/>
            <a:ext cx="2286000" cy="73152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Aligned</a:t>
            </a:r>
            <a:endParaRPr lang="en-US" sz="3000" dirty="0"/>
          </a:p>
        </p:txBody>
      </p:sp>
      <p:sp>
        <p:nvSpPr>
          <p:cNvPr id="42" name="Text 35"/>
          <p:cNvSpPr txBox="1"/>
          <p:nvPr/>
        </p:nvSpPr>
        <p:spPr>
          <a:xfrm>
            <a:off x="9171432" y="5239512"/>
            <a:ext cx="2286000" cy="777240"/>
          </a:xfrm>
          <a:prstGeom prst="rect">
            <a:avLst/>
          </a:prstGeom>
          <a:noFill/>
          <a:ln/>
        </p:spPr>
        <p:txBody>
          <a:bodyPr wrap="square" lIns="0" tIns="0" rIns="0" bIns="0" rtlCol="0" anchor="t"/>
          <a:lstStyle/>
          <a:p>
            <a:pPr marL="0" indent="0">
              <a:buNone/>
            </a:pPr>
            <a:r>
              <a:rPr lang="en-US" sz="1400" dirty="0">
                <a:solidFill>
                  <a:schemeClr val="tx1"/>
                </a:solidFill>
              </a:rPr>
              <a:t>Recommendations that match the identified risks</a:t>
            </a:r>
            <a:endParaRPr lang="en-US" sz="1400" dirty="0"/>
          </a:p>
        </p:txBody>
      </p:sp>
      <p:sp>
        <p:nvSpPr>
          <p:cNvPr id="43"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Future Scope</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Where Prediction AI can grow next</a:t>
            </a:r>
            <a:endParaRPr lang="en-US" sz="1600" dirty="0"/>
          </a:p>
        </p:txBody>
      </p:sp>
      <p:sp>
        <p:nvSpPr>
          <p:cNvPr id="4" name="Future card 1"/>
          <p:cNvSpPr/>
          <p:nvPr/>
        </p:nvSpPr>
        <p:spPr>
          <a:xfrm>
            <a:off x="548640" y="1691640"/>
            <a:ext cx="3547872"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5" name="Live market data circle"/>
          <p:cNvSpPr/>
          <p:nvPr/>
        </p:nvSpPr>
        <p:spPr>
          <a:xfrm>
            <a:off x="749808" y="1892808"/>
            <a:ext cx="566928" cy="566928"/>
          </a:xfrm>
          <a:prstGeom prst="ellipse">
            <a:avLst/>
          </a:prstGeom>
          <a:solidFill>
            <a:schemeClr val="accent1"/>
          </a:solidFill>
          <a:ln/>
        </p:spPr>
      </p:sp>
      <p:pic>
        <p:nvPicPr>
          <p:cNvPr id="6" name="Image 0" descr="Live market data"/>
          <p:cNvPicPr>
            <a:picLocks noChangeAspect="1"/>
          </p:cNvPicPr>
          <p:nvPr/>
        </p:nvPicPr>
        <p:blipFill>
          <a:blip r:embed="rId3"/>
          <a:stretch>
            <a:fillRect/>
          </a:stretch>
        </p:blipFill>
        <p:spPr>
          <a:xfrm>
            <a:off x="885871" y="2028871"/>
            <a:ext cx="294803" cy="294803"/>
          </a:xfrm>
          <a:prstGeom prst="rect">
            <a:avLst/>
          </a:prstGeom>
        </p:spPr>
      </p:pic>
      <p:sp>
        <p:nvSpPr>
          <p:cNvPr id="7" name="Text 4"/>
          <p:cNvSpPr txBox="1"/>
          <p:nvPr/>
        </p:nvSpPr>
        <p:spPr>
          <a:xfrm>
            <a:off x="749808" y="2606040"/>
            <a:ext cx="3145536" cy="320040"/>
          </a:xfrm>
          <a:prstGeom prst="rect">
            <a:avLst/>
          </a:prstGeom>
          <a:noFill/>
          <a:ln/>
        </p:spPr>
        <p:txBody>
          <a:bodyPr wrap="square" lIns="0" tIns="0" rIns="0" bIns="0" rtlCol="0" anchor="ctr"/>
          <a:lstStyle/>
          <a:p>
            <a:pPr marL="0" indent="0">
              <a:buNone/>
            </a:pPr>
            <a:r>
              <a:rPr lang="en-US" sz="1800" b="1" dirty="0">
                <a:solidFill>
                  <a:schemeClr val="tx2"/>
                </a:solidFill>
              </a:rPr>
              <a:t>Live market data</a:t>
            </a:r>
            <a:endParaRPr lang="en-US" sz="1800" dirty="0"/>
          </a:p>
        </p:txBody>
      </p:sp>
      <p:sp>
        <p:nvSpPr>
          <p:cNvPr id="8" name="Text 5"/>
          <p:cNvSpPr txBox="1"/>
          <p:nvPr/>
        </p:nvSpPr>
        <p:spPr>
          <a:xfrm>
            <a:off x="749808" y="2971800"/>
            <a:ext cx="3145536" cy="685800"/>
          </a:xfrm>
          <a:prstGeom prst="rect">
            <a:avLst/>
          </a:prstGeom>
          <a:noFill/>
          <a:ln/>
        </p:spPr>
        <p:txBody>
          <a:bodyPr wrap="square" lIns="0" tIns="0" rIns="0" bIns="0" rtlCol="0" anchor="t"/>
          <a:lstStyle/>
          <a:p>
            <a:pPr marL="0" indent="0">
              <a:buNone/>
            </a:pPr>
            <a:r>
              <a:rPr lang="en-US" sz="1400" dirty="0">
                <a:solidFill>
                  <a:schemeClr val="tx1"/>
                </a:solidFill>
              </a:rPr>
              <a:t>Pull real-time market and competitor data into every analysis.</a:t>
            </a:r>
            <a:endParaRPr lang="en-US" sz="1400" dirty="0"/>
          </a:p>
        </p:txBody>
      </p:sp>
      <p:sp>
        <p:nvSpPr>
          <p:cNvPr id="9" name="Future card 2"/>
          <p:cNvSpPr/>
          <p:nvPr/>
        </p:nvSpPr>
        <p:spPr>
          <a:xfrm>
            <a:off x="4320540" y="1691640"/>
            <a:ext cx="3547872"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10" name="Multi-user accounts circle"/>
          <p:cNvSpPr/>
          <p:nvPr/>
        </p:nvSpPr>
        <p:spPr>
          <a:xfrm>
            <a:off x="4521708" y="1892808"/>
            <a:ext cx="566928" cy="566928"/>
          </a:xfrm>
          <a:prstGeom prst="ellipse">
            <a:avLst/>
          </a:prstGeom>
          <a:solidFill>
            <a:schemeClr val="accent6"/>
          </a:solidFill>
          <a:ln/>
        </p:spPr>
      </p:sp>
      <p:pic>
        <p:nvPicPr>
          <p:cNvPr id="11" name="Image 1" descr="Multi-user accounts"/>
          <p:cNvPicPr>
            <a:picLocks noChangeAspect="1"/>
          </p:cNvPicPr>
          <p:nvPr/>
        </p:nvPicPr>
        <p:blipFill>
          <a:blip r:embed="rId4"/>
          <a:stretch>
            <a:fillRect/>
          </a:stretch>
        </p:blipFill>
        <p:spPr>
          <a:xfrm>
            <a:off x="4657771" y="2028871"/>
            <a:ext cx="294803" cy="294803"/>
          </a:xfrm>
          <a:prstGeom prst="rect">
            <a:avLst/>
          </a:prstGeom>
        </p:spPr>
      </p:pic>
      <p:sp>
        <p:nvSpPr>
          <p:cNvPr id="12" name="Text 8"/>
          <p:cNvSpPr txBox="1"/>
          <p:nvPr/>
        </p:nvSpPr>
        <p:spPr>
          <a:xfrm>
            <a:off x="4521708" y="2606040"/>
            <a:ext cx="3145536" cy="320040"/>
          </a:xfrm>
          <a:prstGeom prst="rect">
            <a:avLst/>
          </a:prstGeom>
          <a:noFill/>
          <a:ln/>
        </p:spPr>
        <p:txBody>
          <a:bodyPr wrap="square" lIns="0" tIns="0" rIns="0" bIns="0" rtlCol="0" anchor="ctr"/>
          <a:lstStyle/>
          <a:p>
            <a:pPr marL="0" indent="0">
              <a:buNone/>
            </a:pPr>
            <a:r>
              <a:rPr lang="en-US" sz="1800" b="1" dirty="0">
                <a:solidFill>
                  <a:schemeClr val="tx2"/>
                </a:solidFill>
              </a:rPr>
              <a:t>Multi-user accounts</a:t>
            </a:r>
            <a:endParaRPr lang="en-US" sz="1800" dirty="0"/>
          </a:p>
        </p:txBody>
      </p:sp>
      <p:sp>
        <p:nvSpPr>
          <p:cNvPr id="13" name="Text 9"/>
          <p:cNvSpPr txBox="1"/>
          <p:nvPr/>
        </p:nvSpPr>
        <p:spPr>
          <a:xfrm>
            <a:off x="4521708" y="2971800"/>
            <a:ext cx="3145536" cy="685800"/>
          </a:xfrm>
          <a:prstGeom prst="rect">
            <a:avLst/>
          </a:prstGeom>
          <a:noFill/>
          <a:ln/>
        </p:spPr>
        <p:txBody>
          <a:bodyPr wrap="square" lIns="0" tIns="0" rIns="0" bIns="0" rtlCol="0" anchor="t"/>
          <a:lstStyle/>
          <a:p>
            <a:pPr marL="0" indent="0">
              <a:buNone/>
            </a:pPr>
            <a:r>
              <a:rPr lang="en-US" sz="1400" dirty="0">
                <a:solidFill>
                  <a:schemeClr val="tx1"/>
                </a:solidFill>
              </a:rPr>
              <a:t>Give each user saved projects and a history of past assessments.</a:t>
            </a:r>
            <a:endParaRPr lang="en-US" sz="1400" dirty="0"/>
          </a:p>
        </p:txBody>
      </p:sp>
      <p:sp>
        <p:nvSpPr>
          <p:cNvPr id="14" name="Future card 3"/>
          <p:cNvSpPr/>
          <p:nvPr/>
        </p:nvSpPr>
        <p:spPr>
          <a:xfrm>
            <a:off x="8092440" y="1691640"/>
            <a:ext cx="3547872"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15" name="Compare ideas circle"/>
          <p:cNvSpPr/>
          <p:nvPr/>
        </p:nvSpPr>
        <p:spPr>
          <a:xfrm>
            <a:off x="8293608" y="1892808"/>
            <a:ext cx="566928" cy="566928"/>
          </a:xfrm>
          <a:prstGeom prst="ellipse">
            <a:avLst/>
          </a:prstGeom>
          <a:solidFill>
            <a:schemeClr val="accent2"/>
          </a:solidFill>
          <a:ln/>
        </p:spPr>
      </p:sp>
      <p:pic>
        <p:nvPicPr>
          <p:cNvPr id="16" name="Image 2" descr="Compare ideas"/>
          <p:cNvPicPr>
            <a:picLocks noChangeAspect="1"/>
          </p:cNvPicPr>
          <p:nvPr/>
        </p:nvPicPr>
        <p:blipFill>
          <a:blip r:embed="rId5"/>
          <a:stretch>
            <a:fillRect/>
          </a:stretch>
        </p:blipFill>
        <p:spPr>
          <a:xfrm>
            <a:off x="8429671" y="2028871"/>
            <a:ext cx="294803" cy="294803"/>
          </a:xfrm>
          <a:prstGeom prst="rect">
            <a:avLst/>
          </a:prstGeom>
        </p:spPr>
      </p:pic>
      <p:sp>
        <p:nvSpPr>
          <p:cNvPr id="17" name="Text 12"/>
          <p:cNvSpPr txBox="1"/>
          <p:nvPr/>
        </p:nvSpPr>
        <p:spPr>
          <a:xfrm>
            <a:off x="8293608" y="2606040"/>
            <a:ext cx="3145536" cy="320040"/>
          </a:xfrm>
          <a:prstGeom prst="rect">
            <a:avLst/>
          </a:prstGeom>
          <a:noFill/>
          <a:ln/>
        </p:spPr>
        <p:txBody>
          <a:bodyPr wrap="square" lIns="0" tIns="0" rIns="0" bIns="0" rtlCol="0" anchor="ctr"/>
          <a:lstStyle/>
          <a:p>
            <a:pPr marL="0" indent="0">
              <a:buNone/>
            </a:pPr>
            <a:r>
              <a:rPr lang="en-US" sz="1800" b="1" dirty="0">
                <a:solidFill>
                  <a:schemeClr val="tx2"/>
                </a:solidFill>
              </a:rPr>
              <a:t>Compare ideas</a:t>
            </a:r>
            <a:endParaRPr lang="en-US" sz="1800" dirty="0"/>
          </a:p>
        </p:txBody>
      </p:sp>
      <p:sp>
        <p:nvSpPr>
          <p:cNvPr id="18" name="Text 13"/>
          <p:cNvSpPr txBox="1"/>
          <p:nvPr/>
        </p:nvSpPr>
        <p:spPr>
          <a:xfrm>
            <a:off x="8293608" y="2971800"/>
            <a:ext cx="3145536" cy="685800"/>
          </a:xfrm>
          <a:prstGeom prst="rect">
            <a:avLst/>
          </a:prstGeom>
          <a:noFill/>
          <a:ln/>
        </p:spPr>
        <p:txBody>
          <a:bodyPr wrap="square" lIns="0" tIns="0" rIns="0" bIns="0" rtlCol="0" anchor="t"/>
          <a:lstStyle/>
          <a:p>
            <a:pPr marL="0" indent="0">
              <a:buNone/>
            </a:pPr>
            <a:r>
              <a:rPr lang="en-US" sz="1400" dirty="0">
                <a:solidFill>
                  <a:schemeClr val="tx1"/>
                </a:solidFill>
              </a:rPr>
              <a:t>Rank several ideas side by side to choose the strongest one.</a:t>
            </a:r>
            <a:endParaRPr lang="en-US" sz="1400" dirty="0"/>
          </a:p>
        </p:txBody>
      </p:sp>
      <p:sp>
        <p:nvSpPr>
          <p:cNvPr id="19" name="Future card 4"/>
          <p:cNvSpPr/>
          <p:nvPr/>
        </p:nvSpPr>
        <p:spPr>
          <a:xfrm>
            <a:off x="548640" y="3931920"/>
            <a:ext cx="3547872"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20" name="Industry-specific models circle"/>
          <p:cNvSpPr/>
          <p:nvPr/>
        </p:nvSpPr>
        <p:spPr>
          <a:xfrm>
            <a:off x="749808" y="4133088"/>
            <a:ext cx="566928" cy="566928"/>
          </a:xfrm>
          <a:prstGeom prst="ellipse">
            <a:avLst/>
          </a:prstGeom>
          <a:solidFill>
            <a:schemeClr val="accent4"/>
          </a:solidFill>
          <a:ln/>
        </p:spPr>
      </p:sp>
      <p:pic>
        <p:nvPicPr>
          <p:cNvPr id="21" name="Image 3" descr="Industry-specific models"/>
          <p:cNvPicPr>
            <a:picLocks noChangeAspect="1"/>
          </p:cNvPicPr>
          <p:nvPr/>
        </p:nvPicPr>
        <p:blipFill>
          <a:blip r:embed="rId6"/>
          <a:stretch>
            <a:fillRect/>
          </a:stretch>
        </p:blipFill>
        <p:spPr>
          <a:xfrm>
            <a:off x="885871" y="4269151"/>
            <a:ext cx="294803" cy="294803"/>
          </a:xfrm>
          <a:prstGeom prst="rect">
            <a:avLst/>
          </a:prstGeom>
        </p:spPr>
      </p:pic>
      <p:sp>
        <p:nvSpPr>
          <p:cNvPr id="22" name="Text 16"/>
          <p:cNvSpPr txBox="1"/>
          <p:nvPr/>
        </p:nvSpPr>
        <p:spPr>
          <a:xfrm>
            <a:off x="749808" y="4846320"/>
            <a:ext cx="3145536" cy="320040"/>
          </a:xfrm>
          <a:prstGeom prst="rect">
            <a:avLst/>
          </a:prstGeom>
          <a:noFill/>
          <a:ln/>
        </p:spPr>
        <p:txBody>
          <a:bodyPr wrap="square" lIns="0" tIns="0" rIns="0" bIns="0" rtlCol="0" anchor="ctr"/>
          <a:lstStyle/>
          <a:p>
            <a:pPr marL="0" indent="0">
              <a:buNone/>
            </a:pPr>
            <a:r>
              <a:rPr lang="en-US" sz="1800" b="1" dirty="0">
                <a:solidFill>
                  <a:schemeClr val="tx2"/>
                </a:solidFill>
              </a:rPr>
              <a:t>Industry-specific models</a:t>
            </a:r>
            <a:endParaRPr lang="en-US" sz="1800" dirty="0"/>
          </a:p>
        </p:txBody>
      </p:sp>
      <p:sp>
        <p:nvSpPr>
          <p:cNvPr id="23" name="Text 17"/>
          <p:cNvSpPr txBox="1"/>
          <p:nvPr/>
        </p:nvSpPr>
        <p:spPr>
          <a:xfrm>
            <a:off x="749808" y="5212080"/>
            <a:ext cx="3145536" cy="685800"/>
          </a:xfrm>
          <a:prstGeom prst="rect">
            <a:avLst/>
          </a:prstGeom>
          <a:noFill/>
          <a:ln/>
        </p:spPr>
        <p:txBody>
          <a:bodyPr wrap="square" lIns="0" tIns="0" rIns="0" bIns="0" rtlCol="0" anchor="t"/>
          <a:lstStyle/>
          <a:p>
            <a:pPr marL="0" indent="0">
              <a:buNone/>
            </a:pPr>
            <a:r>
              <a:rPr lang="en-US" sz="1400" dirty="0">
                <a:solidFill>
                  <a:schemeClr val="tx1"/>
                </a:solidFill>
              </a:rPr>
              <a:t>Tune risk scoring and benchmarks to each sector.</a:t>
            </a:r>
            <a:endParaRPr lang="en-US" sz="1400" dirty="0"/>
          </a:p>
        </p:txBody>
      </p:sp>
      <p:sp>
        <p:nvSpPr>
          <p:cNvPr id="24" name="Future card 5"/>
          <p:cNvSpPr/>
          <p:nvPr/>
        </p:nvSpPr>
        <p:spPr>
          <a:xfrm>
            <a:off x="4320540" y="3931920"/>
            <a:ext cx="3547872"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25" name="Richer reports circle"/>
          <p:cNvSpPr/>
          <p:nvPr/>
        </p:nvSpPr>
        <p:spPr>
          <a:xfrm>
            <a:off x="4521708" y="4133088"/>
            <a:ext cx="566928" cy="566928"/>
          </a:xfrm>
          <a:prstGeom prst="ellipse">
            <a:avLst/>
          </a:prstGeom>
          <a:solidFill>
            <a:schemeClr val="accent5"/>
          </a:solidFill>
          <a:ln/>
        </p:spPr>
      </p:sp>
      <p:pic>
        <p:nvPicPr>
          <p:cNvPr id="26" name="Image 4" descr="Richer reports"/>
          <p:cNvPicPr>
            <a:picLocks noChangeAspect="1"/>
          </p:cNvPicPr>
          <p:nvPr/>
        </p:nvPicPr>
        <p:blipFill>
          <a:blip r:embed="rId7"/>
          <a:stretch>
            <a:fillRect/>
          </a:stretch>
        </p:blipFill>
        <p:spPr>
          <a:xfrm>
            <a:off x="4657771" y="4269151"/>
            <a:ext cx="294803" cy="294803"/>
          </a:xfrm>
          <a:prstGeom prst="rect">
            <a:avLst/>
          </a:prstGeom>
        </p:spPr>
      </p:pic>
      <p:sp>
        <p:nvSpPr>
          <p:cNvPr id="27" name="Text 20"/>
          <p:cNvSpPr txBox="1"/>
          <p:nvPr/>
        </p:nvSpPr>
        <p:spPr>
          <a:xfrm>
            <a:off x="4521708" y="4846320"/>
            <a:ext cx="3145536" cy="320040"/>
          </a:xfrm>
          <a:prstGeom prst="rect">
            <a:avLst/>
          </a:prstGeom>
          <a:noFill/>
          <a:ln/>
        </p:spPr>
        <p:txBody>
          <a:bodyPr wrap="square" lIns="0" tIns="0" rIns="0" bIns="0" rtlCol="0" anchor="ctr"/>
          <a:lstStyle/>
          <a:p>
            <a:pPr marL="0" indent="0">
              <a:buNone/>
            </a:pPr>
            <a:r>
              <a:rPr lang="en-US" sz="1800" b="1" dirty="0">
                <a:solidFill>
                  <a:schemeClr val="tx2"/>
                </a:solidFill>
              </a:rPr>
              <a:t>Richer reports</a:t>
            </a:r>
            <a:endParaRPr lang="en-US" sz="1800" dirty="0"/>
          </a:p>
        </p:txBody>
      </p:sp>
      <p:sp>
        <p:nvSpPr>
          <p:cNvPr id="28" name="Text 21"/>
          <p:cNvSpPr txBox="1"/>
          <p:nvPr/>
        </p:nvSpPr>
        <p:spPr>
          <a:xfrm>
            <a:off x="4521708" y="5212080"/>
            <a:ext cx="3145536" cy="685800"/>
          </a:xfrm>
          <a:prstGeom prst="rect">
            <a:avLst/>
          </a:prstGeom>
          <a:noFill/>
          <a:ln/>
        </p:spPr>
        <p:txBody>
          <a:bodyPr wrap="square" lIns="0" tIns="0" rIns="0" bIns="0" rtlCol="0" anchor="t"/>
          <a:lstStyle/>
          <a:p>
            <a:pPr marL="0" indent="0">
              <a:buNone/>
            </a:pPr>
            <a:r>
              <a:rPr lang="en-US" sz="1400" dirty="0">
                <a:solidFill>
                  <a:schemeClr val="tx1"/>
                </a:solidFill>
              </a:rPr>
              <a:t>Export investor-ready PDF and slide reports in one click.</a:t>
            </a:r>
            <a:endParaRPr lang="en-US" sz="1400" dirty="0"/>
          </a:p>
        </p:txBody>
      </p:sp>
      <p:sp>
        <p:nvSpPr>
          <p:cNvPr id="29" name="Future card 6"/>
          <p:cNvSpPr/>
          <p:nvPr/>
        </p:nvSpPr>
        <p:spPr>
          <a:xfrm>
            <a:off x="8092440" y="3931920"/>
            <a:ext cx="3547872" cy="2057400"/>
          </a:xfrm>
          <a:prstGeom prst="roundRect">
            <a:avLst>
              <a:gd name="adj" fmla="val 5333"/>
            </a:avLst>
          </a:prstGeom>
          <a:solidFill>
            <a:schemeClr val="bg1"/>
          </a:solidFill>
          <a:ln/>
          <a:effectLst>
            <a:outerShdw blurRad="101600" dist="25400" dir="5400000" algn="bl" rotWithShape="0">
              <a:srgbClr val="0B1630">
                <a:alpha val="12000"/>
              </a:srgbClr>
            </a:outerShdw>
          </a:effectLst>
        </p:spPr>
      </p:sp>
      <p:sp>
        <p:nvSpPr>
          <p:cNvPr id="30" name="Progress tracking circle"/>
          <p:cNvSpPr/>
          <p:nvPr/>
        </p:nvSpPr>
        <p:spPr>
          <a:xfrm>
            <a:off x="8293608" y="4133088"/>
            <a:ext cx="566928" cy="566928"/>
          </a:xfrm>
          <a:prstGeom prst="ellipse">
            <a:avLst/>
          </a:prstGeom>
          <a:solidFill>
            <a:schemeClr val="accent3"/>
          </a:solidFill>
          <a:ln/>
        </p:spPr>
      </p:sp>
      <p:pic>
        <p:nvPicPr>
          <p:cNvPr id="31" name="Image 5" descr="Progress tracking"/>
          <p:cNvPicPr>
            <a:picLocks noChangeAspect="1"/>
          </p:cNvPicPr>
          <p:nvPr/>
        </p:nvPicPr>
        <p:blipFill>
          <a:blip r:embed="rId8"/>
          <a:stretch>
            <a:fillRect/>
          </a:stretch>
        </p:blipFill>
        <p:spPr>
          <a:xfrm>
            <a:off x="8429671" y="4269151"/>
            <a:ext cx="294803" cy="294803"/>
          </a:xfrm>
          <a:prstGeom prst="rect">
            <a:avLst/>
          </a:prstGeom>
        </p:spPr>
      </p:pic>
      <p:sp>
        <p:nvSpPr>
          <p:cNvPr id="32" name="Text 24"/>
          <p:cNvSpPr txBox="1"/>
          <p:nvPr/>
        </p:nvSpPr>
        <p:spPr>
          <a:xfrm>
            <a:off x="8293608" y="4846320"/>
            <a:ext cx="3145536" cy="320040"/>
          </a:xfrm>
          <a:prstGeom prst="rect">
            <a:avLst/>
          </a:prstGeom>
          <a:noFill/>
          <a:ln/>
        </p:spPr>
        <p:txBody>
          <a:bodyPr wrap="square" lIns="0" tIns="0" rIns="0" bIns="0" rtlCol="0" anchor="ctr"/>
          <a:lstStyle/>
          <a:p>
            <a:pPr marL="0" indent="0">
              <a:buNone/>
            </a:pPr>
            <a:r>
              <a:rPr lang="en-US" sz="1800" b="1" dirty="0">
                <a:solidFill>
                  <a:schemeClr val="tx2"/>
                </a:solidFill>
              </a:rPr>
              <a:t>Progress tracking</a:t>
            </a:r>
            <a:endParaRPr lang="en-US" sz="1800" dirty="0"/>
          </a:p>
        </p:txBody>
      </p:sp>
      <p:sp>
        <p:nvSpPr>
          <p:cNvPr id="33" name="Text 25"/>
          <p:cNvSpPr txBox="1"/>
          <p:nvPr/>
        </p:nvSpPr>
        <p:spPr>
          <a:xfrm>
            <a:off x="8293608" y="5212080"/>
            <a:ext cx="3145536" cy="685800"/>
          </a:xfrm>
          <a:prstGeom prst="rect">
            <a:avLst/>
          </a:prstGeom>
          <a:noFill/>
          <a:ln/>
        </p:spPr>
        <p:txBody>
          <a:bodyPr wrap="square" lIns="0" tIns="0" rIns="0" bIns="0" rtlCol="0" anchor="t"/>
          <a:lstStyle/>
          <a:p>
            <a:pPr marL="0" indent="0">
              <a:buNone/>
            </a:pPr>
            <a:r>
              <a:rPr lang="en-US" sz="1400" dirty="0">
                <a:solidFill>
                  <a:schemeClr val="tx1"/>
                </a:solidFill>
              </a:rPr>
              <a:t>Re-score a project over time and track how its risk changes.</a:t>
            </a:r>
            <a:endParaRPr lang="en-US" sz="1400" dirty="0"/>
          </a:p>
        </p:txBody>
      </p:sp>
      <p:sp>
        <p:nvSpPr>
          <p:cNvPr id="34"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Milestone 1: Tasks and Tools</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Data Collection &amp; Market Intelligence</a:t>
            </a:r>
            <a:endParaRPr lang="en-US" sz="1600" dirty="0"/>
          </a:p>
        </p:txBody>
      </p:sp>
      <p:sp>
        <p:nvSpPr>
          <p:cNvPr id="4" name="Milestone badge"/>
          <p:cNvSpPr/>
          <p:nvPr/>
        </p:nvSpPr>
        <p:spPr>
          <a:xfrm>
            <a:off x="9994392" y="521208"/>
            <a:ext cx="1645920" cy="365760"/>
          </a:xfrm>
          <a:prstGeom prst="roundRect">
            <a:avLst>
              <a:gd name="adj" fmla="val 50000"/>
            </a:avLst>
          </a:prstGeom>
          <a:solidFill>
            <a:schemeClr val="accent1"/>
          </a:solidFill>
          <a:ln/>
        </p:spPr>
      </p:sp>
      <p:sp>
        <p:nvSpPr>
          <p:cNvPr id="5" name="Text 3"/>
          <p:cNvSpPr txBox="1"/>
          <p:nvPr/>
        </p:nvSpPr>
        <p:spPr>
          <a:xfrm>
            <a:off x="9994392" y="521208"/>
            <a:ext cx="1645920" cy="365760"/>
          </a:xfrm>
          <a:prstGeom prst="rect">
            <a:avLst/>
          </a:prstGeom>
          <a:noFill/>
          <a:ln/>
        </p:spPr>
        <p:txBody>
          <a:bodyPr wrap="square" lIns="0" tIns="0" rIns="0" bIns="0" rtlCol="0" anchor="ctr"/>
          <a:lstStyle/>
          <a:p>
            <a:pPr marL="0" indent="0" algn="ctr">
              <a:buNone/>
            </a:pPr>
            <a:r>
              <a:rPr lang="en-US" sz="1100" b="1" kern="0" spc="100" dirty="0">
                <a:solidFill>
                  <a:schemeClr val="bg1"/>
                </a:solidFill>
              </a:rPr>
              <a:t>MILESTONE 1</a:t>
            </a:r>
            <a:endParaRPr lang="en-US" sz="1100" dirty="0"/>
          </a:p>
        </p:txBody>
      </p:sp>
      <p:sp>
        <p:nvSpPr>
          <p:cNvPr id="6" name="Task card 1"/>
          <p:cNvSpPr/>
          <p:nvPr/>
        </p:nvSpPr>
        <p:spPr>
          <a:xfrm>
            <a:off x="548640" y="1691640"/>
            <a:ext cx="6583680" cy="1325880"/>
          </a:xfrm>
          <a:prstGeom prst="roundRect">
            <a:avLst>
              <a:gd name="adj" fmla="val 8276"/>
            </a:avLst>
          </a:prstGeom>
          <a:solidFill>
            <a:schemeClr val="bg1"/>
          </a:solidFill>
          <a:ln/>
          <a:effectLst>
            <a:outerShdw blurRad="101600" dist="25400" dir="5400000" algn="bl" rotWithShape="0">
              <a:srgbClr val="0B1630">
                <a:alpha val="12000"/>
              </a:srgbClr>
            </a:outerShdw>
          </a:effectLst>
        </p:spPr>
      </p:sp>
      <p:sp>
        <p:nvSpPr>
          <p:cNvPr id="7" name="Task circle 1"/>
          <p:cNvSpPr/>
          <p:nvPr/>
        </p:nvSpPr>
        <p:spPr>
          <a:xfrm>
            <a:off x="777240" y="2057400"/>
            <a:ext cx="566928" cy="566928"/>
          </a:xfrm>
          <a:prstGeom prst="ellipse">
            <a:avLst/>
          </a:prstGeom>
          <a:solidFill>
            <a:schemeClr val="accent1"/>
          </a:solidFill>
          <a:ln/>
        </p:spPr>
      </p:sp>
      <p:pic>
        <p:nvPicPr>
          <p:cNvPr id="8" name="Image 0" descr="Done"/>
          <p:cNvPicPr>
            <a:picLocks noChangeAspect="1"/>
          </p:cNvPicPr>
          <p:nvPr/>
        </p:nvPicPr>
        <p:blipFill>
          <a:blip r:embed="rId3"/>
          <a:stretch>
            <a:fillRect/>
          </a:stretch>
        </p:blipFill>
        <p:spPr>
          <a:xfrm>
            <a:off x="941832" y="2221992"/>
            <a:ext cx="237744" cy="237744"/>
          </a:xfrm>
          <a:prstGeom prst="rect">
            <a:avLst/>
          </a:prstGeom>
        </p:spPr>
      </p:pic>
      <p:sp>
        <p:nvSpPr>
          <p:cNvPr id="9" name="Text 6"/>
          <p:cNvSpPr txBox="1"/>
          <p:nvPr/>
        </p:nvSpPr>
        <p:spPr>
          <a:xfrm>
            <a:off x="1600200" y="1847088"/>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Submission forms</a:t>
            </a:r>
            <a:endParaRPr lang="en-US" sz="1800" dirty="0"/>
          </a:p>
        </p:txBody>
      </p:sp>
      <p:sp>
        <p:nvSpPr>
          <p:cNvPr id="10" name="Text 7"/>
          <p:cNvSpPr txBox="1"/>
          <p:nvPr/>
        </p:nvSpPr>
        <p:spPr>
          <a:xfrm>
            <a:off x="1600200" y="2240280"/>
            <a:ext cx="5303520" cy="685800"/>
          </a:xfrm>
          <a:prstGeom prst="rect">
            <a:avLst/>
          </a:prstGeom>
          <a:noFill/>
          <a:ln/>
        </p:spPr>
        <p:txBody>
          <a:bodyPr wrap="square" lIns="0" tIns="0" rIns="0" bIns="0" rtlCol="0" anchor="t"/>
          <a:lstStyle/>
          <a:p>
            <a:pPr marL="0" indent="0">
              <a:buNone/>
            </a:pPr>
            <a:r>
              <a:rPr lang="en-US" sz="1400" dirty="0">
                <a:solidFill>
                  <a:schemeClr val="tx1"/>
                </a:solidFill>
              </a:rPr>
              <a:t>Startup and project forms capture name, industry, business model, target market, budget and description.</a:t>
            </a:r>
            <a:endParaRPr lang="en-US" sz="1400" dirty="0"/>
          </a:p>
        </p:txBody>
      </p:sp>
      <p:sp>
        <p:nvSpPr>
          <p:cNvPr id="11" name="Task card 2"/>
          <p:cNvSpPr/>
          <p:nvPr/>
        </p:nvSpPr>
        <p:spPr>
          <a:xfrm>
            <a:off x="548640" y="3172968"/>
            <a:ext cx="6583680" cy="1325880"/>
          </a:xfrm>
          <a:prstGeom prst="roundRect">
            <a:avLst>
              <a:gd name="adj" fmla="val 8276"/>
            </a:avLst>
          </a:prstGeom>
          <a:solidFill>
            <a:schemeClr val="bg1"/>
          </a:solidFill>
          <a:ln/>
          <a:effectLst>
            <a:outerShdw blurRad="101600" dist="25400" dir="5400000" algn="bl" rotWithShape="0">
              <a:srgbClr val="0B1630">
                <a:alpha val="12000"/>
              </a:srgbClr>
            </a:outerShdw>
          </a:effectLst>
        </p:spPr>
      </p:sp>
      <p:sp>
        <p:nvSpPr>
          <p:cNvPr id="12" name="Task circle 2"/>
          <p:cNvSpPr/>
          <p:nvPr/>
        </p:nvSpPr>
        <p:spPr>
          <a:xfrm>
            <a:off x="777240" y="3538728"/>
            <a:ext cx="566928" cy="566928"/>
          </a:xfrm>
          <a:prstGeom prst="ellipse">
            <a:avLst/>
          </a:prstGeom>
          <a:solidFill>
            <a:schemeClr val="accent1"/>
          </a:solidFill>
          <a:ln/>
        </p:spPr>
      </p:sp>
      <p:pic>
        <p:nvPicPr>
          <p:cNvPr id="13" name="Image 1" descr="Done"/>
          <p:cNvPicPr>
            <a:picLocks noChangeAspect="1"/>
          </p:cNvPicPr>
          <p:nvPr/>
        </p:nvPicPr>
        <p:blipFill>
          <a:blip r:embed="rId3"/>
          <a:stretch>
            <a:fillRect/>
          </a:stretch>
        </p:blipFill>
        <p:spPr>
          <a:xfrm>
            <a:off x="941832" y="3703320"/>
            <a:ext cx="237744" cy="237744"/>
          </a:xfrm>
          <a:prstGeom prst="rect">
            <a:avLst/>
          </a:prstGeom>
        </p:spPr>
      </p:pic>
      <p:sp>
        <p:nvSpPr>
          <p:cNvPr id="14" name="Text 10"/>
          <p:cNvSpPr txBox="1"/>
          <p:nvPr/>
        </p:nvSpPr>
        <p:spPr>
          <a:xfrm>
            <a:off x="1600200" y="3328416"/>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Market and competitor analysis</a:t>
            </a:r>
            <a:endParaRPr lang="en-US" sz="1800" dirty="0"/>
          </a:p>
        </p:txBody>
      </p:sp>
      <p:sp>
        <p:nvSpPr>
          <p:cNvPr id="15" name="Text 11"/>
          <p:cNvSpPr txBox="1"/>
          <p:nvPr/>
        </p:nvSpPr>
        <p:spPr>
          <a:xfrm>
            <a:off x="1600200" y="3721608"/>
            <a:ext cx="5303520" cy="685800"/>
          </a:xfrm>
          <a:prstGeom prst="rect">
            <a:avLst/>
          </a:prstGeom>
          <a:noFill/>
          <a:ln/>
        </p:spPr>
        <p:txBody>
          <a:bodyPr wrap="square" lIns="0" tIns="0" rIns="0" bIns="0" rtlCol="0" anchor="t"/>
          <a:lstStyle/>
          <a:p>
            <a:pPr marL="0" indent="0">
              <a:buNone/>
            </a:pPr>
            <a:r>
              <a:rPr lang="en-US" sz="1400" dirty="0">
                <a:solidFill>
                  <a:schemeClr val="tx1"/>
                </a:solidFill>
              </a:rPr>
              <a:t>TAM, SAM and SOM, a 2020–2026 market trend and a competitor landscape for every submission.</a:t>
            </a:r>
            <a:endParaRPr lang="en-US" sz="1400" dirty="0"/>
          </a:p>
        </p:txBody>
      </p:sp>
      <p:sp>
        <p:nvSpPr>
          <p:cNvPr id="16" name="Task card 3"/>
          <p:cNvSpPr/>
          <p:nvPr/>
        </p:nvSpPr>
        <p:spPr>
          <a:xfrm>
            <a:off x="548640" y="4654296"/>
            <a:ext cx="6583680" cy="1325880"/>
          </a:xfrm>
          <a:prstGeom prst="roundRect">
            <a:avLst>
              <a:gd name="adj" fmla="val 8276"/>
            </a:avLst>
          </a:prstGeom>
          <a:solidFill>
            <a:schemeClr val="bg1"/>
          </a:solidFill>
          <a:ln/>
          <a:effectLst>
            <a:outerShdw blurRad="101600" dist="25400" dir="5400000" algn="bl" rotWithShape="0">
              <a:srgbClr val="0B1630">
                <a:alpha val="12000"/>
              </a:srgbClr>
            </a:outerShdw>
          </a:effectLst>
        </p:spPr>
      </p:sp>
      <p:sp>
        <p:nvSpPr>
          <p:cNvPr id="17" name="Task circle 3"/>
          <p:cNvSpPr/>
          <p:nvPr/>
        </p:nvSpPr>
        <p:spPr>
          <a:xfrm>
            <a:off x="777240" y="5020056"/>
            <a:ext cx="566928" cy="566928"/>
          </a:xfrm>
          <a:prstGeom prst="ellipse">
            <a:avLst/>
          </a:prstGeom>
          <a:solidFill>
            <a:schemeClr val="accent1"/>
          </a:solidFill>
          <a:ln/>
        </p:spPr>
      </p:sp>
      <p:pic>
        <p:nvPicPr>
          <p:cNvPr id="18" name="Image 2" descr="Done"/>
          <p:cNvPicPr>
            <a:picLocks noChangeAspect="1"/>
          </p:cNvPicPr>
          <p:nvPr/>
        </p:nvPicPr>
        <p:blipFill>
          <a:blip r:embed="rId3"/>
          <a:stretch>
            <a:fillRect/>
          </a:stretch>
        </p:blipFill>
        <p:spPr>
          <a:xfrm>
            <a:off x="941832" y="5184648"/>
            <a:ext cx="237744" cy="237744"/>
          </a:xfrm>
          <a:prstGeom prst="rect">
            <a:avLst/>
          </a:prstGeom>
        </p:spPr>
      </p:pic>
      <p:sp>
        <p:nvSpPr>
          <p:cNvPr id="19" name="Text 14"/>
          <p:cNvSpPr txBox="1"/>
          <p:nvPr/>
        </p:nvSpPr>
        <p:spPr>
          <a:xfrm>
            <a:off x="1600200" y="4809744"/>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PostgreSQL storage</a:t>
            </a:r>
            <a:endParaRPr lang="en-US" sz="1800" dirty="0"/>
          </a:p>
        </p:txBody>
      </p:sp>
      <p:sp>
        <p:nvSpPr>
          <p:cNvPr id="20" name="Text 15"/>
          <p:cNvSpPr txBox="1"/>
          <p:nvPr/>
        </p:nvSpPr>
        <p:spPr>
          <a:xfrm>
            <a:off x="1600200" y="5202936"/>
            <a:ext cx="5303520" cy="685800"/>
          </a:xfrm>
          <a:prstGeom prst="rect">
            <a:avLst/>
          </a:prstGeom>
          <a:noFill/>
          <a:ln/>
        </p:spPr>
        <p:txBody>
          <a:bodyPr wrap="square" lIns="0" tIns="0" rIns="0" bIns="0" rtlCol="0" anchor="t"/>
          <a:lstStyle/>
          <a:p>
            <a:pPr marL="0" indent="0">
              <a:buNone/>
            </a:pPr>
            <a:r>
              <a:rPr lang="en-US" sz="1400" dirty="0">
                <a:solidFill>
                  <a:schemeClr val="tx1"/>
                </a:solidFill>
              </a:rPr>
              <a:t>Project details saved in a projects table with name, industry, model, market, budget and timestamp.</a:t>
            </a:r>
            <a:endParaRPr lang="en-US" sz="1400" dirty="0"/>
          </a:p>
        </p:txBody>
      </p:sp>
      <p:sp>
        <p:nvSpPr>
          <p:cNvPr id="21" name="Side panel"/>
          <p:cNvSpPr/>
          <p:nvPr/>
        </p:nvSpPr>
        <p:spPr>
          <a:xfrm>
            <a:off x="7406640" y="1691640"/>
            <a:ext cx="4233672" cy="4434840"/>
          </a:xfrm>
          <a:prstGeom prst="roundRect">
            <a:avLst>
              <a:gd name="adj" fmla="val 2592"/>
            </a:avLst>
          </a:prstGeom>
          <a:solidFill>
            <a:schemeClr val="tx2"/>
          </a:solidFill>
          <a:ln/>
        </p:spPr>
      </p:sp>
      <p:sp>
        <p:nvSpPr>
          <p:cNvPr id="22" name="Text 17"/>
          <p:cNvSpPr txBox="1"/>
          <p:nvPr/>
        </p:nvSpPr>
        <p:spPr>
          <a:xfrm>
            <a:off x="7680960" y="1874520"/>
            <a:ext cx="365760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TOOLS USED</a:t>
            </a:r>
            <a:endParaRPr lang="en-US" sz="1200" dirty="0"/>
          </a:p>
        </p:txBody>
      </p:sp>
      <p:sp>
        <p:nvSpPr>
          <p:cNvPr id="23" name="Text 18"/>
          <p:cNvSpPr txBox="1"/>
          <p:nvPr/>
        </p:nvSpPr>
        <p:spPr>
          <a:xfrm>
            <a:off x="7680960" y="2286000"/>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Flask</a:t>
            </a:r>
            <a:endParaRPr lang="en-US" sz="1600" dirty="0"/>
          </a:p>
        </p:txBody>
      </p:sp>
      <p:sp>
        <p:nvSpPr>
          <p:cNvPr id="24" name="Text 19"/>
          <p:cNvSpPr txBox="1"/>
          <p:nvPr/>
        </p:nvSpPr>
        <p:spPr>
          <a:xfrm>
            <a:off x="7680960" y="2578608"/>
            <a:ext cx="3749040" cy="365760"/>
          </a:xfrm>
          <a:prstGeom prst="rect">
            <a:avLst/>
          </a:prstGeom>
          <a:noFill/>
          <a:ln/>
        </p:spPr>
        <p:txBody>
          <a:bodyPr wrap="square" lIns="0" tIns="0" rIns="0" bIns="0" rtlCol="0" anchor="ctr"/>
          <a:lstStyle/>
          <a:p>
            <a:pPr marL="0" indent="0">
              <a:buNone/>
            </a:pPr>
            <a:r>
              <a:rPr lang="en-US" sz="1400" dirty="0">
                <a:solidFill>
                  <a:schemeClr val="bg2"/>
                </a:solidFill>
              </a:rPr>
              <a:t>Python web framework and routing</a:t>
            </a:r>
            <a:endParaRPr lang="en-US" sz="1400" dirty="0"/>
          </a:p>
        </p:txBody>
      </p:sp>
      <p:sp>
        <p:nvSpPr>
          <p:cNvPr id="25" name="Text 20"/>
          <p:cNvSpPr txBox="1"/>
          <p:nvPr/>
        </p:nvSpPr>
        <p:spPr>
          <a:xfrm>
            <a:off x="7680960" y="3054096"/>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Jinja templates</a:t>
            </a:r>
            <a:endParaRPr lang="en-US" sz="1600" dirty="0"/>
          </a:p>
        </p:txBody>
      </p:sp>
      <p:sp>
        <p:nvSpPr>
          <p:cNvPr id="26" name="Text 21"/>
          <p:cNvSpPr txBox="1"/>
          <p:nvPr/>
        </p:nvSpPr>
        <p:spPr>
          <a:xfrm>
            <a:off x="7680960" y="3346704"/>
            <a:ext cx="3749040" cy="365760"/>
          </a:xfrm>
          <a:prstGeom prst="rect">
            <a:avLst/>
          </a:prstGeom>
          <a:noFill/>
          <a:ln/>
        </p:spPr>
        <p:txBody>
          <a:bodyPr wrap="square" lIns="0" tIns="0" rIns="0" bIns="0" rtlCol="0" anchor="ctr"/>
          <a:lstStyle/>
          <a:p>
            <a:pPr marL="0" indent="0">
              <a:buNone/>
            </a:pPr>
            <a:r>
              <a:rPr lang="en-US" sz="1400" dirty="0">
                <a:solidFill>
                  <a:schemeClr val="bg2"/>
                </a:solidFill>
              </a:rPr>
              <a:t>Server-rendered HTML views</a:t>
            </a:r>
            <a:endParaRPr lang="en-US" sz="1400" dirty="0"/>
          </a:p>
        </p:txBody>
      </p:sp>
      <p:sp>
        <p:nvSpPr>
          <p:cNvPr id="27" name="Text 22"/>
          <p:cNvSpPr txBox="1"/>
          <p:nvPr/>
        </p:nvSpPr>
        <p:spPr>
          <a:xfrm>
            <a:off x="7680960" y="3822192"/>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PostgreSQL + psycopg2</a:t>
            </a:r>
            <a:endParaRPr lang="en-US" sz="1600" dirty="0"/>
          </a:p>
        </p:txBody>
      </p:sp>
      <p:sp>
        <p:nvSpPr>
          <p:cNvPr id="28" name="Text 23"/>
          <p:cNvSpPr txBox="1"/>
          <p:nvPr/>
        </p:nvSpPr>
        <p:spPr>
          <a:xfrm>
            <a:off x="7680960" y="4114800"/>
            <a:ext cx="3749040" cy="365760"/>
          </a:xfrm>
          <a:prstGeom prst="rect">
            <a:avLst/>
          </a:prstGeom>
          <a:noFill/>
          <a:ln/>
        </p:spPr>
        <p:txBody>
          <a:bodyPr wrap="square" lIns="0" tIns="0" rIns="0" bIns="0" rtlCol="0" anchor="ctr"/>
          <a:lstStyle/>
          <a:p>
            <a:pPr marL="0" indent="0">
              <a:buNone/>
            </a:pPr>
            <a:r>
              <a:rPr lang="en-US" sz="1400" dirty="0">
                <a:solidFill>
                  <a:schemeClr val="bg2"/>
                </a:solidFill>
              </a:rPr>
              <a:t>Relational store and its driver</a:t>
            </a:r>
            <a:endParaRPr lang="en-US" sz="1400" dirty="0"/>
          </a:p>
        </p:txBody>
      </p:sp>
      <p:sp>
        <p:nvSpPr>
          <p:cNvPr id="29" name="Text 24"/>
          <p:cNvSpPr txBox="1"/>
          <p:nvPr/>
        </p:nvSpPr>
        <p:spPr>
          <a:xfrm>
            <a:off x="7680960" y="4590288"/>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Pandas</a:t>
            </a:r>
            <a:endParaRPr lang="en-US" sz="1600" dirty="0"/>
          </a:p>
        </p:txBody>
      </p:sp>
      <p:sp>
        <p:nvSpPr>
          <p:cNvPr id="30" name="Text 25"/>
          <p:cNvSpPr txBox="1"/>
          <p:nvPr/>
        </p:nvSpPr>
        <p:spPr>
          <a:xfrm>
            <a:off x="7680960" y="4882896"/>
            <a:ext cx="3749040" cy="365760"/>
          </a:xfrm>
          <a:prstGeom prst="rect">
            <a:avLst/>
          </a:prstGeom>
          <a:noFill/>
          <a:ln/>
        </p:spPr>
        <p:txBody>
          <a:bodyPr wrap="square" lIns="0" tIns="0" rIns="0" bIns="0" rtlCol="0" anchor="ctr"/>
          <a:lstStyle/>
          <a:p>
            <a:pPr marL="0" indent="0">
              <a:buNone/>
            </a:pPr>
            <a:r>
              <a:rPr lang="en-US" sz="1400" dirty="0">
                <a:solidFill>
                  <a:schemeClr val="bg2"/>
                </a:solidFill>
              </a:rPr>
              <a:t>Data processing and shaping</a:t>
            </a:r>
            <a:endParaRPr lang="en-US" sz="1400" dirty="0"/>
          </a:p>
        </p:txBody>
      </p:sp>
      <p:sp>
        <p:nvSpPr>
          <p:cNvPr id="31" name="Text 26"/>
          <p:cNvSpPr txBox="1"/>
          <p:nvPr/>
        </p:nvSpPr>
        <p:spPr>
          <a:xfrm>
            <a:off x="7680960" y="5358384"/>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Gemini / OpenAI + LangGraph</a:t>
            </a:r>
            <a:endParaRPr lang="en-US" sz="1600" dirty="0"/>
          </a:p>
        </p:txBody>
      </p:sp>
      <p:sp>
        <p:nvSpPr>
          <p:cNvPr id="32" name="Text 27"/>
          <p:cNvSpPr txBox="1"/>
          <p:nvPr/>
        </p:nvSpPr>
        <p:spPr>
          <a:xfrm>
            <a:off x="7680960" y="5650992"/>
            <a:ext cx="3749040" cy="365760"/>
          </a:xfrm>
          <a:prstGeom prst="rect">
            <a:avLst/>
          </a:prstGeom>
          <a:noFill/>
          <a:ln/>
        </p:spPr>
        <p:txBody>
          <a:bodyPr wrap="square" lIns="0" tIns="0" rIns="0" bIns="0" rtlCol="0" anchor="ctr"/>
          <a:lstStyle/>
          <a:p>
            <a:pPr marL="0" indent="0">
              <a:buNone/>
            </a:pPr>
            <a:r>
              <a:rPr lang="en-US" sz="1400" dirty="0">
                <a:solidFill>
                  <a:schemeClr val="bg2"/>
                </a:solidFill>
              </a:rPr>
              <a:t>Planned intelligence layer</a:t>
            </a:r>
            <a:endParaRPr lang="en-US" sz="1400" dirty="0"/>
          </a:p>
        </p:txBody>
      </p:sp>
      <p:sp>
        <p:nvSpPr>
          <p:cNvPr id="33"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Milestone 1: In Action</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Project Input tab: submission form, market analysis and competitor landscape</a:t>
            </a:r>
            <a:endParaRPr lang="en-US" sz="1600" dirty="0"/>
          </a:p>
        </p:txBody>
      </p:sp>
      <p:sp>
        <p:nvSpPr>
          <p:cNvPr id="4" name="Milestone badge"/>
          <p:cNvSpPr/>
          <p:nvPr/>
        </p:nvSpPr>
        <p:spPr>
          <a:xfrm>
            <a:off x="9994392" y="521208"/>
            <a:ext cx="1645920" cy="365760"/>
          </a:xfrm>
          <a:prstGeom prst="roundRect">
            <a:avLst>
              <a:gd name="adj" fmla="val 50000"/>
            </a:avLst>
          </a:prstGeom>
          <a:solidFill>
            <a:schemeClr val="accent1"/>
          </a:solidFill>
          <a:ln/>
        </p:spPr>
      </p:sp>
      <p:sp>
        <p:nvSpPr>
          <p:cNvPr id="5" name="Text 3"/>
          <p:cNvSpPr txBox="1"/>
          <p:nvPr/>
        </p:nvSpPr>
        <p:spPr>
          <a:xfrm>
            <a:off x="9994392" y="521208"/>
            <a:ext cx="1645920" cy="365760"/>
          </a:xfrm>
          <a:prstGeom prst="rect">
            <a:avLst/>
          </a:prstGeom>
          <a:noFill/>
          <a:ln/>
        </p:spPr>
        <p:txBody>
          <a:bodyPr wrap="square" lIns="0" tIns="0" rIns="0" bIns="0" rtlCol="0" anchor="ctr"/>
          <a:lstStyle/>
          <a:p>
            <a:pPr marL="0" indent="0" algn="ctr">
              <a:buNone/>
            </a:pPr>
            <a:r>
              <a:rPr lang="en-US" sz="1100" b="1" kern="0" spc="100" dirty="0">
                <a:solidFill>
                  <a:schemeClr val="bg1"/>
                </a:solidFill>
              </a:rPr>
              <a:t>MILESTONE 1</a:t>
            </a:r>
            <a:endParaRPr lang="en-US" sz="1100" dirty="0"/>
          </a:p>
        </p:txBody>
      </p:sp>
      <p:sp>
        <p:nvSpPr>
          <p:cNvPr id="6" name="Project Input screen window"/>
          <p:cNvSpPr/>
          <p:nvPr/>
        </p:nvSpPr>
        <p:spPr>
          <a:xfrm>
            <a:off x="548640" y="2258568"/>
            <a:ext cx="6858000" cy="3301793"/>
          </a:xfrm>
          <a:prstGeom prst="rect">
            <a:avLst/>
          </a:prstGeom>
          <a:solidFill>
            <a:schemeClr val="bg1"/>
          </a:solidFill>
          <a:ln/>
          <a:effectLst>
            <a:outerShdw blurRad="177800" dist="50800" dir="5400000" algn="bl" rotWithShape="0">
              <a:srgbClr val="050B24">
                <a:alpha val="30000"/>
              </a:srgbClr>
            </a:outerShdw>
          </a:effectLst>
        </p:spPr>
      </p:sp>
      <p:sp>
        <p:nvSpPr>
          <p:cNvPr id="7" name="Project Input screen title bar"/>
          <p:cNvSpPr/>
          <p:nvPr/>
        </p:nvSpPr>
        <p:spPr>
          <a:xfrm>
            <a:off x="548640" y="2258568"/>
            <a:ext cx="6858000" cy="274320"/>
          </a:xfrm>
          <a:prstGeom prst="rect">
            <a:avLst/>
          </a:prstGeom>
          <a:solidFill>
            <a:srgbClr val="E8EEFA"/>
          </a:solidFill>
          <a:ln/>
        </p:spPr>
      </p:sp>
      <p:sp>
        <p:nvSpPr>
          <p:cNvPr id="8" name="Window dot 1"/>
          <p:cNvSpPr/>
          <p:nvPr/>
        </p:nvSpPr>
        <p:spPr>
          <a:xfrm>
            <a:off x="676656" y="2345436"/>
            <a:ext cx="100584" cy="100584"/>
          </a:xfrm>
          <a:prstGeom prst="ellipse">
            <a:avLst/>
          </a:prstGeom>
          <a:solidFill>
            <a:schemeClr val="accent2"/>
          </a:solidFill>
          <a:ln/>
        </p:spPr>
      </p:sp>
      <p:sp>
        <p:nvSpPr>
          <p:cNvPr id="9" name="Window dot 2"/>
          <p:cNvSpPr/>
          <p:nvPr/>
        </p:nvSpPr>
        <p:spPr>
          <a:xfrm>
            <a:off x="832104" y="2345436"/>
            <a:ext cx="100584" cy="100584"/>
          </a:xfrm>
          <a:prstGeom prst="ellipse">
            <a:avLst/>
          </a:prstGeom>
          <a:solidFill>
            <a:schemeClr val="accent3"/>
          </a:solidFill>
          <a:ln/>
        </p:spPr>
      </p:sp>
      <p:sp>
        <p:nvSpPr>
          <p:cNvPr id="10" name="Window dot 3"/>
          <p:cNvSpPr/>
          <p:nvPr/>
        </p:nvSpPr>
        <p:spPr>
          <a:xfrm>
            <a:off x="987552" y="2345436"/>
            <a:ext cx="100584" cy="100584"/>
          </a:xfrm>
          <a:prstGeom prst="ellipse">
            <a:avLst/>
          </a:prstGeom>
          <a:solidFill>
            <a:schemeClr val="accent4"/>
          </a:solidFill>
          <a:ln/>
        </p:spPr>
      </p:sp>
      <p:sp>
        <p:nvSpPr>
          <p:cNvPr id="11" name="Address pill"/>
          <p:cNvSpPr/>
          <p:nvPr/>
        </p:nvSpPr>
        <p:spPr>
          <a:xfrm>
            <a:off x="1325880" y="2295144"/>
            <a:ext cx="2468880" cy="201168"/>
          </a:xfrm>
          <a:prstGeom prst="roundRect">
            <a:avLst>
              <a:gd name="adj" fmla="val 50000"/>
            </a:avLst>
          </a:prstGeom>
          <a:solidFill>
            <a:schemeClr val="bg1"/>
          </a:solidFill>
          <a:ln/>
        </p:spPr>
      </p:sp>
      <p:sp>
        <p:nvSpPr>
          <p:cNvPr id="12" name="Text 10"/>
          <p:cNvSpPr txBox="1"/>
          <p:nvPr/>
        </p:nvSpPr>
        <p:spPr>
          <a:xfrm>
            <a:off x="1325880" y="2295144"/>
            <a:ext cx="2468880" cy="201168"/>
          </a:xfrm>
          <a:prstGeom prst="rect">
            <a:avLst/>
          </a:prstGeom>
          <a:noFill/>
          <a:ln/>
        </p:spPr>
        <p:txBody>
          <a:bodyPr wrap="square" lIns="0" tIns="0" rIns="0" bIns="0" rtlCol="0" anchor="ctr"/>
          <a:lstStyle/>
          <a:p>
            <a:pPr marL="0" indent="0" algn="ctr">
              <a:buNone/>
            </a:pPr>
            <a:r>
              <a:rPr lang="en-US" sz="1000" dirty="0">
                <a:solidFill>
                  <a:schemeClr val="accent5"/>
                </a:solidFill>
              </a:rPr>
              <a:t>prediction-ai-app.streamlit.app</a:t>
            </a:r>
            <a:endParaRPr lang="en-US" sz="1000" dirty="0"/>
          </a:p>
        </p:txBody>
      </p:sp>
      <p:pic>
        <p:nvPicPr>
          <p:cNvPr id="13" name="Image 0" descr="Project Input screen"/>
          <p:cNvPicPr>
            <a:picLocks noChangeAspect="1"/>
          </p:cNvPicPr>
          <p:nvPr/>
        </p:nvPicPr>
        <p:blipFill>
          <a:blip r:embed="rId3"/>
          <a:stretch>
            <a:fillRect/>
          </a:stretch>
        </p:blipFill>
        <p:spPr>
          <a:xfrm>
            <a:off x="548640" y="2532888"/>
            <a:ext cx="6858000" cy="3027473"/>
          </a:xfrm>
          <a:prstGeom prst="rect">
            <a:avLst/>
          </a:prstGeom>
        </p:spPr>
      </p:pic>
      <p:sp>
        <p:nvSpPr>
          <p:cNvPr id="14" name="Project Submission card"/>
          <p:cNvSpPr/>
          <p:nvPr/>
        </p:nvSpPr>
        <p:spPr>
          <a:xfrm>
            <a:off x="7680960" y="1691640"/>
            <a:ext cx="3959352" cy="1371600"/>
          </a:xfrm>
          <a:prstGeom prst="roundRect">
            <a:avLst>
              <a:gd name="adj" fmla="val 8000"/>
            </a:avLst>
          </a:prstGeom>
          <a:solidFill>
            <a:schemeClr val="bg1"/>
          </a:solidFill>
          <a:ln/>
          <a:effectLst>
            <a:outerShdw blurRad="101600" dist="25400" dir="5400000" algn="bl" rotWithShape="0">
              <a:srgbClr val="0B1630">
                <a:alpha val="12000"/>
              </a:srgbClr>
            </a:outerShdw>
          </a:effectLst>
        </p:spPr>
      </p:sp>
      <p:sp>
        <p:nvSpPr>
          <p:cNvPr id="15" name="Text 12"/>
          <p:cNvSpPr txBox="1"/>
          <p:nvPr/>
        </p:nvSpPr>
        <p:spPr>
          <a:xfrm>
            <a:off x="7909560" y="1828800"/>
            <a:ext cx="3520440" cy="320040"/>
          </a:xfrm>
          <a:prstGeom prst="rect">
            <a:avLst/>
          </a:prstGeom>
          <a:noFill/>
          <a:ln/>
        </p:spPr>
        <p:txBody>
          <a:bodyPr wrap="square" lIns="0" tIns="0" rIns="0" bIns="0" rtlCol="0" anchor="ctr"/>
          <a:lstStyle/>
          <a:p>
            <a:pPr marL="0" indent="0">
              <a:buNone/>
            </a:pPr>
            <a:r>
              <a:rPr lang="en-US" sz="1700" b="1" dirty="0">
                <a:solidFill>
                  <a:schemeClr val="accent1"/>
                </a:solidFill>
              </a:rPr>
              <a:t>Project Submission</a:t>
            </a:r>
            <a:endParaRPr lang="en-US" sz="1700" dirty="0"/>
          </a:p>
        </p:txBody>
      </p:sp>
      <p:sp>
        <p:nvSpPr>
          <p:cNvPr id="16" name="Text 13"/>
          <p:cNvSpPr txBox="1"/>
          <p:nvPr/>
        </p:nvSpPr>
        <p:spPr>
          <a:xfrm>
            <a:off x="7909560" y="2194560"/>
            <a:ext cx="3520440" cy="777240"/>
          </a:xfrm>
          <a:prstGeom prst="rect">
            <a:avLst/>
          </a:prstGeom>
          <a:noFill/>
          <a:ln/>
        </p:spPr>
        <p:txBody>
          <a:bodyPr wrap="square" lIns="0" tIns="0" rIns="0" bIns="0" rtlCol="0" anchor="t"/>
          <a:lstStyle/>
          <a:p>
            <a:pPr marL="0" indent="0">
              <a:buNone/>
            </a:pPr>
            <a:r>
              <a:rPr lang="en-US" sz="1400" dirty="0">
                <a:solidFill>
                  <a:schemeClr val="tx1"/>
                </a:solidFill>
              </a:rPr>
              <a:t>Name, industry, business model, target market, budget and description.</a:t>
            </a:r>
            <a:endParaRPr lang="en-US" sz="1400" dirty="0"/>
          </a:p>
        </p:txBody>
      </p:sp>
      <p:sp>
        <p:nvSpPr>
          <p:cNvPr id="17" name="Market Analysis card"/>
          <p:cNvSpPr/>
          <p:nvPr/>
        </p:nvSpPr>
        <p:spPr>
          <a:xfrm>
            <a:off x="7680960" y="3218688"/>
            <a:ext cx="3959352" cy="1371600"/>
          </a:xfrm>
          <a:prstGeom prst="roundRect">
            <a:avLst>
              <a:gd name="adj" fmla="val 8000"/>
            </a:avLst>
          </a:prstGeom>
          <a:solidFill>
            <a:schemeClr val="bg1"/>
          </a:solidFill>
          <a:ln/>
          <a:effectLst>
            <a:outerShdw blurRad="101600" dist="25400" dir="5400000" algn="bl" rotWithShape="0">
              <a:srgbClr val="0B1630">
                <a:alpha val="12000"/>
              </a:srgbClr>
            </a:outerShdw>
          </a:effectLst>
        </p:spPr>
      </p:sp>
      <p:sp>
        <p:nvSpPr>
          <p:cNvPr id="18" name="Text 15"/>
          <p:cNvSpPr txBox="1"/>
          <p:nvPr/>
        </p:nvSpPr>
        <p:spPr>
          <a:xfrm>
            <a:off x="7909560" y="3355848"/>
            <a:ext cx="3520440" cy="320040"/>
          </a:xfrm>
          <a:prstGeom prst="rect">
            <a:avLst/>
          </a:prstGeom>
          <a:noFill/>
          <a:ln/>
        </p:spPr>
        <p:txBody>
          <a:bodyPr wrap="square" lIns="0" tIns="0" rIns="0" bIns="0" rtlCol="0" anchor="ctr"/>
          <a:lstStyle/>
          <a:p>
            <a:pPr marL="0" indent="0">
              <a:buNone/>
            </a:pPr>
            <a:r>
              <a:rPr lang="en-US" sz="1700" b="1" dirty="0">
                <a:solidFill>
                  <a:schemeClr val="accent1"/>
                </a:solidFill>
              </a:rPr>
              <a:t>Market Analysis</a:t>
            </a:r>
            <a:endParaRPr lang="en-US" sz="1700" dirty="0"/>
          </a:p>
        </p:txBody>
      </p:sp>
      <p:sp>
        <p:nvSpPr>
          <p:cNvPr id="19" name="Text 16"/>
          <p:cNvSpPr txBox="1"/>
          <p:nvPr/>
        </p:nvSpPr>
        <p:spPr>
          <a:xfrm>
            <a:off x="7909560" y="3721608"/>
            <a:ext cx="3520440" cy="777240"/>
          </a:xfrm>
          <a:prstGeom prst="rect">
            <a:avLst/>
          </a:prstGeom>
          <a:noFill/>
          <a:ln/>
        </p:spPr>
        <p:txBody>
          <a:bodyPr wrap="square" lIns="0" tIns="0" rIns="0" bIns="0" rtlCol="0" anchor="t"/>
          <a:lstStyle/>
          <a:p>
            <a:pPr marL="0" indent="0">
              <a:buNone/>
            </a:pPr>
            <a:r>
              <a:rPr lang="en-US" sz="1400" dirty="0">
                <a:solidFill>
                  <a:schemeClr val="tx1"/>
                </a:solidFill>
              </a:rPr>
              <a:t>TAM, SAM and SOM with growth indicators and a 2020–2026 market trend.</a:t>
            </a:r>
            <a:endParaRPr lang="en-US" sz="1400" dirty="0"/>
          </a:p>
        </p:txBody>
      </p:sp>
      <p:sp>
        <p:nvSpPr>
          <p:cNvPr id="20" name="Competitor Landscape card"/>
          <p:cNvSpPr/>
          <p:nvPr/>
        </p:nvSpPr>
        <p:spPr>
          <a:xfrm>
            <a:off x="7680960" y="4745736"/>
            <a:ext cx="3959352" cy="1371600"/>
          </a:xfrm>
          <a:prstGeom prst="roundRect">
            <a:avLst>
              <a:gd name="adj" fmla="val 8000"/>
            </a:avLst>
          </a:prstGeom>
          <a:solidFill>
            <a:schemeClr val="bg1"/>
          </a:solidFill>
          <a:ln/>
          <a:effectLst>
            <a:outerShdw blurRad="101600" dist="25400" dir="5400000" algn="bl" rotWithShape="0">
              <a:srgbClr val="0B1630">
                <a:alpha val="12000"/>
              </a:srgbClr>
            </a:outerShdw>
          </a:effectLst>
        </p:spPr>
      </p:sp>
      <p:sp>
        <p:nvSpPr>
          <p:cNvPr id="21" name="Text 18"/>
          <p:cNvSpPr txBox="1"/>
          <p:nvPr/>
        </p:nvSpPr>
        <p:spPr>
          <a:xfrm>
            <a:off x="7909560" y="4882896"/>
            <a:ext cx="3520440" cy="320040"/>
          </a:xfrm>
          <a:prstGeom prst="rect">
            <a:avLst/>
          </a:prstGeom>
          <a:noFill/>
          <a:ln/>
        </p:spPr>
        <p:txBody>
          <a:bodyPr wrap="square" lIns="0" tIns="0" rIns="0" bIns="0" rtlCol="0" anchor="ctr"/>
          <a:lstStyle/>
          <a:p>
            <a:pPr marL="0" indent="0">
              <a:buNone/>
            </a:pPr>
            <a:r>
              <a:rPr lang="en-US" sz="1700" b="1" dirty="0">
                <a:solidFill>
                  <a:schemeClr val="accent1"/>
                </a:solidFill>
              </a:rPr>
              <a:t>Competitor Landscape</a:t>
            </a:r>
            <a:endParaRPr lang="en-US" sz="1700" dirty="0"/>
          </a:p>
        </p:txBody>
      </p:sp>
      <p:sp>
        <p:nvSpPr>
          <p:cNvPr id="22" name="Text 19"/>
          <p:cNvSpPr txBox="1"/>
          <p:nvPr/>
        </p:nvSpPr>
        <p:spPr>
          <a:xfrm>
            <a:off x="7909560" y="5248656"/>
            <a:ext cx="3520440" cy="777240"/>
          </a:xfrm>
          <a:prstGeom prst="rect">
            <a:avLst/>
          </a:prstGeom>
          <a:noFill/>
          <a:ln/>
        </p:spPr>
        <p:txBody>
          <a:bodyPr wrap="square" lIns="0" tIns="0" rIns="0" bIns="0" rtlCol="0" anchor="t"/>
          <a:lstStyle/>
          <a:p>
            <a:pPr marL="0" indent="0">
              <a:buNone/>
            </a:pPr>
            <a:r>
              <a:rPr lang="en-US" sz="1400" dirty="0">
                <a:solidFill>
                  <a:schemeClr val="tx1"/>
                </a:solidFill>
              </a:rPr>
              <a:t>Direct and indirect competitors with market share, revenue and growth.</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Milestone 2: Tasks and Tools</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Risk Assessment &amp; SWOT Analysis</a:t>
            </a:r>
            <a:endParaRPr lang="en-US" sz="1600" dirty="0"/>
          </a:p>
        </p:txBody>
      </p:sp>
      <p:sp>
        <p:nvSpPr>
          <p:cNvPr id="4" name="Milestone badge"/>
          <p:cNvSpPr/>
          <p:nvPr/>
        </p:nvSpPr>
        <p:spPr>
          <a:xfrm>
            <a:off x="9994392" y="521208"/>
            <a:ext cx="1645920" cy="365760"/>
          </a:xfrm>
          <a:prstGeom prst="roundRect">
            <a:avLst>
              <a:gd name="adj" fmla="val 50000"/>
            </a:avLst>
          </a:prstGeom>
          <a:solidFill>
            <a:schemeClr val="accent6"/>
          </a:solidFill>
          <a:ln/>
        </p:spPr>
      </p:sp>
      <p:sp>
        <p:nvSpPr>
          <p:cNvPr id="5" name="Text 3"/>
          <p:cNvSpPr txBox="1"/>
          <p:nvPr/>
        </p:nvSpPr>
        <p:spPr>
          <a:xfrm>
            <a:off x="9994392" y="521208"/>
            <a:ext cx="1645920" cy="365760"/>
          </a:xfrm>
          <a:prstGeom prst="rect">
            <a:avLst/>
          </a:prstGeom>
          <a:noFill/>
          <a:ln/>
        </p:spPr>
        <p:txBody>
          <a:bodyPr wrap="square" lIns="0" tIns="0" rIns="0" bIns="0" rtlCol="0" anchor="ctr"/>
          <a:lstStyle/>
          <a:p>
            <a:pPr marL="0" indent="0" algn="ctr">
              <a:buNone/>
            </a:pPr>
            <a:r>
              <a:rPr lang="en-US" sz="1100" b="1" kern="0" spc="100" dirty="0">
                <a:solidFill>
                  <a:schemeClr val="bg1"/>
                </a:solidFill>
              </a:rPr>
              <a:t>MILESTONE 2</a:t>
            </a:r>
            <a:endParaRPr lang="en-US" sz="1100" dirty="0"/>
          </a:p>
        </p:txBody>
      </p:sp>
      <p:sp>
        <p:nvSpPr>
          <p:cNvPr id="6" name="Task card 1"/>
          <p:cNvSpPr/>
          <p:nvPr/>
        </p:nvSpPr>
        <p:spPr>
          <a:xfrm>
            <a:off x="548640" y="1691640"/>
            <a:ext cx="6583680" cy="1325880"/>
          </a:xfrm>
          <a:prstGeom prst="roundRect">
            <a:avLst>
              <a:gd name="adj" fmla="val 8276"/>
            </a:avLst>
          </a:prstGeom>
          <a:solidFill>
            <a:schemeClr val="bg1"/>
          </a:solidFill>
          <a:ln/>
          <a:effectLst>
            <a:outerShdw blurRad="101600" dist="25400" dir="5400000" algn="bl" rotWithShape="0">
              <a:srgbClr val="0B1630">
                <a:alpha val="12000"/>
              </a:srgbClr>
            </a:outerShdw>
          </a:effectLst>
        </p:spPr>
      </p:sp>
      <p:sp>
        <p:nvSpPr>
          <p:cNvPr id="7" name="Task circle 1"/>
          <p:cNvSpPr/>
          <p:nvPr/>
        </p:nvSpPr>
        <p:spPr>
          <a:xfrm>
            <a:off x="777240" y="2057400"/>
            <a:ext cx="566928" cy="566928"/>
          </a:xfrm>
          <a:prstGeom prst="ellipse">
            <a:avLst/>
          </a:prstGeom>
          <a:solidFill>
            <a:schemeClr val="accent6"/>
          </a:solidFill>
          <a:ln/>
        </p:spPr>
      </p:sp>
      <p:pic>
        <p:nvPicPr>
          <p:cNvPr id="8" name="Image 0" descr="Done"/>
          <p:cNvPicPr>
            <a:picLocks noChangeAspect="1"/>
          </p:cNvPicPr>
          <p:nvPr/>
        </p:nvPicPr>
        <p:blipFill>
          <a:blip r:embed="rId3"/>
          <a:stretch>
            <a:fillRect/>
          </a:stretch>
        </p:blipFill>
        <p:spPr>
          <a:xfrm>
            <a:off x="941832" y="2221992"/>
            <a:ext cx="237744" cy="237744"/>
          </a:xfrm>
          <a:prstGeom prst="rect">
            <a:avLst/>
          </a:prstGeom>
        </p:spPr>
      </p:pic>
      <p:sp>
        <p:nvSpPr>
          <p:cNvPr id="9" name="Text 6"/>
          <p:cNvSpPr txBox="1"/>
          <p:nvPr/>
        </p:nvSpPr>
        <p:spPr>
          <a:xfrm>
            <a:off x="1600200" y="1847088"/>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Risk scoring engine</a:t>
            </a:r>
            <a:endParaRPr lang="en-US" sz="1800" dirty="0"/>
          </a:p>
        </p:txBody>
      </p:sp>
      <p:sp>
        <p:nvSpPr>
          <p:cNvPr id="10" name="Text 7"/>
          <p:cNvSpPr txBox="1"/>
          <p:nvPr/>
        </p:nvSpPr>
        <p:spPr>
          <a:xfrm>
            <a:off x="1600200" y="2240280"/>
            <a:ext cx="5303520" cy="685800"/>
          </a:xfrm>
          <a:prstGeom prst="rect">
            <a:avLst/>
          </a:prstGeom>
          <a:noFill/>
          <a:ln/>
        </p:spPr>
        <p:txBody>
          <a:bodyPr wrap="square" lIns="0" tIns="0" rIns="0" bIns="0" rtlCol="0" anchor="t"/>
          <a:lstStyle/>
          <a:p>
            <a:pPr marL="0" indent="0">
              <a:buNone/>
            </a:pPr>
            <a:r>
              <a:rPr lang="en-US" sz="1400" dirty="0">
                <a:solidFill>
                  <a:schemeClr val="tx1"/>
                </a:solidFill>
              </a:rPr>
              <a:t>Five weighted inputs combine into a 0–100 risk score, a risk status and a success probability.</a:t>
            </a:r>
            <a:endParaRPr lang="en-US" sz="1400" dirty="0"/>
          </a:p>
        </p:txBody>
      </p:sp>
      <p:sp>
        <p:nvSpPr>
          <p:cNvPr id="11" name="Task card 2"/>
          <p:cNvSpPr/>
          <p:nvPr/>
        </p:nvSpPr>
        <p:spPr>
          <a:xfrm>
            <a:off x="548640" y="3172968"/>
            <a:ext cx="6583680" cy="1325880"/>
          </a:xfrm>
          <a:prstGeom prst="roundRect">
            <a:avLst>
              <a:gd name="adj" fmla="val 8276"/>
            </a:avLst>
          </a:prstGeom>
          <a:solidFill>
            <a:schemeClr val="bg1"/>
          </a:solidFill>
          <a:ln/>
          <a:effectLst>
            <a:outerShdw blurRad="101600" dist="25400" dir="5400000" algn="bl" rotWithShape="0">
              <a:srgbClr val="0B1630">
                <a:alpha val="12000"/>
              </a:srgbClr>
            </a:outerShdw>
          </a:effectLst>
        </p:spPr>
      </p:sp>
      <p:sp>
        <p:nvSpPr>
          <p:cNvPr id="12" name="Task circle 2"/>
          <p:cNvSpPr/>
          <p:nvPr/>
        </p:nvSpPr>
        <p:spPr>
          <a:xfrm>
            <a:off x="777240" y="3538728"/>
            <a:ext cx="566928" cy="566928"/>
          </a:xfrm>
          <a:prstGeom prst="ellipse">
            <a:avLst/>
          </a:prstGeom>
          <a:solidFill>
            <a:schemeClr val="accent6"/>
          </a:solidFill>
          <a:ln/>
        </p:spPr>
      </p:sp>
      <p:pic>
        <p:nvPicPr>
          <p:cNvPr id="13" name="Image 1" descr="Done"/>
          <p:cNvPicPr>
            <a:picLocks noChangeAspect="1"/>
          </p:cNvPicPr>
          <p:nvPr/>
        </p:nvPicPr>
        <p:blipFill>
          <a:blip r:embed="rId3"/>
          <a:stretch>
            <a:fillRect/>
          </a:stretch>
        </p:blipFill>
        <p:spPr>
          <a:xfrm>
            <a:off x="941832" y="3703320"/>
            <a:ext cx="237744" cy="237744"/>
          </a:xfrm>
          <a:prstGeom prst="rect">
            <a:avLst/>
          </a:prstGeom>
        </p:spPr>
      </p:pic>
      <p:sp>
        <p:nvSpPr>
          <p:cNvPr id="14" name="Text 10"/>
          <p:cNvSpPr txBox="1"/>
          <p:nvPr/>
        </p:nvSpPr>
        <p:spPr>
          <a:xfrm>
            <a:off x="1600200" y="3328416"/>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Automatic SWOT</a:t>
            </a:r>
            <a:endParaRPr lang="en-US" sz="1800" dirty="0"/>
          </a:p>
        </p:txBody>
      </p:sp>
      <p:sp>
        <p:nvSpPr>
          <p:cNvPr id="15" name="Text 11"/>
          <p:cNvSpPr txBox="1"/>
          <p:nvPr/>
        </p:nvSpPr>
        <p:spPr>
          <a:xfrm>
            <a:off x="1600200" y="3721608"/>
            <a:ext cx="5303520" cy="685800"/>
          </a:xfrm>
          <a:prstGeom prst="rect">
            <a:avLst/>
          </a:prstGeom>
          <a:noFill/>
          <a:ln/>
        </p:spPr>
        <p:txBody>
          <a:bodyPr wrap="square" lIns="0" tIns="0" rIns="0" bIns="0" rtlCol="0" anchor="t"/>
          <a:lstStyle/>
          <a:p>
            <a:pPr marL="0" indent="0">
              <a:buNone/>
            </a:pPr>
            <a:r>
              <a:rPr lang="en-US" sz="1400" dirty="0">
                <a:solidFill>
                  <a:schemeClr val="tx1"/>
                </a:solidFill>
              </a:rPr>
              <a:t>Strengths, weaknesses, opportunities and threats generated by rules from the same five inputs.</a:t>
            </a:r>
            <a:endParaRPr lang="en-US" sz="1400" dirty="0"/>
          </a:p>
        </p:txBody>
      </p:sp>
      <p:sp>
        <p:nvSpPr>
          <p:cNvPr id="16" name="Task card 3"/>
          <p:cNvSpPr/>
          <p:nvPr/>
        </p:nvSpPr>
        <p:spPr>
          <a:xfrm>
            <a:off x="548640" y="4654296"/>
            <a:ext cx="6583680" cy="1325880"/>
          </a:xfrm>
          <a:prstGeom prst="roundRect">
            <a:avLst>
              <a:gd name="adj" fmla="val 8276"/>
            </a:avLst>
          </a:prstGeom>
          <a:solidFill>
            <a:schemeClr val="bg1"/>
          </a:solidFill>
          <a:ln/>
          <a:effectLst>
            <a:outerShdw blurRad="101600" dist="25400" dir="5400000" algn="bl" rotWithShape="0">
              <a:srgbClr val="0B1630">
                <a:alpha val="12000"/>
              </a:srgbClr>
            </a:outerShdw>
          </a:effectLst>
        </p:spPr>
      </p:sp>
      <p:sp>
        <p:nvSpPr>
          <p:cNvPr id="17" name="Task circle 3"/>
          <p:cNvSpPr/>
          <p:nvPr/>
        </p:nvSpPr>
        <p:spPr>
          <a:xfrm>
            <a:off x="777240" y="5020056"/>
            <a:ext cx="566928" cy="566928"/>
          </a:xfrm>
          <a:prstGeom prst="ellipse">
            <a:avLst/>
          </a:prstGeom>
          <a:solidFill>
            <a:schemeClr val="accent6"/>
          </a:solidFill>
          <a:ln/>
        </p:spPr>
      </p:sp>
      <p:pic>
        <p:nvPicPr>
          <p:cNvPr id="18" name="Image 2" descr="Done"/>
          <p:cNvPicPr>
            <a:picLocks noChangeAspect="1"/>
          </p:cNvPicPr>
          <p:nvPr/>
        </p:nvPicPr>
        <p:blipFill>
          <a:blip r:embed="rId3"/>
          <a:stretch>
            <a:fillRect/>
          </a:stretch>
        </p:blipFill>
        <p:spPr>
          <a:xfrm>
            <a:off x="941832" y="5184648"/>
            <a:ext cx="237744" cy="237744"/>
          </a:xfrm>
          <a:prstGeom prst="rect">
            <a:avLst/>
          </a:prstGeom>
        </p:spPr>
      </p:pic>
      <p:sp>
        <p:nvSpPr>
          <p:cNvPr id="19" name="Text 14"/>
          <p:cNvSpPr txBox="1"/>
          <p:nvPr/>
        </p:nvSpPr>
        <p:spPr>
          <a:xfrm>
            <a:off x="1600200" y="4809744"/>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Feasibility assessment</a:t>
            </a:r>
            <a:endParaRPr lang="en-US" sz="1800" dirty="0"/>
          </a:p>
        </p:txBody>
      </p:sp>
      <p:sp>
        <p:nvSpPr>
          <p:cNvPr id="20" name="Text 15"/>
          <p:cNvSpPr txBox="1"/>
          <p:nvPr/>
        </p:nvSpPr>
        <p:spPr>
          <a:xfrm>
            <a:off x="1600200" y="5202936"/>
            <a:ext cx="5303520" cy="685800"/>
          </a:xfrm>
          <a:prstGeom prst="rect">
            <a:avLst/>
          </a:prstGeom>
          <a:noFill/>
          <a:ln/>
        </p:spPr>
        <p:txBody>
          <a:bodyPr wrap="square" lIns="0" tIns="0" rIns="0" bIns="0" rtlCol="0" anchor="t"/>
          <a:lstStyle/>
          <a:p>
            <a:pPr marL="0" indent="0">
              <a:buNone/>
            </a:pPr>
            <a:r>
              <a:rPr lang="en-US" sz="1400" dirty="0">
                <a:solidFill>
                  <a:schemeClr val="tx1"/>
                </a:solidFill>
              </a:rPr>
              <a:t>Four slider scores (market, team, edge, resources) average into one feasibility percentage.</a:t>
            </a:r>
            <a:endParaRPr lang="en-US" sz="1400" dirty="0"/>
          </a:p>
        </p:txBody>
      </p:sp>
      <p:sp>
        <p:nvSpPr>
          <p:cNvPr id="21" name="Side panel"/>
          <p:cNvSpPr/>
          <p:nvPr/>
        </p:nvSpPr>
        <p:spPr>
          <a:xfrm>
            <a:off x="7406640" y="1691640"/>
            <a:ext cx="4233672" cy="4434840"/>
          </a:xfrm>
          <a:prstGeom prst="roundRect">
            <a:avLst>
              <a:gd name="adj" fmla="val 2592"/>
            </a:avLst>
          </a:prstGeom>
          <a:solidFill>
            <a:schemeClr val="tx2"/>
          </a:solidFill>
          <a:ln/>
        </p:spPr>
      </p:sp>
      <p:sp>
        <p:nvSpPr>
          <p:cNvPr id="22" name="Text 17"/>
          <p:cNvSpPr txBox="1"/>
          <p:nvPr/>
        </p:nvSpPr>
        <p:spPr>
          <a:xfrm>
            <a:off x="7680960" y="1874520"/>
            <a:ext cx="365760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TOOLS USED</a:t>
            </a:r>
            <a:endParaRPr lang="en-US" sz="1200" dirty="0"/>
          </a:p>
        </p:txBody>
      </p:sp>
      <p:sp>
        <p:nvSpPr>
          <p:cNvPr id="23" name="Text 18"/>
          <p:cNvSpPr txBox="1"/>
          <p:nvPr/>
        </p:nvSpPr>
        <p:spPr>
          <a:xfrm>
            <a:off x="7680960" y="2286000"/>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Streamlit</a:t>
            </a:r>
            <a:endParaRPr lang="en-US" sz="1600" dirty="0"/>
          </a:p>
        </p:txBody>
      </p:sp>
      <p:sp>
        <p:nvSpPr>
          <p:cNvPr id="24" name="Text 19"/>
          <p:cNvSpPr txBox="1"/>
          <p:nvPr/>
        </p:nvSpPr>
        <p:spPr>
          <a:xfrm>
            <a:off x="7680960" y="2578608"/>
            <a:ext cx="3749040" cy="365760"/>
          </a:xfrm>
          <a:prstGeom prst="rect">
            <a:avLst/>
          </a:prstGeom>
          <a:noFill/>
          <a:ln/>
        </p:spPr>
        <p:txBody>
          <a:bodyPr wrap="square" lIns="0" tIns="0" rIns="0" bIns="0" rtlCol="0" anchor="ctr"/>
          <a:lstStyle/>
          <a:p>
            <a:pPr marL="0" indent="0">
              <a:buNone/>
            </a:pPr>
            <a:r>
              <a:rPr lang="en-US" sz="1400" dirty="0">
                <a:solidFill>
                  <a:schemeClr val="bg2"/>
                </a:solidFill>
              </a:rPr>
              <a:t>Selectboxes, sliders and live metrics</a:t>
            </a:r>
            <a:endParaRPr lang="en-US" sz="1400" dirty="0"/>
          </a:p>
        </p:txBody>
      </p:sp>
      <p:sp>
        <p:nvSpPr>
          <p:cNvPr id="25" name="Text 20"/>
          <p:cNvSpPr txBox="1"/>
          <p:nvPr/>
        </p:nvSpPr>
        <p:spPr>
          <a:xfrm>
            <a:off x="7680960" y="3054096"/>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risk_engine.py</a:t>
            </a:r>
            <a:endParaRPr lang="en-US" sz="1600" dirty="0"/>
          </a:p>
        </p:txBody>
      </p:sp>
      <p:sp>
        <p:nvSpPr>
          <p:cNvPr id="26" name="Text 21"/>
          <p:cNvSpPr txBox="1"/>
          <p:nvPr/>
        </p:nvSpPr>
        <p:spPr>
          <a:xfrm>
            <a:off x="7680960" y="3346704"/>
            <a:ext cx="3749040" cy="365760"/>
          </a:xfrm>
          <a:prstGeom prst="rect">
            <a:avLst/>
          </a:prstGeom>
          <a:noFill/>
          <a:ln/>
        </p:spPr>
        <p:txBody>
          <a:bodyPr wrap="square" lIns="0" tIns="0" rIns="0" bIns="0" rtlCol="0" anchor="ctr"/>
          <a:lstStyle/>
          <a:p>
            <a:pPr marL="0" indent="0">
              <a:buNone/>
            </a:pPr>
            <a:r>
              <a:rPr lang="en-US" sz="1400" dirty="0">
                <a:solidFill>
                  <a:schemeClr val="bg2"/>
                </a:solidFill>
              </a:rPr>
              <a:t>Weighted risk score and status</a:t>
            </a:r>
            <a:endParaRPr lang="en-US" sz="1400" dirty="0"/>
          </a:p>
        </p:txBody>
      </p:sp>
      <p:sp>
        <p:nvSpPr>
          <p:cNvPr id="27" name="Text 22"/>
          <p:cNvSpPr txBox="1"/>
          <p:nvPr/>
        </p:nvSpPr>
        <p:spPr>
          <a:xfrm>
            <a:off x="7680960" y="3822192"/>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swot_analysis.py</a:t>
            </a:r>
            <a:endParaRPr lang="en-US" sz="1600" dirty="0"/>
          </a:p>
        </p:txBody>
      </p:sp>
      <p:sp>
        <p:nvSpPr>
          <p:cNvPr id="28" name="Text 23"/>
          <p:cNvSpPr txBox="1"/>
          <p:nvPr/>
        </p:nvSpPr>
        <p:spPr>
          <a:xfrm>
            <a:off x="7680960" y="4114800"/>
            <a:ext cx="3749040" cy="365760"/>
          </a:xfrm>
          <a:prstGeom prst="rect">
            <a:avLst/>
          </a:prstGeom>
          <a:noFill/>
          <a:ln/>
        </p:spPr>
        <p:txBody>
          <a:bodyPr wrap="square" lIns="0" tIns="0" rIns="0" bIns="0" rtlCol="0" anchor="ctr"/>
          <a:lstStyle/>
          <a:p>
            <a:pPr marL="0" indent="0">
              <a:buNone/>
            </a:pPr>
            <a:r>
              <a:rPr lang="en-US" sz="1400" dirty="0">
                <a:solidFill>
                  <a:schemeClr val="bg2"/>
                </a:solidFill>
              </a:rPr>
              <a:t>Rule-based SWOT generation</a:t>
            </a:r>
            <a:endParaRPr lang="en-US" sz="1400" dirty="0"/>
          </a:p>
        </p:txBody>
      </p:sp>
      <p:sp>
        <p:nvSpPr>
          <p:cNvPr id="29" name="Text 24"/>
          <p:cNvSpPr txBox="1"/>
          <p:nvPr/>
        </p:nvSpPr>
        <p:spPr>
          <a:xfrm>
            <a:off x="7680960" y="4590288"/>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feasibility.py</a:t>
            </a:r>
            <a:endParaRPr lang="en-US" sz="1600" dirty="0"/>
          </a:p>
        </p:txBody>
      </p:sp>
      <p:sp>
        <p:nvSpPr>
          <p:cNvPr id="30" name="Text 25"/>
          <p:cNvSpPr txBox="1"/>
          <p:nvPr/>
        </p:nvSpPr>
        <p:spPr>
          <a:xfrm>
            <a:off x="7680960" y="4882896"/>
            <a:ext cx="3749040" cy="365760"/>
          </a:xfrm>
          <a:prstGeom prst="rect">
            <a:avLst/>
          </a:prstGeom>
          <a:noFill/>
          <a:ln/>
        </p:spPr>
        <p:txBody>
          <a:bodyPr wrap="square" lIns="0" tIns="0" rIns="0" bIns="0" rtlCol="0" anchor="ctr"/>
          <a:lstStyle/>
          <a:p>
            <a:pPr marL="0" indent="0">
              <a:buNone/>
            </a:pPr>
            <a:r>
              <a:rPr lang="en-US" sz="1400" dirty="0">
                <a:solidFill>
                  <a:schemeClr val="bg2"/>
                </a:solidFill>
              </a:rPr>
              <a:t>Average of four slider scores</a:t>
            </a:r>
            <a:endParaRPr lang="en-US" sz="1400" dirty="0"/>
          </a:p>
        </p:txBody>
      </p:sp>
      <p:sp>
        <p:nvSpPr>
          <p:cNvPr id="31" name="Text 26"/>
          <p:cNvSpPr txBox="1"/>
          <p:nvPr/>
        </p:nvSpPr>
        <p:spPr>
          <a:xfrm>
            <a:off x="7680960" y="5358384"/>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Python</a:t>
            </a:r>
            <a:endParaRPr lang="en-US" sz="1600" dirty="0"/>
          </a:p>
        </p:txBody>
      </p:sp>
      <p:sp>
        <p:nvSpPr>
          <p:cNvPr id="32" name="Text 27"/>
          <p:cNvSpPr txBox="1"/>
          <p:nvPr/>
        </p:nvSpPr>
        <p:spPr>
          <a:xfrm>
            <a:off x="7680960" y="5650992"/>
            <a:ext cx="3749040" cy="365760"/>
          </a:xfrm>
          <a:prstGeom prst="rect">
            <a:avLst/>
          </a:prstGeom>
          <a:noFill/>
          <a:ln/>
        </p:spPr>
        <p:txBody>
          <a:bodyPr wrap="square" lIns="0" tIns="0" rIns="0" bIns="0" rtlCol="0" anchor="ctr"/>
          <a:lstStyle/>
          <a:p>
            <a:pPr marL="0" indent="0">
              <a:buNone/>
            </a:pPr>
            <a:r>
              <a:rPr lang="en-US" sz="1400" dirty="0">
                <a:solidFill>
                  <a:schemeClr val="bg2"/>
                </a:solidFill>
              </a:rPr>
              <a:t>Pure-logic modules, no front-end code</a:t>
            </a:r>
            <a:endParaRPr lang="en-US" sz="1400" dirty="0"/>
          </a:p>
        </p:txBody>
      </p:sp>
      <p:sp>
        <p:nvSpPr>
          <p:cNvPr id="33"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Milestone 2: In Action</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Risk Assessment tab: the inputs that drive the analysis</a:t>
            </a:r>
            <a:endParaRPr lang="en-US" sz="1600" dirty="0"/>
          </a:p>
        </p:txBody>
      </p:sp>
      <p:sp>
        <p:nvSpPr>
          <p:cNvPr id="4" name="Milestone badge"/>
          <p:cNvSpPr/>
          <p:nvPr/>
        </p:nvSpPr>
        <p:spPr>
          <a:xfrm>
            <a:off x="9994392" y="521208"/>
            <a:ext cx="1645920" cy="365760"/>
          </a:xfrm>
          <a:prstGeom prst="roundRect">
            <a:avLst>
              <a:gd name="adj" fmla="val 50000"/>
            </a:avLst>
          </a:prstGeom>
          <a:solidFill>
            <a:schemeClr val="accent6"/>
          </a:solidFill>
          <a:ln/>
        </p:spPr>
      </p:sp>
      <p:sp>
        <p:nvSpPr>
          <p:cNvPr id="5" name="Text 3"/>
          <p:cNvSpPr txBox="1"/>
          <p:nvPr/>
        </p:nvSpPr>
        <p:spPr>
          <a:xfrm>
            <a:off x="9994392" y="521208"/>
            <a:ext cx="1645920" cy="365760"/>
          </a:xfrm>
          <a:prstGeom prst="rect">
            <a:avLst/>
          </a:prstGeom>
          <a:noFill/>
          <a:ln/>
        </p:spPr>
        <p:txBody>
          <a:bodyPr wrap="square" lIns="0" tIns="0" rIns="0" bIns="0" rtlCol="0" anchor="ctr"/>
          <a:lstStyle/>
          <a:p>
            <a:pPr marL="0" indent="0" algn="ctr">
              <a:buNone/>
            </a:pPr>
            <a:r>
              <a:rPr lang="en-US" sz="1100" b="1" kern="0" spc="100" dirty="0">
                <a:solidFill>
                  <a:schemeClr val="bg1"/>
                </a:solidFill>
              </a:rPr>
              <a:t>MILESTONE 2</a:t>
            </a:r>
            <a:endParaRPr lang="en-US" sz="1100" dirty="0"/>
          </a:p>
        </p:txBody>
      </p:sp>
      <p:sp>
        <p:nvSpPr>
          <p:cNvPr id="6" name="Risk Assessment screen window"/>
          <p:cNvSpPr/>
          <p:nvPr/>
        </p:nvSpPr>
        <p:spPr>
          <a:xfrm>
            <a:off x="548640" y="2231136"/>
            <a:ext cx="6858000" cy="3355034"/>
          </a:xfrm>
          <a:prstGeom prst="rect">
            <a:avLst/>
          </a:prstGeom>
          <a:solidFill>
            <a:schemeClr val="bg1"/>
          </a:solidFill>
          <a:ln/>
          <a:effectLst>
            <a:outerShdw blurRad="177800" dist="50800" dir="5400000" algn="bl" rotWithShape="0">
              <a:srgbClr val="050B24">
                <a:alpha val="30000"/>
              </a:srgbClr>
            </a:outerShdw>
          </a:effectLst>
        </p:spPr>
      </p:sp>
      <p:sp>
        <p:nvSpPr>
          <p:cNvPr id="7" name="Risk Assessment screen title bar"/>
          <p:cNvSpPr/>
          <p:nvPr/>
        </p:nvSpPr>
        <p:spPr>
          <a:xfrm>
            <a:off x="548640" y="2231136"/>
            <a:ext cx="6858000" cy="274320"/>
          </a:xfrm>
          <a:prstGeom prst="rect">
            <a:avLst/>
          </a:prstGeom>
          <a:solidFill>
            <a:srgbClr val="E8EEFA"/>
          </a:solidFill>
          <a:ln/>
        </p:spPr>
      </p:sp>
      <p:sp>
        <p:nvSpPr>
          <p:cNvPr id="8" name="Window dot 1"/>
          <p:cNvSpPr/>
          <p:nvPr/>
        </p:nvSpPr>
        <p:spPr>
          <a:xfrm>
            <a:off x="676656" y="2318004"/>
            <a:ext cx="100584" cy="100584"/>
          </a:xfrm>
          <a:prstGeom prst="ellipse">
            <a:avLst/>
          </a:prstGeom>
          <a:solidFill>
            <a:schemeClr val="accent2"/>
          </a:solidFill>
          <a:ln/>
        </p:spPr>
      </p:sp>
      <p:sp>
        <p:nvSpPr>
          <p:cNvPr id="9" name="Window dot 2"/>
          <p:cNvSpPr/>
          <p:nvPr/>
        </p:nvSpPr>
        <p:spPr>
          <a:xfrm>
            <a:off x="832104" y="2318004"/>
            <a:ext cx="100584" cy="100584"/>
          </a:xfrm>
          <a:prstGeom prst="ellipse">
            <a:avLst/>
          </a:prstGeom>
          <a:solidFill>
            <a:schemeClr val="accent3"/>
          </a:solidFill>
          <a:ln/>
        </p:spPr>
      </p:sp>
      <p:sp>
        <p:nvSpPr>
          <p:cNvPr id="10" name="Window dot 3"/>
          <p:cNvSpPr/>
          <p:nvPr/>
        </p:nvSpPr>
        <p:spPr>
          <a:xfrm>
            <a:off x="987552" y="2318004"/>
            <a:ext cx="100584" cy="100584"/>
          </a:xfrm>
          <a:prstGeom prst="ellipse">
            <a:avLst/>
          </a:prstGeom>
          <a:solidFill>
            <a:schemeClr val="accent4"/>
          </a:solidFill>
          <a:ln/>
        </p:spPr>
      </p:sp>
      <p:sp>
        <p:nvSpPr>
          <p:cNvPr id="11" name="Address pill"/>
          <p:cNvSpPr/>
          <p:nvPr/>
        </p:nvSpPr>
        <p:spPr>
          <a:xfrm>
            <a:off x="1325880" y="2267712"/>
            <a:ext cx="2468880" cy="201168"/>
          </a:xfrm>
          <a:prstGeom prst="roundRect">
            <a:avLst>
              <a:gd name="adj" fmla="val 50000"/>
            </a:avLst>
          </a:prstGeom>
          <a:solidFill>
            <a:schemeClr val="bg1"/>
          </a:solidFill>
          <a:ln/>
        </p:spPr>
      </p:sp>
      <p:sp>
        <p:nvSpPr>
          <p:cNvPr id="12" name="Text 10"/>
          <p:cNvSpPr txBox="1"/>
          <p:nvPr/>
        </p:nvSpPr>
        <p:spPr>
          <a:xfrm>
            <a:off x="1325880" y="2267712"/>
            <a:ext cx="2468880" cy="201168"/>
          </a:xfrm>
          <a:prstGeom prst="rect">
            <a:avLst/>
          </a:prstGeom>
          <a:noFill/>
          <a:ln/>
        </p:spPr>
        <p:txBody>
          <a:bodyPr wrap="square" lIns="0" tIns="0" rIns="0" bIns="0" rtlCol="0" anchor="ctr"/>
          <a:lstStyle/>
          <a:p>
            <a:pPr marL="0" indent="0" algn="ctr">
              <a:buNone/>
            </a:pPr>
            <a:r>
              <a:rPr lang="en-US" sz="1000" dirty="0">
                <a:solidFill>
                  <a:schemeClr val="accent5"/>
                </a:solidFill>
              </a:rPr>
              <a:t>prediction-ai-app.streamlit.app</a:t>
            </a:r>
            <a:endParaRPr lang="en-US" sz="1000" dirty="0"/>
          </a:p>
        </p:txBody>
      </p:sp>
      <p:pic>
        <p:nvPicPr>
          <p:cNvPr id="13" name="Image 0" descr="Risk Assessment screen"/>
          <p:cNvPicPr>
            <a:picLocks noChangeAspect="1"/>
          </p:cNvPicPr>
          <p:nvPr/>
        </p:nvPicPr>
        <p:blipFill>
          <a:blip r:embed="rId3"/>
          <a:stretch>
            <a:fillRect/>
          </a:stretch>
        </p:blipFill>
        <p:spPr>
          <a:xfrm>
            <a:off x="548640" y="2505456"/>
            <a:ext cx="6858000" cy="3080714"/>
          </a:xfrm>
          <a:prstGeom prst="rect">
            <a:avLst/>
          </a:prstGeom>
        </p:spPr>
      </p:pic>
      <p:sp>
        <p:nvSpPr>
          <p:cNvPr id="14" name="Risk Assessment Inputs card"/>
          <p:cNvSpPr/>
          <p:nvPr/>
        </p:nvSpPr>
        <p:spPr>
          <a:xfrm>
            <a:off x="7680960" y="1691640"/>
            <a:ext cx="3959352" cy="1371600"/>
          </a:xfrm>
          <a:prstGeom prst="roundRect">
            <a:avLst>
              <a:gd name="adj" fmla="val 8000"/>
            </a:avLst>
          </a:prstGeom>
          <a:solidFill>
            <a:schemeClr val="bg1"/>
          </a:solidFill>
          <a:ln/>
          <a:effectLst>
            <a:outerShdw blurRad="101600" dist="25400" dir="5400000" algn="bl" rotWithShape="0">
              <a:srgbClr val="0B1630">
                <a:alpha val="12000"/>
              </a:srgbClr>
            </a:outerShdw>
          </a:effectLst>
        </p:spPr>
      </p:sp>
      <p:sp>
        <p:nvSpPr>
          <p:cNvPr id="15" name="Text 12"/>
          <p:cNvSpPr txBox="1"/>
          <p:nvPr/>
        </p:nvSpPr>
        <p:spPr>
          <a:xfrm>
            <a:off x="7909560" y="1828800"/>
            <a:ext cx="3520440" cy="320040"/>
          </a:xfrm>
          <a:prstGeom prst="rect">
            <a:avLst/>
          </a:prstGeom>
          <a:noFill/>
          <a:ln/>
        </p:spPr>
        <p:txBody>
          <a:bodyPr wrap="square" lIns="0" tIns="0" rIns="0" bIns="0" rtlCol="0" anchor="ctr"/>
          <a:lstStyle/>
          <a:p>
            <a:pPr marL="0" indent="0">
              <a:buNone/>
            </a:pPr>
            <a:r>
              <a:rPr lang="en-US" sz="1700" b="1" dirty="0">
                <a:solidFill>
                  <a:schemeClr val="accent6"/>
                </a:solidFill>
              </a:rPr>
              <a:t>Risk Assessment Inputs</a:t>
            </a:r>
            <a:endParaRPr lang="en-US" sz="1700" dirty="0"/>
          </a:p>
        </p:txBody>
      </p:sp>
      <p:sp>
        <p:nvSpPr>
          <p:cNvPr id="16" name="Text 13"/>
          <p:cNvSpPr txBox="1"/>
          <p:nvPr/>
        </p:nvSpPr>
        <p:spPr>
          <a:xfrm>
            <a:off x="7909560" y="2194560"/>
            <a:ext cx="3520440" cy="822960"/>
          </a:xfrm>
          <a:prstGeom prst="rect">
            <a:avLst/>
          </a:prstGeom>
          <a:noFill/>
          <a:ln/>
        </p:spPr>
        <p:txBody>
          <a:bodyPr wrap="square" lIns="0" tIns="0" rIns="0" bIns="0" rtlCol="0" anchor="t"/>
          <a:lstStyle/>
          <a:p>
            <a:pPr marL="0" indent="0">
              <a:buNone/>
            </a:pPr>
            <a:r>
              <a:rPr lang="en-US" sz="1400" dirty="0">
                <a:solidFill>
                  <a:schemeClr val="tx1"/>
                </a:solidFill>
              </a:rPr>
              <a:t>Five selections: market competition, innovation level, team expertise, market research quality and resource availability.</a:t>
            </a:r>
            <a:endParaRPr lang="en-US" sz="1400" dirty="0"/>
          </a:p>
        </p:txBody>
      </p:sp>
      <p:sp>
        <p:nvSpPr>
          <p:cNvPr id="17" name="Project Feasibility Inputs card"/>
          <p:cNvSpPr/>
          <p:nvPr/>
        </p:nvSpPr>
        <p:spPr>
          <a:xfrm>
            <a:off x="7680960" y="3218688"/>
            <a:ext cx="3959352" cy="1371600"/>
          </a:xfrm>
          <a:prstGeom prst="roundRect">
            <a:avLst>
              <a:gd name="adj" fmla="val 8000"/>
            </a:avLst>
          </a:prstGeom>
          <a:solidFill>
            <a:schemeClr val="bg1"/>
          </a:solidFill>
          <a:ln/>
          <a:effectLst>
            <a:outerShdw blurRad="101600" dist="25400" dir="5400000" algn="bl" rotWithShape="0">
              <a:srgbClr val="0B1630">
                <a:alpha val="12000"/>
              </a:srgbClr>
            </a:outerShdw>
          </a:effectLst>
        </p:spPr>
      </p:sp>
      <p:sp>
        <p:nvSpPr>
          <p:cNvPr id="18" name="Text 15"/>
          <p:cNvSpPr txBox="1"/>
          <p:nvPr/>
        </p:nvSpPr>
        <p:spPr>
          <a:xfrm>
            <a:off x="7909560" y="3355848"/>
            <a:ext cx="3520440" cy="320040"/>
          </a:xfrm>
          <a:prstGeom prst="rect">
            <a:avLst/>
          </a:prstGeom>
          <a:noFill/>
          <a:ln/>
        </p:spPr>
        <p:txBody>
          <a:bodyPr wrap="square" lIns="0" tIns="0" rIns="0" bIns="0" rtlCol="0" anchor="ctr"/>
          <a:lstStyle/>
          <a:p>
            <a:pPr marL="0" indent="0">
              <a:buNone/>
            </a:pPr>
            <a:r>
              <a:rPr lang="en-US" sz="1700" b="1" dirty="0">
                <a:solidFill>
                  <a:schemeClr val="accent6"/>
                </a:solidFill>
              </a:rPr>
              <a:t>Project Feasibility Inputs</a:t>
            </a:r>
            <a:endParaRPr lang="en-US" sz="1700" dirty="0"/>
          </a:p>
        </p:txBody>
      </p:sp>
      <p:sp>
        <p:nvSpPr>
          <p:cNvPr id="19" name="Text 16"/>
          <p:cNvSpPr txBox="1"/>
          <p:nvPr/>
        </p:nvSpPr>
        <p:spPr>
          <a:xfrm>
            <a:off x="7909560" y="3721608"/>
            <a:ext cx="3520440" cy="822960"/>
          </a:xfrm>
          <a:prstGeom prst="rect">
            <a:avLst/>
          </a:prstGeom>
          <a:noFill/>
          <a:ln/>
        </p:spPr>
        <p:txBody>
          <a:bodyPr wrap="square" lIns="0" tIns="0" rIns="0" bIns="0" rtlCol="0" anchor="t"/>
          <a:lstStyle/>
          <a:p>
            <a:pPr marL="0" indent="0">
              <a:buNone/>
            </a:pPr>
            <a:r>
              <a:rPr lang="en-US" sz="1400" dirty="0">
                <a:solidFill>
                  <a:schemeClr val="tx1"/>
                </a:solidFill>
              </a:rPr>
              <a:t>Four sliders: market opportunity, competitive advantage, team capability and resource availability.</a:t>
            </a:r>
            <a:endParaRPr lang="en-US" sz="1400" dirty="0"/>
          </a:p>
        </p:txBody>
      </p:sp>
      <p:sp>
        <p:nvSpPr>
          <p:cNvPr id="20" name="Assessment Results card"/>
          <p:cNvSpPr/>
          <p:nvPr/>
        </p:nvSpPr>
        <p:spPr>
          <a:xfrm>
            <a:off x="7680960" y="4745736"/>
            <a:ext cx="3959352" cy="1371600"/>
          </a:xfrm>
          <a:prstGeom prst="roundRect">
            <a:avLst>
              <a:gd name="adj" fmla="val 8000"/>
            </a:avLst>
          </a:prstGeom>
          <a:solidFill>
            <a:schemeClr val="bg1"/>
          </a:solidFill>
          <a:ln/>
          <a:effectLst>
            <a:outerShdw blurRad="101600" dist="25400" dir="5400000" algn="bl" rotWithShape="0">
              <a:srgbClr val="0B1630">
                <a:alpha val="12000"/>
              </a:srgbClr>
            </a:outerShdw>
          </a:effectLst>
        </p:spPr>
      </p:sp>
      <p:sp>
        <p:nvSpPr>
          <p:cNvPr id="21" name="Text 18"/>
          <p:cNvSpPr txBox="1"/>
          <p:nvPr/>
        </p:nvSpPr>
        <p:spPr>
          <a:xfrm>
            <a:off x="7909560" y="4882896"/>
            <a:ext cx="3520440" cy="320040"/>
          </a:xfrm>
          <a:prstGeom prst="rect">
            <a:avLst/>
          </a:prstGeom>
          <a:noFill/>
          <a:ln/>
        </p:spPr>
        <p:txBody>
          <a:bodyPr wrap="square" lIns="0" tIns="0" rIns="0" bIns="0" rtlCol="0" anchor="ctr"/>
          <a:lstStyle/>
          <a:p>
            <a:pPr marL="0" indent="0">
              <a:buNone/>
            </a:pPr>
            <a:r>
              <a:rPr lang="en-US" sz="1700" b="1" dirty="0">
                <a:solidFill>
                  <a:schemeClr val="accent6"/>
                </a:solidFill>
              </a:rPr>
              <a:t>Assessment Results</a:t>
            </a:r>
            <a:endParaRPr lang="en-US" sz="1700" dirty="0"/>
          </a:p>
        </p:txBody>
      </p:sp>
      <p:sp>
        <p:nvSpPr>
          <p:cNvPr id="22" name="Text 19"/>
          <p:cNvSpPr txBox="1"/>
          <p:nvPr/>
        </p:nvSpPr>
        <p:spPr>
          <a:xfrm>
            <a:off x="7909560" y="5248656"/>
            <a:ext cx="3520440" cy="822960"/>
          </a:xfrm>
          <a:prstGeom prst="rect">
            <a:avLst/>
          </a:prstGeom>
          <a:noFill/>
          <a:ln/>
        </p:spPr>
        <p:txBody>
          <a:bodyPr wrap="square" lIns="0" tIns="0" rIns="0" bIns="0" rtlCol="0" anchor="t"/>
          <a:lstStyle/>
          <a:p>
            <a:pPr marL="0" indent="0">
              <a:buNone/>
            </a:pPr>
            <a:r>
              <a:rPr lang="en-US" sz="1400" dirty="0">
                <a:solidFill>
                  <a:schemeClr val="tx1"/>
                </a:solidFill>
              </a:rPr>
              <a:t>The overall risk score with its risk status, the success probability and the feasibility score.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Milestone 2: Output</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Results of the Risk Assessment tab and what each part shows</a:t>
            </a:r>
            <a:endParaRPr lang="en-US" sz="1600" dirty="0"/>
          </a:p>
        </p:txBody>
      </p:sp>
      <p:sp>
        <p:nvSpPr>
          <p:cNvPr id="4" name="Milestone badge"/>
          <p:cNvSpPr/>
          <p:nvPr/>
        </p:nvSpPr>
        <p:spPr>
          <a:xfrm>
            <a:off x="9994392" y="521208"/>
            <a:ext cx="1645920" cy="365760"/>
          </a:xfrm>
          <a:prstGeom prst="roundRect">
            <a:avLst>
              <a:gd name="adj" fmla="val 50000"/>
            </a:avLst>
          </a:prstGeom>
          <a:solidFill>
            <a:schemeClr val="accent6"/>
          </a:solidFill>
          <a:ln/>
        </p:spPr>
      </p:sp>
      <p:sp>
        <p:nvSpPr>
          <p:cNvPr id="5" name="Text 3"/>
          <p:cNvSpPr txBox="1"/>
          <p:nvPr/>
        </p:nvSpPr>
        <p:spPr>
          <a:xfrm>
            <a:off x="9994392" y="521208"/>
            <a:ext cx="1645920" cy="365760"/>
          </a:xfrm>
          <a:prstGeom prst="rect">
            <a:avLst/>
          </a:prstGeom>
          <a:noFill/>
          <a:ln/>
        </p:spPr>
        <p:txBody>
          <a:bodyPr wrap="square" lIns="0" tIns="0" rIns="0" bIns="0" rtlCol="0" anchor="ctr"/>
          <a:lstStyle/>
          <a:p>
            <a:pPr marL="0" indent="0" algn="ctr">
              <a:buNone/>
            </a:pPr>
            <a:r>
              <a:rPr lang="en-US" sz="1100" b="1" kern="0" spc="100" dirty="0">
                <a:solidFill>
                  <a:schemeClr val="bg1"/>
                </a:solidFill>
              </a:rPr>
              <a:t>MILESTONE 2</a:t>
            </a:r>
            <a:endParaRPr lang="en-US" sz="1100" dirty="0"/>
          </a:p>
        </p:txBody>
      </p:sp>
      <p:sp>
        <p:nvSpPr>
          <p:cNvPr id="6" name="Risk Assessment output screen window"/>
          <p:cNvSpPr/>
          <p:nvPr/>
        </p:nvSpPr>
        <p:spPr>
          <a:xfrm>
            <a:off x="1709928" y="1645920"/>
            <a:ext cx="8778240" cy="3335522"/>
          </a:xfrm>
          <a:prstGeom prst="rect">
            <a:avLst/>
          </a:prstGeom>
          <a:solidFill>
            <a:schemeClr val="bg1"/>
          </a:solidFill>
          <a:ln/>
          <a:effectLst>
            <a:outerShdw blurRad="177800" dist="50800" dir="5400000" algn="bl" rotWithShape="0">
              <a:srgbClr val="050B24">
                <a:alpha val="30000"/>
              </a:srgbClr>
            </a:outerShdw>
          </a:effectLst>
        </p:spPr>
      </p:sp>
      <p:sp>
        <p:nvSpPr>
          <p:cNvPr id="7" name="Risk Assessment output screen title bar"/>
          <p:cNvSpPr/>
          <p:nvPr/>
        </p:nvSpPr>
        <p:spPr>
          <a:xfrm>
            <a:off x="1709928" y="1645920"/>
            <a:ext cx="8778240" cy="274320"/>
          </a:xfrm>
          <a:prstGeom prst="rect">
            <a:avLst/>
          </a:prstGeom>
          <a:solidFill>
            <a:srgbClr val="E8EEFA"/>
          </a:solidFill>
          <a:ln/>
        </p:spPr>
      </p:sp>
      <p:sp>
        <p:nvSpPr>
          <p:cNvPr id="8" name="Window dot 1"/>
          <p:cNvSpPr/>
          <p:nvPr/>
        </p:nvSpPr>
        <p:spPr>
          <a:xfrm>
            <a:off x="1837944" y="1732788"/>
            <a:ext cx="100584" cy="100584"/>
          </a:xfrm>
          <a:prstGeom prst="ellipse">
            <a:avLst/>
          </a:prstGeom>
          <a:solidFill>
            <a:schemeClr val="accent2"/>
          </a:solidFill>
          <a:ln/>
        </p:spPr>
      </p:sp>
      <p:sp>
        <p:nvSpPr>
          <p:cNvPr id="9" name="Window dot 2"/>
          <p:cNvSpPr/>
          <p:nvPr/>
        </p:nvSpPr>
        <p:spPr>
          <a:xfrm>
            <a:off x="1993392" y="1732788"/>
            <a:ext cx="100584" cy="100584"/>
          </a:xfrm>
          <a:prstGeom prst="ellipse">
            <a:avLst/>
          </a:prstGeom>
          <a:solidFill>
            <a:schemeClr val="accent3"/>
          </a:solidFill>
          <a:ln/>
        </p:spPr>
      </p:sp>
      <p:sp>
        <p:nvSpPr>
          <p:cNvPr id="10" name="Window dot 3"/>
          <p:cNvSpPr/>
          <p:nvPr/>
        </p:nvSpPr>
        <p:spPr>
          <a:xfrm>
            <a:off x="2148840" y="1732788"/>
            <a:ext cx="100584" cy="100584"/>
          </a:xfrm>
          <a:prstGeom prst="ellipse">
            <a:avLst/>
          </a:prstGeom>
          <a:solidFill>
            <a:schemeClr val="accent4"/>
          </a:solidFill>
          <a:ln/>
        </p:spPr>
      </p:sp>
      <p:sp>
        <p:nvSpPr>
          <p:cNvPr id="11" name="Address pill"/>
          <p:cNvSpPr/>
          <p:nvPr/>
        </p:nvSpPr>
        <p:spPr>
          <a:xfrm>
            <a:off x="2487168" y="1682496"/>
            <a:ext cx="2468880" cy="201168"/>
          </a:xfrm>
          <a:prstGeom prst="roundRect">
            <a:avLst>
              <a:gd name="adj" fmla="val 50000"/>
            </a:avLst>
          </a:prstGeom>
          <a:solidFill>
            <a:schemeClr val="bg1"/>
          </a:solidFill>
          <a:ln/>
        </p:spPr>
      </p:sp>
      <p:sp>
        <p:nvSpPr>
          <p:cNvPr id="12" name="Text 10"/>
          <p:cNvSpPr txBox="1"/>
          <p:nvPr/>
        </p:nvSpPr>
        <p:spPr>
          <a:xfrm>
            <a:off x="2487168" y="1682496"/>
            <a:ext cx="2468880" cy="201168"/>
          </a:xfrm>
          <a:prstGeom prst="rect">
            <a:avLst/>
          </a:prstGeom>
          <a:noFill/>
          <a:ln/>
        </p:spPr>
        <p:txBody>
          <a:bodyPr wrap="square" lIns="0" tIns="0" rIns="0" bIns="0" rtlCol="0" anchor="ctr"/>
          <a:lstStyle/>
          <a:p>
            <a:pPr marL="0" indent="0" algn="ctr">
              <a:buNone/>
            </a:pPr>
            <a:r>
              <a:rPr lang="en-US" sz="1000" dirty="0">
                <a:solidFill>
                  <a:schemeClr val="accent5"/>
                </a:solidFill>
              </a:rPr>
              <a:t>prediction-ai-app.streamlit.app</a:t>
            </a:r>
            <a:endParaRPr lang="en-US" sz="1000" dirty="0"/>
          </a:p>
        </p:txBody>
      </p:sp>
      <p:pic>
        <p:nvPicPr>
          <p:cNvPr id="13" name="Image 0" descr="Risk Assessment output screen"/>
          <p:cNvPicPr>
            <a:picLocks noChangeAspect="1"/>
          </p:cNvPicPr>
          <p:nvPr/>
        </p:nvPicPr>
        <p:blipFill>
          <a:blip r:embed="rId3"/>
          <a:stretch>
            <a:fillRect/>
          </a:stretch>
        </p:blipFill>
        <p:spPr>
          <a:xfrm>
            <a:off x="1709928" y="1920240"/>
            <a:ext cx="8778240" cy="3061202"/>
          </a:xfrm>
          <a:prstGeom prst="rect">
            <a:avLst/>
          </a:prstGeom>
        </p:spPr>
      </p:pic>
      <p:sp>
        <p:nvSpPr>
          <p:cNvPr id="14" name="SWOT Analysis card"/>
          <p:cNvSpPr/>
          <p:nvPr/>
        </p:nvSpPr>
        <p:spPr>
          <a:xfrm>
            <a:off x="548640" y="5166360"/>
            <a:ext cx="2651760" cy="1143000"/>
          </a:xfrm>
          <a:prstGeom prst="roundRect">
            <a:avLst>
              <a:gd name="adj" fmla="val 9600"/>
            </a:avLst>
          </a:prstGeom>
          <a:solidFill>
            <a:schemeClr val="bg1"/>
          </a:solidFill>
          <a:ln/>
          <a:effectLst>
            <a:outerShdw blurRad="101600" dist="25400" dir="5400000" algn="bl" rotWithShape="0">
              <a:srgbClr val="0B1630">
                <a:alpha val="12000"/>
              </a:srgbClr>
            </a:outerShdw>
          </a:effectLst>
        </p:spPr>
      </p:sp>
      <p:sp>
        <p:nvSpPr>
          <p:cNvPr id="15" name="Text 12"/>
          <p:cNvSpPr txBox="1"/>
          <p:nvPr/>
        </p:nvSpPr>
        <p:spPr>
          <a:xfrm>
            <a:off x="713232" y="5248656"/>
            <a:ext cx="2331720" cy="274320"/>
          </a:xfrm>
          <a:prstGeom prst="rect">
            <a:avLst/>
          </a:prstGeom>
          <a:noFill/>
          <a:ln/>
        </p:spPr>
        <p:txBody>
          <a:bodyPr wrap="square" lIns="0" tIns="0" rIns="0" bIns="0" rtlCol="0" anchor="ctr"/>
          <a:lstStyle/>
          <a:p>
            <a:pPr marL="0" indent="0">
              <a:buNone/>
            </a:pPr>
            <a:r>
              <a:rPr lang="en-US" sz="1500" b="1" dirty="0">
                <a:solidFill>
                  <a:schemeClr val="accent6"/>
                </a:solidFill>
              </a:rPr>
              <a:t>SWOT Analysis</a:t>
            </a:r>
            <a:endParaRPr lang="en-US" sz="1500" dirty="0"/>
          </a:p>
        </p:txBody>
      </p:sp>
      <p:sp>
        <p:nvSpPr>
          <p:cNvPr id="16" name="Text 13"/>
          <p:cNvSpPr txBox="1"/>
          <p:nvPr/>
        </p:nvSpPr>
        <p:spPr>
          <a:xfrm>
            <a:off x="713232" y="5541264"/>
            <a:ext cx="2331720" cy="731520"/>
          </a:xfrm>
          <a:prstGeom prst="rect">
            <a:avLst/>
          </a:prstGeom>
          <a:noFill/>
          <a:ln/>
        </p:spPr>
        <p:txBody>
          <a:bodyPr wrap="square" lIns="0" tIns="0" rIns="0" bIns="0" rtlCol="0" anchor="t"/>
          <a:lstStyle/>
          <a:p>
            <a:pPr marL="0" indent="0">
              <a:buNone/>
            </a:pPr>
            <a:r>
              <a:rPr lang="en-US" sz="1400" dirty="0">
                <a:solidFill>
                  <a:schemeClr val="tx1"/>
                </a:solidFill>
              </a:rPr>
              <a:t>Strengths, weaknesses, opportunities and threats generated automatically.</a:t>
            </a:r>
            <a:endParaRPr lang="en-US" sz="1400" dirty="0"/>
          </a:p>
        </p:txBody>
      </p:sp>
      <p:sp>
        <p:nvSpPr>
          <p:cNvPr id="17" name="Key Risk Factors card"/>
          <p:cNvSpPr/>
          <p:nvPr/>
        </p:nvSpPr>
        <p:spPr>
          <a:xfrm>
            <a:off x="3362249" y="5166360"/>
            <a:ext cx="2651760" cy="1143000"/>
          </a:xfrm>
          <a:prstGeom prst="roundRect">
            <a:avLst>
              <a:gd name="adj" fmla="val 9600"/>
            </a:avLst>
          </a:prstGeom>
          <a:solidFill>
            <a:schemeClr val="bg1"/>
          </a:solidFill>
          <a:ln/>
          <a:effectLst>
            <a:outerShdw blurRad="101600" dist="25400" dir="5400000" algn="bl" rotWithShape="0">
              <a:srgbClr val="0B1630">
                <a:alpha val="12000"/>
              </a:srgbClr>
            </a:outerShdw>
          </a:effectLst>
        </p:spPr>
      </p:sp>
      <p:sp>
        <p:nvSpPr>
          <p:cNvPr id="18" name="Text 15"/>
          <p:cNvSpPr txBox="1"/>
          <p:nvPr/>
        </p:nvSpPr>
        <p:spPr>
          <a:xfrm>
            <a:off x="3526841" y="5248656"/>
            <a:ext cx="2331720" cy="274320"/>
          </a:xfrm>
          <a:prstGeom prst="rect">
            <a:avLst/>
          </a:prstGeom>
          <a:noFill/>
          <a:ln/>
        </p:spPr>
        <p:txBody>
          <a:bodyPr wrap="square" lIns="0" tIns="0" rIns="0" bIns="0" rtlCol="0" anchor="ctr"/>
          <a:lstStyle/>
          <a:p>
            <a:pPr marL="0" indent="0">
              <a:buNone/>
            </a:pPr>
            <a:r>
              <a:rPr lang="en-US" sz="1500" b="1" dirty="0">
                <a:solidFill>
                  <a:schemeClr val="accent6"/>
                </a:solidFill>
              </a:rPr>
              <a:t>Key Risk Factors</a:t>
            </a:r>
            <a:endParaRPr lang="en-US" sz="1500" dirty="0"/>
          </a:p>
        </p:txBody>
      </p:sp>
      <p:sp>
        <p:nvSpPr>
          <p:cNvPr id="19" name="Text 16"/>
          <p:cNvSpPr txBox="1"/>
          <p:nvPr/>
        </p:nvSpPr>
        <p:spPr>
          <a:xfrm>
            <a:off x="3526841" y="5541264"/>
            <a:ext cx="2331720" cy="731520"/>
          </a:xfrm>
          <a:prstGeom prst="rect">
            <a:avLst/>
          </a:prstGeom>
          <a:noFill/>
          <a:ln/>
        </p:spPr>
        <p:txBody>
          <a:bodyPr wrap="square" lIns="0" tIns="0" rIns="0" bIns="0" rtlCol="0" anchor="t"/>
          <a:lstStyle/>
          <a:p>
            <a:pPr marL="0" indent="0">
              <a:buNone/>
            </a:pPr>
            <a:r>
              <a:rPr lang="en-US" sz="1400" dirty="0">
                <a:solidFill>
                  <a:schemeClr val="tx1"/>
                </a:solidFill>
              </a:rPr>
              <a:t>Each of the five inputs is read back with its risk level.</a:t>
            </a:r>
            <a:endParaRPr lang="en-US" sz="1400" dirty="0"/>
          </a:p>
        </p:txBody>
      </p:sp>
      <p:sp>
        <p:nvSpPr>
          <p:cNvPr id="20" name="Assessment Results card"/>
          <p:cNvSpPr/>
          <p:nvPr/>
        </p:nvSpPr>
        <p:spPr>
          <a:xfrm>
            <a:off x="6175858" y="5166360"/>
            <a:ext cx="2651760" cy="1143000"/>
          </a:xfrm>
          <a:prstGeom prst="roundRect">
            <a:avLst>
              <a:gd name="adj" fmla="val 9600"/>
            </a:avLst>
          </a:prstGeom>
          <a:solidFill>
            <a:schemeClr val="bg1"/>
          </a:solidFill>
          <a:ln/>
          <a:effectLst>
            <a:outerShdw blurRad="101600" dist="25400" dir="5400000" algn="bl" rotWithShape="0">
              <a:srgbClr val="0B1630">
                <a:alpha val="12000"/>
              </a:srgbClr>
            </a:outerShdw>
          </a:effectLst>
        </p:spPr>
      </p:sp>
      <p:sp>
        <p:nvSpPr>
          <p:cNvPr id="21" name="Text 18"/>
          <p:cNvSpPr txBox="1"/>
          <p:nvPr/>
        </p:nvSpPr>
        <p:spPr>
          <a:xfrm>
            <a:off x="6340450" y="5248656"/>
            <a:ext cx="2331720" cy="274320"/>
          </a:xfrm>
          <a:prstGeom prst="rect">
            <a:avLst/>
          </a:prstGeom>
          <a:noFill/>
          <a:ln/>
        </p:spPr>
        <p:txBody>
          <a:bodyPr wrap="square" lIns="0" tIns="0" rIns="0" bIns="0" rtlCol="0" anchor="ctr"/>
          <a:lstStyle/>
          <a:p>
            <a:pPr marL="0" indent="0">
              <a:buNone/>
            </a:pPr>
            <a:r>
              <a:rPr lang="en-US" sz="1500" b="1" dirty="0">
                <a:solidFill>
                  <a:schemeClr val="accent6"/>
                </a:solidFill>
              </a:rPr>
              <a:t>Assessment Results</a:t>
            </a:r>
            <a:endParaRPr lang="en-US" sz="1500" dirty="0"/>
          </a:p>
        </p:txBody>
      </p:sp>
      <p:sp>
        <p:nvSpPr>
          <p:cNvPr id="22" name="Text 19"/>
          <p:cNvSpPr txBox="1"/>
          <p:nvPr/>
        </p:nvSpPr>
        <p:spPr>
          <a:xfrm>
            <a:off x="6340450" y="5541264"/>
            <a:ext cx="2331720" cy="731520"/>
          </a:xfrm>
          <a:prstGeom prst="rect">
            <a:avLst/>
          </a:prstGeom>
          <a:noFill/>
          <a:ln/>
        </p:spPr>
        <p:txBody>
          <a:bodyPr wrap="square" lIns="0" tIns="0" rIns="0" bIns="0" rtlCol="0" anchor="t"/>
          <a:lstStyle/>
          <a:p>
            <a:pPr marL="0" indent="0">
              <a:buNone/>
            </a:pPr>
            <a:r>
              <a:rPr lang="en-US" sz="1400" dirty="0">
                <a:solidFill>
                  <a:schemeClr val="tx1"/>
                </a:solidFill>
              </a:rPr>
              <a:t>Overall risk score, risk status and success probability.</a:t>
            </a:r>
            <a:endParaRPr lang="en-US" sz="1400" dirty="0"/>
          </a:p>
        </p:txBody>
      </p:sp>
      <p:sp>
        <p:nvSpPr>
          <p:cNvPr id="23" name="Project Feasibility card"/>
          <p:cNvSpPr/>
          <p:nvPr/>
        </p:nvSpPr>
        <p:spPr>
          <a:xfrm>
            <a:off x="8989466" y="5166360"/>
            <a:ext cx="2651760" cy="1143000"/>
          </a:xfrm>
          <a:prstGeom prst="roundRect">
            <a:avLst>
              <a:gd name="adj" fmla="val 9600"/>
            </a:avLst>
          </a:prstGeom>
          <a:solidFill>
            <a:schemeClr val="bg1"/>
          </a:solidFill>
          <a:ln/>
          <a:effectLst>
            <a:outerShdw blurRad="101600" dist="25400" dir="5400000" algn="bl" rotWithShape="0">
              <a:srgbClr val="0B1630">
                <a:alpha val="12000"/>
              </a:srgbClr>
            </a:outerShdw>
          </a:effectLst>
        </p:spPr>
      </p:sp>
      <p:sp>
        <p:nvSpPr>
          <p:cNvPr id="24" name="Text 21"/>
          <p:cNvSpPr txBox="1"/>
          <p:nvPr/>
        </p:nvSpPr>
        <p:spPr>
          <a:xfrm>
            <a:off x="9154058" y="5248656"/>
            <a:ext cx="2331720" cy="274320"/>
          </a:xfrm>
          <a:prstGeom prst="rect">
            <a:avLst/>
          </a:prstGeom>
          <a:noFill/>
          <a:ln/>
        </p:spPr>
        <p:txBody>
          <a:bodyPr wrap="square" lIns="0" tIns="0" rIns="0" bIns="0" rtlCol="0" anchor="ctr"/>
          <a:lstStyle/>
          <a:p>
            <a:pPr marL="0" indent="0">
              <a:buNone/>
            </a:pPr>
            <a:r>
              <a:rPr lang="en-US" sz="1500" b="1" dirty="0">
                <a:solidFill>
                  <a:schemeClr val="accent6"/>
                </a:solidFill>
              </a:rPr>
              <a:t>Project Feasibility</a:t>
            </a:r>
            <a:endParaRPr lang="en-US" sz="1500" dirty="0"/>
          </a:p>
        </p:txBody>
      </p:sp>
      <p:sp>
        <p:nvSpPr>
          <p:cNvPr id="25" name="Text 22"/>
          <p:cNvSpPr txBox="1"/>
          <p:nvPr/>
        </p:nvSpPr>
        <p:spPr>
          <a:xfrm>
            <a:off x="9154058" y="5541264"/>
            <a:ext cx="2331720" cy="731520"/>
          </a:xfrm>
          <a:prstGeom prst="rect">
            <a:avLst/>
          </a:prstGeom>
          <a:noFill/>
          <a:ln/>
        </p:spPr>
        <p:txBody>
          <a:bodyPr wrap="square" lIns="0" tIns="0" rIns="0" bIns="0" rtlCol="0" anchor="t"/>
          <a:lstStyle/>
          <a:p>
            <a:pPr marL="0" indent="0">
              <a:buNone/>
            </a:pPr>
            <a:r>
              <a:rPr lang="en-US" sz="1400" dirty="0">
                <a:solidFill>
                  <a:schemeClr val="tx1"/>
                </a:solidFill>
              </a:rPr>
              <a:t>A feasibility score built from four assessment metrics.</a:t>
            </a:r>
            <a:endParaRPr lang="en-US" sz="1400" dirty="0"/>
          </a:p>
        </p:txBody>
      </p:sp>
      <p:sp>
        <p:nvSpPr>
          <p:cNvPr id="26"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Milestone 3: Tasks and Tools</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Recommendations &amp; Strategic Reasoning</a:t>
            </a:r>
            <a:endParaRPr lang="en-US" sz="1600" dirty="0"/>
          </a:p>
        </p:txBody>
      </p:sp>
      <p:sp>
        <p:nvSpPr>
          <p:cNvPr id="4" name="Milestone badge"/>
          <p:cNvSpPr/>
          <p:nvPr/>
        </p:nvSpPr>
        <p:spPr>
          <a:xfrm>
            <a:off x="9994392" y="521208"/>
            <a:ext cx="1645920" cy="365760"/>
          </a:xfrm>
          <a:prstGeom prst="roundRect">
            <a:avLst>
              <a:gd name="adj" fmla="val 50000"/>
            </a:avLst>
          </a:prstGeom>
          <a:solidFill>
            <a:schemeClr val="accent4"/>
          </a:solidFill>
          <a:ln/>
        </p:spPr>
      </p:sp>
      <p:sp>
        <p:nvSpPr>
          <p:cNvPr id="5" name="Text 3"/>
          <p:cNvSpPr txBox="1"/>
          <p:nvPr/>
        </p:nvSpPr>
        <p:spPr>
          <a:xfrm>
            <a:off x="9994392" y="521208"/>
            <a:ext cx="1645920" cy="365760"/>
          </a:xfrm>
          <a:prstGeom prst="rect">
            <a:avLst/>
          </a:prstGeom>
          <a:noFill/>
          <a:ln/>
        </p:spPr>
        <p:txBody>
          <a:bodyPr wrap="square" lIns="0" tIns="0" rIns="0" bIns="0" rtlCol="0" anchor="ctr"/>
          <a:lstStyle/>
          <a:p>
            <a:pPr marL="0" indent="0" algn="ctr">
              <a:buNone/>
            </a:pPr>
            <a:r>
              <a:rPr lang="en-US" sz="1100" b="1" kern="0" spc="100" dirty="0">
                <a:solidFill>
                  <a:schemeClr val="bg1"/>
                </a:solidFill>
              </a:rPr>
              <a:t>MILESTONE 3</a:t>
            </a:r>
            <a:endParaRPr lang="en-US" sz="1100" dirty="0"/>
          </a:p>
        </p:txBody>
      </p:sp>
      <p:sp>
        <p:nvSpPr>
          <p:cNvPr id="6" name="Task card 1"/>
          <p:cNvSpPr/>
          <p:nvPr/>
        </p:nvSpPr>
        <p:spPr>
          <a:xfrm>
            <a:off x="548640" y="1691640"/>
            <a:ext cx="6583680" cy="1325880"/>
          </a:xfrm>
          <a:prstGeom prst="roundRect">
            <a:avLst>
              <a:gd name="adj" fmla="val 8276"/>
            </a:avLst>
          </a:prstGeom>
          <a:solidFill>
            <a:schemeClr val="bg1"/>
          </a:solidFill>
          <a:ln/>
          <a:effectLst>
            <a:outerShdw blurRad="101600" dist="25400" dir="5400000" algn="bl" rotWithShape="0">
              <a:srgbClr val="0B1630">
                <a:alpha val="12000"/>
              </a:srgbClr>
            </a:outerShdw>
          </a:effectLst>
        </p:spPr>
      </p:sp>
      <p:sp>
        <p:nvSpPr>
          <p:cNvPr id="7" name="Task circle 1"/>
          <p:cNvSpPr/>
          <p:nvPr/>
        </p:nvSpPr>
        <p:spPr>
          <a:xfrm>
            <a:off x="777240" y="2057400"/>
            <a:ext cx="566928" cy="566928"/>
          </a:xfrm>
          <a:prstGeom prst="ellipse">
            <a:avLst/>
          </a:prstGeom>
          <a:solidFill>
            <a:schemeClr val="accent4"/>
          </a:solidFill>
          <a:ln/>
        </p:spPr>
      </p:sp>
      <p:pic>
        <p:nvPicPr>
          <p:cNvPr id="8" name="Image 0" descr="Done"/>
          <p:cNvPicPr>
            <a:picLocks noChangeAspect="1"/>
          </p:cNvPicPr>
          <p:nvPr/>
        </p:nvPicPr>
        <p:blipFill>
          <a:blip r:embed="rId3"/>
          <a:stretch>
            <a:fillRect/>
          </a:stretch>
        </p:blipFill>
        <p:spPr>
          <a:xfrm>
            <a:off x="941832" y="2221992"/>
            <a:ext cx="237744" cy="237744"/>
          </a:xfrm>
          <a:prstGeom prst="rect">
            <a:avLst/>
          </a:prstGeom>
        </p:spPr>
      </p:pic>
      <p:sp>
        <p:nvSpPr>
          <p:cNvPr id="9" name="Text 6"/>
          <p:cNvSpPr txBox="1"/>
          <p:nvPr/>
        </p:nvSpPr>
        <p:spPr>
          <a:xfrm>
            <a:off x="1600200" y="1847088"/>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Gemini recommendations</a:t>
            </a:r>
            <a:endParaRPr lang="en-US" sz="1800" dirty="0"/>
          </a:p>
        </p:txBody>
      </p:sp>
      <p:sp>
        <p:nvSpPr>
          <p:cNvPr id="10" name="Text 7"/>
          <p:cNvSpPr txBox="1"/>
          <p:nvPr/>
        </p:nvSpPr>
        <p:spPr>
          <a:xfrm>
            <a:off x="1600200" y="2240280"/>
            <a:ext cx="5303520" cy="685800"/>
          </a:xfrm>
          <a:prstGeom prst="rect">
            <a:avLst/>
          </a:prstGeom>
          <a:noFill/>
          <a:ln/>
        </p:spPr>
        <p:txBody>
          <a:bodyPr wrap="square" lIns="0" tIns="0" rIns="0" bIns="0" rtlCol="0" anchor="t"/>
          <a:lstStyle/>
          <a:p>
            <a:pPr marL="0" indent="0">
              <a:buNone/>
            </a:pPr>
            <a:r>
              <a:rPr lang="en-US" sz="1400" dirty="0">
                <a:solidFill>
                  <a:schemeClr val="tx1"/>
                </a:solidFill>
              </a:rPr>
              <a:t>Strategic, risk-based, market, technical, financial and operational advice with priorities.</a:t>
            </a:r>
            <a:endParaRPr lang="en-US" sz="1400" dirty="0"/>
          </a:p>
        </p:txBody>
      </p:sp>
      <p:sp>
        <p:nvSpPr>
          <p:cNvPr id="11" name="Task card 2"/>
          <p:cNvSpPr/>
          <p:nvPr/>
        </p:nvSpPr>
        <p:spPr>
          <a:xfrm>
            <a:off x="548640" y="3172968"/>
            <a:ext cx="6583680" cy="1325880"/>
          </a:xfrm>
          <a:prstGeom prst="roundRect">
            <a:avLst>
              <a:gd name="adj" fmla="val 8276"/>
            </a:avLst>
          </a:prstGeom>
          <a:solidFill>
            <a:schemeClr val="bg1"/>
          </a:solidFill>
          <a:ln/>
          <a:effectLst>
            <a:outerShdw blurRad="101600" dist="25400" dir="5400000" algn="bl" rotWithShape="0">
              <a:srgbClr val="0B1630">
                <a:alpha val="12000"/>
              </a:srgbClr>
            </a:outerShdw>
          </a:effectLst>
        </p:spPr>
      </p:sp>
      <p:sp>
        <p:nvSpPr>
          <p:cNvPr id="12" name="Task circle 2"/>
          <p:cNvSpPr/>
          <p:nvPr/>
        </p:nvSpPr>
        <p:spPr>
          <a:xfrm>
            <a:off x="777240" y="3538728"/>
            <a:ext cx="566928" cy="566928"/>
          </a:xfrm>
          <a:prstGeom prst="ellipse">
            <a:avLst/>
          </a:prstGeom>
          <a:solidFill>
            <a:schemeClr val="accent4"/>
          </a:solidFill>
          <a:ln/>
        </p:spPr>
      </p:sp>
      <p:pic>
        <p:nvPicPr>
          <p:cNvPr id="13" name="Image 1" descr="Done"/>
          <p:cNvPicPr>
            <a:picLocks noChangeAspect="1"/>
          </p:cNvPicPr>
          <p:nvPr/>
        </p:nvPicPr>
        <p:blipFill>
          <a:blip r:embed="rId3"/>
          <a:stretch>
            <a:fillRect/>
          </a:stretch>
        </p:blipFill>
        <p:spPr>
          <a:xfrm>
            <a:off x="941832" y="3703320"/>
            <a:ext cx="237744" cy="237744"/>
          </a:xfrm>
          <a:prstGeom prst="rect">
            <a:avLst/>
          </a:prstGeom>
        </p:spPr>
      </p:pic>
      <p:sp>
        <p:nvSpPr>
          <p:cNvPr id="14" name="Text 10"/>
          <p:cNvSpPr txBox="1"/>
          <p:nvPr/>
        </p:nvSpPr>
        <p:spPr>
          <a:xfrm>
            <a:off x="1600200" y="3328416"/>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Mitigation and improvement engine</a:t>
            </a:r>
            <a:endParaRPr lang="en-US" sz="1800" dirty="0"/>
          </a:p>
        </p:txBody>
      </p:sp>
      <p:sp>
        <p:nvSpPr>
          <p:cNvPr id="15" name="Text 11"/>
          <p:cNvSpPr txBox="1"/>
          <p:nvPr/>
        </p:nvSpPr>
        <p:spPr>
          <a:xfrm>
            <a:off x="1600200" y="3721608"/>
            <a:ext cx="5303520" cy="685800"/>
          </a:xfrm>
          <a:prstGeom prst="rect">
            <a:avLst/>
          </a:prstGeom>
          <a:noFill/>
          <a:ln/>
        </p:spPr>
        <p:txBody>
          <a:bodyPr wrap="square" lIns="0" tIns="0" rIns="0" bIns="0" rtlCol="0" anchor="t"/>
          <a:lstStyle/>
          <a:p>
            <a:pPr marL="0" indent="0">
              <a:buNone/>
            </a:pPr>
            <a:r>
              <a:rPr lang="en-US" sz="1400" dirty="0">
                <a:solidFill>
                  <a:schemeClr val="tx1"/>
                </a:solidFill>
              </a:rPr>
              <a:t>A mitigation strategy for each major risk, plus practical improvements across the project.</a:t>
            </a:r>
            <a:endParaRPr lang="en-US" sz="1400" dirty="0"/>
          </a:p>
        </p:txBody>
      </p:sp>
      <p:sp>
        <p:nvSpPr>
          <p:cNvPr id="16" name="Task card 3"/>
          <p:cNvSpPr/>
          <p:nvPr/>
        </p:nvSpPr>
        <p:spPr>
          <a:xfrm>
            <a:off x="548640" y="4654296"/>
            <a:ext cx="6583680" cy="1325880"/>
          </a:xfrm>
          <a:prstGeom prst="roundRect">
            <a:avLst>
              <a:gd name="adj" fmla="val 8276"/>
            </a:avLst>
          </a:prstGeom>
          <a:solidFill>
            <a:schemeClr val="bg1"/>
          </a:solidFill>
          <a:ln/>
          <a:effectLst>
            <a:outerShdw blurRad="101600" dist="25400" dir="5400000" algn="bl" rotWithShape="0">
              <a:srgbClr val="0B1630">
                <a:alpha val="12000"/>
              </a:srgbClr>
            </a:outerShdw>
          </a:effectLst>
        </p:spPr>
      </p:sp>
      <p:sp>
        <p:nvSpPr>
          <p:cNvPr id="17" name="Task circle 3"/>
          <p:cNvSpPr/>
          <p:nvPr/>
        </p:nvSpPr>
        <p:spPr>
          <a:xfrm>
            <a:off x="777240" y="5020056"/>
            <a:ext cx="566928" cy="566928"/>
          </a:xfrm>
          <a:prstGeom prst="ellipse">
            <a:avLst/>
          </a:prstGeom>
          <a:solidFill>
            <a:schemeClr val="accent4"/>
          </a:solidFill>
          <a:ln/>
        </p:spPr>
      </p:sp>
      <p:pic>
        <p:nvPicPr>
          <p:cNvPr id="18" name="Image 2" descr="Done"/>
          <p:cNvPicPr>
            <a:picLocks noChangeAspect="1"/>
          </p:cNvPicPr>
          <p:nvPr/>
        </p:nvPicPr>
        <p:blipFill>
          <a:blip r:embed="rId3"/>
          <a:stretch>
            <a:fillRect/>
          </a:stretch>
        </p:blipFill>
        <p:spPr>
          <a:xfrm>
            <a:off x="941832" y="5184648"/>
            <a:ext cx="237744" cy="237744"/>
          </a:xfrm>
          <a:prstGeom prst="rect">
            <a:avLst/>
          </a:prstGeom>
        </p:spPr>
      </p:pic>
      <p:sp>
        <p:nvSpPr>
          <p:cNvPr id="19" name="Text 14"/>
          <p:cNvSpPr txBox="1"/>
          <p:nvPr/>
        </p:nvSpPr>
        <p:spPr>
          <a:xfrm>
            <a:off x="1600200" y="4809744"/>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LangGraph agent workflow</a:t>
            </a:r>
            <a:endParaRPr lang="en-US" sz="1800" dirty="0"/>
          </a:p>
        </p:txBody>
      </p:sp>
      <p:sp>
        <p:nvSpPr>
          <p:cNvPr id="20" name="Text 15"/>
          <p:cNvSpPr txBox="1"/>
          <p:nvPr/>
        </p:nvSpPr>
        <p:spPr>
          <a:xfrm>
            <a:off x="1600200" y="5202936"/>
            <a:ext cx="5303520" cy="685800"/>
          </a:xfrm>
          <a:prstGeom prst="rect">
            <a:avLst/>
          </a:prstGeom>
          <a:noFill/>
          <a:ln/>
        </p:spPr>
        <p:txBody>
          <a:bodyPr wrap="square" lIns="0" tIns="0" rIns="0" bIns="0" rtlCol="0" anchor="t"/>
          <a:lstStyle/>
          <a:p>
            <a:pPr marL="0" indent="0">
              <a:buNone/>
            </a:pPr>
            <a:r>
              <a:rPr lang="en-US" sz="1400" dirty="0">
                <a:solidFill>
                  <a:schemeClr val="tx1"/>
                </a:solidFill>
              </a:rPr>
              <a:t>Six connected nodes share one state from input to final response, with a Demo Mode fallback.</a:t>
            </a:r>
            <a:endParaRPr lang="en-US" sz="1400" dirty="0"/>
          </a:p>
        </p:txBody>
      </p:sp>
      <p:sp>
        <p:nvSpPr>
          <p:cNvPr id="21" name="Side panel"/>
          <p:cNvSpPr/>
          <p:nvPr/>
        </p:nvSpPr>
        <p:spPr>
          <a:xfrm>
            <a:off x="7406640" y="1691640"/>
            <a:ext cx="4233672" cy="4434840"/>
          </a:xfrm>
          <a:prstGeom prst="roundRect">
            <a:avLst>
              <a:gd name="adj" fmla="val 2592"/>
            </a:avLst>
          </a:prstGeom>
          <a:solidFill>
            <a:schemeClr val="tx2"/>
          </a:solidFill>
          <a:ln/>
        </p:spPr>
      </p:sp>
      <p:sp>
        <p:nvSpPr>
          <p:cNvPr id="22" name="Text 17"/>
          <p:cNvSpPr txBox="1"/>
          <p:nvPr/>
        </p:nvSpPr>
        <p:spPr>
          <a:xfrm>
            <a:off x="7680960" y="1874520"/>
            <a:ext cx="365760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TOOLS USED</a:t>
            </a:r>
            <a:endParaRPr lang="en-US" sz="1200" dirty="0"/>
          </a:p>
        </p:txBody>
      </p:sp>
      <p:sp>
        <p:nvSpPr>
          <p:cNvPr id="23" name="Text 18"/>
          <p:cNvSpPr txBox="1"/>
          <p:nvPr/>
        </p:nvSpPr>
        <p:spPr>
          <a:xfrm>
            <a:off x="7680960" y="2286000"/>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Python</a:t>
            </a:r>
            <a:endParaRPr lang="en-US" sz="1600" dirty="0"/>
          </a:p>
        </p:txBody>
      </p:sp>
      <p:sp>
        <p:nvSpPr>
          <p:cNvPr id="24" name="Text 19"/>
          <p:cNvSpPr txBox="1"/>
          <p:nvPr/>
        </p:nvSpPr>
        <p:spPr>
          <a:xfrm>
            <a:off x="7680960" y="2578608"/>
            <a:ext cx="3749040" cy="365760"/>
          </a:xfrm>
          <a:prstGeom prst="rect">
            <a:avLst/>
          </a:prstGeom>
          <a:noFill/>
          <a:ln/>
        </p:spPr>
        <p:txBody>
          <a:bodyPr wrap="square" lIns="0" tIns="0" rIns="0" bIns="0" rtlCol="0" anchor="ctr"/>
          <a:lstStyle/>
          <a:p>
            <a:pPr marL="0" indent="0">
              <a:buNone/>
            </a:pPr>
            <a:r>
              <a:rPr lang="en-US" sz="1400" dirty="0">
                <a:solidFill>
                  <a:schemeClr val="bg2"/>
                </a:solidFill>
              </a:rPr>
              <a:t>Modular files, one per engine</a:t>
            </a:r>
            <a:endParaRPr lang="en-US" sz="1400" dirty="0"/>
          </a:p>
        </p:txBody>
      </p:sp>
      <p:sp>
        <p:nvSpPr>
          <p:cNvPr id="25" name="Text 20"/>
          <p:cNvSpPr txBox="1"/>
          <p:nvPr/>
        </p:nvSpPr>
        <p:spPr>
          <a:xfrm>
            <a:off x="7680960" y="3054096"/>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Streamlit</a:t>
            </a:r>
            <a:endParaRPr lang="en-US" sz="1600" dirty="0"/>
          </a:p>
        </p:txBody>
      </p:sp>
      <p:sp>
        <p:nvSpPr>
          <p:cNvPr id="26" name="Text 21"/>
          <p:cNvSpPr txBox="1"/>
          <p:nvPr/>
        </p:nvSpPr>
        <p:spPr>
          <a:xfrm>
            <a:off x="7680960" y="3346704"/>
            <a:ext cx="3749040" cy="365760"/>
          </a:xfrm>
          <a:prstGeom prst="rect">
            <a:avLst/>
          </a:prstGeom>
          <a:noFill/>
          <a:ln/>
        </p:spPr>
        <p:txBody>
          <a:bodyPr wrap="square" lIns="0" tIns="0" rIns="0" bIns="0" rtlCol="0" anchor="ctr"/>
          <a:lstStyle/>
          <a:p>
            <a:pPr marL="0" indent="0">
              <a:buNone/>
            </a:pPr>
            <a:r>
              <a:rPr lang="en-US" sz="1400" dirty="0">
                <a:solidFill>
                  <a:schemeClr val="bg2"/>
                </a:solidFill>
              </a:rPr>
              <a:t>Four tabs for the dashboard</a:t>
            </a:r>
            <a:endParaRPr lang="en-US" sz="1400" dirty="0"/>
          </a:p>
        </p:txBody>
      </p:sp>
      <p:sp>
        <p:nvSpPr>
          <p:cNvPr id="27" name="Text 22"/>
          <p:cNvSpPr txBox="1"/>
          <p:nvPr/>
        </p:nvSpPr>
        <p:spPr>
          <a:xfrm>
            <a:off x="7680960" y="3822192"/>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Google Gemini</a:t>
            </a:r>
            <a:endParaRPr lang="en-US" sz="1600" dirty="0"/>
          </a:p>
        </p:txBody>
      </p:sp>
      <p:sp>
        <p:nvSpPr>
          <p:cNvPr id="28" name="Text 23"/>
          <p:cNvSpPr txBox="1"/>
          <p:nvPr/>
        </p:nvSpPr>
        <p:spPr>
          <a:xfrm>
            <a:off x="7680960" y="4114800"/>
            <a:ext cx="3749040" cy="365760"/>
          </a:xfrm>
          <a:prstGeom prst="rect">
            <a:avLst/>
          </a:prstGeom>
          <a:noFill/>
          <a:ln/>
        </p:spPr>
        <p:txBody>
          <a:bodyPr wrap="square" lIns="0" tIns="0" rIns="0" bIns="0" rtlCol="0" anchor="ctr"/>
          <a:lstStyle/>
          <a:p>
            <a:pPr marL="0" indent="0">
              <a:buNone/>
            </a:pPr>
            <a:r>
              <a:rPr lang="en-US" sz="1400" dirty="0">
                <a:solidFill>
                  <a:schemeClr val="bg2"/>
                </a:solidFill>
              </a:rPr>
              <a:t>Key read from an environment variable</a:t>
            </a:r>
            <a:endParaRPr lang="en-US" sz="1400" dirty="0"/>
          </a:p>
        </p:txBody>
      </p:sp>
      <p:sp>
        <p:nvSpPr>
          <p:cNvPr id="29" name="Text 24"/>
          <p:cNvSpPr txBox="1"/>
          <p:nvPr/>
        </p:nvSpPr>
        <p:spPr>
          <a:xfrm>
            <a:off x="7680960" y="4590288"/>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LangGraph</a:t>
            </a:r>
            <a:endParaRPr lang="en-US" sz="1600" dirty="0"/>
          </a:p>
        </p:txBody>
      </p:sp>
      <p:sp>
        <p:nvSpPr>
          <p:cNvPr id="30" name="Text 25"/>
          <p:cNvSpPr txBox="1"/>
          <p:nvPr/>
        </p:nvSpPr>
        <p:spPr>
          <a:xfrm>
            <a:off x="7680960" y="4882896"/>
            <a:ext cx="3749040" cy="365760"/>
          </a:xfrm>
          <a:prstGeom prst="rect">
            <a:avLst/>
          </a:prstGeom>
          <a:noFill/>
          <a:ln/>
        </p:spPr>
        <p:txBody>
          <a:bodyPr wrap="square" lIns="0" tIns="0" rIns="0" bIns="0" rtlCol="0" anchor="ctr"/>
          <a:lstStyle/>
          <a:p>
            <a:pPr marL="0" indent="0">
              <a:buNone/>
            </a:pPr>
            <a:r>
              <a:rPr lang="en-US" sz="1400" dirty="0">
                <a:solidFill>
                  <a:schemeClr val="bg2"/>
                </a:solidFill>
              </a:rPr>
              <a:t>Six nodes sharing one state</a:t>
            </a:r>
            <a:endParaRPr lang="en-US" sz="1400" dirty="0"/>
          </a:p>
        </p:txBody>
      </p:sp>
      <p:sp>
        <p:nvSpPr>
          <p:cNvPr id="31" name="Text 26"/>
          <p:cNvSpPr txBox="1"/>
          <p:nvPr/>
        </p:nvSpPr>
        <p:spPr>
          <a:xfrm>
            <a:off x="7680960" y="5358384"/>
            <a:ext cx="3749040" cy="292608"/>
          </a:xfrm>
          <a:prstGeom prst="rect">
            <a:avLst/>
          </a:prstGeom>
          <a:noFill/>
          <a:ln/>
        </p:spPr>
        <p:txBody>
          <a:bodyPr wrap="square" lIns="0" tIns="0" rIns="0" bIns="0" rtlCol="0" anchor="ctr"/>
          <a:lstStyle/>
          <a:p>
            <a:pPr marL="0" indent="0">
              <a:buNone/>
            </a:pPr>
            <a:r>
              <a:rPr lang="en-US" sz="1600" b="1" dirty="0">
                <a:solidFill>
                  <a:schemeClr val="bg1"/>
                </a:solidFill>
              </a:rPr>
              <a:t>SQLite</a:t>
            </a:r>
            <a:endParaRPr lang="en-US" sz="1600" dirty="0"/>
          </a:p>
        </p:txBody>
      </p:sp>
      <p:sp>
        <p:nvSpPr>
          <p:cNvPr id="32" name="Text 27"/>
          <p:cNvSpPr txBox="1"/>
          <p:nvPr/>
        </p:nvSpPr>
        <p:spPr>
          <a:xfrm>
            <a:off x="7680960" y="5650992"/>
            <a:ext cx="3749040" cy="365760"/>
          </a:xfrm>
          <a:prstGeom prst="rect">
            <a:avLst/>
          </a:prstGeom>
          <a:noFill/>
          <a:ln/>
        </p:spPr>
        <p:txBody>
          <a:bodyPr wrap="square" lIns="0" tIns="0" rIns="0" bIns="0" rtlCol="0" anchor="ctr"/>
          <a:lstStyle/>
          <a:p>
            <a:pPr marL="0" indent="0">
              <a:buNone/>
            </a:pPr>
            <a:r>
              <a:rPr lang="en-US" sz="1400" dirty="0">
                <a:solidFill>
                  <a:schemeClr val="bg2"/>
                </a:solidFill>
              </a:rPr>
              <a:t>Local database, no server needed</a:t>
            </a:r>
            <a:endParaRPr lang="en-US" sz="1400" dirty="0"/>
          </a:p>
        </p:txBody>
      </p:sp>
      <p:sp>
        <p:nvSpPr>
          <p:cNvPr id="33"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Milestone 3: Recommendations</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Strategic Recommendations and Risk Mitigation sub-tabs</a:t>
            </a:r>
            <a:endParaRPr lang="en-US" sz="1600" dirty="0"/>
          </a:p>
        </p:txBody>
      </p:sp>
      <p:sp>
        <p:nvSpPr>
          <p:cNvPr id="4" name="Milestone badge"/>
          <p:cNvSpPr/>
          <p:nvPr/>
        </p:nvSpPr>
        <p:spPr>
          <a:xfrm>
            <a:off x="9994392" y="521208"/>
            <a:ext cx="1645920" cy="365760"/>
          </a:xfrm>
          <a:prstGeom prst="roundRect">
            <a:avLst>
              <a:gd name="adj" fmla="val 50000"/>
            </a:avLst>
          </a:prstGeom>
          <a:solidFill>
            <a:schemeClr val="accent4"/>
          </a:solidFill>
          <a:ln/>
        </p:spPr>
      </p:sp>
      <p:sp>
        <p:nvSpPr>
          <p:cNvPr id="5" name="Text 3"/>
          <p:cNvSpPr txBox="1"/>
          <p:nvPr/>
        </p:nvSpPr>
        <p:spPr>
          <a:xfrm>
            <a:off x="9994392" y="521208"/>
            <a:ext cx="1645920" cy="365760"/>
          </a:xfrm>
          <a:prstGeom prst="rect">
            <a:avLst/>
          </a:prstGeom>
          <a:noFill/>
          <a:ln/>
        </p:spPr>
        <p:txBody>
          <a:bodyPr wrap="square" lIns="0" tIns="0" rIns="0" bIns="0" rtlCol="0" anchor="ctr"/>
          <a:lstStyle/>
          <a:p>
            <a:pPr marL="0" indent="0" algn="ctr">
              <a:buNone/>
            </a:pPr>
            <a:r>
              <a:rPr lang="en-US" sz="1100" b="1" kern="0" spc="100" dirty="0">
                <a:solidFill>
                  <a:schemeClr val="bg1"/>
                </a:solidFill>
              </a:rPr>
              <a:t>MILESTONE 3</a:t>
            </a:r>
            <a:endParaRPr lang="en-US" sz="1100" dirty="0"/>
          </a:p>
        </p:txBody>
      </p:sp>
      <p:sp>
        <p:nvSpPr>
          <p:cNvPr id="6" name="Strategic Recommendations screen window"/>
          <p:cNvSpPr/>
          <p:nvPr/>
        </p:nvSpPr>
        <p:spPr>
          <a:xfrm>
            <a:off x="548640" y="1691640"/>
            <a:ext cx="3840480" cy="2866249"/>
          </a:xfrm>
          <a:prstGeom prst="rect">
            <a:avLst/>
          </a:prstGeom>
          <a:solidFill>
            <a:schemeClr val="bg1"/>
          </a:solidFill>
          <a:ln/>
          <a:effectLst>
            <a:outerShdw blurRad="177800" dist="50800" dir="5400000" algn="bl" rotWithShape="0">
              <a:srgbClr val="050B24">
                <a:alpha val="30000"/>
              </a:srgbClr>
            </a:outerShdw>
          </a:effectLst>
        </p:spPr>
      </p:sp>
      <p:sp>
        <p:nvSpPr>
          <p:cNvPr id="7" name="Strategic Recommendations screen title bar"/>
          <p:cNvSpPr/>
          <p:nvPr/>
        </p:nvSpPr>
        <p:spPr>
          <a:xfrm>
            <a:off x="548640" y="1691640"/>
            <a:ext cx="3840480" cy="274320"/>
          </a:xfrm>
          <a:prstGeom prst="rect">
            <a:avLst/>
          </a:prstGeom>
          <a:solidFill>
            <a:srgbClr val="E8EEFA"/>
          </a:solidFill>
          <a:ln/>
        </p:spPr>
      </p:sp>
      <p:sp>
        <p:nvSpPr>
          <p:cNvPr id="8" name="Window dot 1"/>
          <p:cNvSpPr/>
          <p:nvPr/>
        </p:nvSpPr>
        <p:spPr>
          <a:xfrm>
            <a:off x="676656" y="1778508"/>
            <a:ext cx="100584" cy="100584"/>
          </a:xfrm>
          <a:prstGeom prst="ellipse">
            <a:avLst/>
          </a:prstGeom>
          <a:solidFill>
            <a:schemeClr val="accent2"/>
          </a:solidFill>
          <a:ln/>
        </p:spPr>
      </p:sp>
      <p:sp>
        <p:nvSpPr>
          <p:cNvPr id="9" name="Window dot 2"/>
          <p:cNvSpPr/>
          <p:nvPr/>
        </p:nvSpPr>
        <p:spPr>
          <a:xfrm>
            <a:off x="832104" y="1778508"/>
            <a:ext cx="100584" cy="100584"/>
          </a:xfrm>
          <a:prstGeom prst="ellipse">
            <a:avLst/>
          </a:prstGeom>
          <a:solidFill>
            <a:schemeClr val="accent3"/>
          </a:solidFill>
          <a:ln/>
        </p:spPr>
      </p:sp>
      <p:sp>
        <p:nvSpPr>
          <p:cNvPr id="10" name="Window dot 3"/>
          <p:cNvSpPr/>
          <p:nvPr/>
        </p:nvSpPr>
        <p:spPr>
          <a:xfrm>
            <a:off x="987552" y="1778508"/>
            <a:ext cx="100584" cy="100584"/>
          </a:xfrm>
          <a:prstGeom prst="ellipse">
            <a:avLst/>
          </a:prstGeom>
          <a:solidFill>
            <a:schemeClr val="accent4"/>
          </a:solidFill>
          <a:ln/>
        </p:spPr>
      </p:sp>
      <p:sp>
        <p:nvSpPr>
          <p:cNvPr id="11" name="Address pill"/>
          <p:cNvSpPr/>
          <p:nvPr/>
        </p:nvSpPr>
        <p:spPr>
          <a:xfrm>
            <a:off x="1325880" y="1728216"/>
            <a:ext cx="2468880" cy="201168"/>
          </a:xfrm>
          <a:prstGeom prst="roundRect">
            <a:avLst>
              <a:gd name="adj" fmla="val 50000"/>
            </a:avLst>
          </a:prstGeom>
          <a:solidFill>
            <a:schemeClr val="bg1"/>
          </a:solidFill>
          <a:ln/>
        </p:spPr>
      </p:sp>
      <p:sp>
        <p:nvSpPr>
          <p:cNvPr id="12" name="Text 10"/>
          <p:cNvSpPr txBox="1"/>
          <p:nvPr/>
        </p:nvSpPr>
        <p:spPr>
          <a:xfrm>
            <a:off x="1325880" y="1728216"/>
            <a:ext cx="2468880" cy="201168"/>
          </a:xfrm>
          <a:prstGeom prst="rect">
            <a:avLst/>
          </a:prstGeom>
          <a:noFill/>
          <a:ln/>
        </p:spPr>
        <p:txBody>
          <a:bodyPr wrap="square" lIns="0" tIns="0" rIns="0" bIns="0" rtlCol="0" anchor="ctr"/>
          <a:lstStyle/>
          <a:p>
            <a:pPr marL="0" indent="0" algn="ctr">
              <a:buNone/>
            </a:pPr>
            <a:r>
              <a:rPr lang="en-US" sz="1000" dirty="0">
                <a:solidFill>
                  <a:schemeClr val="accent5"/>
                </a:solidFill>
              </a:rPr>
              <a:t>prediction-ai-app.streamlit.app</a:t>
            </a:r>
            <a:endParaRPr lang="en-US" sz="1000" dirty="0"/>
          </a:p>
        </p:txBody>
      </p:sp>
      <p:pic>
        <p:nvPicPr>
          <p:cNvPr id="13" name="Image 0" descr="Strategic Recommendations screen"/>
          <p:cNvPicPr>
            <a:picLocks noChangeAspect="1"/>
          </p:cNvPicPr>
          <p:nvPr/>
        </p:nvPicPr>
        <p:blipFill>
          <a:blip r:embed="rId3"/>
          <a:stretch>
            <a:fillRect/>
          </a:stretch>
        </p:blipFill>
        <p:spPr>
          <a:xfrm>
            <a:off x="548640" y="1965960"/>
            <a:ext cx="3840480" cy="2591929"/>
          </a:xfrm>
          <a:prstGeom prst="rect">
            <a:avLst/>
          </a:prstGeom>
        </p:spPr>
      </p:pic>
      <p:sp>
        <p:nvSpPr>
          <p:cNvPr id="14" name="Risk Mitigation screen window"/>
          <p:cNvSpPr/>
          <p:nvPr/>
        </p:nvSpPr>
        <p:spPr>
          <a:xfrm>
            <a:off x="4663440" y="1920240"/>
            <a:ext cx="6976872" cy="2404663"/>
          </a:xfrm>
          <a:prstGeom prst="rect">
            <a:avLst/>
          </a:prstGeom>
          <a:solidFill>
            <a:schemeClr val="bg1"/>
          </a:solidFill>
          <a:ln/>
          <a:effectLst>
            <a:outerShdw blurRad="177800" dist="50800" dir="5400000" algn="bl" rotWithShape="0">
              <a:srgbClr val="050B24">
                <a:alpha val="30000"/>
              </a:srgbClr>
            </a:outerShdw>
          </a:effectLst>
        </p:spPr>
      </p:sp>
      <p:sp>
        <p:nvSpPr>
          <p:cNvPr id="15" name="Risk Mitigation screen title bar"/>
          <p:cNvSpPr/>
          <p:nvPr/>
        </p:nvSpPr>
        <p:spPr>
          <a:xfrm>
            <a:off x="4663440" y="1920240"/>
            <a:ext cx="6976872" cy="274320"/>
          </a:xfrm>
          <a:prstGeom prst="rect">
            <a:avLst/>
          </a:prstGeom>
          <a:solidFill>
            <a:srgbClr val="E8EEFA"/>
          </a:solidFill>
          <a:ln/>
        </p:spPr>
      </p:sp>
      <p:sp>
        <p:nvSpPr>
          <p:cNvPr id="16" name="Window dot 1"/>
          <p:cNvSpPr/>
          <p:nvPr/>
        </p:nvSpPr>
        <p:spPr>
          <a:xfrm>
            <a:off x="4791456" y="2007108"/>
            <a:ext cx="100584" cy="100584"/>
          </a:xfrm>
          <a:prstGeom prst="ellipse">
            <a:avLst/>
          </a:prstGeom>
          <a:solidFill>
            <a:schemeClr val="accent2"/>
          </a:solidFill>
          <a:ln/>
        </p:spPr>
      </p:sp>
      <p:sp>
        <p:nvSpPr>
          <p:cNvPr id="17" name="Window dot 2"/>
          <p:cNvSpPr/>
          <p:nvPr/>
        </p:nvSpPr>
        <p:spPr>
          <a:xfrm>
            <a:off x="4946904" y="2007108"/>
            <a:ext cx="100584" cy="100584"/>
          </a:xfrm>
          <a:prstGeom prst="ellipse">
            <a:avLst/>
          </a:prstGeom>
          <a:solidFill>
            <a:schemeClr val="accent3"/>
          </a:solidFill>
          <a:ln/>
        </p:spPr>
      </p:sp>
      <p:sp>
        <p:nvSpPr>
          <p:cNvPr id="18" name="Window dot 3"/>
          <p:cNvSpPr/>
          <p:nvPr/>
        </p:nvSpPr>
        <p:spPr>
          <a:xfrm>
            <a:off x="5102352" y="2007108"/>
            <a:ext cx="100584" cy="100584"/>
          </a:xfrm>
          <a:prstGeom prst="ellipse">
            <a:avLst/>
          </a:prstGeom>
          <a:solidFill>
            <a:schemeClr val="accent4"/>
          </a:solidFill>
          <a:ln/>
        </p:spPr>
      </p:sp>
      <p:sp>
        <p:nvSpPr>
          <p:cNvPr id="19" name="Address pill"/>
          <p:cNvSpPr/>
          <p:nvPr/>
        </p:nvSpPr>
        <p:spPr>
          <a:xfrm>
            <a:off x="5440680" y="1956816"/>
            <a:ext cx="2468880" cy="201168"/>
          </a:xfrm>
          <a:prstGeom prst="roundRect">
            <a:avLst>
              <a:gd name="adj" fmla="val 50000"/>
            </a:avLst>
          </a:prstGeom>
          <a:solidFill>
            <a:schemeClr val="bg1"/>
          </a:solidFill>
          <a:ln/>
        </p:spPr>
      </p:sp>
      <p:sp>
        <p:nvSpPr>
          <p:cNvPr id="20" name="Text 17"/>
          <p:cNvSpPr txBox="1"/>
          <p:nvPr/>
        </p:nvSpPr>
        <p:spPr>
          <a:xfrm>
            <a:off x="5440680" y="1956816"/>
            <a:ext cx="2468880" cy="201168"/>
          </a:xfrm>
          <a:prstGeom prst="rect">
            <a:avLst/>
          </a:prstGeom>
          <a:noFill/>
          <a:ln/>
        </p:spPr>
        <p:txBody>
          <a:bodyPr wrap="square" lIns="0" tIns="0" rIns="0" bIns="0" rtlCol="0" anchor="ctr"/>
          <a:lstStyle/>
          <a:p>
            <a:pPr marL="0" indent="0" algn="ctr">
              <a:buNone/>
            </a:pPr>
            <a:r>
              <a:rPr lang="en-US" sz="1000" dirty="0">
                <a:solidFill>
                  <a:schemeClr val="accent5"/>
                </a:solidFill>
              </a:rPr>
              <a:t>prediction-ai-app.streamlit.app</a:t>
            </a:r>
            <a:endParaRPr lang="en-US" sz="1000" dirty="0"/>
          </a:p>
        </p:txBody>
      </p:sp>
      <p:pic>
        <p:nvPicPr>
          <p:cNvPr id="21" name="Image 1" descr="Risk Mitigation screen"/>
          <p:cNvPicPr>
            <a:picLocks noChangeAspect="1"/>
          </p:cNvPicPr>
          <p:nvPr/>
        </p:nvPicPr>
        <p:blipFill>
          <a:blip r:embed="rId4"/>
          <a:stretch>
            <a:fillRect/>
          </a:stretch>
        </p:blipFill>
        <p:spPr>
          <a:xfrm>
            <a:off x="4663440" y="2194560"/>
            <a:ext cx="6976872" cy="2130343"/>
          </a:xfrm>
          <a:prstGeom prst="rect">
            <a:avLst/>
          </a:prstGeom>
        </p:spPr>
      </p:pic>
      <p:sp>
        <p:nvSpPr>
          <p:cNvPr id="22" name="Strategic Recommendations card"/>
          <p:cNvSpPr/>
          <p:nvPr/>
        </p:nvSpPr>
        <p:spPr>
          <a:xfrm>
            <a:off x="548640" y="4800600"/>
            <a:ext cx="3840480" cy="1417320"/>
          </a:xfrm>
          <a:prstGeom prst="roundRect">
            <a:avLst>
              <a:gd name="adj" fmla="val 7742"/>
            </a:avLst>
          </a:prstGeom>
          <a:solidFill>
            <a:schemeClr val="bg1"/>
          </a:solidFill>
          <a:ln/>
          <a:effectLst>
            <a:outerShdw blurRad="101600" dist="25400" dir="5400000" algn="bl" rotWithShape="0">
              <a:srgbClr val="0B1630">
                <a:alpha val="12000"/>
              </a:srgbClr>
            </a:outerShdw>
          </a:effectLst>
        </p:spPr>
      </p:sp>
      <p:sp>
        <p:nvSpPr>
          <p:cNvPr id="23" name="Text 19"/>
          <p:cNvSpPr txBox="1"/>
          <p:nvPr/>
        </p:nvSpPr>
        <p:spPr>
          <a:xfrm>
            <a:off x="731520" y="4910328"/>
            <a:ext cx="3474720" cy="320040"/>
          </a:xfrm>
          <a:prstGeom prst="rect">
            <a:avLst/>
          </a:prstGeom>
          <a:noFill/>
          <a:ln/>
        </p:spPr>
        <p:txBody>
          <a:bodyPr wrap="square" lIns="0" tIns="0" rIns="0" bIns="0" rtlCol="0" anchor="ctr"/>
          <a:lstStyle/>
          <a:p>
            <a:pPr marL="0" indent="0">
              <a:buNone/>
            </a:pPr>
            <a:r>
              <a:rPr lang="en-US" sz="1700" b="1" dirty="0">
                <a:solidFill>
                  <a:schemeClr val="accent4"/>
                </a:solidFill>
              </a:rPr>
              <a:t>Strategic Recommendations</a:t>
            </a:r>
            <a:endParaRPr lang="en-US" sz="1700" dirty="0"/>
          </a:p>
        </p:txBody>
      </p:sp>
      <p:sp>
        <p:nvSpPr>
          <p:cNvPr id="24" name="Text 20"/>
          <p:cNvSpPr txBox="1"/>
          <p:nvPr/>
        </p:nvSpPr>
        <p:spPr>
          <a:xfrm>
            <a:off x="731520" y="5276088"/>
            <a:ext cx="3474720" cy="868680"/>
          </a:xfrm>
          <a:prstGeom prst="rect">
            <a:avLst/>
          </a:prstGeom>
          <a:noFill/>
          <a:ln/>
        </p:spPr>
        <p:txBody>
          <a:bodyPr wrap="square" lIns="0" tIns="0" rIns="0" bIns="0" rtlCol="0" anchor="t"/>
          <a:lstStyle/>
          <a:p>
            <a:pPr marL="0" indent="0">
              <a:buNone/>
            </a:pPr>
            <a:r>
              <a:rPr lang="en-US" sz="1400" dirty="0">
                <a:solidFill>
                  <a:schemeClr val="tx1"/>
                </a:solidFill>
              </a:rPr>
              <a:t>Action cards ranked Critical, High or Medium, each with problem, why it matters, action and risk reduction.</a:t>
            </a:r>
            <a:endParaRPr lang="en-US" sz="1400" dirty="0"/>
          </a:p>
        </p:txBody>
      </p:sp>
      <p:sp>
        <p:nvSpPr>
          <p:cNvPr id="25" name="Risk Mitigation card"/>
          <p:cNvSpPr/>
          <p:nvPr/>
        </p:nvSpPr>
        <p:spPr>
          <a:xfrm>
            <a:off x="4663440" y="4800600"/>
            <a:ext cx="6976872" cy="1417320"/>
          </a:xfrm>
          <a:prstGeom prst="roundRect">
            <a:avLst>
              <a:gd name="adj" fmla="val 7742"/>
            </a:avLst>
          </a:prstGeom>
          <a:solidFill>
            <a:schemeClr val="bg1"/>
          </a:solidFill>
          <a:ln/>
          <a:effectLst>
            <a:outerShdw blurRad="101600" dist="25400" dir="5400000" algn="bl" rotWithShape="0">
              <a:srgbClr val="0B1630">
                <a:alpha val="12000"/>
              </a:srgbClr>
            </a:outerShdw>
          </a:effectLst>
        </p:spPr>
      </p:sp>
      <p:sp>
        <p:nvSpPr>
          <p:cNvPr id="26" name="Text 22"/>
          <p:cNvSpPr txBox="1"/>
          <p:nvPr/>
        </p:nvSpPr>
        <p:spPr>
          <a:xfrm>
            <a:off x="4846320" y="4910328"/>
            <a:ext cx="6611112" cy="320040"/>
          </a:xfrm>
          <a:prstGeom prst="rect">
            <a:avLst/>
          </a:prstGeom>
          <a:noFill/>
          <a:ln/>
        </p:spPr>
        <p:txBody>
          <a:bodyPr wrap="square" lIns="0" tIns="0" rIns="0" bIns="0" rtlCol="0" anchor="ctr"/>
          <a:lstStyle/>
          <a:p>
            <a:pPr marL="0" indent="0">
              <a:buNone/>
            </a:pPr>
            <a:r>
              <a:rPr lang="en-US" sz="1700" b="1" dirty="0">
                <a:solidFill>
                  <a:schemeClr val="accent4"/>
                </a:solidFill>
              </a:rPr>
              <a:t>Risk Mitigation</a:t>
            </a:r>
            <a:endParaRPr lang="en-US" sz="1700" dirty="0"/>
          </a:p>
        </p:txBody>
      </p:sp>
      <p:sp>
        <p:nvSpPr>
          <p:cNvPr id="27" name="Text 23"/>
          <p:cNvSpPr txBox="1"/>
          <p:nvPr/>
        </p:nvSpPr>
        <p:spPr>
          <a:xfrm>
            <a:off x="4846320" y="5276088"/>
            <a:ext cx="6611112" cy="868680"/>
          </a:xfrm>
          <a:prstGeom prst="rect">
            <a:avLst/>
          </a:prstGeom>
          <a:noFill/>
          <a:ln/>
        </p:spPr>
        <p:txBody>
          <a:bodyPr wrap="square" lIns="0" tIns="0" rIns="0" bIns="0" rtlCol="0" anchor="t"/>
          <a:lstStyle/>
          <a:p>
            <a:pPr marL="0" indent="0">
              <a:buNone/>
            </a:pPr>
            <a:r>
              <a:rPr lang="en-US" sz="1400" dirty="0">
                <a:solidFill>
                  <a:schemeClr val="tx1"/>
                </a:solidFill>
              </a:rPr>
              <a:t>Filter by All Risks, Financial, Market or Technical. Each risk card shows its impact level, a mitigation strategy, a preventive action and a contingency action.</a:t>
            </a:r>
            <a:endParaRPr lang="en-US" sz="1400" dirty="0"/>
          </a:p>
        </p:txBody>
      </p:sp>
      <p:sp>
        <p:nvSpPr>
          <p:cNvPr id="28"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Milestone 3: Improvements and Agent</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Improvements and LangGraph Agent sub-tabs</a:t>
            </a:r>
            <a:endParaRPr lang="en-US" sz="1600" dirty="0"/>
          </a:p>
        </p:txBody>
      </p:sp>
      <p:sp>
        <p:nvSpPr>
          <p:cNvPr id="4" name="Milestone badge"/>
          <p:cNvSpPr/>
          <p:nvPr/>
        </p:nvSpPr>
        <p:spPr>
          <a:xfrm>
            <a:off x="9994392" y="521208"/>
            <a:ext cx="1645920" cy="365760"/>
          </a:xfrm>
          <a:prstGeom prst="roundRect">
            <a:avLst>
              <a:gd name="adj" fmla="val 50000"/>
            </a:avLst>
          </a:prstGeom>
          <a:solidFill>
            <a:schemeClr val="accent4"/>
          </a:solidFill>
          <a:ln/>
        </p:spPr>
      </p:sp>
      <p:sp>
        <p:nvSpPr>
          <p:cNvPr id="5" name="Text 3"/>
          <p:cNvSpPr txBox="1"/>
          <p:nvPr/>
        </p:nvSpPr>
        <p:spPr>
          <a:xfrm>
            <a:off x="9994392" y="521208"/>
            <a:ext cx="1645920" cy="365760"/>
          </a:xfrm>
          <a:prstGeom prst="rect">
            <a:avLst/>
          </a:prstGeom>
          <a:noFill/>
          <a:ln/>
        </p:spPr>
        <p:txBody>
          <a:bodyPr wrap="square" lIns="0" tIns="0" rIns="0" bIns="0" rtlCol="0" anchor="ctr"/>
          <a:lstStyle/>
          <a:p>
            <a:pPr marL="0" indent="0" algn="ctr">
              <a:buNone/>
            </a:pPr>
            <a:r>
              <a:rPr lang="en-US" sz="1100" b="1" kern="0" spc="100" dirty="0">
                <a:solidFill>
                  <a:schemeClr val="bg1"/>
                </a:solidFill>
              </a:rPr>
              <a:t>MILESTONE 3</a:t>
            </a:r>
            <a:endParaRPr lang="en-US" sz="1100" dirty="0"/>
          </a:p>
        </p:txBody>
      </p:sp>
      <p:sp>
        <p:nvSpPr>
          <p:cNvPr id="6" name="Improvements screen window"/>
          <p:cNvSpPr/>
          <p:nvPr/>
        </p:nvSpPr>
        <p:spPr>
          <a:xfrm>
            <a:off x="548640" y="1691640"/>
            <a:ext cx="6309360" cy="3238959"/>
          </a:xfrm>
          <a:prstGeom prst="rect">
            <a:avLst/>
          </a:prstGeom>
          <a:solidFill>
            <a:schemeClr val="bg1"/>
          </a:solidFill>
          <a:ln/>
          <a:effectLst>
            <a:outerShdw blurRad="177800" dist="50800" dir="5400000" algn="bl" rotWithShape="0">
              <a:srgbClr val="050B24">
                <a:alpha val="30000"/>
              </a:srgbClr>
            </a:outerShdw>
          </a:effectLst>
        </p:spPr>
      </p:sp>
      <p:sp>
        <p:nvSpPr>
          <p:cNvPr id="7" name="Improvements screen title bar"/>
          <p:cNvSpPr/>
          <p:nvPr/>
        </p:nvSpPr>
        <p:spPr>
          <a:xfrm>
            <a:off x="548640" y="1691640"/>
            <a:ext cx="6309360" cy="274320"/>
          </a:xfrm>
          <a:prstGeom prst="rect">
            <a:avLst/>
          </a:prstGeom>
          <a:solidFill>
            <a:srgbClr val="E8EEFA"/>
          </a:solidFill>
          <a:ln/>
        </p:spPr>
      </p:sp>
      <p:sp>
        <p:nvSpPr>
          <p:cNvPr id="8" name="Window dot 1"/>
          <p:cNvSpPr/>
          <p:nvPr/>
        </p:nvSpPr>
        <p:spPr>
          <a:xfrm>
            <a:off x="676656" y="1778508"/>
            <a:ext cx="100584" cy="100584"/>
          </a:xfrm>
          <a:prstGeom prst="ellipse">
            <a:avLst/>
          </a:prstGeom>
          <a:solidFill>
            <a:schemeClr val="accent2"/>
          </a:solidFill>
          <a:ln/>
        </p:spPr>
      </p:sp>
      <p:sp>
        <p:nvSpPr>
          <p:cNvPr id="9" name="Window dot 2"/>
          <p:cNvSpPr/>
          <p:nvPr/>
        </p:nvSpPr>
        <p:spPr>
          <a:xfrm>
            <a:off x="832104" y="1778508"/>
            <a:ext cx="100584" cy="100584"/>
          </a:xfrm>
          <a:prstGeom prst="ellipse">
            <a:avLst/>
          </a:prstGeom>
          <a:solidFill>
            <a:schemeClr val="accent3"/>
          </a:solidFill>
          <a:ln/>
        </p:spPr>
      </p:sp>
      <p:sp>
        <p:nvSpPr>
          <p:cNvPr id="10" name="Window dot 3"/>
          <p:cNvSpPr/>
          <p:nvPr/>
        </p:nvSpPr>
        <p:spPr>
          <a:xfrm>
            <a:off x="987552" y="1778508"/>
            <a:ext cx="100584" cy="100584"/>
          </a:xfrm>
          <a:prstGeom prst="ellipse">
            <a:avLst/>
          </a:prstGeom>
          <a:solidFill>
            <a:schemeClr val="accent4"/>
          </a:solidFill>
          <a:ln/>
        </p:spPr>
      </p:sp>
      <p:sp>
        <p:nvSpPr>
          <p:cNvPr id="11" name="Address pill"/>
          <p:cNvSpPr/>
          <p:nvPr/>
        </p:nvSpPr>
        <p:spPr>
          <a:xfrm>
            <a:off x="1325880" y="1728216"/>
            <a:ext cx="2468880" cy="201168"/>
          </a:xfrm>
          <a:prstGeom prst="roundRect">
            <a:avLst>
              <a:gd name="adj" fmla="val 50000"/>
            </a:avLst>
          </a:prstGeom>
          <a:solidFill>
            <a:schemeClr val="bg1"/>
          </a:solidFill>
          <a:ln/>
        </p:spPr>
      </p:sp>
      <p:sp>
        <p:nvSpPr>
          <p:cNvPr id="12" name="Text 10"/>
          <p:cNvSpPr txBox="1"/>
          <p:nvPr/>
        </p:nvSpPr>
        <p:spPr>
          <a:xfrm>
            <a:off x="1325880" y="1728216"/>
            <a:ext cx="2468880" cy="201168"/>
          </a:xfrm>
          <a:prstGeom prst="rect">
            <a:avLst/>
          </a:prstGeom>
          <a:noFill/>
          <a:ln/>
        </p:spPr>
        <p:txBody>
          <a:bodyPr wrap="square" lIns="0" tIns="0" rIns="0" bIns="0" rtlCol="0" anchor="ctr"/>
          <a:lstStyle/>
          <a:p>
            <a:pPr marL="0" indent="0" algn="ctr">
              <a:buNone/>
            </a:pPr>
            <a:r>
              <a:rPr lang="en-US" sz="1000" dirty="0">
                <a:solidFill>
                  <a:schemeClr val="accent5"/>
                </a:solidFill>
              </a:rPr>
              <a:t>prediction-ai-app.streamlit.app</a:t>
            </a:r>
            <a:endParaRPr lang="en-US" sz="1000" dirty="0"/>
          </a:p>
        </p:txBody>
      </p:sp>
      <p:pic>
        <p:nvPicPr>
          <p:cNvPr id="13" name="Image 0" descr="Improvements screen"/>
          <p:cNvPicPr>
            <a:picLocks noChangeAspect="1"/>
          </p:cNvPicPr>
          <p:nvPr/>
        </p:nvPicPr>
        <p:blipFill>
          <a:blip r:embed="rId3"/>
          <a:stretch>
            <a:fillRect/>
          </a:stretch>
        </p:blipFill>
        <p:spPr>
          <a:xfrm>
            <a:off x="548640" y="1965960"/>
            <a:ext cx="6309360" cy="2964639"/>
          </a:xfrm>
          <a:prstGeom prst="rect">
            <a:avLst/>
          </a:prstGeom>
        </p:spPr>
      </p:pic>
      <p:sp>
        <p:nvSpPr>
          <p:cNvPr id="14" name="LangGraph Agent screen window"/>
          <p:cNvSpPr/>
          <p:nvPr/>
        </p:nvSpPr>
        <p:spPr>
          <a:xfrm>
            <a:off x="7068312" y="1764792"/>
            <a:ext cx="4572000" cy="3095001"/>
          </a:xfrm>
          <a:prstGeom prst="rect">
            <a:avLst/>
          </a:prstGeom>
          <a:solidFill>
            <a:schemeClr val="bg1"/>
          </a:solidFill>
          <a:ln/>
          <a:effectLst>
            <a:outerShdw blurRad="177800" dist="50800" dir="5400000" algn="bl" rotWithShape="0">
              <a:srgbClr val="050B24">
                <a:alpha val="30000"/>
              </a:srgbClr>
            </a:outerShdw>
          </a:effectLst>
        </p:spPr>
      </p:sp>
      <p:sp>
        <p:nvSpPr>
          <p:cNvPr id="15" name="LangGraph Agent screen title bar"/>
          <p:cNvSpPr/>
          <p:nvPr/>
        </p:nvSpPr>
        <p:spPr>
          <a:xfrm>
            <a:off x="7068312" y="1764792"/>
            <a:ext cx="4572000" cy="274320"/>
          </a:xfrm>
          <a:prstGeom prst="rect">
            <a:avLst/>
          </a:prstGeom>
          <a:solidFill>
            <a:srgbClr val="E8EEFA"/>
          </a:solidFill>
          <a:ln/>
        </p:spPr>
      </p:sp>
      <p:sp>
        <p:nvSpPr>
          <p:cNvPr id="16" name="Window dot 1"/>
          <p:cNvSpPr/>
          <p:nvPr/>
        </p:nvSpPr>
        <p:spPr>
          <a:xfrm>
            <a:off x="7196328" y="1851660"/>
            <a:ext cx="100584" cy="100584"/>
          </a:xfrm>
          <a:prstGeom prst="ellipse">
            <a:avLst/>
          </a:prstGeom>
          <a:solidFill>
            <a:schemeClr val="accent2"/>
          </a:solidFill>
          <a:ln/>
        </p:spPr>
      </p:sp>
      <p:sp>
        <p:nvSpPr>
          <p:cNvPr id="17" name="Window dot 2"/>
          <p:cNvSpPr/>
          <p:nvPr/>
        </p:nvSpPr>
        <p:spPr>
          <a:xfrm>
            <a:off x="7351776" y="1851660"/>
            <a:ext cx="100584" cy="100584"/>
          </a:xfrm>
          <a:prstGeom prst="ellipse">
            <a:avLst/>
          </a:prstGeom>
          <a:solidFill>
            <a:schemeClr val="accent3"/>
          </a:solidFill>
          <a:ln/>
        </p:spPr>
      </p:sp>
      <p:sp>
        <p:nvSpPr>
          <p:cNvPr id="18" name="Window dot 3"/>
          <p:cNvSpPr/>
          <p:nvPr/>
        </p:nvSpPr>
        <p:spPr>
          <a:xfrm>
            <a:off x="7507224" y="1851660"/>
            <a:ext cx="100584" cy="100584"/>
          </a:xfrm>
          <a:prstGeom prst="ellipse">
            <a:avLst/>
          </a:prstGeom>
          <a:solidFill>
            <a:schemeClr val="accent4"/>
          </a:solidFill>
          <a:ln/>
        </p:spPr>
      </p:sp>
      <p:sp>
        <p:nvSpPr>
          <p:cNvPr id="19" name="Address pill"/>
          <p:cNvSpPr/>
          <p:nvPr/>
        </p:nvSpPr>
        <p:spPr>
          <a:xfrm>
            <a:off x="7845552" y="1801368"/>
            <a:ext cx="2468880" cy="201168"/>
          </a:xfrm>
          <a:prstGeom prst="roundRect">
            <a:avLst>
              <a:gd name="adj" fmla="val 50000"/>
            </a:avLst>
          </a:prstGeom>
          <a:solidFill>
            <a:schemeClr val="bg1"/>
          </a:solidFill>
          <a:ln/>
        </p:spPr>
      </p:sp>
      <p:sp>
        <p:nvSpPr>
          <p:cNvPr id="20" name="Text 17"/>
          <p:cNvSpPr txBox="1"/>
          <p:nvPr/>
        </p:nvSpPr>
        <p:spPr>
          <a:xfrm>
            <a:off x="7845552" y="1801368"/>
            <a:ext cx="2468880" cy="201168"/>
          </a:xfrm>
          <a:prstGeom prst="rect">
            <a:avLst/>
          </a:prstGeom>
          <a:noFill/>
          <a:ln/>
        </p:spPr>
        <p:txBody>
          <a:bodyPr wrap="square" lIns="0" tIns="0" rIns="0" bIns="0" rtlCol="0" anchor="ctr"/>
          <a:lstStyle/>
          <a:p>
            <a:pPr marL="0" indent="0" algn="ctr">
              <a:buNone/>
            </a:pPr>
            <a:r>
              <a:rPr lang="en-US" sz="1000" dirty="0">
                <a:solidFill>
                  <a:schemeClr val="accent5"/>
                </a:solidFill>
              </a:rPr>
              <a:t>prediction-ai-app.streamlit.app</a:t>
            </a:r>
            <a:endParaRPr lang="en-US" sz="1000" dirty="0"/>
          </a:p>
        </p:txBody>
      </p:sp>
      <p:pic>
        <p:nvPicPr>
          <p:cNvPr id="21" name="Image 1" descr="LangGraph Agent screen"/>
          <p:cNvPicPr>
            <a:picLocks noChangeAspect="1"/>
          </p:cNvPicPr>
          <p:nvPr/>
        </p:nvPicPr>
        <p:blipFill>
          <a:blip r:embed="rId4"/>
          <a:stretch>
            <a:fillRect/>
          </a:stretch>
        </p:blipFill>
        <p:spPr>
          <a:xfrm>
            <a:off x="7068312" y="2039112"/>
            <a:ext cx="4572000" cy="2820681"/>
          </a:xfrm>
          <a:prstGeom prst="rect">
            <a:avLst/>
          </a:prstGeom>
        </p:spPr>
      </p:pic>
      <p:sp>
        <p:nvSpPr>
          <p:cNvPr id="22" name="Improvements card"/>
          <p:cNvSpPr/>
          <p:nvPr/>
        </p:nvSpPr>
        <p:spPr>
          <a:xfrm>
            <a:off x="548640" y="5120640"/>
            <a:ext cx="6309360" cy="1188720"/>
          </a:xfrm>
          <a:prstGeom prst="roundRect">
            <a:avLst>
              <a:gd name="adj" fmla="val 9231"/>
            </a:avLst>
          </a:prstGeom>
          <a:solidFill>
            <a:schemeClr val="bg1"/>
          </a:solidFill>
          <a:ln/>
          <a:effectLst>
            <a:outerShdw blurRad="101600" dist="25400" dir="5400000" algn="bl" rotWithShape="0">
              <a:srgbClr val="0B1630">
                <a:alpha val="12000"/>
              </a:srgbClr>
            </a:outerShdw>
          </a:effectLst>
        </p:spPr>
      </p:sp>
      <p:sp>
        <p:nvSpPr>
          <p:cNvPr id="23" name="Text 19"/>
          <p:cNvSpPr txBox="1"/>
          <p:nvPr/>
        </p:nvSpPr>
        <p:spPr>
          <a:xfrm>
            <a:off x="731520" y="5212080"/>
            <a:ext cx="5943600" cy="320040"/>
          </a:xfrm>
          <a:prstGeom prst="rect">
            <a:avLst/>
          </a:prstGeom>
          <a:noFill/>
          <a:ln/>
        </p:spPr>
        <p:txBody>
          <a:bodyPr wrap="square" lIns="0" tIns="0" rIns="0" bIns="0" rtlCol="0" anchor="ctr"/>
          <a:lstStyle/>
          <a:p>
            <a:pPr marL="0" indent="0">
              <a:buNone/>
            </a:pPr>
            <a:r>
              <a:rPr lang="en-US" sz="1700" b="1" dirty="0">
                <a:solidFill>
                  <a:schemeClr val="accent4"/>
                </a:solidFill>
              </a:rPr>
              <a:t>Improvements</a:t>
            </a:r>
            <a:endParaRPr lang="en-US" sz="1700" dirty="0"/>
          </a:p>
        </p:txBody>
      </p:sp>
      <p:sp>
        <p:nvSpPr>
          <p:cNvPr id="24" name="Text 20"/>
          <p:cNvSpPr txBox="1"/>
          <p:nvPr/>
        </p:nvSpPr>
        <p:spPr>
          <a:xfrm>
            <a:off x="731520" y="5559552"/>
            <a:ext cx="5943600" cy="713232"/>
          </a:xfrm>
          <a:prstGeom prst="rect">
            <a:avLst/>
          </a:prstGeom>
          <a:noFill/>
          <a:ln/>
        </p:spPr>
        <p:txBody>
          <a:bodyPr wrap="square" lIns="0" tIns="0" rIns="0" bIns="0" rtlCol="0" anchor="t"/>
          <a:lstStyle/>
          <a:p>
            <a:pPr marL="0" indent="0">
              <a:buNone/>
            </a:pPr>
            <a:r>
              <a:rPr lang="en-US" sz="1400" dirty="0">
                <a:solidFill>
                  <a:schemeClr val="tx1"/>
                </a:solidFill>
              </a:rPr>
              <a:t>AI-powered cards grouped by area (team, strategy, technical, product, market and financial), each with a priority and the problem it addresses.</a:t>
            </a:r>
            <a:endParaRPr lang="en-US" sz="1400" dirty="0"/>
          </a:p>
        </p:txBody>
      </p:sp>
      <p:sp>
        <p:nvSpPr>
          <p:cNvPr id="25" name="LangGraph Agent card"/>
          <p:cNvSpPr/>
          <p:nvPr/>
        </p:nvSpPr>
        <p:spPr>
          <a:xfrm>
            <a:off x="7068312" y="5120640"/>
            <a:ext cx="4572000" cy="1188720"/>
          </a:xfrm>
          <a:prstGeom prst="roundRect">
            <a:avLst>
              <a:gd name="adj" fmla="val 9231"/>
            </a:avLst>
          </a:prstGeom>
          <a:solidFill>
            <a:schemeClr val="bg1"/>
          </a:solidFill>
          <a:ln/>
          <a:effectLst>
            <a:outerShdw blurRad="101600" dist="25400" dir="5400000" algn="bl" rotWithShape="0">
              <a:srgbClr val="0B1630">
                <a:alpha val="12000"/>
              </a:srgbClr>
            </a:outerShdw>
          </a:effectLst>
        </p:spPr>
      </p:sp>
      <p:sp>
        <p:nvSpPr>
          <p:cNvPr id="26" name="Text 22"/>
          <p:cNvSpPr txBox="1"/>
          <p:nvPr/>
        </p:nvSpPr>
        <p:spPr>
          <a:xfrm>
            <a:off x="7251192" y="5212080"/>
            <a:ext cx="4206240" cy="320040"/>
          </a:xfrm>
          <a:prstGeom prst="rect">
            <a:avLst/>
          </a:prstGeom>
          <a:noFill/>
          <a:ln/>
        </p:spPr>
        <p:txBody>
          <a:bodyPr wrap="square" lIns="0" tIns="0" rIns="0" bIns="0" rtlCol="0" anchor="ctr"/>
          <a:lstStyle/>
          <a:p>
            <a:pPr marL="0" indent="0">
              <a:buNone/>
            </a:pPr>
            <a:r>
              <a:rPr lang="en-US" sz="1700" b="1" dirty="0">
                <a:solidFill>
                  <a:schemeClr val="accent4"/>
                </a:solidFill>
              </a:rPr>
              <a:t>LangGraph Agent</a:t>
            </a:r>
            <a:endParaRPr lang="en-US" sz="1700" dirty="0"/>
          </a:p>
        </p:txBody>
      </p:sp>
      <p:sp>
        <p:nvSpPr>
          <p:cNvPr id="27" name="Text 23"/>
          <p:cNvSpPr txBox="1"/>
          <p:nvPr/>
        </p:nvSpPr>
        <p:spPr>
          <a:xfrm>
            <a:off x="7251192" y="5559552"/>
            <a:ext cx="4206240" cy="713232"/>
          </a:xfrm>
          <a:prstGeom prst="rect">
            <a:avLst/>
          </a:prstGeom>
          <a:noFill/>
          <a:ln/>
        </p:spPr>
        <p:txBody>
          <a:bodyPr wrap="square" lIns="0" tIns="0" rIns="0" bIns="0" rtlCol="0" anchor="t"/>
          <a:lstStyle/>
          <a:p>
            <a:pPr marL="0" indent="0">
              <a:buNone/>
            </a:pPr>
            <a:r>
              <a:rPr lang="en-US" sz="1400" dirty="0">
                <a:solidFill>
                  <a:schemeClr val="tx1"/>
                </a:solidFill>
              </a:rPr>
              <a:t>One button runs the six connected nodes, then shows the final strategic response.</a:t>
            </a:r>
            <a:endParaRPr lang="en-US" sz="1400" dirty="0"/>
          </a:p>
        </p:txBody>
      </p:sp>
      <p:sp>
        <p:nvSpPr>
          <p:cNvPr id="28"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Milestone 4: Tasks and Targets</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Dashboard &amp; Deployment</a:t>
            </a:r>
            <a:endParaRPr lang="en-US" sz="1600" dirty="0"/>
          </a:p>
        </p:txBody>
      </p:sp>
      <p:sp>
        <p:nvSpPr>
          <p:cNvPr id="4" name="Milestone badge"/>
          <p:cNvSpPr/>
          <p:nvPr/>
        </p:nvSpPr>
        <p:spPr>
          <a:xfrm>
            <a:off x="9994392" y="521208"/>
            <a:ext cx="1645920" cy="365760"/>
          </a:xfrm>
          <a:prstGeom prst="roundRect">
            <a:avLst>
              <a:gd name="adj" fmla="val 50000"/>
            </a:avLst>
          </a:prstGeom>
          <a:solidFill>
            <a:schemeClr val="accent3"/>
          </a:solidFill>
          <a:ln/>
        </p:spPr>
      </p:sp>
      <p:sp>
        <p:nvSpPr>
          <p:cNvPr id="5" name="Text 3"/>
          <p:cNvSpPr txBox="1"/>
          <p:nvPr/>
        </p:nvSpPr>
        <p:spPr>
          <a:xfrm>
            <a:off x="9994392" y="521208"/>
            <a:ext cx="1645920" cy="365760"/>
          </a:xfrm>
          <a:prstGeom prst="rect">
            <a:avLst/>
          </a:prstGeom>
          <a:noFill/>
          <a:ln/>
        </p:spPr>
        <p:txBody>
          <a:bodyPr wrap="square" lIns="0" tIns="0" rIns="0" bIns="0" rtlCol="0" anchor="ctr"/>
          <a:lstStyle/>
          <a:p>
            <a:pPr marL="0" indent="0" algn="ctr">
              <a:buNone/>
            </a:pPr>
            <a:r>
              <a:rPr lang="en-US" sz="1100" b="1" kern="0" spc="100" dirty="0">
                <a:solidFill>
                  <a:schemeClr val="tx1"/>
                </a:solidFill>
              </a:rPr>
              <a:t>MILESTONE 4</a:t>
            </a:r>
            <a:endParaRPr lang="en-US" sz="1100" dirty="0"/>
          </a:p>
        </p:txBody>
      </p:sp>
      <p:sp>
        <p:nvSpPr>
          <p:cNvPr id="6" name="Task card 1"/>
          <p:cNvSpPr/>
          <p:nvPr/>
        </p:nvSpPr>
        <p:spPr>
          <a:xfrm>
            <a:off x="548640" y="1691640"/>
            <a:ext cx="6583680" cy="1325880"/>
          </a:xfrm>
          <a:prstGeom prst="roundRect">
            <a:avLst>
              <a:gd name="adj" fmla="val 8276"/>
            </a:avLst>
          </a:prstGeom>
          <a:solidFill>
            <a:schemeClr val="bg1"/>
          </a:solidFill>
          <a:ln/>
          <a:effectLst>
            <a:outerShdw blurRad="101600" dist="25400" dir="5400000" algn="bl" rotWithShape="0">
              <a:srgbClr val="0B1630">
                <a:alpha val="12000"/>
              </a:srgbClr>
            </a:outerShdw>
          </a:effectLst>
        </p:spPr>
      </p:sp>
      <p:sp>
        <p:nvSpPr>
          <p:cNvPr id="7" name="Task circle 1"/>
          <p:cNvSpPr/>
          <p:nvPr/>
        </p:nvSpPr>
        <p:spPr>
          <a:xfrm>
            <a:off x="777240" y="2057400"/>
            <a:ext cx="566928" cy="566928"/>
          </a:xfrm>
          <a:prstGeom prst="ellipse">
            <a:avLst/>
          </a:prstGeom>
          <a:solidFill>
            <a:schemeClr val="accent3"/>
          </a:solidFill>
          <a:ln/>
        </p:spPr>
      </p:sp>
      <p:pic>
        <p:nvPicPr>
          <p:cNvPr id="8" name="Image 0" descr="Done"/>
          <p:cNvPicPr>
            <a:picLocks noChangeAspect="1"/>
          </p:cNvPicPr>
          <p:nvPr/>
        </p:nvPicPr>
        <p:blipFill>
          <a:blip r:embed="rId3"/>
          <a:stretch>
            <a:fillRect/>
          </a:stretch>
        </p:blipFill>
        <p:spPr>
          <a:xfrm>
            <a:off x="941832" y="2221992"/>
            <a:ext cx="237744" cy="237744"/>
          </a:xfrm>
          <a:prstGeom prst="rect">
            <a:avLst/>
          </a:prstGeom>
        </p:spPr>
      </p:pic>
      <p:sp>
        <p:nvSpPr>
          <p:cNvPr id="9" name="Text 6"/>
          <p:cNvSpPr txBox="1"/>
          <p:nvPr/>
        </p:nvSpPr>
        <p:spPr>
          <a:xfrm>
            <a:off x="1600200" y="1847088"/>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Risk analytics dashboard</a:t>
            </a:r>
            <a:endParaRPr lang="en-US" sz="1800" dirty="0"/>
          </a:p>
        </p:txBody>
      </p:sp>
      <p:sp>
        <p:nvSpPr>
          <p:cNvPr id="10" name="Text 7"/>
          <p:cNvSpPr txBox="1"/>
          <p:nvPr/>
        </p:nvSpPr>
        <p:spPr>
          <a:xfrm>
            <a:off x="1600200" y="2240280"/>
            <a:ext cx="5303520" cy="685800"/>
          </a:xfrm>
          <a:prstGeom prst="rect">
            <a:avLst/>
          </a:prstGeom>
          <a:noFill/>
          <a:ln/>
        </p:spPr>
        <p:txBody>
          <a:bodyPr wrap="square" lIns="0" tIns="0" rIns="0" bIns="0" rtlCol="0" anchor="t"/>
          <a:lstStyle/>
          <a:p>
            <a:pPr marL="0" indent="0">
              <a:buNone/>
            </a:pPr>
            <a:r>
              <a:rPr lang="en-US" sz="1400" dirty="0">
                <a:solidFill>
                  <a:schemeClr val="tx1"/>
                </a:solidFill>
              </a:rPr>
              <a:t>Overall, success, market and tech risk tiles with change indicators and a 6-month trend.</a:t>
            </a:r>
            <a:endParaRPr lang="en-US" sz="1400" dirty="0"/>
          </a:p>
        </p:txBody>
      </p:sp>
      <p:sp>
        <p:nvSpPr>
          <p:cNvPr id="11" name="Task card 2"/>
          <p:cNvSpPr/>
          <p:nvPr/>
        </p:nvSpPr>
        <p:spPr>
          <a:xfrm>
            <a:off x="548640" y="3172968"/>
            <a:ext cx="6583680" cy="1325880"/>
          </a:xfrm>
          <a:prstGeom prst="roundRect">
            <a:avLst>
              <a:gd name="adj" fmla="val 8276"/>
            </a:avLst>
          </a:prstGeom>
          <a:solidFill>
            <a:schemeClr val="bg1"/>
          </a:solidFill>
          <a:ln/>
          <a:effectLst>
            <a:outerShdw blurRad="101600" dist="25400" dir="5400000" algn="bl" rotWithShape="0">
              <a:srgbClr val="0B1630">
                <a:alpha val="12000"/>
              </a:srgbClr>
            </a:outerShdw>
          </a:effectLst>
        </p:spPr>
      </p:sp>
      <p:sp>
        <p:nvSpPr>
          <p:cNvPr id="12" name="Task circle 2"/>
          <p:cNvSpPr/>
          <p:nvPr/>
        </p:nvSpPr>
        <p:spPr>
          <a:xfrm>
            <a:off x="777240" y="3538728"/>
            <a:ext cx="566928" cy="566928"/>
          </a:xfrm>
          <a:prstGeom prst="ellipse">
            <a:avLst/>
          </a:prstGeom>
          <a:solidFill>
            <a:schemeClr val="accent3"/>
          </a:solidFill>
          <a:ln/>
        </p:spPr>
      </p:sp>
      <p:pic>
        <p:nvPicPr>
          <p:cNvPr id="13" name="Image 1" descr="Done"/>
          <p:cNvPicPr>
            <a:picLocks noChangeAspect="1"/>
          </p:cNvPicPr>
          <p:nvPr/>
        </p:nvPicPr>
        <p:blipFill>
          <a:blip r:embed="rId3"/>
          <a:stretch>
            <a:fillRect/>
          </a:stretch>
        </p:blipFill>
        <p:spPr>
          <a:xfrm>
            <a:off x="941832" y="3703320"/>
            <a:ext cx="237744" cy="237744"/>
          </a:xfrm>
          <a:prstGeom prst="rect">
            <a:avLst/>
          </a:prstGeom>
        </p:spPr>
      </p:pic>
      <p:sp>
        <p:nvSpPr>
          <p:cNvPr id="14" name="Text 10"/>
          <p:cNvSpPr txBox="1"/>
          <p:nvPr/>
        </p:nvSpPr>
        <p:spPr>
          <a:xfrm>
            <a:off x="1600200" y="3328416"/>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Assessment reports</a:t>
            </a:r>
            <a:endParaRPr lang="en-US" sz="1800" dirty="0"/>
          </a:p>
        </p:txBody>
      </p:sp>
      <p:sp>
        <p:nvSpPr>
          <p:cNvPr id="15" name="Text 11"/>
          <p:cNvSpPr txBox="1"/>
          <p:nvPr/>
        </p:nvSpPr>
        <p:spPr>
          <a:xfrm>
            <a:off x="1600200" y="3721608"/>
            <a:ext cx="5303520" cy="685800"/>
          </a:xfrm>
          <a:prstGeom prst="rect">
            <a:avLst/>
          </a:prstGeom>
          <a:noFill/>
          <a:ln/>
        </p:spPr>
        <p:txBody>
          <a:bodyPr wrap="square" lIns="0" tIns="0" rIns="0" bIns="0" rtlCol="0" anchor="t"/>
          <a:lstStyle/>
          <a:p>
            <a:pPr marL="0" indent="0">
              <a:buNone/>
            </a:pPr>
            <a:r>
              <a:rPr lang="en-US" sz="1400" dirty="0">
                <a:solidFill>
                  <a:schemeClr val="tx1"/>
                </a:solidFill>
              </a:rPr>
              <a:t>Key findings, risk assessment and recommendations, with Export and Share, plus strategic insights.</a:t>
            </a:r>
            <a:endParaRPr lang="en-US" sz="1400" dirty="0"/>
          </a:p>
        </p:txBody>
      </p:sp>
      <p:sp>
        <p:nvSpPr>
          <p:cNvPr id="16" name="Task card 3"/>
          <p:cNvSpPr/>
          <p:nvPr/>
        </p:nvSpPr>
        <p:spPr>
          <a:xfrm>
            <a:off x="548640" y="4654296"/>
            <a:ext cx="6583680" cy="1325880"/>
          </a:xfrm>
          <a:prstGeom prst="roundRect">
            <a:avLst>
              <a:gd name="adj" fmla="val 8276"/>
            </a:avLst>
          </a:prstGeom>
          <a:solidFill>
            <a:schemeClr val="bg1"/>
          </a:solidFill>
          <a:ln/>
          <a:effectLst>
            <a:outerShdw blurRad="101600" dist="25400" dir="5400000" algn="bl" rotWithShape="0">
              <a:srgbClr val="0B1630">
                <a:alpha val="12000"/>
              </a:srgbClr>
            </a:outerShdw>
          </a:effectLst>
        </p:spPr>
      </p:sp>
      <p:sp>
        <p:nvSpPr>
          <p:cNvPr id="17" name="Task circle 3"/>
          <p:cNvSpPr/>
          <p:nvPr/>
        </p:nvSpPr>
        <p:spPr>
          <a:xfrm>
            <a:off x="777240" y="5020056"/>
            <a:ext cx="566928" cy="566928"/>
          </a:xfrm>
          <a:prstGeom prst="ellipse">
            <a:avLst/>
          </a:prstGeom>
          <a:solidFill>
            <a:schemeClr val="accent3"/>
          </a:solidFill>
          <a:ln/>
        </p:spPr>
      </p:sp>
      <p:pic>
        <p:nvPicPr>
          <p:cNvPr id="18" name="Image 2" descr="Done"/>
          <p:cNvPicPr>
            <a:picLocks noChangeAspect="1"/>
          </p:cNvPicPr>
          <p:nvPr/>
        </p:nvPicPr>
        <p:blipFill>
          <a:blip r:embed="rId3"/>
          <a:stretch>
            <a:fillRect/>
          </a:stretch>
        </p:blipFill>
        <p:spPr>
          <a:xfrm>
            <a:off x="941832" y="5184648"/>
            <a:ext cx="237744" cy="237744"/>
          </a:xfrm>
          <a:prstGeom prst="rect">
            <a:avLst/>
          </a:prstGeom>
        </p:spPr>
      </p:pic>
      <p:sp>
        <p:nvSpPr>
          <p:cNvPr id="19" name="Text 14"/>
          <p:cNvSpPr txBox="1"/>
          <p:nvPr/>
        </p:nvSpPr>
        <p:spPr>
          <a:xfrm>
            <a:off x="1600200" y="4809744"/>
            <a:ext cx="5303520" cy="365760"/>
          </a:xfrm>
          <a:prstGeom prst="rect">
            <a:avLst/>
          </a:prstGeom>
          <a:noFill/>
          <a:ln/>
        </p:spPr>
        <p:txBody>
          <a:bodyPr wrap="square" lIns="0" tIns="0" rIns="0" bIns="0" rtlCol="0" anchor="ctr"/>
          <a:lstStyle/>
          <a:p>
            <a:pPr marL="0" indent="0">
              <a:buNone/>
            </a:pPr>
            <a:r>
              <a:rPr lang="en-US" sz="1800" b="1" dirty="0">
                <a:solidFill>
                  <a:schemeClr val="tx2"/>
                </a:solidFill>
              </a:rPr>
              <a:t>Testing, optimization, deployment</a:t>
            </a:r>
            <a:endParaRPr lang="en-US" sz="1800" dirty="0"/>
          </a:p>
        </p:txBody>
      </p:sp>
      <p:sp>
        <p:nvSpPr>
          <p:cNvPr id="20" name="Text 15"/>
          <p:cNvSpPr txBox="1"/>
          <p:nvPr/>
        </p:nvSpPr>
        <p:spPr>
          <a:xfrm>
            <a:off x="1600200" y="5202936"/>
            <a:ext cx="5303520" cy="685800"/>
          </a:xfrm>
          <a:prstGeom prst="rect">
            <a:avLst/>
          </a:prstGeom>
          <a:noFill/>
          <a:ln/>
        </p:spPr>
        <p:txBody>
          <a:bodyPr wrap="square" lIns="0" tIns="0" rIns="0" bIns="0" rtlCol="0" anchor="t"/>
          <a:lstStyle/>
          <a:p>
            <a:pPr marL="0" indent="0">
              <a:buNone/>
            </a:pPr>
            <a:r>
              <a:rPr lang="en-US" sz="1400" dirty="0">
                <a:solidFill>
                  <a:schemeClr val="tx1"/>
                </a:solidFill>
              </a:rPr>
              <a:t>The full flow tested and optimized, then the final app deployed online.</a:t>
            </a:r>
            <a:endParaRPr lang="en-US" sz="1400" dirty="0"/>
          </a:p>
        </p:txBody>
      </p:sp>
      <p:sp>
        <p:nvSpPr>
          <p:cNvPr id="21" name="Side panel"/>
          <p:cNvSpPr/>
          <p:nvPr/>
        </p:nvSpPr>
        <p:spPr>
          <a:xfrm>
            <a:off x="7406640" y="1691640"/>
            <a:ext cx="4233672" cy="4434840"/>
          </a:xfrm>
          <a:prstGeom prst="roundRect">
            <a:avLst>
              <a:gd name="adj" fmla="val 2592"/>
            </a:avLst>
          </a:prstGeom>
          <a:solidFill>
            <a:schemeClr val="tx2"/>
          </a:solidFill>
          <a:ln/>
        </p:spPr>
      </p:sp>
      <p:sp>
        <p:nvSpPr>
          <p:cNvPr id="22" name="Text 17"/>
          <p:cNvSpPr txBox="1"/>
          <p:nvPr/>
        </p:nvSpPr>
        <p:spPr>
          <a:xfrm>
            <a:off x="7680960" y="1874520"/>
            <a:ext cx="365760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EVALUATION TARGETS</a:t>
            </a:r>
            <a:endParaRPr lang="en-US" sz="1200" dirty="0"/>
          </a:p>
        </p:txBody>
      </p:sp>
      <p:pic>
        <p:nvPicPr>
          <p:cNvPr id="23" name="Image 3" descr="Check"/>
          <p:cNvPicPr>
            <a:picLocks noChangeAspect="1"/>
          </p:cNvPicPr>
          <p:nvPr/>
        </p:nvPicPr>
        <p:blipFill>
          <a:blip r:embed="rId4"/>
          <a:stretch>
            <a:fillRect/>
          </a:stretch>
        </p:blipFill>
        <p:spPr>
          <a:xfrm>
            <a:off x="7680960" y="2423160"/>
            <a:ext cx="274320" cy="274320"/>
          </a:xfrm>
          <a:prstGeom prst="rect">
            <a:avLst/>
          </a:prstGeom>
        </p:spPr>
      </p:pic>
      <p:sp>
        <p:nvSpPr>
          <p:cNvPr id="24" name="Text 18"/>
          <p:cNvSpPr txBox="1"/>
          <p:nvPr/>
        </p:nvSpPr>
        <p:spPr>
          <a:xfrm>
            <a:off x="8138160" y="2331720"/>
            <a:ext cx="3291840" cy="731520"/>
          </a:xfrm>
          <a:prstGeom prst="rect">
            <a:avLst/>
          </a:prstGeom>
          <a:noFill/>
          <a:ln/>
        </p:spPr>
        <p:txBody>
          <a:bodyPr wrap="square" lIns="0" tIns="0" rIns="0" bIns="0" rtlCol="0" anchor="t"/>
          <a:lstStyle/>
          <a:p>
            <a:pPr marL="0" indent="0">
              <a:buNone/>
            </a:pPr>
            <a:r>
              <a:rPr lang="en-US" sz="1700" b="1" dirty="0">
                <a:solidFill>
                  <a:schemeClr val="bg1"/>
                </a:solidFill>
              </a:rPr>
              <a:t>Dashboard fully operational</a:t>
            </a:r>
            <a:endParaRPr lang="en-US" sz="1700" dirty="0"/>
          </a:p>
        </p:txBody>
      </p:sp>
      <p:pic>
        <p:nvPicPr>
          <p:cNvPr id="25" name="Image 4" descr="Check"/>
          <p:cNvPicPr>
            <a:picLocks noChangeAspect="1"/>
          </p:cNvPicPr>
          <p:nvPr/>
        </p:nvPicPr>
        <p:blipFill>
          <a:blip r:embed="rId4"/>
          <a:stretch>
            <a:fillRect/>
          </a:stretch>
        </p:blipFill>
        <p:spPr>
          <a:xfrm>
            <a:off x="7680960" y="3355848"/>
            <a:ext cx="274320" cy="274320"/>
          </a:xfrm>
          <a:prstGeom prst="rect">
            <a:avLst/>
          </a:prstGeom>
        </p:spPr>
      </p:pic>
      <p:sp>
        <p:nvSpPr>
          <p:cNvPr id="26" name="Text 19"/>
          <p:cNvSpPr txBox="1"/>
          <p:nvPr/>
        </p:nvSpPr>
        <p:spPr>
          <a:xfrm>
            <a:off x="8138160" y="3264408"/>
            <a:ext cx="3291840" cy="731520"/>
          </a:xfrm>
          <a:prstGeom prst="rect">
            <a:avLst/>
          </a:prstGeom>
          <a:noFill/>
          <a:ln/>
        </p:spPr>
        <p:txBody>
          <a:bodyPr wrap="square" lIns="0" tIns="0" rIns="0" bIns="0" rtlCol="0" anchor="t"/>
          <a:lstStyle/>
          <a:p>
            <a:pPr marL="0" indent="0">
              <a:buNone/>
            </a:pPr>
            <a:r>
              <a:rPr lang="en-US" sz="1700" b="1" dirty="0">
                <a:solidFill>
                  <a:schemeClr val="bg1"/>
                </a:solidFill>
              </a:rPr>
              <a:t>End-to-end risk analysis workflow functional</a:t>
            </a:r>
            <a:endParaRPr lang="en-US" sz="1700" dirty="0"/>
          </a:p>
        </p:txBody>
      </p:sp>
      <p:pic>
        <p:nvPicPr>
          <p:cNvPr id="27" name="Image 5" descr="Check"/>
          <p:cNvPicPr>
            <a:picLocks noChangeAspect="1"/>
          </p:cNvPicPr>
          <p:nvPr/>
        </p:nvPicPr>
        <p:blipFill>
          <a:blip r:embed="rId4"/>
          <a:stretch>
            <a:fillRect/>
          </a:stretch>
        </p:blipFill>
        <p:spPr>
          <a:xfrm>
            <a:off x="7680960" y="4288536"/>
            <a:ext cx="274320" cy="274320"/>
          </a:xfrm>
          <a:prstGeom prst="rect">
            <a:avLst/>
          </a:prstGeom>
        </p:spPr>
      </p:pic>
      <p:sp>
        <p:nvSpPr>
          <p:cNvPr id="28" name="Text 20"/>
          <p:cNvSpPr txBox="1"/>
          <p:nvPr/>
        </p:nvSpPr>
        <p:spPr>
          <a:xfrm>
            <a:off x="8138160" y="4197096"/>
            <a:ext cx="3291840" cy="731520"/>
          </a:xfrm>
          <a:prstGeom prst="rect">
            <a:avLst/>
          </a:prstGeom>
          <a:noFill/>
          <a:ln/>
        </p:spPr>
        <p:txBody>
          <a:bodyPr wrap="square" lIns="0" tIns="0" rIns="0" bIns="0" rtlCol="0" anchor="t"/>
          <a:lstStyle/>
          <a:p>
            <a:pPr marL="0" indent="0">
              <a:buNone/>
            </a:pPr>
            <a:r>
              <a:rPr lang="en-US" sz="1700" b="1" dirty="0">
                <a:solidFill>
                  <a:schemeClr val="bg1"/>
                </a:solidFill>
              </a:rPr>
              <a:t>Assessment reports generated within 5 seconds</a:t>
            </a:r>
            <a:endParaRPr lang="en-US" sz="1700" dirty="0"/>
          </a:p>
        </p:txBody>
      </p:sp>
      <p:pic>
        <p:nvPicPr>
          <p:cNvPr id="29" name="Image 6" descr="Check"/>
          <p:cNvPicPr>
            <a:picLocks noChangeAspect="1"/>
          </p:cNvPicPr>
          <p:nvPr/>
        </p:nvPicPr>
        <p:blipFill>
          <a:blip r:embed="rId4"/>
          <a:stretch>
            <a:fillRect/>
          </a:stretch>
        </p:blipFill>
        <p:spPr>
          <a:xfrm>
            <a:off x="7680960" y="5221224"/>
            <a:ext cx="274320" cy="274320"/>
          </a:xfrm>
          <a:prstGeom prst="rect">
            <a:avLst/>
          </a:prstGeom>
        </p:spPr>
      </p:pic>
      <p:sp>
        <p:nvSpPr>
          <p:cNvPr id="30" name="Text 21"/>
          <p:cNvSpPr txBox="1"/>
          <p:nvPr/>
        </p:nvSpPr>
        <p:spPr>
          <a:xfrm>
            <a:off x="8138160" y="5129784"/>
            <a:ext cx="3291840" cy="731520"/>
          </a:xfrm>
          <a:prstGeom prst="rect">
            <a:avLst/>
          </a:prstGeom>
          <a:noFill/>
          <a:ln/>
        </p:spPr>
        <p:txBody>
          <a:bodyPr wrap="square" lIns="0" tIns="0" rIns="0" bIns="0" rtlCol="0" anchor="t"/>
          <a:lstStyle/>
          <a:p>
            <a:pPr marL="0" indent="0">
              <a:buNone/>
            </a:pPr>
            <a:r>
              <a:rPr lang="en-US" sz="1700" b="1" dirty="0">
                <a:solidFill>
                  <a:schemeClr val="bg1"/>
                </a:solidFill>
              </a:rPr>
              <a:t>User satisfaction of 85% or higher</a:t>
            </a:r>
            <a:endParaRPr lang="en-US" sz="1700" dirty="0"/>
          </a:p>
        </p:txBody>
      </p:sp>
      <p:sp>
        <p:nvSpPr>
          <p:cNvPr id="31"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Milestone 4: In Action</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Dashboard tab: analytics, assessment report and strategic insights</a:t>
            </a:r>
            <a:endParaRPr lang="en-US" sz="1600" dirty="0"/>
          </a:p>
        </p:txBody>
      </p:sp>
      <p:sp>
        <p:nvSpPr>
          <p:cNvPr id="4" name="Milestone badge"/>
          <p:cNvSpPr/>
          <p:nvPr/>
        </p:nvSpPr>
        <p:spPr>
          <a:xfrm>
            <a:off x="9994392" y="521208"/>
            <a:ext cx="1645920" cy="365760"/>
          </a:xfrm>
          <a:prstGeom prst="roundRect">
            <a:avLst>
              <a:gd name="adj" fmla="val 50000"/>
            </a:avLst>
          </a:prstGeom>
          <a:solidFill>
            <a:schemeClr val="accent3"/>
          </a:solidFill>
          <a:ln/>
        </p:spPr>
      </p:sp>
      <p:sp>
        <p:nvSpPr>
          <p:cNvPr id="5" name="Text 3"/>
          <p:cNvSpPr txBox="1"/>
          <p:nvPr/>
        </p:nvSpPr>
        <p:spPr>
          <a:xfrm>
            <a:off x="9994392" y="521208"/>
            <a:ext cx="1645920" cy="365760"/>
          </a:xfrm>
          <a:prstGeom prst="rect">
            <a:avLst/>
          </a:prstGeom>
          <a:noFill/>
          <a:ln/>
        </p:spPr>
        <p:txBody>
          <a:bodyPr wrap="square" lIns="0" tIns="0" rIns="0" bIns="0" rtlCol="0" anchor="ctr"/>
          <a:lstStyle/>
          <a:p>
            <a:pPr marL="0" indent="0" algn="ctr">
              <a:buNone/>
            </a:pPr>
            <a:r>
              <a:rPr lang="en-US" sz="1100" b="1" kern="0" spc="100" dirty="0">
                <a:solidFill>
                  <a:schemeClr val="tx1"/>
                </a:solidFill>
              </a:rPr>
              <a:t>MILESTONE 4</a:t>
            </a:r>
            <a:endParaRPr lang="en-US" sz="1100" dirty="0"/>
          </a:p>
        </p:txBody>
      </p:sp>
      <p:sp>
        <p:nvSpPr>
          <p:cNvPr id="6" name="Dashboard screen window"/>
          <p:cNvSpPr/>
          <p:nvPr/>
        </p:nvSpPr>
        <p:spPr>
          <a:xfrm>
            <a:off x="548640" y="1691640"/>
            <a:ext cx="6949440" cy="3017901"/>
          </a:xfrm>
          <a:prstGeom prst="rect">
            <a:avLst/>
          </a:prstGeom>
          <a:solidFill>
            <a:schemeClr val="bg1"/>
          </a:solidFill>
          <a:ln/>
          <a:effectLst>
            <a:outerShdw blurRad="177800" dist="50800" dir="5400000" algn="bl" rotWithShape="0">
              <a:srgbClr val="050B24">
                <a:alpha val="30000"/>
              </a:srgbClr>
            </a:outerShdw>
          </a:effectLst>
        </p:spPr>
      </p:sp>
      <p:sp>
        <p:nvSpPr>
          <p:cNvPr id="7" name="Dashboard screen title bar"/>
          <p:cNvSpPr/>
          <p:nvPr/>
        </p:nvSpPr>
        <p:spPr>
          <a:xfrm>
            <a:off x="548640" y="1691640"/>
            <a:ext cx="6949440" cy="274320"/>
          </a:xfrm>
          <a:prstGeom prst="rect">
            <a:avLst/>
          </a:prstGeom>
          <a:solidFill>
            <a:srgbClr val="E8EEFA"/>
          </a:solidFill>
          <a:ln/>
        </p:spPr>
      </p:sp>
      <p:sp>
        <p:nvSpPr>
          <p:cNvPr id="8" name="Window dot 1"/>
          <p:cNvSpPr/>
          <p:nvPr/>
        </p:nvSpPr>
        <p:spPr>
          <a:xfrm>
            <a:off x="676656" y="1778508"/>
            <a:ext cx="100584" cy="100584"/>
          </a:xfrm>
          <a:prstGeom prst="ellipse">
            <a:avLst/>
          </a:prstGeom>
          <a:solidFill>
            <a:schemeClr val="accent2"/>
          </a:solidFill>
          <a:ln/>
        </p:spPr>
      </p:sp>
      <p:sp>
        <p:nvSpPr>
          <p:cNvPr id="9" name="Window dot 2"/>
          <p:cNvSpPr/>
          <p:nvPr/>
        </p:nvSpPr>
        <p:spPr>
          <a:xfrm>
            <a:off x="832104" y="1778508"/>
            <a:ext cx="100584" cy="100584"/>
          </a:xfrm>
          <a:prstGeom prst="ellipse">
            <a:avLst/>
          </a:prstGeom>
          <a:solidFill>
            <a:schemeClr val="accent3"/>
          </a:solidFill>
          <a:ln/>
        </p:spPr>
      </p:sp>
      <p:sp>
        <p:nvSpPr>
          <p:cNvPr id="10" name="Window dot 3"/>
          <p:cNvSpPr/>
          <p:nvPr/>
        </p:nvSpPr>
        <p:spPr>
          <a:xfrm>
            <a:off x="987552" y="1778508"/>
            <a:ext cx="100584" cy="100584"/>
          </a:xfrm>
          <a:prstGeom prst="ellipse">
            <a:avLst/>
          </a:prstGeom>
          <a:solidFill>
            <a:schemeClr val="accent4"/>
          </a:solidFill>
          <a:ln/>
        </p:spPr>
      </p:sp>
      <p:sp>
        <p:nvSpPr>
          <p:cNvPr id="11" name="Address pill"/>
          <p:cNvSpPr/>
          <p:nvPr/>
        </p:nvSpPr>
        <p:spPr>
          <a:xfrm>
            <a:off x="1325880" y="1728216"/>
            <a:ext cx="2468880" cy="201168"/>
          </a:xfrm>
          <a:prstGeom prst="roundRect">
            <a:avLst>
              <a:gd name="adj" fmla="val 50000"/>
            </a:avLst>
          </a:prstGeom>
          <a:solidFill>
            <a:schemeClr val="bg1"/>
          </a:solidFill>
          <a:ln/>
        </p:spPr>
      </p:sp>
      <p:sp>
        <p:nvSpPr>
          <p:cNvPr id="12" name="Text 10"/>
          <p:cNvSpPr txBox="1"/>
          <p:nvPr/>
        </p:nvSpPr>
        <p:spPr>
          <a:xfrm>
            <a:off x="1325880" y="1728216"/>
            <a:ext cx="2468880" cy="201168"/>
          </a:xfrm>
          <a:prstGeom prst="rect">
            <a:avLst/>
          </a:prstGeom>
          <a:noFill/>
          <a:ln/>
        </p:spPr>
        <p:txBody>
          <a:bodyPr wrap="square" lIns="0" tIns="0" rIns="0" bIns="0" rtlCol="0" anchor="ctr"/>
          <a:lstStyle/>
          <a:p>
            <a:pPr marL="0" indent="0" algn="ctr">
              <a:buNone/>
            </a:pPr>
            <a:r>
              <a:rPr lang="en-US" sz="1000" dirty="0">
                <a:solidFill>
                  <a:schemeClr val="accent5"/>
                </a:solidFill>
              </a:rPr>
              <a:t>prediction-ai-app.streamlit.app</a:t>
            </a:r>
            <a:endParaRPr lang="en-US" sz="1000" dirty="0"/>
          </a:p>
        </p:txBody>
      </p:sp>
      <p:pic>
        <p:nvPicPr>
          <p:cNvPr id="13" name="Image 0" descr="Dashboard screen"/>
          <p:cNvPicPr>
            <a:picLocks noChangeAspect="1"/>
          </p:cNvPicPr>
          <p:nvPr/>
        </p:nvPicPr>
        <p:blipFill>
          <a:blip r:embed="rId3"/>
          <a:stretch>
            <a:fillRect/>
          </a:stretch>
        </p:blipFill>
        <p:spPr>
          <a:xfrm>
            <a:off x="548640" y="1965960"/>
            <a:ext cx="6949440" cy="2743581"/>
          </a:xfrm>
          <a:prstGeom prst="rect">
            <a:avLst/>
          </a:prstGeom>
        </p:spPr>
      </p:pic>
      <p:sp>
        <p:nvSpPr>
          <p:cNvPr id="14" name="Risk analytics card"/>
          <p:cNvSpPr/>
          <p:nvPr/>
        </p:nvSpPr>
        <p:spPr>
          <a:xfrm>
            <a:off x="548640" y="4937760"/>
            <a:ext cx="2231136" cy="1188720"/>
          </a:xfrm>
          <a:prstGeom prst="roundRect">
            <a:avLst>
              <a:gd name="adj" fmla="val 9231"/>
            </a:avLst>
          </a:prstGeom>
          <a:solidFill>
            <a:schemeClr val="bg1"/>
          </a:solidFill>
          <a:ln/>
          <a:effectLst>
            <a:outerShdw blurRad="101600" dist="25400" dir="5400000" algn="bl" rotWithShape="0">
              <a:srgbClr val="0B1630">
                <a:alpha val="12000"/>
              </a:srgbClr>
            </a:outerShdw>
          </a:effectLst>
        </p:spPr>
      </p:sp>
      <p:sp>
        <p:nvSpPr>
          <p:cNvPr id="15" name="Text 12"/>
          <p:cNvSpPr txBox="1"/>
          <p:nvPr/>
        </p:nvSpPr>
        <p:spPr>
          <a:xfrm>
            <a:off x="713232" y="5029200"/>
            <a:ext cx="1920240" cy="274320"/>
          </a:xfrm>
          <a:prstGeom prst="rect">
            <a:avLst/>
          </a:prstGeom>
          <a:noFill/>
          <a:ln/>
        </p:spPr>
        <p:txBody>
          <a:bodyPr wrap="square" lIns="0" tIns="0" rIns="0" bIns="0" rtlCol="0" anchor="ctr"/>
          <a:lstStyle/>
          <a:p>
            <a:pPr marL="0" indent="0">
              <a:buNone/>
            </a:pPr>
            <a:r>
              <a:rPr lang="en-US" sz="1500" b="1" dirty="0">
                <a:solidFill>
                  <a:schemeClr val="accent1"/>
                </a:solidFill>
              </a:rPr>
              <a:t>Risk analytics</a:t>
            </a:r>
            <a:endParaRPr lang="en-US" sz="1500" dirty="0"/>
          </a:p>
        </p:txBody>
      </p:sp>
      <p:sp>
        <p:nvSpPr>
          <p:cNvPr id="16" name="Text 13"/>
          <p:cNvSpPr txBox="1"/>
          <p:nvPr/>
        </p:nvSpPr>
        <p:spPr>
          <a:xfrm>
            <a:off x="713232" y="5321808"/>
            <a:ext cx="1920240" cy="777240"/>
          </a:xfrm>
          <a:prstGeom prst="rect">
            <a:avLst/>
          </a:prstGeom>
          <a:noFill/>
          <a:ln/>
        </p:spPr>
        <p:txBody>
          <a:bodyPr wrap="square" lIns="0" tIns="0" rIns="0" bIns="0" rtlCol="0" anchor="t"/>
          <a:lstStyle/>
          <a:p>
            <a:pPr marL="0" indent="0">
              <a:buNone/>
            </a:pPr>
            <a:r>
              <a:rPr lang="en-US" sz="1400" dirty="0">
                <a:solidFill>
                  <a:schemeClr val="tx1"/>
                </a:solidFill>
              </a:rPr>
              <a:t>Overall, success, market and tech risk plus a trend.</a:t>
            </a:r>
            <a:endParaRPr lang="en-US" sz="1400" dirty="0"/>
          </a:p>
        </p:txBody>
      </p:sp>
      <p:sp>
        <p:nvSpPr>
          <p:cNvPr id="17" name="Assessment report card"/>
          <p:cNvSpPr/>
          <p:nvPr/>
        </p:nvSpPr>
        <p:spPr>
          <a:xfrm>
            <a:off x="2907792" y="4937760"/>
            <a:ext cx="2231136" cy="1188720"/>
          </a:xfrm>
          <a:prstGeom prst="roundRect">
            <a:avLst>
              <a:gd name="adj" fmla="val 9231"/>
            </a:avLst>
          </a:prstGeom>
          <a:solidFill>
            <a:schemeClr val="bg1"/>
          </a:solidFill>
          <a:ln/>
          <a:effectLst>
            <a:outerShdw blurRad="101600" dist="25400" dir="5400000" algn="bl" rotWithShape="0">
              <a:srgbClr val="0B1630">
                <a:alpha val="12000"/>
              </a:srgbClr>
            </a:outerShdw>
          </a:effectLst>
        </p:spPr>
      </p:sp>
      <p:sp>
        <p:nvSpPr>
          <p:cNvPr id="18" name="Text 15"/>
          <p:cNvSpPr txBox="1"/>
          <p:nvPr/>
        </p:nvSpPr>
        <p:spPr>
          <a:xfrm>
            <a:off x="3072384" y="5029200"/>
            <a:ext cx="1920240" cy="274320"/>
          </a:xfrm>
          <a:prstGeom prst="rect">
            <a:avLst/>
          </a:prstGeom>
          <a:noFill/>
          <a:ln/>
        </p:spPr>
        <p:txBody>
          <a:bodyPr wrap="square" lIns="0" tIns="0" rIns="0" bIns="0" rtlCol="0" anchor="ctr"/>
          <a:lstStyle/>
          <a:p>
            <a:pPr marL="0" indent="0">
              <a:buNone/>
            </a:pPr>
            <a:r>
              <a:rPr lang="en-US" sz="1500" b="1" dirty="0">
                <a:solidFill>
                  <a:schemeClr val="accent1"/>
                </a:solidFill>
              </a:rPr>
              <a:t>Assessment report</a:t>
            </a:r>
            <a:endParaRPr lang="en-US" sz="1500" dirty="0"/>
          </a:p>
        </p:txBody>
      </p:sp>
      <p:sp>
        <p:nvSpPr>
          <p:cNvPr id="19" name="Text 16"/>
          <p:cNvSpPr txBox="1"/>
          <p:nvPr/>
        </p:nvSpPr>
        <p:spPr>
          <a:xfrm>
            <a:off x="3072384" y="5321808"/>
            <a:ext cx="1920240" cy="777240"/>
          </a:xfrm>
          <a:prstGeom prst="rect">
            <a:avLst/>
          </a:prstGeom>
          <a:noFill/>
          <a:ln/>
        </p:spPr>
        <p:txBody>
          <a:bodyPr wrap="square" lIns="0" tIns="0" rIns="0" bIns="0" rtlCol="0" anchor="t"/>
          <a:lstStyle/>
          <a:p>
            <a:pPr marL="0" indent="0">
              <a:buNone/>
            </a:pPr>
            <a:r>
              <a:rPr lang="en-US" sz="1400" dirty="0">
                <a:solidFill>
                  <a:schemeClr val="tx1"/>
                </a:solidFill>
              </a:rPr>
              <a:t>Findings and recommendations, with Export and Share.</a:t>
            </a:r>
            <a:endParaRPr lang="en-US" sz="1400" dirty="0"/>
          </a:p>
        </p:txBody>
      </p:sp>
      <p:sp>
        <p:nvSpPr>
          <p:cNvPr id="20" name="Strategic insights card"/>
          <p:cNvSpPr/>
          <p:nvPr/>
        </p:nvSpPr>
        <p:spPr>
          <a:xfrm>
            <a:off x="5266944" y="4937760"/>
            <a:ext cx="2231136" cy="1188720"/>
          </a:xfrm>
          <a:prstGeom prst="roundRect">
            <a:avLst>
              <a:gd name="adj" fmla="val 9231"/>
            </a:avLst>
          </a:prstGeom>
          <a:solidFill>
            <a:schemeClr val="bg1"/>
          </a:solidFill>
          <a:ln/>
          <a:effectLst>
            <a:outerShdw blurRad="101600" dist="25400" dir="5400000" algn="bl" rotWithShape="0">
              <a:srgbClr val="0B1630">
                <a:alpha val="12000"/>
              </a:srgbClr>
            </a:outerShdw>
          </a:effectLst>
        </p:spPr>
      </p:sp>
      <p:sp>
        <p:nvSpPr>
          <p:cNvPr id="21" name="Text 18"/>
          <p:cNvSpPr txBox="1"/>
          <p:nvPr/>
        </p:nvSpPr>
        <p:spPr>
          <a:xfrm>
            <a:off x="5431536" y="5029200"/>
            <a:ext cx="1920240" cy="274320"/>
          </a:xfrm>
          <a:prstGeom prst="rect">
            <a:avLst/>
          </a:prstGeom>
          <a:noFill/>
          <a:ln/>
        </p:spPr>
        <p:txBody>
          <a:bodyPr wrap="square" lIns="0" tIns="0" rIns="0" bIns="0" rtlCol="0" anchor="ctr"/>
          <a:lstStyle/>
          <a:p>
            <a:pPr marL="0" indent="0">
              <a:buNone/>
            </a:pPr>
            <a:r>
              <a:rPr lang="en-US" sz="1500" b="1" dirty="0">
                <a:solidFill>
                  <a:schemeClr val="accent1"/>
                </a:solidFill>
              </a:rPr>
              <a:t>Strategic insights</a:t>
            </a:r>
            <a:endParaRPr lang="en-US" sz="1500" dirty="0"/>
          </a:p>
        </p:txBody>
      </p:sp>
      <p:sp>
        <p:nvSpPr>
          <p:cNvPr id="22" name="Text 19"/>
          <p:cNvSpPr txBox="1"/>
          <p:nvPr/>
        </p:nvSpPr>
        <p:spPr>
          <a:xfrm>
            <a:off x="5431536" y="5321808"/>
            <a:ext cx="1920240" cy="777240"/>
          </a:xfrm>
          <a:prstGeom prst="rect">
            <a:avLst/>
          </a:prstGeom>
          <a:noFill/>
          <a:ln/>
        </p:spPr>
        <p:txBody>
          <a:bodyPr wrap="square" lIns="0" tIns="0" rIns="0" bIns="0" rtlCol="0" anchor="t"/>
          <a:lstStyle/>
          <a:p>
            <a:pPr marL="0" indent="0">
              <a:buNone/>
            </a:pPr>
            <a:r>
              <a:rPr lang="en-US" sz="1400" dirty="0">
                <a:solidFill>
                  <a:schemeClr val="tx1"/>
                </a:solidFill>
              </a:rPr>
              <a:t>Funding strategy and recommended next steps.</a:t>
            </a:r>
            <a:endParaRPr lang="en-US" sz="1400" dirty="0"/>
          </a:p>
        </p:txBody>
      </p:sp>
      <p:sp>
        <p:nvSpPr>
          <p:cNvPr id="23" name="Tools panel"/>
          <p:cNvSpPr/>
          <p:nvPr/>
        </p:nvSpPr>
        <p:spPr>
          <a:xfrm>
            <a:off x="7772400" y="1691640"/>
            <a:ext cx="3867912" cy="4434840"/>
          </a:xfrm>
          <a:prstGeom prst="roundRect">
            <a:avLst>
              <a:gd name="adj" fmla="val 2837"/>
            </a:avLst>
          </a:prstGeom>
          <a:solidFill>
            <a:schemeClr val="tx2"/>
          </a:solidFill>
          <a:ln/>
        </p:spPr>
      </p:sp>
      <p:sp>
        <p:nvSpPr>
          <p:cNvPr id="24" name="Text 21"/>
          <p:cNvSpPr txBox="1"/>
          <p:nvPr/>
        </p:nvSpPr>
        <p:spPr>
          <a:xfrm>
            <a:off x="8046720" y="1874520"/>
            <a:ext cx="3383280" cy="274320"/>
          </a:xfrm>
          <a:prstGeom prst="rect">
            <a:avLst/>
          </a:prstGeom>
          <a:noFill/>
          <a:ln/>
        </p:spPr>
        <p:txBody>
          <a:bodyPr wrap="square" lIns="0" tIns="0" rIns="0" bIns="0" rtlCol="0" anchor="ctr"/>
          <a:lstStyle/>
          <a:p>
            <a:pPr marL="0" indent="0">
              <a:buNone/>
            </a:pPr>
            <a:r>
              <a:rPr lang="en-US" sz="1200" b="1" kern="0" spc="200" dirty="0">
                <a:solidFill>
                  <a:schemeClr val="accent3"/>
                </a:solidFill>
              </a:rPr>
              <a:t>TOOLS USED</a:t>
            </a:r>
            <a:endParaRPr lang="en-US" sz="1200" dirty="0"/>
          </a:p>
        </p:txBody>
      </p:sp>
      <p:sp>
        <p:nvSpPr>
          <p:cNvPr id="25" name="Text 22"/>
          <p:cNvSpPr txBox="1"/>
          <p:nvPr/>
        </p:nvSpPr>
        <p:spPr>
          <a:xfrm>
            <a:off x="8046720" y="2286000"/>
            <a:ext cx="3383280" cy="292608"/>
          </a:xfrm>
          <a:prstGeom prst="rect">
            <a:avLst/>
          </a:prstGeom>
          <a:noFill/>
          <a:ln/>
        </p:spPr>
        <p:txBody>
          <a:bodyPr wrap="square" lIns="0" tIns="0" rIns="0" bIns="0" rtlCol="0" anchor="ctr"/>
          <a:lstStyle/>
          <a:p>
            <a:pPr marL="0" indent="0">
              <a:buNone/>
            </a:pPr>
            <a:r>
              <a:rPr lang="en-US" sz="1600" b="1" dirty="0">
                <a:solidFill>
                  <a:schemeClr val="bg1"/>
                </a:solidFill>
              </a:rPr>
              <a:t>Python</a:t>
            </a:r>
            <a:endParaRPr lang="en-US" sz="1600" dirty="0"/>
          </a:p>
        </p:txBody>
      </p:sp>
      <p:sp>
        <p:nvSpPr>
          <p:cNvPr id="26" name="Text 23"/>
          <p:cNvSpPr txBox="1"/>
          <p:nvPr/>
        </p:nvSpPr>
        <p:spPr>
          <a:xfrm>
            <a:off x="8046720" y="2578608"/>
            <a:ext cx="3383280" cy="365760"/>
          </a:xfrm>
          <a:prstGeom prst="rect">
            <a:avLst/>
          </a:prstGeom>
          <a:noFill/>
          <a:ln/>
        </p:spPr>
        <p:txBody>
          <a:bodyPr wrap="square" lIns="0" tIns="0" rIns="0" bIns="0" rtlCol="0" anchor="ctr"/>
          <a:lstStyle/>
          <a:p>
            <a:pPr marL="0" indent="0">
              <a:buNone/>
            </a:pPr>
            <a:r>
              <a:rPr lang="en-US" sz="1400" dirty="0">
                <a:solidFill>
                  <a:schemeClr val="bg2"/>
                </a:solidFill>
              </a:rPr>
              <a:t>Application logic and report building</a:t>
            </a:r>
            <a:endParaRPr lang="en-US" sz="1400" dirty="0"/>
          </a:p>
        </p:txBody>
      </p:sp>
      <p:sp>
        <p:nvSpPr>
          <p:cNvPr id="27" name="Text 24"/>
          <p:cNvSpPr txBox="1"/>
          <p:nvPr/>
        </p:nvSpPr>
        <p:spPr>
          <a:xfrm>
            <a:off x="8046720" y="3054096"/>
            <a:ext cx="3383280" cy="292608"/>
          </a:xfrm>
          <a:prstGeom prst="rect">
            <a:avLst/>
          </a:prstGeom>
          <a:noFill/>
          <a:ln/>
        </p:spPr>
        <p:txBody>
          <a:bodyPr wrap="square" lIns="0" tIns="0" rIns="0" bIns="0" rtlCol="0" anchor="ctr"/>
          <a:lstStyle/>
          <a:p>
            <a:pPr marL="0" indent="0">
              <a:buNone/>
            </a:pPr>
            <a:r>
              <a:rPr lang="en-US" sz="1600" b="1" dirty="0">
                <a:solidFill>
                  <a:schemeClr val="bg1"/>
                </a:solidFill>
              </a:rPr>
              <a:t>Streamlit</a:t>
            </a:r>
            <a:endParaRPr lang="en-US" sz="1600" dirty="0"/>
          </a:p>
        </p:txBody>
      </p:sp>
      <p:sp>
        <p:nvSpPr>
          <p:cNvPr id="28" name="Text 25"/>
          <p:cNvSpPr txBox="1"/>
          <p:nvPr/>
        </p:nvSpPr>
        <p:spPr>
          <a:xfrm>
            <a:off x="8046720" y="3346704"/>
            <a:ext cx="3383280" cy="365760"/>
          </a:xfrm>
          <a:prstGeom prst="rect">
            <a:avLst/>
          </a:prstGeom>
          <a:noFill/>
          <a:ln/>
        </p:spPr>
        <p:txBody>
          <a:bodyPr wrap="square" lIns="0" tIns="0" rIns="0" bIns="0" rtlCol="0" anchor="ctr"/>
          <a:lstStyle/>
          <a:p>
            <a:pPr marL="0" indent="0">
              <a:buNone/>
            </a:pPr>
            <a:r>
              <a:rPr lang="en-US" sz="1400" dirty="0">
                <a:solidFill>
                  <a:schemeClr val="bg2"/>
                </a:solidFill>
              </a:rPr>
              <a:t>Dashboard tiles, Export and Share</a:t>
            </a:r>
            <a:endParaRPr lang="en-US" sz="1400" dirty="0"/>
          </a:p>
        </p:txBody>
      </p:sp>
      <p:sp>
        <p:nvSpPr>
          <p:cNvPr id="29" name="Text 26"/>
          <p:cNvSpPr txBox="1"/>
          <p:nvPr/>
        </p:nvSpPr>
        <p:spPr>
          <a:xfrm>
            <a:off x="8046720" y="3822192"/>
            <a:ext cx="3383280" cy="292608"/>
          </a:xfrm>
          <a:prstGeom prst="rect">
            <a:avLst/>
          </a:prstGeom>
          <a:noFill/>
          <a:ln/>
        </p:spPr>
        <p:txBody>
          <a:bodyPr wrap="square" lIns="0" tIns="0" rIns="0" bIns="0" rtlCol="0" anchor="ctr"/>
          <a:lstStyle/>
          <a:p>
            <a:pPr marL="0" indent="0">
              <a:buNone/>
            </a:pPr>
            <a:r>
              <a:rPr lang="en-US" sz="1600" b="1" dirty="0">
                <a:solidFill>
                  <a:schemeClr val="bg1"/>
                </a:solidFill>
              </a:rPr>
              <a:t>Google Gemini</a:t>
            </a:r>
            <a:endParaRPr lang="en-US" sz="1600" dirty="0"/>
          </a:p>
        </p:txBody>
      </p:sp>
      <p:sp>
        <p:nvSpPr>
          <p:cNvPr id="30" name="Text 27"/>
          <p:cNvSpPr txBox="1"/>
          <p:nvPr/>
        </p:nvSpPr>
        <p:spPr>
          <a:xfrm>
            <a:off x="8046720" y="4114800"/>
            <a:ext cx="3383280" cy="365760"/>
          </a:xfrm>
          <a:prstGeom prst="rect">
            <a:avLst/>
          </a:prstGeom>
          <a:noFill/>
          <a:ln/>
        </p:spPr>
        <p:txBody>
          <a:bodyPr wrap="square" lIns="0" tIns="0" rIns="0" bIns="0" rtlCol="0" anchor="ctr"/>
          <a:lstStyle/>
          <a:p>
            <a:pPr marL="0" indent="0">
              <a:buNone/>
            </a:pPr>
            <a:r>
              <a:rPr lang="en-US" sz="1400" dirty="0">
                <a:solidFill>
                  <a:schemeClr val="bg2"/>
                </a:solidFill>
              </a:rPr>
              <a:t>Recommendations and strategic insights</a:t>
            </a:r>
            <a:endParaRPr lang="en-US" sz="1400" dirty="0"/>
          </a:p>
        </p:txBody>
      </p:sp>
      <p:sp>
        <p:nvSpPr>
          <p:cNvPr id="31" name="Text 28"/>
          <p:cNvSpPr txBox="1"/>
          <p:nvPr/>
        </p:nvSpPr>
        <p:spPr>
          <a:xfrm>
            <a:off x="8046720" y="4590288"/>
            <a:ext cx="3383280" cy="292608"/>
          </a:xfrm>
          <a:prstGeom prst="rect">
            <a:avLst/>
          </a:prstGeom>
          <a:noFill/>
          <a:ln/>
        </p:spPr>
        <p:txBody>
          <a:bodyPr wrap="square" lIns="0" tIns="0" rIns="0" bIns="0" rtlCol="0" anchor="ctr"/>
          <a:lstStyle/>
          <a:p>
            <a:pPr marL="0" indent="0">
              <a:buNone/>
            </a:pPr>
            <a:r>
              <a:rPr lang="en-US" sz="1600" b="1" dirty="0">
                <a:solidFill>
                  <a:schemeClr val="bg1"/>
                </a:solidFill>
              </a:rPr>
              <a:t>LangGraph</a:t>
            </a:r>
            <a:endParaRPr lang="en-US" sz="1600" dirty="0"/>
          </a:p>
        </p:txBody>
      </p:sp>
      <p:sp>
        <p:nvSpPr>
          <p:cNvPr id="32" name="Text 29"/>
          <p:cNvSpPr txBox="1"/>
          <p:nvPr/>
        </p:nvSpPr>
        <p:spPr>
          <a:xfrm>
            <a:off x="8046720" y="4882896"/>
            <a:ext cx="3383280" cy="365760"/>
          </a:xfrm>
          <a:prstGeom prst="rect">
            <a:avLst/>
          </a:prstGeom>
          <a:noFill/>
          <a:ln/>
        </p:spPr>
        <p:txBody>
          <a:bodyPr wrap="square" lIns="0" tIns="0" rIns="0" bIns="0" rtlCol="0" anchor="ctr"/>
          <a:lstStyle/>
          <a:p>
            <a:pPr marL="0" indent="0">
              <a:buNone/>
            </a:pPr>
            <a:r>
              <a:rPr lang="en-US" sz="1400" dirty="0">
                <a:solidFill>
                  <a:schemeClr val="bg2"/>
                </a:solidFill>
              </a:rPr>
              <a:t>Agent workflow behind the report</a:t>
            </a:r>
            <a:endParaRPr lang="en-US" sz="1400" dirty="0"/>
          </a:p>
        </p:txBody>
      </p:sp>
      <p:sp>
        <p:nvSpPr>
          <p:cNvPr id="33" name="Text 30"/>
          <p:cNvSpPr txBox="1"/>
          <p:nvPr/>
        </p:nvSpPr>
        <p:spPr>
          <a:xfrm>
            <a:off x="8046720" y="5358384"/>
            <a:ext cx="3383280" cy="292608"/>
          </a:xfrm>
          <a:prstGeom prst="rect">
            <a:avLst/>
          </a:prstGeom>
          <a:noFill/>
          <a:ln/>
        </p:spPr>
        <p:txBody>
          <a:bodyPr wrap="square" lIns="0" tIns="0" rIns="0" bIns="0" rtlCol="0" anchor="ctr"/>
          <a:lstStyle/>
          <a:p>
            <a:pPr marL="0" indent="0">
              <a:buNone/>
            </a:pPr>
            <a:r>
              <a:rPr lang="en-US" sz="1600" b="1" dirty="0">
                <a:solidFill>
                  <a:schemeClr val="bg1"/>
                </a:solidFill>
              </a:rPr>
              <a:t>SQLite</a:t>
            </a:r>
            <a:endParaRPr lang="en-US" sz="1600" dirty="0"/>
          </a:p>
        </p:txBody>
      </p:sp>
      <p:sp>
        <p:nvSpPr>
          <p:cNvPr id="34" name="Text 31"/>
          <p:cNvSpPr txBox="1"/>
          <p:nvPr/>
        </p:nvSpPr>
        <p:spPr>
          <a:xfrm>
            <a:off x="8046720" y="5650992"/>
            <a:ext cx="3383280" cy="365760"/>
          </a:xfrm>
          <a:prstGeom prst="rect">
            <a:avLst/>
          </a:prstGeom>
          <a:noFill/>
          <a:ln/>
        </p:spPr>
        <p:txBody>
          <a:bodyPr wrap="square" lIns="0" tIns="0" rIns="0" bIns="0" rtlCol="0" anchor="ctr"/>
          <a:lstStyle/>
          <a:p>
            <a:pPr marL="0" indent="0">
              <a:buNone/>
            </a:pPr>
            <a:r>
              <a:rPr lang="en-US" sz="1400" dirty="0">
                <a:solidFill>
                  <a:schemeClr val="bg2"/>
                </a:solidFill>
              </a:rPr>
              <a:t>Saved results the dashboard reads</a:t>
            </a:r>
            <a:endParaRPr lang="en-US" sz="1400" dirty="0"/>
          </a:p>
        </p:txBody>
      </p:sp>
      <p:sp>
        <p:nvSpPr>
          <p:cNvPr id="3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tx2"/>
                </a:solidFill>
              </a:rPr>
              <a:t>Milestone 4: Testing &amp; Deployment</a:t>
            </a:r>
            <a:endParaRPr lang="en-US" sz="3600" dirty="0"/>
          </a:p>
        </p:txBody>
      </p:sp>
      <p:sp>
        <p:nvSpPr>
          <p:cNvPr id="3" name="Subtitle"/>
          <p:cNvSpPr txBox="1"/>
          <p:nvPr/>
        </p:nvSpPr>
        <p:spPr>
          <a:xfrm>
            <a:off x="548640" y="1005840"/>
            <a:ext cx="9875520" cy="365760"/>
          </a:xfrm>
          <a:prstGeom prst="rect">
            <a:avLst/>
          </a:prstGeom>
          <a:noFill/>
          <a:ln/>
        </p:spPr>
        <p:txBody>
          <a:bodyPr wrap="square" lIns="0" tIns="0" rIns="0" bIns="0" rtlCol="0" anchor="ctr"/>
          <a:lstStyle/>
          <a:p>
            <a:pPr marL="0" indent="0">
              <a:buNone/>
            </a:pPr>
            <a:r>
              <a:rPr lang="en-US" sz="1600" dirty="0">
                <a:solidFill>
                  <a:schemeClr val="accent5"/>
                </a:solidFill>
              </a:rPr>
              <a:t>Prove it works, then put it online</a:t>
            </a:r>
            <a:endParaRPr lang="en-US" sz="1600" dirty="0"/>
          </a:p>
        </p:txBody>
      </p:sp>
      <p:sp>
        <p:nvSpPr>
          <p:cNvPr id="4" name="Milestone badge"/>
          <p:cNvSpPr/>
          <p:nvPr/>
        </p:nvSpPr>
        <p:spPr>
          <a:xfrm>
            <a:off x="9994392" y="521208"/>
            <a:ext cx="1645920" cy="365760"/>
          </a:xfrm>
          <a:prstGeom prst="roundRect">
            <a:avLst>
              <a:gd name="adj" fmla="val 50000"/>
            </a:avLst>
          </a:prstGeom>
          <a:solidFill>
            <a:schemeClr val="accent3"/>
          </a:solidFill>
          <a:ln/>
        </p:spPr>
      </p:sp>
      <p:sp>
        <p:nvSpPr>
          <p:cNvPr id="5" name="Text 3"/>
          <p:cNvSpPr txBox="1"/>
          <p:nvPr/>
        </p:nvSpPr>
        <p:spPr>
          <a:xfrm>
            <a:off x="9994392" y="521208"/>
            <a:ext cx="1645920" cy="365760"/>
          </a:xfrm>
          <a:prstGeom prst="rect">
            <a:avLst/>
          </a:prstGeom>
          <a:noFill/>
          <a:ln/>
        </p:spPr>
        <p:txBody>
          <a:bodyPr wrap="square" lIns="0" tIns="0" rIns="0" bIns="0" rtlCol="0" anchor="ctr"/>
          <a:lstStyle/>
          <a:p>
            <a:pPr marL="0" indent="0" algn="ctr">
              <a:buNone/>
            </a:pPr>
            <a:r>
              <a:rPr lang="en-US" sz="1100" b="1" kern="0" spc="100" dirty="0">
                <a:solidFill>
                  <a:schemeClr val="tx1"/>
                </a:solidFill>
              </a:rPr>
              <a:t>MILESTONE 4</a:t>
            </a:r>
            <a:endParaRPr lang="en-US" sz="1100" dirty="0"/>
          </a:p>
        </p:txBody>
      </p:sp>
      <p:sp>
        <p:nvSpPr>
          <p:cNvPr id="6" name="Test card"/>
          <p:cNvSpPr/>
          <p:nvPr/>
        </p:nvSpPr>
        <p:spPr>
          <a:xfrm>
            <a:off x="548640" y="1691640"/>
            <a:ext cx="3538728" cy="2377440"/>
          </a:xfrm>
          <a:prstGeom prst="roundRect">
            <a:avLst>
              <a:gd name="adj" fmla="val 4615"/>
            </a:avLst>
          </a:prstGeom>
          <a:solidFill>
            <a:schemeClr val="bg1"/>
          </a:solidFill>
          <a:ln/>
          <a:effectLst>
            <a:outerShdw blurRad="101600" dist="25400" dir="5400000" algn="bl" rotWithShape="0">
              <a:srgbClr val="0B1630">
                <a:alpha val="12000"/>
              </a:srgbClr>
            </a:outerShdw>
          </a:effectLst>
        </p:spPr>
      </p:sp>
      <p:sp>
        <p:nvSpPr>
          <p:cNvPr id="7" name="Test circle"/>
          <p:cNvSpPr/>
          <p:nvPr/>
        </p:nvSpPr>
        <p:spPr>
          <a:xfrm>
            <a:off x="777240" y="1920240"/>
            <a:ext cx="640080" cy="640080"/>
          </a:xfrm>
          <a:prstGeom prst="ellipse">
            <a:avLst/>
          </a:prstGeom>
          <a:solidFill>
            <a:schemeClr val="accent4"/>
          </a:solidFill>
          <a:ln/>
        </p:spPr>
      </p:sp>
      <p:pic>
        <p:nvPicPr>
          <p:cNvPr id="8" name="Image 0" descr="Test"/>
          <p:cNvPicPr>
            <a:picLocks noChangeAspect="1"/>
          </p:cNvPicPr>
          <p:nvPr/>
        </p:nvPicPr>
        <p:blipFill>
          <a:blip r:embed="rId3"/>
          <a:stretch>
            <a:fillRect/>
          </a:stretch>
        </p:blipFill>
        <p:spPr>
          <a:xfrm>
            <a:off x="930859" y="2073859"/>
            <a:ext cx="332842" cy="332842"/>
          </a:xfrm>
          <a:prstGeom prst="rect">
            <a:avLst/>
          </a:prstGeom>
        </p:spPr>
      </p:pic>
      <p:sp>
        <p:nvSpPr>
          <p:cNvPr id="9" name="Text 6"/>
          <p:cNvSpPr txBox="1"/>
          <p:nvPr/>
        </p:nvSpPr>
        <p:spPr>
          <a:xfrm>
            <a:off x="777240" y="2743200"/>
            <a:ext cx="3108960" cy="365760"/>
          </a:xfrm>
          <a:prstGeom prst="rect">
            <a:avLst/>
          </a:prstGeom>
          <a:noFill/>
          <a:ln/>
        </p:spPr>
        <p:txBody>
          <a:bodyPr wrap="square" lIns="0" tIns="0" rIns="0" bIns="0" rtlCol="0" anchor="ctr"/>
          <a:lstStyle/>
          <a:p>
            <a:pPr marL="0" indent="0">
              <a:buNone/>
            </a:pPr>
            <a:r>
              <a:rPr lang="en-US" sz="2200" b="1" dirty="0">
                <a:solidFill>
                  <a:schemeClr val="tx2"/>
                </a:solidFill>
              </a:rPr>
              <a:t>Test</a:t>
            </a:r>
            <a:endParaRPr lang="en-US" sz="2200" dirty="0"/>
          </a:p>
        </p:txBody>
      </p:sp>
      <p:sp>
        <p:nvSpPr>
          <p:cNvPr id="10" name="Text 7"/>
          <p:cNvSpPr txBox="1"/>
          <p:nvPr/>
        </p:nvSpPr>
        <p:spPr>
          <a:xfrm>
            <a:off x="777240" y="3200400"/>
            <a:ext cx="3108960" cy="777240"/>
          </a:xfrm>
          <a:prstGeom prst="rect">
            <a:avLst/>
          </a:prstGeom>
          <a:noFill/>
          <a:ln/>
        </p:spPr>
        <p:txBody>
          <a:bodyPr wrap="square" lIns="0" tIns="0" rIns="0" bIns="0" rtlCol="0" anchor="t"/>
          <a:lstStyle/>
          <a:p>
            <a:pPr marL="0" indent="0">
              <a:buNone/>
            </a:pPr>
            <a:r>
              <a:rPr lang="en-US" sz="1400" dirty="0">
                <a:solidFill>
                  <a:schemeClr val="tx1"/>
                </a:solidFill>
              </a:rPr>
              <a:t>Run the full flow from project input to the exported report and check every tab.</a:t>
            </a:r>
            <a:endParaRPr lang="en-US" sz="1400" dirty="0"/>
          </a:p>
        </p:txBody>
      </p:sp>
      <p:sp>
        <p:nvSpPr>
          <p:cNvPr id="11" name="Step arrow 1"/>
          <p:cNvSpPr/>
          <p:nvPr/>
        </p:nvSpPr>
        <p:spPr>
          <a:xfrm>
            <a:off x="4114800" y="2880360"/>
            <a:ext cx="182880" cy="0"/>
          </a:xfrm>
          <a:prstGeom prst="line">
            <a:avLst/>
          </a:prstGeom>
          <a:noFill/>
          <a:ln w="25400">
            <a:solidFill>
              <a:schemeClr val="accent5"/>
            </a:solidFill>
            <a:prstDash val="solid"/>
            <a:tailEnd type="triangle"/>
          </a:ln>
        </p:spPr>
      </p:sp>
      <p:sp>
        <p:nvSpPr>
          <p:cNvPr id="12" name="Optimize card"/>
          <p:cNvSpPr/>
          <p:nvPr/>
        </p:nvSpPr>
        <p:spPr>
          <a:xfrm>
            <a:off x="4325112" y="1691640"/>
            <a:ext cx="3538728" cy="2377440"/>
          </a:xfrm>
          <a:prstGeom prst="roundRect">
            <a:avLst>
              <a:gd name="adj" fmla="val 4615"/>
            </a:avLst>
          </a:prstGeom>
          <a:solidFill>
            <a:schemeClr val="bg1"/>
          </a:solidFill>
          <a:ln/>
          <a:effectLst>
            <a:outerShdw blurRad="101600" dist="25400" dir="5400000" algn="bl" rotWithShape="0">
              <a:srgbClr val="0B1630">
                <a:alpha val="12000"/>
              </a:srgbClr>
            </a:outerShdw>
          </a:effectLst>
        </p:spPr>
      </p:sp>
      <p:sp>
        <p:nvSpPr>
          <p:cNvPr id="13" name="Optimize circle"/>
          <p:cNvSpPr/>
          <p:nvPr/>
        </p:nvSpPr>
        <p:spPr>
          <a:xfrm>
            <a:off x="4553712" y="1920240"/>
            <a:ext cx="640080" cy="640080"/>
          </a:xfrm>
          <a:prstGeom prst="ellipse">
            <a:avLst/>
          </a:prstGeom>
          <a:solidFill>
            <a:schemeClr val="accent1"/>
          </a:solidFill>
          <a:ln/>
        </p:spPr>
      </p:sp>
      <p:pic>
        <p:nvPicPr>
          <p:cNvPr id="14" name="Image 1" descr="Optimize"/>
          <p:cNvPicPr>
            <a:picLocks noChangeAspect="1"/>
          </p:cNvPicPr>
          <p:nvPr/>
        </p:nvPicPr>
        <p:blipFill>
          <a:blip r:embed="rId4"/>
          <a:stretch>
            <a:fillRect/>
          </a:stretch>
        </p:blipFill>
        <p:spPr>
          <a:xfrm>
            <a:off x="4707331" y="2073859"/>
            <a:ext cx="332842" cy="332842"/>
          </a:xfrm>
          <a:prstGeom prst="rect">
            <a:avLst/>
          </a:prstGeom>
        </p:spPr>
      </p:pic>
      <p:sp>
        <p:nvSpPr>
          <p:cNvPr id="15" name="Text 11"/>
          <p:cNvSpPr txBox="1"/>
          <p:nvPr/>
        </p:nvSpPr>
        <p:spPr>
          <a:xfrm>
            <a:off x="4553712" y="2743200"/>
            <a:ext cx="3108960" cy="365760"/>
          </a:xfrm>
          <a:prstGeom prst="rect">
            <a:avLst/>
          </a:prstGeom>
          <a:noFill/>
          <a:ln/>
        </p:spPr>
        <p:txBody>
          <a:bodyPr wrap="square" lIns="0" tIns="0" rIns="0" bIns="0" rtlCol="0" anchor="ctr"/>
          <a:lstStyle/>
          <a:p>
            <a:pPr marL="0" indent="0">
              <a:buNone/>
            </a:pPr>
            <a:r>
              <a:rPr lang="en-US" sz="2200" b="1" dirty="0">
                <a:solidFill>
                  <a:schemeClr val="tx2"/>
                </a:solidFill>
              </a:rPr>
              <a:t>Optimize</a:t>
            </a:r>
            <a:endParaRPr lang="en-US" sz="2200" dirty="0"/>
          </a:p>
        </p:txBody>
      </p:sp>
      <p:sp>
        <p:nvSpPr>
          <p:cNvPr id="16" name="Text 12"/>
          <p:cNvSpPr txBox="1"/>
          <p:nvPr/>
        </p:nvSpPr>
        <p:spPr>
          <a:xfrm>
            <a:off x="4553712" y="3200400"/>
            <a:ext cx="3108960" cy="777240"/>
          </a:xfrm>
          <a:prstGeom prst="rect">
            <a:avLst/>
          </a:prstGeom>
          <a:noFill/>
          <a:ln/>
        </p:spPr>
        <p:txBody>
          <a:bodyPr wrap="square" lIns="0" tIns="0" rIns="0" bIns="0" rtlCol="0" anchor="t"/>
          <a:lstStyle/>
          <a:p>
            <a:pPr marL="0" indent="0">
              <a:buNone/>
            </a:pPr>
            <a:r>
              <a:rPr lang="en-US" sz="1400" dirty="0">
                <a:solidFill>
                  <a:schemeClr val="tx1"/>
                </a:solidFill>
              </a:rPr>
              <a:t>Tune the app so reports are generated within 5 seconds.</a:t>
            </a:r>
            <a:endParaRPr lang="en-US" sz="1400" dirty="0"/>
          </a:p>
        </p:txBody>
      </p:sp>
      <p:sp>
        <p:nvSpPr>
          <p:cNvPr id="17" name="Step arrow 2"/>
          <p:cNvSpPr/>
          <p:nvPr/>
        </p:nvSpPr>
        <p:spPr>
          <a:xfrm>
            <a:off x="7891272" y="2880360"/>
            <a:ext cx="182880" cy="0"/>
          </a:xfrm>
          <a:prstGeom prst="line">
            <a:avLst/>
          </a:prstGeom>
          <a:noFill/>
          <a:ln w="25400">
            <a:solidFill>
              <a:schemeClr val="accent5"/>
            </a:solidFill>
            <a:prstDash val="solid"/>
            <a:tailEnd type="triangle"/>
          </a:ln>
        </p:spPr>
      </p:sp>
      <p:sp>
        <p:nvSpPr>
          <p:cNvPr id="18" name="Deploy card"/>
          <p:cNvSpPr/>
          <p:nvPr/>
        </p:nvSpPr>
        <p:spPr>
          <a:xfrm>
            <a:off x="8101584" y="1691640"/>
            <a:ext cx="3538728" cy="2377440"/>
          </a:xfrm>
          <a:prstGeom prst="roundRect">
            <a:avLst>
              <a:gd name="adj" fmla="val 4615"/>
            </a:avLst>
          </a:prstGeom>
          <a:solidFill>
            <a:schemeClr val="bg1"/>
          </a:solidFill>
          <a:ln/>
          <a:effectLst>
            <a:outerShdw blurRad="101600" dist="25400" dir="5400000" algn="bl" rotWithShape="0">
              <a:srgbClr val="0B1630">
                <a:alpha val="12000"/>
              </a:srgbClr>
            </a:outerShdw>
          </a:effectLst>
        </p:spPr>
      </p:sp>
      <p:sp>
        <p:nvSpPr>
          <p:cNvPr id="19" name="Deploy circle"/>
          <p:cNvSpPr/>
          <p:nvPr/>
        </p:nvSpPr>
        <p:spPr>
          <a:xfrm>
            <a:off x="8330184" y="1920240"/>
            <a:ext cx="640080" cy="640080"/>
          </a:xfrm>
          <a:prstGeom prst="ellipse">
            <a:avLst/>
          </a:prstGeom>
          <a:solidFill>
            <a:schemeClr val="accent3"/>
          </a:solidFill>
          <a:ln/>
        </p:spPr>
      </p:sp>
      <p:pic>
        <p:nvPicPr>
          <p:cNvPr id="20" name="Image 2" descr="Deploy"/>
          <p:cNvPicPr>
            <a:picLocks noChangeAspect="1"/>
          </p:cNvPicPr>
          <p:nvPr/>
        </p:nvPicPr>
        <p:blipFill>
          <a:blip r:embed="rId5"/>
          <a:stretch>
            <a:fillRect/>
          </a:stretch>
        </p:blipFill>
        <p:spPr>
          <a:xfrm>
            <a:off x="8483803" y="2073859"/>
            <a:ext cx="332842" cy="332842"/>
          </a:xfrm>
          <a:prstGeom prst="rect">
            <a:avLst/>
          </a:prstGeom>
        </p:spPr>
      </p:pic>
      <p:sp>
        <p:nvSpPr>
          <p:cNvPr id="21" name="Text 16"/>
          <p:cNvSpPr txBox="1"/>
          <p:nvPr/>
        </p:nvSpPr>
        <p:spPr>
          <a:xfrm>
            <a:off x="8330184" y="2743200"/>
            <a:ext cx="3108960" cy="365760"/>
          </a:xfrm>
          <a:prstGeom prst="rect">
            <a:avLst/>
          </a:prstGeom>
          <a:noFill/>
          <a:ln/>
        </p:spPr>
        <p:txBody>
          <a:bodyPr wrap="square" lIns="0" tIns="0" rIns="0" bIns="0" rtlCol="0" anchor="ctr"/>
          <a:lstStyle/>
          <a:p>
            <a:pPr marL="0" indent="0">
              <a:buNone/>
            </a:pPr>
            <a:r>
              <a:rPr lang="en-US" sz="2200" b="1" dirty="0">
                <a:solidFill>
                  <a:schemeClr val="tx2"/>
                </a:solidFill>
              </a:rPr>
              <a:t>Deploy</a:t>
            </a:r>
            <a:endParaRPr lang="en-US" sz="2200" dirty="0"/>
          </a:p>
        </p:txBody>
      </p:sp>
      <p:sp>
        <p:nvSpPr>
          <p:cNvPr id="22" name="Text 17"/>
          <p:cNvSpPr txBox="1"/>
          <p:nvPr/>
        </p:nvSpPr>
        <p:spPr>
          <a:xfrm>
            <a:off x="8330184" y="3200400"/>
            <a:ext cx="3108960" cy="777240"/>
          </a:xfrm>
          <a:prstGeom prst="rect">
            <a:avLst/>
          </a:prstGeom>
          <a:noFill/>
          <a:ln/>
        </p:spPr>
        <p:txBody>
          <a:bodyPr wrap="square" lIns="0" tIns="0" rIns="0" bIns="0" rtlCol="0" anchor="t"/>
          <a:lstStyle/>
          <a:p>
            <a:pPr marL="0" indent="0">
              <a:buNone/>
            </a:pPr>
            <a:r>
              <a:rPr lang="en-US" sz="1400" dirty="0">
                <a:solidFill>
                  <a:schemeClr val="tx1"/>
                </a:solidFill>
              </a:rPr>
              <a:t>Publish the Streamlit app online so anyone can use it from a browser.</a:t>
            </a:r>
            <a:endParaRPr lang="en-US" sz="1400" dirty="0"/>
          </a:p>
        </p:txBody>
      </p:sp>
      <p:sp>
        <p:nvSpPr>
          <p:cNvPr id="23" name="Link card">
            <a:hlinkClick r:id="rId6"/>
          </p:cNvPr>
          <p:cNvSpPr/>
          <p:nvPr/>
        </p:nvSpPr>
        <p:spPr>
          <a:xfrm>
            <a:off x="548640" y="4343400"/>
            <a:ext cx="11091672" cy="1783080"/>
          </a:xfrm>
          <a:prstGeom prst="roundRect">
            <a:avLst>
              <a:gd name="adj" fmla="val 6154"/>
            </a:avLst>
          </a:prstGeom>
          <a:solidFill>
            <a:schemeClr val="accent1"/>
          </a:solidFill>
          <a:ln/>
        </p:spPr>
      </p:sp>
      <p:sp>
        <p:nvSpPr>
          <p:cNvPr id="24" name="Text 19"/>
          <p:cNvSpPr txBox="1"/>
          <p:nvPr/>
        </p:nvSpPr>
        <p:spPr>
          <a:xfrm>
            <a:off x="914400" y="4553712"/>
            <a:ext cx="5486400" cy="274320"/>
          </a:xfrm>
          <a:prstGeom prst="rect">
            <a:avLst/>
          </a:prstGeom>
          <a:noFill/>
          <a:ln/>
        </p:spPr>
        <p:txBody>
          <a:bodyPr wrap="square" lIns="0" tIns="0" rIns="0" bIns="0" rtlCol="0" anchor="ctr"/>
          <a:lstStyle/>
          <a:p>
            <a:pPr marL="0" indent="0">
              <a:buNone/>
            </a:pPr>
            <a:r>
              <a:rPr lang="en-US" sz="1300" b="1" kern="0" spc="200" dirty="0">
                <a:solidFill>
                  <a:schemeClr val="bg1"/>
                </a:solidFill>
              </a:rPr>
              <a:t>LIVE DEPLOYMENT</a:t>
            </a:r>
            <a:endParaRPr lang="en-US" sz="1300" dirty="0"/>
          </a:p>
        </p:txBody>
      </p:sp>
      <p:sp>
        <p:nvSpPr>
          <p:cNvPr id="25" name="Text 20"/>
          <p:cNvSpPr txBox="1"/>
          <p:nvPr/>
        </p:nvSpPr>
        <p:spPr>
          <a:xfrm>
            <a:off x="914400" y="4937760"/>
            <a:ext cx="10332720" cy="640080"/>
          </a:xfrm>
          <a:prstGeom prst="rect">
            <a:avLst/>
          </a:prstGeom>
          <a:noFill/>
          <a:ln/>
        </p:spPr>
        <p:txBody>
          <a:bodyPr wrap="square" lIns="0" tIns="0" rIns="0" bIns="0" rtlCol="0" anchor="ctr"/>
          <a:lstStyle/>
          <a:p>
            <a:pPr marL="0" indent="0">
              <a:buNone/>
            </a:pPr>
            <a:r>
              <a:rPr lang="en-US" sz="3200" b="1" dirty="0">
                <a:solidFill>
                  <a:schemeClr val="bg1"/>
                </a:solidFill>
              </a:rPr>
              <a:t>https://prediction-ai-app.streamlit.app/</a:t>
            </a:r>
            <a:endParaRPr lang="en-US" sz="3200" dirty="0"/>
          </a:p>
        </p:txBody>
      </p:sp>
      <p:sp>
        <p:nvSpPr>
          <p:cNvPr id="26" name="Text 21"/>
          <p:cNvSpPr txBox="1"/>
          <p:nvPr/>
        </p:nvSpPr>
        <p:spPr>
          <a:xfrm>
            <a:off x="914400" y="5623560"/>
            <a:ext cx="7315200" cy="274320"/>
          </a:xfrm>
          <a:prstGeom prst="rect">
            <a:avLst/>
          </a:prstGeom>
          <a:noFill/>
          <a:ln/>
        </p:spPr>
        <p:txBody>
          <a:bodyPr wrap="square" lIns="0" tIns="0" rIns="0" bIns="0" rtlCol="0" anchor="ctr"/>
          <a:lstStyle/>
          <a:p>
            <a:pPr marL="0" indent="0">
              <a:buNone/>
            </a:pPr>
            <a:r>
              <a:rPr lang="en-US" sz="1400" dirty="0">
                <a:solidFill>
                  <a:schemeClr val="bg2"/>
                </a:solidFill>
              </a:rPr>
              <a:t>Open in any browser to try Prediction AI</a:t>
            </a:r>
            <a:endParaRPr lang="en-US" sz="1400" dirty="0"/>
          </a:p>
        </p:txBody>
      </p:sp>
      <p:sp>
        <p:nvSpPr>
          <p:cNvPr id="27"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pPr algn="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365760"/>
            <a:ext cx="9875520" cy="685800"/>
          </a:xfrm>
          <a:prstGeom prst="rect">
            <a:avLst/>
          </a:prstGeom>
          <a:noFill/>
          <a:ln/>
        </p:spPr>
        <p:txBody>
          <a:bodyPr wrap="square" lIns="0" tIns="0" rIns="0" bIns="0" rtlCol="0" anchor="ctr"/>
          <a:lstStyle/>
          <a:p>
            <a:pPr marL="0" indent="0" algn="l">
              <a:buNone/>
            </a:pPr>
            <a:r>
              <a:rPr lang="en-US" sz="3600" b="1" dirty="0">
                <a:solidFill>
                  <a:schemeClr val="bg1"/>
                </a:solidFill>
              </a:rPr>
              <a:t>Closure</a:t>
            </a:r>
            <a:endParaRPr lang="en-US" sz="3600" dirty="0"/>
          </a:p>
        </p:txBody>
      </p:sp>
      <p:sp>
        <p:nvSpPr>
          <p:cNvPr id="3" name="Text 1"/>
          <p:cNvSpPr txBox="1"/>
          <p:nvPr/>
        </p:nvSpPr>
        <p:spPr>
          <a:xfrm>
            <a:off x="548640" y="1828800"/>
            <a:ext cx="5120640" cy="1097280"/>
          </a:xfrm>
          <a:prstGeom prst="rect">
            <a:avLst/>
          </a:prstGeom>
          <a:noFill/>
          <a:ln/>
        </p:spPr>
        <p:txBody>
          <a:bodyPr wrap="square" lIns="0" tIns="0" rIns="0" bIns="0" rtlCol="0" anchor="ctr"/>
          <a:lstStyle/>
          <a:p>
            <a:pPr marL="0" indent="0">
              <a:buNone/>
            </a:pPr>
            <a:r>
              <a:rPr lang="en-US" sz="6000" b="1" dirty="0">
                <a:solidFill>
                  <a:schemeClr val="bg1"/>
                </a:solidFill>
                <a:latin typeface="Cambria" pitchFamily="34" charset="0"/>
                <a:ea typeface="Cambria" pitchFamily="34" charset="-122"/>
                <a:cs typeface="Cambria" pitchFamily="34" charset="-120"/>
              </a:rPr>
              <a:t>Thank you</a:t>
            </a:r>
            <a:endParaRPr lang="en-US" sz="6000" dirty="0"/>
          </a:p>
        </p:txBody>
      </p:sp>
      <p:sp>
        <p:nvSpPr>
          <p:cNvPr id="4" name="Text 2"/>
          <p:cNvSpPr txBox="1"/>
          <p:nvPr/>
        </p:nvSpPr>
        <p:spPr>
          <a:xfrm>
            <a:off x="548640" y="3154680"/>
            <a:ext cx="4937760" cy="1371600"/>
          </a:xfrm>
          <a:prstGeom prst="rect">
            <a:avLst/>
          </a:prstGeom>
          <a:noFill/>
          <a:ln/>
        </p:spPr>
        <p:txBody>
          <a:bodyPr wrap="square" lIns="0" tIns="0" rIns="0" bIns="0" rtlCol="0" anchor="t"/>
          <a:lstStyle/>
          <a:p>
            <a:pPr marL="0" indent="0">
              <a:buNone/>
            </a:pPr>
            <a:r>
              <a:rPr lang="en-US" sz="2000" dirty="0">
                <a:solidFill>
                  <a:schemeClr val="bg2"/>
                </a:solidFill>
              </a:rPr>
              <a:t>Prediction AI helps founders and students see the risks before they invest, and gives them clear steps to reduce them.</a:t>
            </a:r>
            <a:endParaRPr lang="en-US" sz="2000" dirty="0"/>
          </a:p>
        </p:txBody>
      </p:sp>
      <p:sp>
        <p:nvSpPr>
          <p:cNvPr id="5" name="Text 3"/>
          <p:cNvSpPr txBox="1"/>
          <p:nvPr/>
        </p:nvSpPr>
        <p:spPr>
          <a:xfrm>
            <a:off x="548640" y="4754880"/>
            <a:ext cx="4937760" cy="640080"/>
          </a:xfrm>
          <a:prstGeom prst="rect">
            <a:avLst/>
          </a:prstGeom>
          <a:noFill/>
          <a:ln/>
        </p:spPr>
        <p:txBody>
          <a:bodyPr wrap="square" lIns="0" tIns="0" rIns="0" bIns="0" rtlCol="0" anchor="ctr"/>
          <a:lstStyle/>
          <a:p>
            <a:pPr marL="0" indent="0">
              <a:buNone/>
            </a:pPr>
            <a:r>
              <a:rPr lang="en-US" sz="3000" b="1" dirty="0">
                <a:solidFill>
                  <a:schemeClr val="accent3"/>
                </a:solidFill>
              </a:rPr>
              <a:t>Questions?</a:t>
            </a:r>
            <a:endParaRPr lang="en-US" sz="3000" dirty="0"/>
          </a:p>
        </p:txBody>
      </p:sp>
      <p:sp>
        <p:nvSpPr>
          <p:cNvPr id="6" name="Delivered card 1"/>
          <p:cNvSpPr/>
          <p:nvPr/>
        </p:nvSpPr>
        <p:spPr>
          <a:xfrm>
            <a:off x="5943600" y="1737360"/>
            <a:ext cx="2743200" cy="1828800"/>
          </a:xfrm>
          <a:prstGeom prst="roundRect">
            <a:avLst>
              <a:gd name="adj" fmla="val 6000"/>
            </a:avLst>
          </a:prstGeom>
          <a:solidFill>
            <a:schemeClr val="bg1">
              <a:alpha val="10000"/>
            </a:schemeClr>
          </a:solidFill>
          <a:ln/>
        </p:spPr>
      </p:sp>
      <p:pic>
        <p:nvPicPr>
          <p:cNvPr id="7" name="Image 0" descr="Check"/>
          <p:cNvPicPr>
            <a:picLocks noChangeAspect="1"/>
          </p:cNvPicPr>
          <p:nvPr/>
        </p:nvPicPr>
        <p:blipFill>
          <a:blip r:embed="rId3"/>
          <a:stretch>
            <a:fillRect/>
          </a:stretch>
        </p:blipFill>
        <p:spPr>
          <a:xfrm>
            <a:off x="6172200" y="2011680"/>
            <a:ext cx="365760" cy="365760"/>
          </a:xfrm>
          <a:prstGeom prst="rect">
            <a:avLst/>
          </a:prstGeom>
        </p:spPr>
      </p:pic>
      <p:sp>
        <p:nvSpPr>
          <p:cNvPr id="8" name="Text 5"/>
          <p:cNvSpPr txBox="1"/>
          <p:nvPr/>
        </p:nvSpPr>
        <p:spPr>
          <a:xfrm>
            <a:off x="6172200" y="2606040"/>
            <a:ext cx="2286000" cy="822960"/>
          </a:xfrm>
          <a:prstGeom prst="rect">
            <a:avLst/>
          </a:prstGeom>
          <a:noFill/>
          <a:ln/>
        </p:spPr>
        <p:txBody>
          <a:bodyPr wrap="square" lIns="0" tIns="0" rIns="0" bIns="0" rtlCol="0" anchor="t"/>
          <a:lstStyle/>
          <a:p>
            <a:pPr marL="0" indent="0">
              <a:buNone/>
            </a:pPr>
            <a:r>
              <a:rPr lang="en-US" sz="1600" b="1" dirty="0">
                <a:solidFill>
                  <a:schemeClr val="bg1"/>
                </a:solidFill>
              </a:rPr>
              <a:t>Risk score and success probability</a:t>
            </a:r>
            <a:endParaRPr lang="en-US" sz="1600" dirty="0"/>
          </a:p>
        </p:txBody>
      </p:sp>
      <p:sp>
        <p:nvSpPr>
          <p:cNvPr id="9" name="Delivered card 2"/>
          <p:cNvSpPr/>
          <p:nvPr/>
        </p:nvSpPr>
        <p:spPr>
          <a:xfrm>
            <a:off x="8869680" y="1737360"/>
            <a:ext cx="2743200" cy="1828800"/>
          </a:xfrm>
          <a:prstGeom prst="roundRect">
            <a:avLst>
              <a:gd name="adj" fmla="val 6000"/>
            </a:avLst>
          </a:prstGeom>
          <a:solidFill>
            <a:schemeClr val="bg1">
              <a:alpha val="10000"/>
            </a:schemeClr>
          </a:solidFill>
          <a:ln/>
        </p:spPr>
      </p:sp>
      <p:pic>
        <p:nvPicPr>
          <p:cNvPr id="10" name="Image 1" descr="Check"/>
          <p:cNvPicPr>
            <a:picLocks noChangeAspect="1"/>
          </p:cNvPicPr>
          <p:nvPr/>
        </p:nvPicPr>
        <p:blipFill>
          <a:blip r:embed="rId3"/>
          <a:stretch>
            <a:fillRect/>
          </a:stretch>
        </p:blipFill>
        <p:spPr>
          <a:xfrm>
            <a:off x="9098280" y="2011680"/>
            <a:ext cx="365760" cy="365760"/>
          </a:xfrm>
          <a:prstGeom prst="rect">
            <a:avLst/>
          </a:prstGeom>
        </p:spPr>
      </p:pic>
      <p:sp>
        <p:nvSpPr>
          <p:cNvPr id="11" name="Text 7"/>
          <p:cNvSpPr txBox="1"/>
          <p:nvPr/>
        </p:nvSpPr>
        <p:spPr>
          <a:xfrm>
            <a:off x="9098280" y="2606040"/>
            <a:ext cx="2286000" cy="822960"/>
          </a:xfrm>
          <a:prstGeom prst="rect">
            <a:avLst/>
          </a:prstGeom>
          <a:noFill/>
          <a:ln/>
        </p:spPr>
        <p:txBody>
          <a:bodyPr wrap="square" lIns="0" tIns="0" rIns="0" bIns="0" rtlCol="0" anchor="t"/>
          <a:lstStyle/>
          <a:p>
            <a:pPr marL="0" indent="0">
              <a:buNone/>
            </a:pPr>
            <a:r>
              <a:rPr lang="en-US" sz="1600" b="1" dirty="0">
                <a:solidFill>
                  <a:schemeClr val="bg1"/>
                </a:solidFill>
              </a:rPr>
              <a:t>SWOT, feasibility and market intelligence</a:t>
            </a:r>
            <a:endParaRPr lang="en-US" sz="1600" dirty="0"/>
          </a:p>
        </p:txBody>
      </p:sp>
      <p:sp>
        <p:nvSpPr>
          <p:cNvPr id="12" name="Delivered card 3"/>
          <p:cNvSpPr/>
          <p:nvPr/>
        </p:nvSpPr>
        <p:spPr>
          <a:xfrm>
            <a:off x="5943600" y="3749040"/>
            <a:ext cx="2743200" cy="1828800"/>
          </a:xfrm>
          <a:prstGeom prst="roundRect">
            <a:avLst>
              <a:gd name="adj" fmla="val 6000"/>
            </a:avLst>
          </a:prstGeom>
          <a:solidFill>
            <a:schemeClr val="bg1">
              <a:alpha val="10000"/>
            </a:schemeClr>
          </a:solidFill>
          <a:ln/>
        </p:spPr>
      </p:sp>
      <p:pic>
        <p:nvPicPr>
          <p:cNvPr id="13" name="Image 2" descr="Check"/>
          <p:cNvPicPr>
            <a:picLocks noChangeAspect="1"/>
          </p:cNvPicPr>
          <p:nvPr/>
        </p:nvPicPr>
        <p:blipFill>
          <a:blip r:embed="rId3"/>
          <a:stretch>
            <a:fillRect/>
          </a:stretch>
        </p:blipFill>
        <p:spPr>
          <a:xfrm>
            <a:off x="6172200" y="4023360"/>
            <a:ext cx="365760" cy="365760"/>
          </a:xfrm>
          <a:prstGeom prst="rect">
            <a:avLst/>
          </a:prstGeom>
        </p:spPr>
      </p:pic>
      <p:sp>
        <p:nvSpPr>
          <p:cNvPr id="14" name="Text 9"/>
          <p:cNvSpPr txBox="1"/>
          <p:nvPr/>
        </p:nvSpPr>
        <p:spPr>
          <a:xfrm>
            <a:off x="6172200" y="4617720"/>
            <a:ext cx="2286000" cy="822960"/>
          </a:xfrm>
          <a:prstGeom prst="rect">
            <a:avLst/>
          </a:prstGeom>
          <a:noFill/>
          <a:ln/>
        </p:spPr>
        <p:txBody>
          <a:bodyPr wrap="square" lIns="0" tIns="0" rIns="0" bIns="0" rtlCol="0" anchor="t"/>
          <a:lstStyle/>
          <a:p>
            <a:pPr marL="0" indent="0">
              <a:buNone/>
            </a:pPr>
            <a:r>
              <a:rPr lang="en-US" sz="1600" b="1" dirty="0">
                <a:solidFill>
                  <a:schemeClr val="bg1"/>
                </a:solidFill>
              </a:rPr>
              <a:t>Gemini advice through a LangGraph agent</a:t>
            </a:r>
            <a:endParaRPr lang="en-US" sz="1600" dirty="0"/>
          </a:p>
        </p:txBody>
      </p:sp>
      <p:sp>
        <p:nvSpPr>
          <p:cNvPr id="15" name="Delivered card 4"/>
          <p:cNvSpPr/>
          <p:nvPr/>
        </p:nvSpPr>
        <p:spPr>
          <a:xfrm>
            <a:off x="8869680" y="3749040"/>
            <a:ext cx="2743200" cy="1828800"/>
          </a:xfrm>
          <a:prstGeom prst="roundRect">
            <a:avLst>
              <a:gd name="adj" fmla="val 6000"/>
            </a:avLst>
          </a:prstGeom>
          <a:solidFill>
            <a:schemeClr val="bg1">
              <a:alpha val="10000"/>
            </a:schemeClr>
          </a:solidFill>
          <a:ln/>
        </p:spPr>
      </p:sp>
      <p:pic>
        <p:nvPicPr>
          <p:cNvPr id="16" name="Image 3" descr="Check"/>
          <p:cNvPicPr>
            <a:picLocks noChangeAspect="1"/>
          </p:cNvPicPr>
          <p:nvPr/>
        </p:nvPicPr>
        <p:blipFill>
          <a:blip r:embed="rId3"/>
          <a:stretch>
            <a:fillRect/>
          </a:stretch>
        </p:blipFill>
        <p:spPr>
          <a:xfrm>
            <a:off x="9098280" y="4023360"/>
            <a:ext cx="365760" cy="365760"/>
          </a:xfrm>
          <a:prstGeom prst="rect">
            <a:avLst/>
          </a:prstGeom>
        </p:spPr>
      </p:pic>
      <p:sp>
        <p:nvSpPr>
          <p:cNvPr id="17" name="Text 11"/>
          <p:cNvSpPr txBox="1"/>
          <p:nvPr/>
        </p:nvSpPr>
        <p:spPr>
          <a:xfrm>
            <a:off x="9098280" y="4617720"/>
            <a:ext cx="2286000" cy="822960"/>
          </a:xfrm>
          <a:prstGeom prst="rect">
            <a:avLst/>
          </a:prstGeom>
          <a:noFill/>
          <a:ln/>
        </p:spPr>
        <p:txBody>
          <a:bodyPr wrap="square" lIns="0" tIns="0" rIns="0" bIns="0" rtlCol="0" anchor="t"/>
          <a:lstStyle/>
          <a:p>
            <a:pPr marL="0" indent="0">
              <a:buNone/>
            </a:pPr>
            <a:r>
              <a:rPr lang="en-US" sz="1600" b="1" dirty="0">
                <a:solidFill>
                  <a:schemeClr val="bg1"/>
                </a:solidFill>
              </a:rPr>
              <a:t>Dashboard with an exportable report</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pPr algn="r"/>
              <a:t>26</a:t>
            </a:fld>
            <a:endParaRPr lang="en-US"/>
          </a:p>
        </p:txBody>
      </p:sp>
    </p:spTree>
  </p:cSld>
  <p:clrMapOvr>
    <a:masterClrMapping/>
  </p:clrMapOvr>
</p:sld>
</file>

<file path=ppt/theme/theme1.xml><?xml version="1.0" encoding="utf-8"?>
<a:theme xmlns:a="http://schemas.openxmlformats.org/drawingml/2006/main" name="Prediction AI">
  <a:themeElements>
    <a:clrScheme name="Prediction AI">
      <a:dk1>
        <a:srgbClr val="0B1630"/>
      </a:dk1>
      <a:lt1>
        <a:srgbClr val="FFFFFF"/>
      </a:lt1>
      <a:dk2>
        <a:srgbClr val="14245A"/>
      </a:dk2>
      <a:lt2>
        <a:srgbClr val="EEF4FF"/>
      </a:lt2>
      <a:accent1>
        <a:srgbClr val="1F5EFF"/>
      </a:accent1>
      <a:accent2>
        <a:srgbClr val="E5484D"/>
      </a:accent2>
      <a:accent3>
        <a:srgbClr val="F5A524"/>
      </a:accent3>
      <a:accent4>
        <a:srgbClr val="18A957"/>
      </a:accent4>
      <a:accent5>
        <a:srgbClr val="5B6B8C"/>
      </a:accent5>
      <a:accent6>
        <a:srgbClr val="7C5CFF"/>
      </a:accent6>
      <a:hlink>
        <a:srgbClr val="1F5EFF"/>
      </a:hlink>
      <a:folHlink>
        <a:srgbClr val="7C5CFF"/>
      </a:folHlink>
    </a:clrScheme>
    <a:fontScheme name="Prediction 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TotalTime>
  <Words>3438</Words>
  <Application>Microsoft Office PowerPoint</Application>
  <PresentationFormat>Custom</PresentationFormat>
  <Paragraphs>562</Paragraphs>
  <Slides>26</Slides>
  <Notes>26</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Prediction AI</vt:lpstr>
      <vt:lpstr>Team D</vt:lpstr>
      <vt:lpstr>Prediction AI</vt:lpstr>
      <vt:lpstr>The Problem</vt:lpstr>
      <vt:lpstr>Objectives and Outcomes</vt:lpstr>
      <vt:lpstr>Core Modules</vt:lpstr>
      <vt:lpstr>Tech Stack</vt:lpstr>
      <vt:lpstr>Tech Stack Evolution</vt:lpstr>
      <vt:lpstr>System Flow</vt:lpstr>
      <vt:lpstr>System Architecture</vt:lpstr>
      <vt:lpstr>Risk Assessment Engine</vt:lpstr>
      <vt:lpstr>AI Recommendation Engine</vt:lpstr>
      <vt:lpstr>Database Structure</vt:lpstr>
      <vt:lpstr>Who It Helps and Success Targets</vt:lpstr>
      <vt:lpstr>Future Scope</vt:lpstr>
      <vt:lpstr>Milestone 1: Tasks and Tools</vt:lpstr>
      <vt:lpstr>Milestone 1: In Action</vt:lpstr>
      <vt:lpstr>Milestone 2: Tasks and Tools</vt:lpstr>
      <vt:lpstr>Milestone 2: In Action</vt:lpstr>
      <vt:lpstr>Milestone 2: Output</vt:lpstr>
      <vt:lpstr>Milestone 3: Tasks and Tools</vt:lpstr>
      <vt:lpstr>Milestone 3: Recommendations</vt:lpstr>
      <vt:lpstr>Milestone 3: Improvements and Agent</vt:lpstr>
      <vt:lpstr>Milestone 4: Tasks and Targets</vt:lpstr>
      <vt:lpstr>Milestone 4: In Action</vt:lpstr>
      <vt:lpstr>Milestone 4: Testing &amp; Deployment</vt:lpstr>
      <vt:lpstr>Closure</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Prediction AI - Startup &amp; Project Risk Analyzer</dc:title>
  <dc:subject>PptxGenJS Presentation</dc:subject>
  <dc:creator>Prediction AI</dc:creator>
  <cp:lastModifiedBy>user</cp:lastModifiedBy>
  <cp:revision>1</cp:revision>
  <dcterms:created xsi:type="dcterms:W3CDTF">2026-10-10T07:52:54Z</dcterms:created>
  <dcterms:modified xsi:type="dcterms:W3CDTF">2026-10-12T15:05:52Z</dcterms:modified>
</cp:coreProperties>
</file>