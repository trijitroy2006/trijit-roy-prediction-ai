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474" y="-114"/>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Prediction AI, a Startup &amp; Project Risk Analyzer. Milestone 1 collects project and market information; Milestone 2 does risk assessment, scoring, SWOT and feasibility. Milestone 3 (weeks 5-6) takes those outputs and generates recommendations and mitigation strategies. Three components: the AI Strategic Recommendation Engine, the Risk Mitigation &amp; Improvement Engine, and the LangGraph Agent Workflow.</a:t>
            </a:r>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building blocks. Python for the modular backend, Streamlit for the dashboard tabs, Gemini for strategic reasoning (API key comes from an environment variable and is never hard-coded), LangGraph for the agent workflow, and SQLite as a local database. Mention Demo Mode: without an API key the app still works and clearly labels output as Demo Mode.</a:t>
            </a:r>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pipeline: Input, Project Analysis, Risk Analysis, Strategic Recommendation, Mitigation Strategy, Improvement Suggestions, Final Response. Each step is a separate LangGraph node (analyze_project, analyze_risks, generate_recommendations, generate_mitigation, generate_improvements, generate_final_response). A shared state object connects them, and the final node combines everything.</a:t>
            </a:r>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Live-demo talking points for Milestone 3 only. 1) AI Recommendations, Gemini powered: cards ranked Critical / High / Medium. 2) Risk Mitigation: filter by category and see the mitigation for each risk, e.g. High Competition -&gt; Differentiation Strategy. 3) LangGraph Agent: click Run LangGraph Agent Workflow, the panel steps through Data Ingestion, Risk Analysis, Strategic Reasoning, Validation and Report Generation, and finishes with the Agent Workflow Complete message.</a:t>
            </a:r>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uses a simple local SQLite database so it runs in Replit without any external server. The projects table holds the project information, risk score, feasibility and the analysis date/time. Four child tables link back through project_id: risks, recommendations, mitigation_strategies and improvement_suggestions. Fields follow what the app stores for each result type (for example mitigation: strategy, preventive action, contingency action, priority).</a:t>
            </a:r>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project structure, one file per responsibility. config.py reads the API key from an environment variable, llm_service.py handles Gemini and Demo Mode, and the three engine files produce recommendations, mitigations and improvements. Right: a simplified view of workflow.py, where the six nodes are registered on a LangGraph StateGraph with a shared state and linked in order from analyze_project to generate_final_response.</a:t>
            </a:r>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Milestone 3 delivers AI recommendations tied to identified risks, mitigation strategies with preventive and contingency actions, an improvement plan, a six-node LangGraph workflow with shared state, a Demo Mode that works without an API key, and stored results in SQLite. Thank the audience and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D"/>
        </a:solidFill>
        <a:effectLst/>
      </p:bgPr>
    </p:bg>
    <p:spTree>
      <p:nvGrpSpPr>
        <p:cNvPr id="1" name=""/>
        <p:cNvGrpSpPr/>
        <p:nvPr/>
      </p:nvGrpSpPr>
      <p:grpSpPr>
        <a:xfrm>
          <a:off x="0" y="0"/>
          <a:ext cx="0" cy="0"/>
          <a:chOff x="0" y="0"/>
          <a:chExt cx="0" cy="0"/>
        </a:xfrm>
      </p:grpSpPr>
      <p:sp>
        <p:nvSpPr>
          <p:cNvPr id="2" name="Shape 0"/>
          <p:cNvSpPr/>
          <p:nvPr/>
        </p:nvSpPr>
        <p:spPr>
          <a:xfrm>
            <a:off x="640080" y="914400"/>
            <a:ext cx="4846320" cy="384048"/>
          </a:xfrm>
          <a:prstGeom prst="roundRect">
            <a:avLst>
              <a:gd name="adj" fmla="val 50000"/>
            </a:avLst>
          </a:prstGeom>
          <a:solidFill>
            <a:srgbClr val="1B2A55"/>
          </a:solidFill>
          <a:ln w="6350">
            <a:solidFill>
              <a:srgbClr val="1B2A55"/>
            </a:solidFill>
            <a:prstDash val="solid"/>
          </a:ln>
        </p:spPr>
      </p:sp>
      <p:sp>
        <p:nvSpPr>
          <p:cNvPr id="3" name="Text 1"/>
          <p:cNvSpPr txBox="1"/>
          <p:nvPr/>
        </p:nvSpPr>
        <p:spPr>
          <a:xfrm>
            <a:off x="640080" y="914400"/>
            <a:ext cx="4846320" cy="384048"/>
          </a:xfrm>
          <a:prstGeom prst="rect">
            <a:avLst/>
          </a:prstGeom>
          <a:noFill/>
          <a:ln/>
        </p:spPr>
        <p:txBody>
          <a:bodyPr wrap="square" lIns="0" tIns="0" rIns="0" bIns="0" rtlCol="0" anchor="ctr"/>
          <a:lstStyle/>
          <a:p>
            <a:pPr marL="0" indent="0" algn="ctr">
              <a:buNone/>
            </a:pPr>
            <a:r>
              <a:rPr lang="en-US" sz="1200" b="1" kern="0" spc="100" dirty="0">
                <a:solidFill>
                  <a:srgbClr val="F5A524"/>
                </a:solidFill>
                <a:latin typeface="Calibri" pitchFamily="34" charset="0"/>
                <a:ea typeface="Calibri" pitchFamily="34" charset="-122"/>
                <a:cs typeface="Calibri" pitchFamily="34" charset="-120"/>
              </a:rPr>
              <a:t>INTRODUCTION  •  MILESTONE 3  </a:t>
            </a:r>
            <a:r>
              <a:rPr lang="en-US" sz="1200" b="1" kern="0" spc="100">
                <a:solidFill>
                  <a:srgbClr val="F5A524"/>
                </a:solidFill>
                <a:latin typeface="Calibri" pitchFamily="34" charset="0"/>
                <a:ea typeface="Calibri" pitchFamily="34" charset="-122"/>
                <a:cs typeface="Calibri" pitchFamily="34" charset="-120"/>
              </a:rPr>
              <a:t>•  </a:t>
            </a:r>
            <a:endParaRPr lang="en-US" sz="1200" dirty="0"/>
          </a:p>
        </p:txBody>
      </p:sp>
      <p:sp>
        <p:nvSpPr>
          <p:cNvPr id="4" name="Text 2"/>
          <p:cNvSpPr txBox="1"/>
          <p:nvPr/>
        </p:nvSpPr>
        <p:spPr>
          <a:xfrm>
            <a:off x="640080" y="1600200"/>
            <a:ext cx="6400800" cy="86868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Prediction AI</a:t>
            </a:r>
            <a:endParaRPr lang="en-US" sz="4400" dirty="0"/>
          </a:p>
        </p:txBody>
      </p:sp>
      <p:sp>
        <p:nvSpPr>
          <p:cNvPr id="5" name="Text 3"/>
          <p:cNvSpPr txBox="1"/>
          <p:nvPr/>
        </p:nvSpPr>
        <p:spPr>
          <a:xfrm>
            <a:off x="640080" y="2468880"/>
            <a:ext cx="6400800" cy="457200"/>
          </a:xfrm>
          <a:prstGeom prst="rect">
            <a:avLst/>
          </a:prstGeom>
          <a:noFill/>
          <a:ln/>
        </p:spPr>
        <p:txBody>
          <a:bodyPr wrap="square" lIns="0" tIns="0" rIns="0" bIns="0" rtlCol="0" anchor="ctr"/>
          <a:lstStyle/>
          <a:p>
            <a:pPr marL="0" indent="0">
              <a:buNone/>
            </a:pPr>
            <a:r>
              <a:rPr lang="en-US" sz="2200" dirty="0">
                <a:solidFill>
                  <a:srgbClr val="CADCFC"/>
                </a:solidFill>
                <a:latin typeface="Calibri" pitchFamily="34" charset="0"/>
                <a:ea typeface="Calibri" pitchFamily="34" charset="-122"/>
                <a:cs typeface="Calibri" pitchFamily="34" charset="-120"/>
              </a:rPr>
              <a:t>Startup &amp; Project Risk Analyzer</a:t>
            </a:r>
            <a:endParaRPr lang="en-US" sz="2200" dirty="0"/>
          </a:p>
        </p:txBody>
      </p:sp>
      <p:sp>
        <p:nvSpPr>
          <p:cNvPr id="6" name="Text 4"/>
          <p:cNvSpPr txBox="1"/>
          <p:nvPr/>
        </p:nvSpPr>
        <p:spPr>
          <a:xfrm>
            <a:off x="640080" y="3246120"/>
            <a:ext cx="640080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Recommendations &amp; Strategic Reasoning</a:t>
            </a:r>
            <a:endParaRPr lang="en-US" sz="2400" dirty="0"/>
          </a:p>
        </p:txBody>
      </p:sp>
      <p:sp>
        <p:nvSpPr>
          <p:cNvPr id="7" name="Text 5"/>
          <p:cNvSpPr txBox="1"/>
          <p:nvPr/>
        </p:nvSpPr>
        <p:spPr>
          <a:xfrm>
            <a:off x="640080" y="3840480"/>
            <a:ext cx="6309360" cy="1371600"/>
          </a:xfrm>
          <a:prstGeom prst="rect">
            <a:avLst/>
          </a:prstGeom>
          <a:noFill/>
          <a:ln/>
        </p:spPr>
        <p:txBody>
          <a:bodyPr wrap="square" lIns="0" tIns="0" rIns="0" bIns="0" rtlCol="0" anchor="t"/>
          <a:lstStyle/>
          <a:p>
            <a:pPr marL="0" indent="0">
              <a:buNone/>
            </a:pPr>
            <a:r>
              <a:rPr lang="en-US" sz="1600" dirty="0">
                <a:solidFill>
                  <a:srgbClr val="CADCFC"/>
                </a:solidFill>
                <a:latin typeface="Calibri" pitchFamily="34" charset="0"/>
                <a:ea typeface="Calibri" pitchFamily="34" charset="-122"/>
                <a:cs typeface="Calibri" pitchFamily="34" charset="-120"/>
              </a:rPr>
              <a:t>Milestone 3 turns the outputs of the earlier stages (project information, risk score, SWOT and feasibility) into clear actions: what the problem is, why it matters, what to do about it, and how that action reduces the risk.</a:t>
            </a:r>
            <a:endParaRPr lang="en-US" sz="1600" dirty="0"/>
          </a:p>
        </p:txBody>
      </p:sp>
      <p:sp>
        <p:nvSpPr>
          <p:cNvPr id="8" name="Text 6"/>
          <p:cNvSpPr txBox="1"/>
          <p:nvPr/>
        </p:nvSpPr>
        <p:spPr>
          <a:xfrm>
            <a:off x="7498080" y="960120"/>
            <a:ext cx="4114800" cy="274320"/>
          </a:xfrm>
          <a:prstGeom prst="rect">
            <a:avLst/>
          </a:prstGeom>
          <a:noFill/>
          <a:ln/>
        </p:spPr>
        <p:txBody>
          <a:bodyPr wrap="square" lIns="0" tIns="0" rIns="0" bIns="0" rtlCol="0" anchor="ctr"/>
          <a:lstStyle/>
          <a:p>
            <a:pPr marL="0" indent="0">
              <a:buNone/>
            </a:pPr>
            <a:r>
              <a:rPr lang="en-US" sz="1200" b="1" kern="0" spc="100" dirty="0">
                <a:solidFill>
                  <a:srgbClr val="F5A524"/>
                </a:solidFill>
                <a:latin typeface="Calibri" pitchFamily="34" charset="0"/>
                <a:ea typeface="Calibri" pitchFamily="34" charset="-122"/>
                <a:cs typeface="Calibri" pitchFamily="34" charset="-120"/>
              </a:rPr>
              <a:t>THREE MAJOR COMPONENTS</a:t>
            </a:r>
            <a:endParaRPr lang="en-US" sz="1200" dirty="0"/>
          </a:p>
        </p:txBody>
      </p:sp>
      <p:sp>
        <p:nvSpPr>
          <p:cNvPr id="9" name="Shape 7"/>
          <p:cNvSpPr/>
          <p:nvPr/>
        </p:nvSpPr>
        <p:spPr>
          <a:xfrm>
            <a:off x="7498080" y="1371600"/>
            <a:ext cx="4142232" cy="1463040"/>
          </a:xfrm>
          <a:prstGeom prst="roundRect">
            <a:avLst>
              <a:gd name="adj" fmla="val 7500"/>
            </a:avLst>
          </a:prstGeom>
          <a:solidFill>
            <a:srgbClr val="1B2A55"/>
          </a:solidFill>
          <a:ln w="9525">
            <a:solidFill>
              <a:srgbClr val="1B2A55"/>
            </a:solidFill>
            <a:prstDash val="solid"/>
          </a:ln>
        </p:spPr>
      </p:sp>
      <p:sp>
        <p:nvSpPr>
          <p:cNvPr id="10" name="Shape 8"/>
          <p:cNvSpPr/>
          <p:nvPr/>
        </p:nvSpPr>
        <p:spPr>
          <a:xfrm>
            <a:off x="7726680" y="1828800"/>
            <a:ext cx="548640" cy="548640"/>
          </a:xfrm>
          <a:prstGeom prst="ellipse">
            <a:avLst/>
          </a:prstGeom>
          <a:solidFill>
            <a:srgbClr val="2F5BEA"/>
          </a:solidFill>
          <a:ln w="6350">
            <a:solidFill>
              <a:srgbClr val="2F5BEA"/>
            </a:solidFill>
            <a:prstDash val="solid"/>
          </a:ln>
        </p:spPr>
      </p:sp>
      <p:pic>
        <p:nvPicPr>
          <p:cNvPr id="11" name="Image 0" descr="preencoded.png"/>
          <p:cNvPicPr>
            <a:picLocks noChangeAspect="1"/>
          </p:cNvPicPr>
          <p:nvPr/>
        </p:nvPicPr>
        <p:blipFill>
          <a:blip r:embed="rId3"/>
          <a:stretch>
            <a:fillRect/>
          </a:stretch>
        </p:blipFill>
        <p:spPr>
          <a:xfrm>
            <a:off x="7863840" y="1965960"/>
            <a:ext cx="274320" cy="274320"/>
          </a:xfrm>
          <a:prstGeom prst="rect">
            <a:avLst/>
          </a:prstGeom>
        </p:spPr>
      </p:pic>
      <p:sp>
        <p:nvSpPr>
          <p:cNvPr id="12" name="Text 9"/>
          <p:cNvSpPr txBox="1"/>
          <p:nvPr/>
        </p:nvSpPr>
        <p:spPr>
          <a:xfrm>
            <a:off x="8503920" y="1536192"/>
            <a:ext cx="2971800" cy="5029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AI Strategic Recommendation Engine</a:t>
            </a:r>
            <a:endParaRPr lang="en-US" sz="1600" dirty="0"/>
          </a:p>
        </p:txBody>
      </p:sp>
      <p:sp>
        <p:nvSpPr>
          <p:cNvPr id="13" name="Text 10"/>
          <p:cNvSpPr txBox="1"/>
          <p:nvPr/>
        </p:nvSpPr>
        <p:spPr>
          <a:xfrm>
            <a:off x="8503920" y="2084832"/>
            <a:ext cx="2971800" cy="640080"/>
          </a:xfrm>
          <a:prstGeom prst="rect">
            <a:avLst/>
          </a:prstGeom>
          <a:noFill/>
          <a:ln/>
        </p:spPr>
        <p:txBody>
          <a:bodyPr wrap="square" lIns="0" tIns="0" rIns="0" bIns="0" rtlCol="0" anchor="t"/>
          <a:lstStyle/>
          <a:p>
            <a:pPr marL="0" indent="0">
              <a:buNone/>
            </a:pPr>
            <a:r>
              <a:rPr lang="en-US" sz="1250" dirty="0">
                <a:solidFill>
                  <a:srgbClr val="CADCFC"/>
                </a:solidFill>
                <a:latin typeface="Calibri" pitchFamily="34" charset="0"/>
                <a:ea typeface="Calibri" pitchFamily="34" charset="-122"/>
                <a:cs typeface="Calibri" pitchFamily="34" charset="-120"/>
              </a:rPr>
              <a:t>Strategic, risk-based, market, technical, financial and operational advice.</a:t>
            </a:r>
            <a:endParaRPr lang="en-US" sz="1250" dirty="0"/>
          </a:p>
        </p:txBody>
      </p:sp>
      <p:sp>
        <p:nvSpPr>
          <p:cNvPr id="14" name="Shape 11"/>
          <p:cNvSpPr/>
          <p:nvPr/>
        </p:nvSpPr>
        <p:spPr>
          <a:xfrm>
            <a:off x="7498080" y="3017520"/>
            <a:ext cx="4142232" cy="1463040"/>
          </a:xfrm>
          <a:prstGeom prst="roundRect">
            <a:avLst>
              <a:gd name="adj" fmla="val 7500"/>
            </a:avLst>
          </a:prstGeom>
          <a:solidFill>
            <a:srgbClr val="1B2A55"/>
          </a:solidFill>
          <a:ln w="9525">
            <a:solidFill>
              <a:srgbClr val="1B2A55"/>
            </a:solidFill>
            <a:prstDash val="solid"/>
          </a:ln>
        </p:spPr>
      </p:sp>
      <p:sp>
        <p:nvSpPr>
          <p:cNvPr id="15" name="Shape 12"/>
          <p:cNvSpPr/>
          <p:nvPr/>
        </p:nvSpPr>
        <p:spPr>
          <a:xfrm>
            <a:off x="7726680" y="3474720"/>
            <a:ext cx="548640" cy="548640"/>
          </a:xfrm>
          <a:prstGeom prst="ellipse">
            <a:avLst/>
          </a:prstGeom>
          <a:solidFill>
            <a:srgbClr val="2F5BEA"/>
          </a:solidFill>
          <a:ln w="6350">
            <a:solidFill>
              <a:srgbClr val="2F5BEA"/>
            </a:solidFill>
            <a:prstDash val="solid"/>
          </a:ln>
        </p:spPr>
      </p:sp>
      <p:pic>
        <p:nvPicPr>
          <p:cNvPr id="16" name="Image 1" descr="preencoded.png"/>
          <p:cNvPicPr>
            <a:picLocks noChangeAspect="1"/>
          </p:cNvPicPr>
          <p:nvPr/>
        </p:nvPicPr>
        <p:blipFill>
          <a:blip r:embed="rId4"/>
          <a:stretch>
            <a:fillRect/>
          </a:stretch>
        </p:blipFill>
        <p:spPr>
          <a:xfrm>
            <a:off x="7863840" y="3611880"/>
            <a:ext cx="274320" cy="274320"/>
          </a:xfrm>
          <a:prstGeom prst="rect">
            <a:avLst/>
          </a:prstGeom>
        </p:spPr>
      </p:pic>
      <p:sp>
        <p:nvSpPr>
          <p:cNvPr id="17" name="Text 13"/>
          <p:cNvSpPr txBox="1"/>
          <p:nvPr/>
        </p:nvSpPr>
        <p:spPr>
          <a:xfrm>
            <a:off x="8503920" y="3182112"/>
            <a:ext cx="2971800" cy="5029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Risk Mitigation &amp; Improvement Engine</a:t>
            </a:r>
            <a:endParaRPr lang="en-US" sz="1600" dirty="0"/>
          </a:p>
        </p:txBody>
      </p:sp>
      <p:sp>
        <p:nvSpPr>
          <p:cNvPr id="18" name="Text 14"/>
          <p:cNvSpPr txBox="1"/>
          <p:nvPr/>
        </p:nvSpPr>
        <p:spPr>
          <a:xfrm>
            <a:off x="8503920" y="3730752"/>
            <a:ext cx="2971800" cy="640080"/>
          </a:xfrm>
          <a:prstGeom prst="rect">
            <a:avLst/>
          </a:prstGeom>
          <a:noFill/>
          <a:ln/>
        </p:spPr>
        <p:txBody>
          <a:bodyPr wrap="square" lIns="0" tIns="0" rIns="0" bIns="0" rtlCol="0" anchor="t"/>
          <a:lstStyle/>
          <a:p>
            <a:pPr marL="0" indent="0">
              <a:buNone/>
            </a:pPr>
            <a:r>
              <a:rPr lang="en-US" sz="1250" dirty="0">
                <a:solidFill>
                  <a:srgbClr val="CADCFC"/>
                </a:solidFill>
                <a:latin typeface="Calibri" pitchFamily="34" charset="0"/>
                <a:ea typeface="Calibri" pitchFamily="34" charset="-122"/>
                <a:cs typeface="Calibri" pitchFamily="34" charset="-120"/>
              </a:rPr>
              <a:t>A mitigation strategy for every major risk, plus practical improvements.</a:t>
            </a:r>
            <a:endParaRPr lang="en-US" sz="1250" dirty="0"/>
          </a:p>
        </p:txBody>
      </p:sp>
      <p:sp>
        <p:nvSpPr>
          <p:cNvPr id="19" name="Shape 15"/>
          <p:cNvSpPr/>
          <p:nvPr/>
        </p:nvSpPr>
        <p:spPr>
          <a:xfrm>
            <a:off x="7498080" y="4663440"/>
            <a:ext cx="4142232" cy="1463040"/>
          </a:xfrm>
          <a:prstGeom prst="roundRect">
            <a:avLst>
              <a:gd name="adj" fmla="val 7500"/>
            </a:avLst>
          </a:prstGeom>
          <a:solidFill>
            <a:srgbClr val="1B2A55"/>
          </a:solidFill>
          <a:ln w="9525">
            <a:solidFill>
              <a:srgbClr val="1B2A55"/>
            </a:solidFill>
            <a:prstDash val="solid"/>
          </a:ln>
        </p:spPr>
      </p:sp>
      <p:sp>
        <p:nvSpPr>
          <p:cNvPr id="20" name="Shape 16"/>
          <p:cNvSpPr/>
          <p:nvPr/>
        </p:nvSpPr>
        <p:spPr>
          <a:xfrm>
            <a:off x="7726680" y="5120640"/>
            <a:ext cx="548640" cy="548640"/>
          </a:xfrm>
          <a:prstGeom prst="ellipse">
            <a:avLst/>
          </a:prstGeom>
          <a:solidFill>
            <a:srgbClr val="2F5BEA"/>
          </a:solidFill>
          <a:ln w="6350">
            <a:solidFill>
              <a:srgbClr val="2F5BEA"/>
            </a:solidFill>
            <a:prstDash val="solid"/>
          </a:ln>
        </p:spPr>
      </p:sp>
      <p:pic>
        <p:nvPicPr>
          <p:cNvPr id="21" name="Image 2" descr="preencoded.png"/>
          <p:cNvPicPr>
            <a:picLocks noChangeAspect="1"/>
          </p:cNvPicPr>
          <p:nvPr/>
        </p:nvPicPr>
        <p:blipFill>
          <a:blip r:embed="rId5"/>
          <a:stretch>
            <a:fillRect/>
          </a:stretch>
        </p:blipFill>
        <p:spPr>
          <a:xfrm>
            <a:off x="7863840" y="5257800"/>
            <a:ext cx="274320" cy="274320"/>
          </a:xfrm>
          <a:prstGeom prst="rect">
            <a:avLst/>
          </a:prstGeom>
        </p:spPr>
      </p:pic>
      <p:sp>
        <p:nvSpPr>
          <p:cNvPr id="22" name="Text 17"/>
          <p:cNvSpPr txBox="1"/>
          <p:nvPr/>
        </p:nvSpPr>
        <p:spPr>
          <a:xfrm>
            <a:off x="8503920" y="4828032"/>
            <a:ext cx="2971800" cy="5029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LangGraph Agent Workflow</a:t>
            </a:r>
            <a:endParaRPr lang="en-US" sz="1600" dirty="0"/>
          </a:p>
        </p:txBody>
      </p:sp>
      <p:sp>
        <p:nvSpPr>
          <p:cNvPr id="23" name="Text 18"/>
          <p:cNvSpPr txBox="1"/>
          <p:nvPr/>
        </p:nvSpPr>
        <p:spPr>
          <a:xfrm>
            <a:off x="8503920" y="5376672"/>
            <a:ext cx="2971800" cy="640080"/>
          </a:xfrm>
          <a:prstGeom prst="rect">
            <a:avLst/>
          </a:prstGeom>
          <a:noFill/>
          <a:ln/>
        </p:spPr>
        <p:txBody>
          <a:bodyPr wrap="square" lIns="0" tIns="0" rIns="0" bIns="0" rtlCol="0" anchor="t"/>
          <a:lstStyle/>
          <a:p>
            <a:pPr marL="0" indent="0">
              <a:buNone/>
            </a:pPr>
            <a:r>
              <a:rPr lang="en-US" sz="1250" dirty="0">
                <a:solidFill>
                  <a:srgbClr val="CADCFC"/>
                </a:solidFill>
                <a:latin typeface="Calibri" pitchFamily="34" charset="0"/>
                <a:ea typeface="Calibri" pitchFamily="34" charset="-122"/>
                <a:cs typeface="Calibri" pitchFamily="34" charset="-120"/>
              </a:rPr>
              <a:t>Six connected nodes sharing one state, from input to final response.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B"/>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640080"/>
          </a:xfrm>
          <a:prstGeom prst="rect">
            <a:avLst/>
          </a:prstGeom>
          <a:noFill/>
          <a:ln/>
        </p:spPr>
        <p:txBody>
          <a:bodyPr wrap="square" lIns="0" tIns="0" rIns="0" bIns="0" rtlCol="0" anchor="ctr"/>
          <a:lstStyle/>
          <a:p>
            <a:pPr marL="0" indent="0">
              <a:buNone/>
            </a:pPr>
            <a:r>
              <a:rPr lang="en-US" sz="3800" b="1" dirty="0">
                <a:solidFill>
                  <a:srgbClr val="0F1B3D"/>
                </a:solidFill>
                <a:latin typeface="Cambria" pitchFamily="34" charset="0"/>
                <a:ea typeface="Cambria" pitchFamily="34" charset="-122"/>
                <a:cs typeface="Cambria" pitchFamily="34" charset="-120"/>
              </a:rPr>
              <a:t>Tech Stack</a:t>
            </a:r>
            <a:endParaRPr lang="en-US" sz="3800" dirty="0"/>
          </a:p>
        </p:txBody>
      </p:sp>
      <p:sp>
        <p:nvSpPr>
          <p:cNvPr id="3" name="Text 1"/>
          <p:cNvSpPr txBox="1"/>
          <p:nvPr/>
        </p:nvSpPr>
        <p:spPr>
          <a:xfrm>
            <a:off x="548640" y="1005840"/>
            <a:ext cx="10972800" cy="365760"/>
          </a:xfrm>
          <a:prstGeom prst="rect">
            <a:avLst/>
          </a:prstGeom>
          <a:noFill/>
          <a:ln/>
        </p:spPr>
        <p:txBody>
          <a:bodyPr wrap="square" lIns="0" tIns="0" rIns="0" bIns="0" rtlCol="0" anchor="ctr"/>
          <a:lstStyle/>
          <a:p>
            <a:pPr marL="0" indent="0">
              <a:buNone/>
            </a:pPr>
            <a:r>
              <a:rPr lang="en-US" sz="1600" dirty="0">
                <a:solidFill>
                  <a:srgbClr val="5B6478"/>
                </a:solidFill>
                <a:latin typeface="Calibri" pitchFamily="34" charset="0"/>
                <a:ea typeface="Calibri" pitchFamily="34" charset="-122"/>
                <a:cs typeface="Calibri" pitchFamily="34" charset="-120"/>
              </a:rPr>
              <a:t>Simple, beginner-friendly tools for the Milestone 3 build</a:t>
            </a:r>
            <a:endParaRPr lang="en-US" sz="1600" dirty="0"/>
          </a:p>
        </p:txBody>
      </p:sp>
      <p:sp>
        <p:nvSpPr>
          <p:cNvPr id="5" name="Text 3"/>
          <p:cNvSpPr txBox="1"/>
          <p:nvPr/>
        </p:nvSpPr>
        <p:spPr>
          <a:xfrm>
            <a:off x="10271455" y="6400800"/>
            <a:ext cx="1371600" cy="228600"/>
          </a:xfrm>
          <a:prstGeom prst="rect">
            <a:avLst/>
          </a:prstGeom>
          <a:noFill/>
          <a:ln/>
        </p:spPr>
        <p:txBody>
          <a:bodyPr wrap="square" lIns="0" tIns="0" rIns="0" bIns="0" rtlCol="0" anchor="ctr"/>
          <a:lstStyle/>
          <a:p>
            <a:pPr marL="0" indent="0" algn="r">
              <a:buNone/>
            </a:pPr>
            <a:r>
              <a:rPr lang="en-US" sz="1000" dirty="0">
                <a:solidFill>
                  <a:srgbClr val="5B6478"/>
                </a:solidFill>
                <a:latin typeface="Calibri" pitchFamily="34" charset="0"/>
                <a:ea typeface="Calibri" pitchFamily="34" charset="-122"/>
                <a:cs typeface="Calibri" pitchFamily="34" charset="-120"/>
              </a:rPr>
              <a:t>2 / 7</a:t>
            </a:r>
            <a:endParaRPr lang="en-US" sz="1000" dirty="0"/>
          </a:p>
        </p:txBody>
      </p:sp>
      <p:sp>
        <p:nvSpPr>
          <p:cNvPr id="6" name="Shape 4"/>
          <p:cNvSpPr/>
          <p:nvPr/>
        </p:nvSpPr>
        <p:spPr>
          <a:xfrm>
            <a:off x="548640" y="1645920"/>
            <a:ext cx="3520440" cy="1920240"/>
          </a:xfrm>
          <a:prstGeom prst="roundRect">
            <a:avLst>
              <a:gd name="adj" fmla="val 5714"/>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7" name="Shape 5"/>
          <p:cNvSpPr/>
          <p:nvPr/>
        </p:nvSpPr>
        <p:spPr>
          <a:xfrm>
            <a:off x="822960" y="1920240"/>
            <a:ext cx="594360" cy="594360"/>
          </a:xfrm>
          <a:prstGeom prst="ellipse">
            <a:avLst/>
          </a:prstGeom>
          <a:solidFill>
            <a:srgbClr val="2F5BEA"/>
          </a:solidFill>
          <a:ln w="6350">
            <a:solidFill>
              <a:srgbClr val="2F5BEA"/>
            </a:solidFill>
            <a:prstDash val="solid"/>
          </a:ln>
        </p:spPr>
      </p:sp>
      <p:pic>
        <p:nvPicPr>
          <p:cNvPr id="8" name="Image 0" descr="preencoded.png"/>
          <p:cNvPicPr>
            <a:picLocks noChangeAspect="1"/>
          </p:cNvPicPr>
          <p:nvPr/>
        </p:nvPicPr>
        <p:blipFill>
          <a:blip r:embed="rId3"/>
          <a:stretch>
            <a:fillRect/>
          </a:stretch>
        </p:blipFill>
        <p:spPr>
          <a:xfrm>
            <a:off x="971550" y="2068830"/>
            <a:ext cx="297180" cy="297180"/>
          </a:xfrm>
          <a:prstGeom prst="rect">
            <a:avLst/>
          </a:prstGeom>
        </p:spPr>
      </p:pic>
      <p:sp>
        <p:nvSpPr>
          <p:cNvPr id="9" name="Text 6"/>
          <p:cNvSpPr txBox="1"/>
          <p:nvPr/>
        </p:nvSpPr>
        <p:spPr>
          <a:xfrm>
            <a:off x="1600200" y="1920240"/>
            <a:ext cx="2240280" cy="320040"/>
          </a:xfrm>
          <a:prstGeom prst="rect">
            <a:avLst/>
          </a:prstGeom>
          <a:noFill/>
          <a:ln/>
        </p:spPr>
        <p:txBody>
          <a:bodyPr wrap="square" lIns="0" tIns="0" rIns="0" bIns="0" rtlCol="0" anchor="ctr"/>
          <a:lstStyle/>
          <a:p>
            <a:pPr marL="0" indent="0">
              <a:buNone/>
            </a:pPr>
            <a:r>
              <a:rPr lang="en-US" sz="2000" b="1" dirty="0">
                <a:solidFill>
                  <a:srgbClr val="0F1B3D"/>
                </a:solidFill>
                <a:latin typeface="Calibri" pitchFamily="34" charset="0"/>
                <a:ea typeface="Calibri" pitchFamily="34" charset="-122"/>
                <a:cs typeface="Calibri" pitchFamily="34" charset="-120"/>
              </a:rPr>
              <a:t>Python</a:t>
            </a:r>
            <a:endParaRPr lang="en-US" sz="2000" dirty="0"/>
          </a:p>
        </p:txBody>
      </p:sp>
      <p:sp>
        <p:nvSpPr>
          <p:cNvPr id="10" name="Text 7"/>
          <p:cNvSpPr txBox="1"/>
          <p:nvPr/>
        </p:nvSpPr>
        <p:spPr>
          <a:xfrm>
            <a:off x="1600200" y="2258568"/>
            <a:ext cx="2240280" cy="228600"/>
          </a:xfrm>
          <a:prstGeom prst="rect">
            <a:avLst/>
          </a:prstGeom>
          <a:noFill/>
          <a:ln/>
        </p:spPr>
        <p:txBody>
          <a:bodyPr wrap="square" lIns="0" tIns="0" rIns="0" bIns="0" rtlCol="0" anchor="ctr"/>
          <a:lstStyle/>
          <a:p>
            <a:pPr marL="0" indent="0">
              <a:buNone/>
            </a:pPr>
            <a:r>
              <a:rPr lang="en-US" sz="1100" b="1" kern="0" spc="100" dirty="0">
                <a:solidFill>
                  <a:srgbClr val="2F5BEA"/>
                </a:solidFill>
                <a:latin typeface="Calibri" pitchFamily="34" charset="0"/>
                <a:ea typeface="Calibri" pitchFamily="34" charset="-122"/>
                <a:cs typeface="Calibri" pitchFamily="34" charset="-120"/>
              </a:rPr>
              <a:t>CORE LANGUAGE</a:t>
            </a:r>
            <a:endParaRPr lang="en-US" sz="1100" dirty="0"/>
          </a:p>
        </p:txBody>
      </p:sp>
      <p:sp>
        <p:nvSpPr>
          <p:cNvPr id="11" name="Text 8"/>
          <p:cNvSpPr txBox="1"/>
          <p:nvPr/>
        </p:nvSpPr>
        <p:spPr>
          <a:xfrm>
            <a:off x="822960" y="2697480"/>
            <a:ext cx="2971800" cy="731520"/>
          </a:xfrm>
          <a:prstGeom prst="rect">
            <a:avLst/>
          </a:prstGeom>
          <a:noFill/>
          <a:ln/>
        </p:spPr>
        <p:txBody>
          <a:bodyPr wrap="square" lIns="0" tIns="0" rIns="0" bIns="0" rtlCol="0" anchor="t"/>
          <a:lstStyle/>
          <a:p>
            <a:pPr marL="0" indent="0">
              <a:buNone/>
            </a:pPr>
            <a:r>
              <a:rPr lang="en-US" sz="1350" dirty="0">
                <a:solidFill>
                  <a:srgbClr val="5B6478"/>
                </a:solidFill>
                <a:latin typeface="Calibri" pitchFamily="34" charset="0"/>
                <a:ea typeface="Calibri" pitchFamily="34" charset="-122"/>
                <a:cs typeface="Calibri" pitchFamily="34" charset="-120"/>
              </a:rPr>
              <a:t>Modular files, one per engine, with clear function names and comments.</a:t>
            </a:r>
            <a:endParaRPr lang="en-US" sz="1350" dirty="0"/>
          </a:p>
        </p:txBody>
      </p:sp>
      <p:sp>
        <p:nvSpPr>
          <p:cNvPr id="12" name="Shape 9"/>
          <p:cNvSpPr/>
          <p:nvPr/>
        </p:nvSpPr>
        <p:spPr>
          <a:xfrm>
            <a:off x="4334256" y="1645920"/>
            <a:ext cx="3520440" cy="1920240"/>
          </a:xfrm>
          <a:prstGeom prst="roundRect">
            <a:avLst>
              <a:gd name="adj" fmla="val 5714"/>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13" name="Shape 10"/>
          <p:cNvSpPr/>
          <p:nvPr/>
        </p:nvSpPr>
        <p:spPr>
          <a:xfrm>
            <a:off x="4608576" y="1920240"/>
            <a:ext cx="594360" cy="594360"/>
          </a:xfrm>
          <a:prstGeom prst="ellipse">
            <a:avLst/>
          </a:prstGeom>
          <a:solidFill>
            <a:srgbClr val="2F5BEA"/>
          </a:solidFill>
          <a:ln w="6350">
            <a:solidFill>
              <a:srgbClr val="2F5BEA"/>
            </a:solidFill>
            <a:prstDash val="solid"/>
          </a:ln>
        </p:spPr>
      </p:sp>
      <p:pic>
        <p:nvPicPr>
          <p:cNvPr id="14" name="Image 1" descr="preencoded.png"/>
          <p:cNvPicPr>
            <a:picLocks noChangeAspect="1"/>
          </p:cNvPicPr>
          <p:nvPr/>
        </p:nvPicPr>
        <p:blipFill>
          <a:blip r:embed="rId4"/>
          <a:stretch>
            <a:fillRect/>
          </a:stretch>
        </p:blipFill>
        <p:spPr>
          <a:xfrm>
            <a:off x="4757166" y="2068830"/>
            <a:ext cx="297180" cy="297180"/>
          </a:xfrm>
          <a:prstGeom prst="rect">
            <a:avLst/>
          </a:prstGeom>
        </p:spPr>
      </p:pic>
      <p:sp>
        <p:nvSpPr>
          <p:cNvPr id="15" name="Text 11"/>
          <p:cNvSpPr txBox="1"/>
          <p:nvPr/>
        </p:nvSpPr>
        <p:spPr>
          <a:xfrm>
            <a:off x="5385816" y="1920240"/>
            <a:ext cx="2240280" cy="320040"/>
          </a:xfrm>
          <a:prstGeom prst="rect">
            <a:avLst/>
          </a:prstGeom>
          <a:noFill/>
          <a:ln/>
        </p:spPr>
        <p:txBody>
          <a:bodyPr wrap="square" lIns="0" tIns="0" rIns="0" bIns="0" rtlCol="0" anchor="ctr"/>
          <a:lstStyle/>
          <a:p>
            <a:pPr marL="0" indent="0">
              <a:buNone/>
            </a:pPr>
            <a:r>
              <a:rPr lang="en-US" sz="2000" b="1" dirty="0">
                <a:solidFill>
                  <a:srgbClr val="0F1B3D"/>
                </a:solidFill>
                <a:latin typeface="Calibri" pitchFamily="34" charset="0"/>
                <a:ea typeface="Calibri" pitchFamily="34" charset="-122"/>
                <a:cs typeface="Calibri" pitchFamily="34" charset="-120"/>
              </a:rPr>
              <a:t>Streamlit</a:t>
            </a:r>
            <a:endParaRPr lang="en-US" sz="2000" dirty="0"/>
          </a:p>
        </p:txBody>
      </p:sp>
      <p:sp>
        <p:nvSpPr>
          <p:cNvPr id="16" name="Text 12"/>
          <p:cNvSpPr txBox="1"/>
          <p:nvPr/>
        </p:nvSpPr>
        <p:spPr>
          <a:xfrm>
            <a:off x="5385816" y="2258568"/>
            <a:ext cx="2240280" cy="228600"/>
          </a:xfrm>
          <a:prstGeom prst="rect">
            <a:avLst/>
          </a:prstGeom>
          <a:noFill/>
          <a:ln/>
        </p:spPr>
        <p:txBody>
          <a:bodyPr wrap="square" lIns="0" tIns="0" rIns="0" bIns="0" rtlCol="0" anchor="ctr"/>
          <a:lstStyle/>
          <a:p>
            <a:pPr marL="0" indent="0">
              <a:buNone/>
            </a:pPr>
            <a:r>
              <a:rPr lang="en-US" sz="1100" b="1" kern="0" spc="100" dirty="0">
                <a:solidFill>
                  <a:srgbClr val="2F5BEA"/>
                </a:solidFill>
                <a:latin typeface="Calibri" pitchFamily="34" charset="0"/>
                <a:ea typeface="Calibri" pitchFamily="34" charset="-122"/>
                <a:cs typeface="Calibri" pitchFamily="34" charset="-120"/>
              </a:rPr>
              <a:t>WEB DASHBOARD</a:t>
            </a:r>
            <a:endParaRPr lang="en-US" sz="1100" dirty="0"/>
          </a:p>
        </p:txBody>
      </p:sp>
      <p:sp>
        <p:nvSpPr>
          <p:cNvPr id="17" name="Text 13"/>
          <p:cNvSpPr txBox="1"/>
          <p:nvPr/>
        </p:nvSpPr>
        <p:spPr>
          <a:xfrm>
            <a:off x="4608576" y="2697480"/>
            <a:ext cx="2971800" cy="731520"/>
          </a:xfrm>
          <a:prstGeom prst="rect">
            <a:avLst/>
          </a:prstGeom>
          <a:noFill/>
          <a:ln/>
        </p:spPr>
        <p:txBody>
          <a:bodyPr wrap="square" lIns="0" tIns="0" rIns="0" bIns="0" rtlCol="0" anchor="t"/>
          <a:lstStyle/>
          <a:p>
            <a:pPr marL="0" indent="0">
              <a:buNone/>
            </a:pPr>
            <a:r>
              <a:rPr lang="en-US" sz="1350" dirty="0">
                <a:solidFill>
                  <a:srgbClr val="5B6478"/>
                </a:solidFill>
                <a:latin typeface="Calibri" pitchFamily="34" charset="0"/>
                <a:ea typeface="Calibri" pitchFamily="34" charset="-122"/>
                <a:cs typeface="Calibri" pitchFamily="34" charset="-120"/>
              </a:rPr>
              <a:t>Tabs for Project Input, Risk Assessment, Recommendations and Dashboard.</a:t>
            </a:r>
            <a:endParaRPr lang="en-US" sz="1350" dirty="0"/>
          </a:p>
        </p:txBody>
      </p:sp>
      <p:sp>
        <p:nvSpPr>
          <p:cNvPr id="18" name="Shape 14"/>
          <p:cNvSpPr/>
          <p:nvPr/>
        </p:nvSpPr>
        <p:spPr>
          <a:xfrm>
            <a:off x="8119872" y="1645920"/>
            <a:ext cx="3520440" cy="1920240"/>
          </a:xfrm>
          <a:prstGeom prst="roundRect">
            <a:avLst>
              <a:gd name="adj" fmla="val 5714"/>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19" name="Shape 15"/>
          <p:cNvSpPr/>
          <p:nvPr/>
        </p:nvSpPr>
        <p:spPr>
          <a:xfrm>
            <a:off x="8394192" y="1920240"/>
            <a:ext cx="594360" cy="594360"/>
          </a:xfrm>
          <a:prstGeom prst="ellipse">
            <a:avLst/>
          </a:prstGeom>
          <a:solidFill>
            <a:srgbClr val="6D28D9"/>
          </a:solidFill>
          <a:ln w="6350">
            <a:solidFill>
              <a:srgbClr val="6D28D9"/>
            </a:solidFill>
            <a:prstDash val="solid"/>
          </a:ln>
        </p:spPr>
      </p:sp>
      <p:pic>
        <p:nvPicPr>
          <p:cNvPr id="20" name="Image 2" descr="preencoded.png"/>
          <p:cNvPicPr>
            <a:picLocks noChangeAspect="1"/>
          </p:cNvPicPr>
          <p:nvPr/>
        </p:nvPicPr>
        <p:blipFill>
          <a:blip r:embed="rId5"/>
          <a:stretch>
            <a:fillRect/>
          </a:stretch>
        </p:blipFill>
        <p:spPr>
          <a:xfrm>
            <a:off x="8542782" y="2068830"/>
            <a:ext cx="297180" cy="297180"/>
          </a:xfrm>
          <a:prstGeom prst="rect">
            <a:avLst/>
          </a:prstGeom>
        </p:spPr>
      </p:pic>
      <p:sp>
        <p:nvSpPr>
          <p:cNvPr id="21" name="Text 16"/>
          <p:cNvSpPr txBox="1"/>
          <p:nvPr/>
        </p:nvSpPr>
        <p:spPr>
          <a:xfrm>
            <a:off x="9171432" y="1920240"/>
            <a:ext cx="2240280" cy="320040"/>
          </a:xfrm>
          <a:prstGeom prst="rect">
            <a:avLst/>
          </a:prstGeom>
          <a:noFill/>
          <a:ln/>
        </p:spPr>
        <p:txBody>
          <a:bodyPr wrap="square" lIns="0" tIns="0" rIns="0" bIns="0" rtlCol="0" anchor="ctr"/>
          <a:lstStyle/>
          <a:p>
            <a:pPr marL="0" indent="0">
              <a:buNone/>
            </a:pPr>
            <a:r>
              <a:rPr lang="en-US" sz="2000" b="1" dirty="0">
                <a:solidFill>
                  <a:srgbClr val="0F1B3D"/>
                </a:solidFill>
                <a:latin typeface="Calibri" pitchFamily="34" charset="0"/>
                <a:ea typeface="Calibri" pitchFamily="34" charset="-122"/>
                <a:cs typeface="Calibri" pitchFamily="34" charset="-120"/>
              </a:rPr>
              <a:t>Google Gemini</a:t>
            </a:r>
            <a:endParaRPr lang="en-US" sz="2000" dirty="0"/>
          </a:p>
        </p:txBody>
      </p:sp>
      <p:sp>
        <p:nvSpPr>
          <p:cNvPr id="22" name="Text 17"/>
          <p:cNvSpPr txBox="1"/>
          <p:nvPr/>
        </p:nvSpPr>
        <p:spPr>
          <a:xfrm>
            <a:off x="9171432" y="2258568"/>
            <a:ext cx="2240280" cy="228600"/>
          </a:xfrm>
          <a:prstGeom prst="rect">
            <a:avLst/>
          </a:prstGeom>
          <a:noFill/>
          <a:ln/>
        </p:spPr>
        <p:txBody>
          <a:bodyPr wrap="square" lIns="0" tIns="0" rIns="0" bIns="0" rtlCol="0" anchor="ctr"/>
          <a:lstStyle/>
          <a:p>
            <a:pPr marL="0" indent="0">
              <a:buNone/>
            </a:pPr>
            <a:r>
              <a:rPr lang="en-US" sz="1100" b="1" kern="0" spc="100" dirty="0">
                <a:solidFill>
                  <a:srgbClr val="2F5BEA"/>
                </a:solidFill>
                <a:latin typeface="Calibri" pitchFamily="34" charset="0"/>
                <a:ea typeface="Calibri" pitchFamily="34" charset="-122"/>
                <a:cs typeface="Calibri" pitchFamily="34" charset="-120"/>
              </a:rPr>
              <a:t>LLM REASONING</a:t>
            </a:r>
            <a:endParaRPr lang="en-US" sz="1100" dirty="0"/>
          </a:p>
        </p:txBody>
      </p:sp>
      <p:sp>
        <p:nvSpPr>
          <p:cNvPr id="23" name="Text 18"/>
          <p:cNvSpPr txBox="1"/>
          <p:nvPr/>
        </p:nvSpPr>
        <p:spPr>
          <a:xfrm>
            <a:off x="8394192" y="2697480"/>
            <a:ext cx="2971800" cy="731520"/>
          </a:xfrm>
          <a:prstGeom prst="rect">
            <a:avLst/>
          </a:prstGeom>
          <a:noFill/>
          <a:ln/>
        </p:spPr>
        <p:txBody>
          <a:bodyPr wrap="square" lIns="0" tIns="0" rIns="0" bIns="0" rtlCol="0" anchor="t"/>
          <a:lstStyle/>
          <a:p>
            <a:pPr marL="0" indent="0">
              <a:buNone/>
            </a:pPr>
            <a:r>
              <a:rPr lang="en-US" sz="1350" dirty="0">
                <a:solidFill>
                  <a:srgbClr val="5B6478"/>
                </a:solidFill>
                <a:latin typeface="Calibri" pitchFamily="34" charset="0"/>
                <a:ea typeface="Calibri" pitchFamily="34" charset="-122"/>
                <a:cs typeface="Calibri" pitchFamily="34" charset="-120"/>
              </a:rPr>
              <a:t>Generates the strategic recommendations. Key is read from an environment variable.</a:t>
            </a:r>
            <a:endParaRPr lang="en-US" sz="1350" dirty="0"/>
          </a:p>
        </p:txBody>
      </p:sp>
      <p:sp>
        <p:nvSpPr>
          <p:cNvPr id="24" name="Shape 19"/>
          <p:cNvSpPr/>
          <p:nvPr/>
        </p:nvSpPr>
        <p:spPr>
          <a:xfrm>
            <a:off x="2441448" y="3840480"/>
            <a:ext cx="3520440" cy="1920240"/>
          </a:xfrm>
          <a:prstGeom prst="roundRect">
            <a:avLst>
              <a:gd name="adj" fmla="val 5714"/>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25" name="Shape 20"/>
          <p:cNvSpPr/>
          <p:nvPr/>
        </p:nvSpPr>
        <p:spPr>
          <a:xfrm>
            <a:off x="2715768" y="4114800"/>
            <a:ext cx="594360" cy="594360"/>
          </a:xfrm>
          <a:prstGeom prst="ellipse">
            <a:avLst/>
          </a:prstGeom>
          <a:solidFill>
            <a:srgbClr val="2F5BEA"/>
          </a:solidFill>
          <a:ln w="6350">
            <a:solidFill>
              <a:srgbClr val="2F5BEA"/>
            </a:solidFill>
            <a:prstDash val="solid"/>
          </a:ln>
        </p:spPr>
      </p:sp>
      <p:pic>
        <p:nvPicPr>
          <p:cNvPr id="26" name="Image 3" descr="preencoded.png"/>
          <p:cNvPicPr>
            <a:picLocks noChangeAspect="1"/>
          </p:cNvPicPr>
          <p:nvPr/>
        </p:nvPicPr>
        <p:blipFill>
          <a:blip r:embed="rId6"/>
          <a:stretch>
            <a:fillRect/>
          </a:stretch>
        </p:blipFill>
        <p:spPr>
          <a:xfrm>
            <a:off x="2864358" y="4263390"/>
            <a:ext cx="297180" cy="297180"/>
          </a:xfrm>
          <a:prstGeom prst="rect">
            <a:avLst/>
          </a:prstGeom>
        </p:spPr>
      </p:pic>
      <p:sp>
        <p:nvSpPr>
          <p:cNvPr id="27" name="Text 21"/>
          <p:cNvSpPr txBox="1"/>
          <p:nvPr/>
        </p:nvSpPr>
        <p:spPr>
          <a:xfrm>
            <a:off x="3493008" y="4114800"/>
            <a:ext cx="2240280" cy="320040"/>
          </a:xfrm>
          <a:prstGeom prst="rect">
            <a:avLst/>
          </a:prstGeom>
          <a:noFill/>
          <a:ln/>
        </p:spPr>
        <p:txBody>
          <a:bodyPr wrap="square" lIns="0" tIns="0" rIns="0" bIns="0" rtlCol="0" anchor="ctr"/>
          <a:lstStyle/>
          <a:p>
            <a:pPr marL="0" indent="0">
              <a:buNone/>
            </a:pPr>
            <a:r>
              <a:rPr lang="en-US" sz="2000" b="1" dirty="0">
                <a:solidFill>
                  <a:srgbClr val="0F1B3D"/>
                </a:solidFill>
                <a:latin typeface="Calibri" pitchFamily="34" charset="0"/>
                <a:ea typeface="Calibri" pitchFamily="34" charset="-122"/>
                <a:cs typeface="Calibri" pitchFamily="34" charset="-120"/>
              </a:rPr>
              <a:t>LangGraph</a:t>
            </a:r>
            <a:endParaRPr lang="en-US" sz="2000" dirty="0"/>
          </a:p>
        </p:txBody>
      </p:sp>
      <p:sp>
        <p:nvSpPr>
          <p:cNvPr id="28" name="Text 22"/>
          <p:cNvSpPr txBox="1"/>
          <p:nvPr/>
        </p:nvSpPr>
        <p:spPr>
          <a:xfrm>
            <a:off x="3493008" y="4453128"/>
            <a:ext cx="2240280" cy="228600"/>
          </a:xfrm>
          <a:prstGeom prst="rect">
            <a:avLst/>
          </a:prstGeom>
          <a:noFill/>
          <a:ln/>
        </p:spPr>
        <p:txBody>
          <a:bodyPr wrap="square" lIns="0" tIns="0" rIns="0" bIns="0" rtlCol="0" anchor="ctr"/>
          <a:lstStyle/>
          <a:p>
            <a:pPr marL="0" indent="0">
              <a:buNone/>
            </a:pPr>
            <a:r>
              <a:rPr lang="en-US" sz="1100" b="1" kern="0" spc="100" dirty="0">
                <a:solidFill>
                  <a:srgbClr val="2F5BEA"/>
                </a:solidFill>
                <a:latin typeface="Calibri" pitchFamily="34" charset="0"/>
                <a:ea typeface="Calibri" pitchFamily="34" charset="-122"/>
                <a:cs typeface="Calibri" pitchFamily="34" charset="-120"/>
              </a:rPr>
              <a:t>AGENT WORKFLOW</a:t>
            </a:r>
            <a:endParaRPr lang="en-US" sz="1100" dirty="0"/>
          </a:p>
        </p:txBody>
      </p:sp>
      <p:sp>
        <p:nvSpPr>
          <p:cNvPr id="29" name="Text 23"/>
          <p:cNvSpPr txBox="1"/>
          <p:nvPr/>
        </p:nvSpPr>
        <p:spPr>
          <a:xfrm>
            <a:off x="2715768" y="4892040"/>
            <a:ext cx="2971800" cy="731520"/>
          </a:xfrm>
          <a:prstGeom prst="rect">
            <a:avLst/>
          </a:prstGeom>
          <a:noFill/>
          <a:ln/>
        </p:spPr>
        <p:txBody>
          <a:bodyPr wrap="square" lIns="0" tIns="0" rIns="0" bIns="0" rtlCol="0" anchor="t"/>
          <a:lstStyle/>
          <a:p>
            <a:pPr marL="0" indent="0">
              <a:buNone/>
            </a:pPr>
            <a:r>
              <a:rPr lang="en-US" sz="1350" dirty="0">
                <a:solidFill>
                  <a:srgbClr val="5B6478"/>
                </a:solidFill>
                <a:latin typeface="Calibri" pitchFamily="34" charset="0"/>
                <a:ea typeface="Calibri" pitchFamily="34" charset="-122"/>
                <a:cs typeface="Calibri" pitchFamily="34" charset="-120"/>
              </a:rPr>
              <a:t>Six nodes pass one shared state object from input to final response.</a:t>
            </a:r>
            <a:endParaRPr lang="en-US" sz="1350" dirty="0"/>
          </a:p>
        </p:txBody>
      </p:sp>
      <p:sp>
        <p:nvSpPr>
          <p:cNvPr id="30" name="Shape 24"/>
          <p:cNvSpPr/>
          <p:nvPr/>
        </p:nvSpPr>
        <p:spPr>
          <a:xfrm>
            <a:off x="6227064" y="3840480"/>
            <a:ext cx="3520440" cy="1920240"/>
          </a:xfrm>
          <a:prstGeom prst="roundRect">
            <a:avLst>
              <a:gd name="adj" fmla="val 5714"/>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31" name="Shape 25"/>
          <p:cNvSpPr/>
          <p:nvPr/>
        </p:nvSpPr>
        <p:spPr>
          <a:xfrm>
            <a:off x="6501384" y="4114800"/>
            <a:ext cx="594360" cy="594360"/>
          </a:xfrm>
          <a:prstGeom prst="ellipse">
            <a:avLst/>
          </a:prstGeom>
          <a:solidFill>
            <a:srgbClr val="2F5BEA"/>
          </a:solidFill>
          <a:ln w="6350">
            <a:solidFill>
              <a:srgbClr val="2F5BEA"/>
            </a:solidFill>
            <a:prstDash val="solid"/>
          </a:ln>
        </p:spPr>
      </p:sp>
      <p:pic>
        <p:nvPicPr>
          <p:cNvPr id="32" name="Image 4" descr="preencoded.png"/>
          <p:cNvPicPr>
            <a:picLocks noChangeAspect="1"/>
          </p:cNvPicPr>
          <p:nvPr/>
        </p:nvPicPr>
        <p:blipFill>
          <a:blip r:embed="rId7"/>
          <a:stretch>
            <a:fillRect/>
          </a:stretch>
        </p:blipFill>
        <p:spPr>
          <a:xfrm>
            <a:off x="6649974" y="4263390"/>
            <a:ext cx="297180" cy="297180"/>
          </a:xfrm>
          <a:prstGeom prst="rect">
            <a:avLst/>
          </a:prstGeom>
        </p:spPr>
      </p:pic>
      <p:sp>
        <p:nvSpPr>
          <p:cNvPr id="33" name="Text 26"/>
          <p:cNvSpPr txBox="1"/>
          <p:nvPr/>
        </p:nvSpPr>
        <p:spPr>
          <a:xfrm>
            <a:off x="7278624" y="4114800"/>
            <a:ext cx="2240280" cy="320040"/>
          </a:xfrm>
          <a:prstGeom prst="rect">
            <a:avLst/>
          </a:prstGeom>
          <a:noFill/>
          <a:ln/>
        </p:spPr>
        <p:txBody>
          <a:bodyPr wrap="square" lIns="0" tIns="0" rIns="0" bIns="0" rtlCol="0" anchor="ctr"/>
          <a:lstStyle/>
          <a:p>
            <a:pPr marL="0" indent="0">
              <a:buNone/>
            </a:pPr>
            <a:r>
              <a:rPr lang="en-US" sz="2000" b="1" dirty="0">
                <a:solidFill>
                  <a:srgbClr val="0F1B3D"/>
                </a:solidFill>
                <a:latin typeface="Calibri" pitchFamily="34" charset="0"/>
                <a:ea typeface="Calibri" pitchFamily="34" charset="-122"/>
                <a:cs typeface="Calibri" pitchFamily="34" charset="-120"/>
              </a:rPr>
              <a:t>SQLite</a:t>
            </a:r>
            <a:endParaRPr lang="en-US" sz="2000" dirty="0"/>
          </a:p>
        </p:txBody>
      </p:sp>
      <p:sp>
        <p:nvSpPr>
          <p:cNvPr id="34" name="Text 27"/>
          <p:cNvSpPr txBox="1"/>
          <p:nvPr/>
        </p:nvSpPr>
        <p:spPr>
          <a:xfrm>
            <a:off x="7278624" y="4453128"/>
            <a:ext cx="2240280" cy="228600"/>
          </a:xfrm>
          <a:prstGeom prst="rect">
            <a:avLst/>
          </a:prstGeom>
          <a:noFill/>
          <a:ln/>
        </p:spPr>
        <p:txBody>
          <a:bodyPr wrap="square" lIns="0" tIns="0" rIns="0" bIns="0" rtlCol="0" anchor="ctr"/>
          <a:lstStyle/>
          <a:p>
            <a:pPr marL="0" indent="0">
              <a:buNone/>
            </a:pPr>
            <a:r>
              <a:rPr lang="en-US" sz="1100" b="1" kern="0" spc="100" dirty="0">
                <a:solidFill>
                  <a:srgbClr val="2F5BEA"/>
                </a:solidFill>
                <a:latin typeface="Calibri" pitchFamily="34" charset="0"/>
                <a:ea typeface="Calibri" pitchFamily="34" charset="-122"/>
                <a:cs typeface="Calibri" pitchFamily="34" charset="-120"/>
              </a:rPr>
              <a:t>LOCAL DATABASE</a:t>
            </a:r>
            <a:endParaRPr lang="en-US" sz="1100" dirty="0"/>
          </a:p>
        </p:txBody>
      </p:sp>
      <p:sp>
        <p:nvSpPr>
          <p:cNvPr id="35" name="Text 28"/>
          <p:cNvSpPr txBox="1"/>
          <p:nvPr/>
        </p:nvSpPr>
        <p:spPr>
          <a:xfrm>
            <a:off x="6501384" y="4892040"/>
            <a:ext cx="2971800" cy="731520"/>
          </a:xfrm>
          <a:prstGeom prst="rect">
            <a:avLst/>
          </a:prstGeom>
          <a:noFill/>
          <a:ln/>
        </p:spPr>
        <p:txBody>
          <a:bodyPr wrap="square" lIns="0" tIns="0" rIns="0" bIns="0" rtlCol="0" anchor="t"/>
          <a:lstStyle/>
          <a:p>
            <a:pPr marL="0" indent="0">
              <a:buNone/>
            </a:pPr>
            <a:r>
              <a:rPr lang="en-US" sz="1350" dirty="0">
                <a:solidFill>
                  <a:srgbClr val="5B6478"/>
                </a:solidFill>
                <a:latin typeface="Calibri" pitchFamily="34" charset="0"/>
                <a:ea typeface="Calibri" pitchFamily="34" charset="-122"/>
                <a:cs typeface="Calibri" pitchFamily="34" charset="-120"/>
              </a:rPr>
              <a:t>Stores projects, risks, recommendations, mitigations and improvements. No external server needed.</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B"/>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640080"/>
          </a:xfrm>
          <a:prstGeom prst="rect">
            <a:avLst/>
          </a:prstGeom>
          <a:noFill/>
          <a:ln/>
        </p:spPr>
        <p:txBody>
          <a:bodyPr wrap="square" lIns="0" tIns="0" rIns="0" bIns="0" rtlCol="0" anchor="ctr"/>
          <a:lstStyle/>
          <a:p>
            <a:pPr marL="0" indent="0">
              <a:buNone/>
            </a:pPr>
            <a:r>
              <a:rPr lang="en-US" sz="3800" b="1" dirty="0">
                <a:solidFill>
                  <a:srgbClr val="0F1B3D"/>
                </a:solidFill>
                <a:latin typeface="Cambria" pitchFamily="34" charset="0"/>
                <a:ea typeface="Cambria" pitchFamily="34" charset="-122"/>
                <a:cs typeface="Cambria" pitchFamily="34" charset="-120"/>
              </a:rPr>
              <a:t>System Flow</a:t>
            </a:r>
            <a:endParaRPr lang="en-US" sz="3800" dirty="0"/>
          </a:p>
        </p:txBody>
      </p:sp>
      <p:sp>
        <p:nvSpPr>
          <p:cNvPr id="3" name="Text 1"/>
          <p:cNvSpPr txBox="1"/>
          <p:nvPr/>
        </p:nvSpPr>
        <p:spPr>
          <a:xfrm>
            <a:off x="548640" y="1005840"/>
            <a:ext cx="10972800" cy="365760"/>
          </a:xfrm>
          <a:prstGeom prst="rect">
            <a:avLst/>
          </a:prstGeom>
          <a:noFill/>
          <a:ln/>
        </p:spPr>
        <p:txBody>
          <a:bodyPr wrap="square" lIns="0" tIns="0" rIns="0" bIns="0" rtlCol="0" anchor="ctr"/>
          <a:lstStyle/>
          <a:p>
            <a:pPr marL="0" indent="0">
              <a:buNone/>
            </a:pPr>
            <a:r>
              <a:rPr lang="en-US" sz="1600" dirty="0">
                <a:solidFill>
                  <a:srgbClr val="5B6478"/>
                </a:solidFill>
                <a:latin typeface="Calibri" pitchFamily="34" charset="0"/>
                <a:ea typeface="Calibri" pitchFamily="34" charset="-122"/>
                <a:cs typeface="Calibri" pitchFamily="34" charset="-120"/>
              </a:rPr>
              <a:t>One shared state travels through six LangGraph nodes</a:t>
            </a:r>
            <a:endParaRPr lang="en-US" sz="1600" dirty="0"/>
          </a:p>
        </p:txBody>
      </p:sp>
      <p:sp>
        <p:nvSpPr>
          <p:cNvPr id="5" name="Text 3"/>
          <p:cNvSpPr txBox="1"/>
          <p:nvPr/>
        </p:nvSpPr>
        <p:spPr>
          <a:xfrm>
            <a:off x="10271455" y="6400800"/>
            <a:ext cx="1371600" cy="228600"/>
          </a:xfrm>
          <a:prstGeom prst="rect">
            <a:avLst/>
          </a:prstGeom>
          <a:noFill/>
          <a:ln/>
        </p:spPr>
        <p:txBody>
          <a:bodyPr wrap="square" lIns="0" tIns="0" rIns="0" bIns="0" rtlCol="0" anchor="ctr"/>
          <a:lstStyle/>
          <a:p>
            <a:pPr marL="0" indent="0" algn="r">
              <a:buNone/>
            </a:pPr>
            <a:r>
              <a:rPr lang="en-US" sz="1000" dirty="0">
                <a:solidFill>
                  <a:srgbClr val="5B6478"/>
                </a:solidFill>
                <a:latin typeface="Calibri" pitchFamily="34" charset="0"/>
                <a:ea typeface="Calibri" pitchFamily="34" charset="-122"/>
                <a:cs typeface="Calibri" pitchFamily="34" charset="-120"/>
              </a:rPr>
              <a:t>3 / 7</a:t>
            </a:r>
            <a:endParaRPr lang="en-US" sz="1000" dirty="0"/>
          </a:p>
        </p:txBody>
      </p:sp>
      <p:sp>
        <p:nvSpPr>
          <p:cNvPr id="6" name="Shape 4"/>
          <p:cNvSpPr/>
          <p:nvPr/>
        </p:nvSpPr>
        <p:spPr>
          <a:xfrm>
            <a:off x="554584" y="1645920"/>
            <a:ext cx="1371600" cy="2148840"/>
          </a:xfrm>
          <a:prstGeom prst="roundRect">
            <a:avLst>
              <a:gd name="adj" fmla="val 8000"/>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7" name="Shape 5"/>
          <p:cNvSpPr/>
          <p:nvPr/>
        </p:nvSpPr>
        <p:spPr>
          <a:xfrm>
            <a:off x="1020928" y="1874520"/>
            <a:ext cx="438912" cy="438912"/>
          </a:xfrm>
          <a:prstGeom prst="ellipse">
            <a:avLst/>
          </a:prstGeom>
          <a:solidFill>
            <a:srgbClr val="0F1B3D"/>
          </a:solidFill>
          <a:ln w="6350">
            <a:solidFill>
              <a:srgbClr val="0F1B3D"/>
            </a:solidFill>
            <a:prstDash val="solid"/>
          </a:ln>
        </p:spPr>
      </p:sp>
      <p:sp>
        <p:nvSpPr>
          <p:cNvPr id="8" name="Text 6"/>
          <p:cNvSpPr txBox="1"/>
          <p:nvPr/>
        </p:nvSpPr>
        <p:spPr>
          <a:xfrm>
            <a:off x="1020928" y="187452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txBox="1"/>
          <p:nvPr/>
        </p:nvSpPr>
        <p:spPr>
          <a:xfrm>
            <a:off x="591160" y="2468880"/>
            <a:ext cx="1298448" cy="640080"/>
          </a:xfrm>
          <a:prstGeom prst="rect">
            <a:avLst/>
          </a:prstGeom>
          <a:noFill/>
          <a:ln/>
        </p:spPr>
        <p:txBody>
          <a:bodyPr wrap="square" lIns="0" tIns="0" rIns="0" bIns="0" rtlCol="0" anchor="ctr"/>
          <a:lstStyle/>
          <a:p>
            <a:pPr marL="0" indent="0" algn="ctr">
              <a:buNone/>
            </a:pPr>
            <a:r>
              <a:rPr lang="en-US" sz="1250" b="1" dirty="0">
                <a:solidFill>
                  <a:srgbClr val="0F1B3D"/>
                </a:solidFill>
                <a:latin typeface="Calibri" pitchFamily="34" charset="0"/>
                <a:ea typeface="Calibri" pitchFamily="34" charset="-122"/>
                <a:cs typeface="Calibri" pitchFamily="34" charset="-120"/>
              </a:rPr>
              <a:t>Input</a:t>
            </a:r>
            <a:endParaRPr lang="en-US" sz="1250" dirty="0"/>
          </a:p>
        </p:txBody>
      </p:sp>
      <p:sp>
        <p:nvSpPr>
          <p:cNvPr id="10" name="Text 8"/>
          <p:cNvSpPr txBox="1"/>
          <p:nvPr/>
        </p:nvSpPr>
        <p:spPr>
          <a:xfrm>
            <a:off x="600304" y="3154680"/>
            <a:ext cx="1280160" cy="502920"/>
          </a:xfrm>
          <a:prstGeom prst="rect">
            <a:avLst/>
          </a:prstGeom>
          <a:noFill/>
          <a:ln/>
        </p:spPr>
        <p:txBody>
          <a:bodyPr wrap="square" lIns="0" tIns="0" rIns="0" bIns="0" rtlCol="0" anchor="ctr"/>
          <a:lstStyle/>
          <a:p>
            <a:pPr marL="0" indent="0" algn="ctr">
              <a:buNone/>
            </a:pPr>
            <a:r>
              <a:rPr lang="en-US" sz="1050" dirty="0">
                <a:solidFill>
                  <a:srgbClr val="5B6478"/>
                </a:solidFill>
                <a:latin typeface="Calibri" pitchFamily="34" charset="0"/>
                <a:ea typeface="Calibri" pitchFamily="34" charset="-122"/>
                <a:cs typeface="Calibri" pitchFamily="34" charset="-120"/>
              </a:rPr>
              <a:t>Project info +</a:t>
            </a:r>
            <a:endParaRPr lang="en-US" sz="1050" dirty="0"/>
          </a:p>
          <a:p>
            <a:pPr marL="0" indent="0" algn="ctr">
              <a:buNone/>
            </a:pPr>
            <a:r>
              <a:rPr lang="en-US" sz="1050" dirty="0">
                <a:solidFill>
                  <a:srgbClr val="5B6478"/>
                </a:solidFill>
                <a:latin typeface="Calibri" pitchFamily="34" charset="0"/>
                <a:ea typeface="Calibri" pitchFamily="34" charset="-122"/>
                <a:cs typeface="Calibri" pitchFamily="34" charset="-120"/>
              </a:rPr>
              <a:t>Milestone 2 outputs</a:t>
            </a:r>
            <a:endParaRPr lang="en-US" sz="1050" dirty="0"/>
          </a:p>
        </p:txBody>
      </p:sp>
      <p:sp>
        <p:nvSpPr>
          <p:cNvPr id="11" name="Shape 9"/>
          <p:cNvSpPr/>
          <p:nvPr/>
        </p:nvSpPr>
        <p:spPr>
          <a:xfrm>
            <a:off x="1953616" y="2720340"/>
            <a:ext cx="192024" cy="0"/>
          </a:xfrm>
          <a:prstGeom prst="line">
            <a:avLst/>
          </a:prstGeom>
          <a:noFill/>
          <a:ln w="25400">
            <a:solidFill>
              <a:srgbClr val="2F5BEA"/>
            </a:solidFill>
            <a:prstDash val="solid"/>
            <a:tailEnd type="triangle"/>
          </a:ln>
        </p:spPr>
      </p:sp>
      <p:sp>
        <p:nvSpPr>
          <p:cNvPr id="12" name="Shape 10"/>
          <p:cNvSpPr/>
          <p:nvPr/>
        </p:nvSpPr>
        <p:spPr>
          <a:xfrm>
            <a:off x="2173072" y="1645920"/>
            <a:ext cx="1371600" cy="2148840"/>
          </a:xfrm>
          <a:prstGeom prst="roundRect">
            <a:avLst>
              <a:gd name="adj" fmla="val 8000"/>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13" name="Shape 11"/>
          <p:cNvSpPr/>
          <p:nvPr/>
        </p:nvSpPr>
        <p:spPr>
          <a:xfrm>
            <a:off x="2639416" y="1874520"/>
            <a:ext cx="438912" cy="438912"/>
          </a:xfrm>
          <a:prstGeom prst="ellipse">
            <a:avLst/>
          </a:prstGeom>
          <a:solidFill>
            <a:srgbClr val="2F5BEA"/>
          </a:solidFill>
          <a:ln w="6350">
            <a:solidFill>
              <a:srgbClr val="2F5BEA"/>
            </a:solidFill>
            <a:prstDash val="solid"/>
          </a:ln>
        </p:spPr>
      </p:sp>
      <p:sp>
        <p:nvSpPr>
          <p:cNvPr id="14" name="Text 12"/>
          <p:cNvSpPr txBox="1"/>
          <p:nvPr/>
        </p:nvSpPr>
        <p:spPr>
          <a:xfrm>
            <a:off x="2639416" y="187452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txBox="1"/>
          <p:nvPr/>
        </p:nvSpPr>
        <p:spPr>
          <a:xfrm>
            <a:off x="2209648" y="2468880"/>
            <a:ext cx="1298448" cy="640080"/>
          </a:xfrm>
          <a:prstGeom prst="rect">
            <a:avLst/>
          </a:prstGeom>
          <a:noFill/>
          <a:ln/>
        </p:spPr>
        <p:txBody>
          <a:bodyPr wrap="square" lIns="0" tIns="0" rIns="0" bIns="0" rtlCol="0" anchor="ctr"/>
          <a:lstStyle/>
          <a:p>
            <a:pPr marL="0" indent="0" algn="ctr">
              <a:buNone/>
            </a:pPr>
            <a:r>
              <a:rPr lang="en-US" sz="1250" b="1" dirty="0">
                <a:solidFill>
                  <a:srgbClr val="0F1B3D"/>
                </a:solidFill>
                <a:latin typeface="Calibri" pitchFamily="34" charset="0"/>
                <a:ea typeface="Calibri" pitchFamily="34" charset="-122"/>
                <a:cs typeface="Calibri" pitchFamily="34" charset="-120"/>
              </a:rPr>
              <a:t>Project Analysis</a:t>
            </a:r>
            <a:endParaRPr lang="en-US" sz="1250" dirty="0"/>
          </a:p>
        </p:txBody>
      </p:sp>
      <p:sp>
        <p:nvSpPr>
          <p:cNvPr id="16" name="Text 14"/>
          <p:cNvSpPr txBox="1"/>
          <p:nvPr/>
        </p:nvSpPr>
        <p:spPr>
          <a:xfrm>
            <a:off x="2218792" y="3154680"/>
            <a:ext cx="1280160" cy="502920"/>
          </a:xfrm>
          <a:prstGeom prst="rect">
            <a:avLst/>
          </a:prstGeom>
          <a:noFill/>
          <a:ln/>
        </p:spPr>
        <p:txBody>
          <a:bodyPr wrap="square" lIns="0" tIns="0" rIns="0" bIns="0" rtlCol="0" anchor="ctr"/>
          <a:lstStyle/>
          <a:p>
            <a:pPr marL="0" indent="0" algn="ctr">
              <a:buNone/>
            </a:pPr>
            <a:r>
              <a:rPr lang="en-US" sz="1050" dirty="0">
                <a:solidFill>
                  <a:srgbClr val="5B6478"/>
                </a:solidFill>
                <a:latin typeface="Courier New" pitchFamily="34" charset="0"/>
                <a:ea typeface="Courier New" pitchFamily="34" charset="-122"/>
                <a:cs typeface="Courier New" pitchFamily="34" charset="-120"/>
              </a:rPr>
              <a:t>analyze_</a:t>
            </a:r>
            <a:endParaRPr lang="en-US" sz="1050" dirty="0"/>
          </a:p>
          <a:p>
            <a:pPr marL="0" indent="0" algn="ctr">
              <a:buNone/>
            </a:pPr>
            <a:r>
              <a:rPr lang="en-US" sz="1050" dirty="0">
                <a:solidFill>
                  <a:srgbClr val="5B6478"/>
                </a:solidFill>
                <a:latin typeface="Courier New" pitchFamily="34" charset="0"/>
                <a:ea typeface="Courier New" pitchFamily="34" charset="-122"/>
                <a:cs typeface="Courier New" pitchFamily="34" charset="-120"/>
              </a:rPr>
              <a:t>project</a:t>
            </a:r>
            <a:endParaRPr lang="en-US" sz="1050" dirty="0"/>
          </a:p>
        </p:txBody>
      </p:sp>
      <p:sp>
        <p:nvSpPr>
          <p:cNvPr id="17" name="Shape 15"/>
          <p:cNvSpPr/>
          <p:nvPr/>
        </p:nvSpPr>
        <p:spPr>
          <a:xfrm>
            <a:off x="3572104" y="2720340"/>
            <a:ext cx="192024" cy="0"/>
          </a:xfrm>
          <a:prstGeom prst="line">
            <a:avLst/>
          </a:prstGeom>
          <a:noFill/>
          <a:ln w="25400">
            <a:solidFill>
              <a:srgbClr val="2F5BEA"/>
            </a:solidFill>
            <a:prstDash val="solid"/>
            <a:tailEnd type="triangle"/>
          </a:ln>
        </p:spPr>
      </p:sp>
      <p:sp>
        <p:nvSpPr>
          <p:cNvPr id="18" name="Shape 16"/>
          <p:cNvSpPr/>
          <p:nvPr/>
        </p:nvSpPr>
        <p:spPr>
          <a:xfrm>
            <a:off x="3791560" y="1645920"/>
            <a:ext cx="1371600" cy="2148840"/>
          </a:xfrm>
          <a:prstGeom prst="roundRect">
            <a:avLst>
              <a:gd name="adj" fmla="val 8000"/>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19" name="Shape 17"/>
          <p:cNvSpPr/>
          <p:nvPr/>
        </p:nvSpPr>
        <p:spPr>
          <a:xfrm>
            <a:off x="4257904" y="1874520"/>
            <a:ext cx="438912" cy="438912"/>
          </a:xfrm>
          <a:prstGeom prst="ellipse">
            <a:avLst/>
          </a:prstGeom>
          <a:solidFill>
            <a:srgbClr val="2F5BEA"/>
          </a:solidFill>
          <a:ln w="6350">
            <a:solidFill>
              <a:srgbClr val="2F5BEA"/>
            </a:solidFill>
            <a:prstDash val="solid"/>
          </a:ln>
        </p:spPr>
      </p:sp>
      <p:sp>
        <p:nvSpPr>
          <p:cNvPr id="20" name="Text 18"/>
          <p:cNvSpPr txBox="1"/>
          <p:nvPr/>
        </p:nvSpPr>
        <p:spPr>
          <a:xfrm>
            <a:off x="4257904" y="187452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txBox="1"/>
          <p:nvPr/>
        </p:nvSpPr>
        <p:spPr>
          <a:xfrm>
            <a:off x="3828136" y="2468880"/>
            <a:ext cx="1298448" cy="640080"/>
          </a:xfrm>
          <a:prstGeom prst="rect">
            <a:avLst/>
          </a:prstGeom>
          <a:noFill/>
          <a:ln/>
        </p:spPr>
        <p:txBody>
          <a:bodyPr wrap="square" lIns="0" tIns="0" rIns="0" bIns="0" rtlCol="0" anchor="ctr"/>
          <a:lstStyle/>
          <a:p>
            <a:pPr marL="0" indent="0" algn="ctr">
              <a:buNone/>
            </a:pPr>
            <a:r>
              <a:rPr lang="en-US" sz="1250" b="1" dirty="0">
                <a:solidFill>
                  <a:srgbClr val="0F1B3D"/>
                </a:solidFill>
                <a:latin typeface="Calibri" pitchFamily="34" charset="0"/>
                <a:ea typeface="Calibri" pitchFamily="34" charset="-122"/>
                <a:cs typeface="Calibri" pitchFamily="34" charset="-120"/>
              </a:rPr>
              <a:t>Risk Analysis</a:t>
            </a:r>
            <a:endParaRPr lang="en-US" sz="1250" dirty="0"/>
          </a:p>
        </p:txBody>
      </p:sp>
      <p:sp>
        <p:nvSpPr>
          <p:cNvPr id="22" name="Text 20"/>
          <p:cNvSpPr txBox="1"/>
          <p:nvPr/>
        </p:nvSpPr>
        <p:spPr>
          <a:xfrm>
            <a:off x="3837280" y="3154680"/>
            <a:ext cx="1280160" cy="502920"/>
          </a:xfrm>
          <a:prstGeom prst="rect">
            <a:avLst/>
          </a:prstGeom>
          <a:noFill/>
          <a:ln/>
        </p:spPr>
        <p:txBody>
          <a:bodyPr wrap="square" lIns="0" tIns="0" rIns="0" bIns="0" rtlCol="0" anchor="ctr"/>
          <a:lstStyle/>
          <a:p>
            <a:pPr marL="0" indent="0" algn="ctr">
              <a:buNone/>
            </a:pPr>
            <a:r>
              <a:rPr lang="en-US" sz="1050" dirty="0">
                <a:solidFill>
                  <a:srgbClr val="5B6478"/>
                </a:solidFill>
                <a:latin typeface="Courier New" pitchFamily="34" charset="0"/>
                <a:ea typeface="Courier New" pitchFamily="34" charset="-122"/>
                <a:cs typeface="Courier New" pitchFamily="34" charset="-120"/>
              </a:rPr>
              <a:t>analyze_</a:t>
            </a:r>
            <a:endParaRPr lang="en-US" sz="1050" dirty="0"/>
          </a:p>
          <a:p>
            <a:pPr marL="0" indent="0" algn="ctr">
              <a:buNone/>
            </a:pPr>
            <a:r>
              <a:rPr lang="en-US" sz="1050" dirty="0">
                <a:solidFill>
                  <a:srgbClr val="5B6478"/>
                </a:solidFill>
                <a:latin typeface="Courier New" pitchFamily="34" charset="0"/>
                <a:ea typeface="Courier New" pitchFamily="34" charset="-122"/>
                <a:cs typeface="Courier New" pitchFamily="34" charset="-120"/>
              </a:rPr>
              <a:t>risks</a:t>
            </a:r>
            <a:endParaRPr lang="en-US" sz="1050" dirty="0"/>
          </a:p>
        </p:txBody>
      </p:sp>
      <p:sp>
        <p:nvSpPr>
          <p:cNvPr id="23" name="Shape 21"/>
          <p:cNvSpPr/>
          <p:nvPr/>
        </p:nvSpPr>
        <p:spPr>
          <a:xfrm>
            <a:off x="5190592" y="2720340"/>
            <a:ext cx="192024" cy="0"/>
          </a:xfrm>
          <a:prstGeom prst="line">
            <a:avLst/>
          </a:prstGeom>
          <a:noFill/>
          <a:ln w="25400">
            <a:solidFill>
              <a:srgbClr val="2F5BEA"/>
            </a:solidFill>
            <a:prstDash val="solid"/>
            <a:tailEnd type="triangle"/>
          </a:ln>
        </p:spPr>
      </p:sp>
      <p:sp>
        <p:nvSpPr>
          <p:cNvPr id="24" name="Shape 22"/>
          <p:cNvSpPr/>
          <p:nvPr/>
        </p:nvSpPr>
        <p:spPr>
          <a:xfrm>
            <a:off x="5410048" y="1645920"/>
            <a:ext cx="1371600" cy="2148840"/>
          </a:xfrm>
          <a:prstGeom prst="roundRect">
            <a:avLst>
              <a:gd name="adj" fmla="val 8000"/>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25" name="Shape 23"/>
          <p:cNvSpPr/>
          <p:nvPr/>
        </p:nvSpPr>
        <p:spPr>
          <a:xfrm>
            <a:off x="5876392" y="1874520"/>
            <a:ext cx="438912" cy="438912"/>
          </a:xfrm>
          <a:prstGeom prst="ellipse">
            <a:avLst/>
          </a:prstGeom>
          <a:solidFill>
            <a:srgbClr val="2F5BEA"/>
          </a:solidFill>
          <a:ln w="6350">
            <a:solidFill>
              <a:srgbClr val="2F5BEA"/>
            </a:solidFill>
            <a:prstDash val="solid"/>
          </a:ln>
        </p:spPr>
      </p:sp>
      <p:sp>
        <p:nvSpPr>
          <p:cNvPr id="26" name="Text 24"/>
          <p:cNvSpPr txBox="1"/>
          <p:nvPr/>
        </p:nvSpPr>
        <p:spPr>
          <a:xfrm>
            <a:off x="5876392" y="187452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5"/>
          <p:cNvSpPr txBox="1"/>
          <p:nvPr/>
        </p:nvSpPr>
        <p:spPr>
          <a:xfrm>
            <a:off x="5446624" y="2468880"/>
            <a:ext cx="1298448" cy="640080"/>
          </a:xfrm>
          <a:prstGeom prst="rect">
            <a:avLst/>
          </a:prstGeom>
          <a:noFill/>
          <a:ln/>
        </p:spPr>
        <p:txBody>
          <a:bodyPr wrap="square" lIns="0" tIns="0" rIns="0" bIns="0" rtlCol="0" anchor="ctr"/>
          <a:lstStyle/>
          <a:p>
            <a:pPr marL="0" indent="0" algn="ctr">
              <a:buNone/>
            </a:pPr>
            <a:r>
              <a:rPr lang="en-US" sz="1250" b="1" dirty="0">
                <a:solidFill>
                  <a:srgbClr val="0F1B3D"/>
                </a:solidFill>
                <a:latin typeface="Calibri" pitchFamily="34" charset="0"/>
                <a:ea typeface="Calibri" pitchFamily="34" charset="-122"/>
                <a:cs typeface="Calibri" pitchFamily="34" charset="-120"/>
              </a:rPr>
              <a:t>Strategic Recommendation</a:t>
            </a:r>
            <a:endParaRPr lang="en-US" sz="1250" dirty="0"/>
          </a:p>
        </p:txBody>
      </p:sp>
      <p:sp>
        <p:nvSpPr>
          <p:cNvPr id="28" name="Text 26"/>
          <p:cNvSpPr txBox="1"/>
          <p:nvPr/>
        </p:nvSpPr>
        <p:spPr>
          <a:xfrm>
            <a:off x="5455768" y="3154680"/>
            <a:ext cx="1280160" cy="502920"/>
          </a:xfrm>
          <a:prstGeom prst="rect">
            <a:avLst/>
          </a:prstGeom>
          <a:noFill/>
          <a:ln/>
        </p:spPr>
        <p:txBody>
          <a:bodyPr wrap="square" lIns="0" tIns="0" rIns="0" bIns="0" rtlCol="0" anchor="ctr"/>
          <a:lstStyle/>
          <a:p>
            <a:pPr marL="0" indent="0" algn="ctr">
              <a:buNone/>
            </a:pPr>
            <a:r>
              <a:rPr lang="en-US" sz="1050" dirty="0">
                <a:solidFill>
                  <a:srgbClr val="5B6478"/>
                </a:solidFill>
                <a:latin typeface="Courier New" pitchFamily="34" charset="0"/>
                <a:ea typeface="Courier New" pitchFamily="34" charset="-122"/>
                <a:cs typeface="Courier New" pitchFamily="34" charset="-120"/>
              </a:rPr>
              <a:t>generate_</a:t>
            </a:r>
            <a:endParaRPr lang="en-US" sz="1050" dirty="0"/>
          </a:p>
          <a:p>
            <a:pPr marL="0" indent="0" algn="ctr">
              <a:buNone/>
            </a:pPr>
            <a:r>
              <a:rPr lang="en-US" sz="1050" dirty="0">
                <a:solidFill>
                  <a:srgbClr val="5B6478"/>
                </a:solidFill>
                <a:latin typeface="Courier New" pitchFamily="34" charset="0"/>
                <a:ea typeface="Courier New" pitchFamily="34" charset="-122"/>
                <a:cs typeface="Courier New" pitchFamily="34" charset="-120"/>
              </a:rPr>
              <a:t>recommendations</a:t>
            </a:r>
            <a:endParaRPr lang="en-US" sz="1050" dirty="0"/>
          </a:p>
        </p:txBody>
      </p:sp>
      <p:sp>
        <p:nvSpPr>
          <p:cNvPr id="29" name="Shape 27"/>
          <p:cNvSpPr/>
          <p:nvPr/>
        </p:nvSpPr>
        <p:spPr>
          <a:xfrm>
            <a:off x="6809080" y="2720340"/>
            <a:ext cx="192024" cy="0"/>
          </a:xfrm>
          <a:prstGeom prst="line">
            <a:avLst/>
          </a:prstGeom>
          <a:noFill/>
          <a:ln w="25400">
            <a:solidFill>
              <a:srgbClr val="2F5BEA"/>
            </a:solidFill>
            <a:prstDash val="solid"/>
            <a:tailEnd type="triangle"/>
          </a:ln>
        </p:spPr>
      </p:sp>
      <p:sp>
        <p:nvSpPr>
          <p:cNvPr id="30" name="Shape 28"/>
          <p:cNvSpPr/>
          <p:nvPr/>
        </p:nvSpPr>
        <p:spPr>
          <a:xfrm>
            <a:off x="7028536" y="1645920"/>
            <a:ext cx="1371600" cy="2148840"/>
          </a:xfrm>
          <a:prstGeom prst="roundRect">
            <a:avLst>
              <a:gd name="adj" fmla="val 8000"/>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31" name="Shape 29"/>
          <p:cNvSpPr/>
          <p:nvPr/>
        </p:nvSpPr>
        <p:spPr>
          <a:xfrm>
            <a:off x="7494880" y="1874520"/>
            <a:ext cx="438912" cy="438912"/>
          </a:xfrm>
          <a:prstGeom prst="ellipse">
            <a:avLst/>
          </a:prstGeom>
          <a:solidFill>
            <a:srgbClr val="2F5BEA"/>
          </a:solidFill>
          <a:ln w="6350">
            <a:solidFill>
              <a:srgbClr val="2F5BEA"/>
            </a:solidFill>
            <a:prstDash val="solid"/>
          </a:ln>
        </p:spPr>
      </p:sp>
      <p:sp>
        <p:nvSpPr>
          <p:cNvPr id="32" name="Text 30"/>
          <p:cNvSpPr txBox="1"/>
          <p:nvPr/>
        </p:nvSpPr>
        <p:spPr>
          <a:xfrm>
            <a:off x="7494880" y="187452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3" name="Text 31"/>
          <p:cNvSpPr txBox="1"/>
          <p:nvPr/>
        </p:nvSpPr>
        <p:spPr>
          <a:xfrm>
            <a:off x="7065112" y="2468880"/>
            <a:ext cx="1298448" cy="640080"/>
          </a:xfrm>
          <a:prstGeom prst="rect">
            <a:avLst/>
          </a:prstGeom>
          <a:noFill/>
          <a:ln/>
        </p:spPr>
        <p:txBody>
          <a:bodyPr wrap="square" lIns="0" tIns="0" rIns="0" bIns="0" rtlCol="0" anchor="ctr"/>
          <a:lstStyle/>
          <a:p>
            <a:pPr marL="0" indent="0" algn="ctr">
              <a:buNone/>
            </a:pPr>
            <a:r>
              <a:rPr lang="en-US" sz="1250" b="1" dirty="0">
                <a:solidFill>
                  <a:srgbClr val="0F1B3D"/>
                </a:solidFill>
                <a:latin typeface="Calibri" pitchFamily="34" charset="0"/>
                <a:ea typeface="Calibri" pitchFamily="34" charset="-122"/>
                <a:cs typeface="Calibri" pitchFamily="34" charset="-120"/>
              </a:rPr>
              <a:t>Mitigation Strategy</a:t>
            </a:r>
            <a:endParaRPr lang="en-US" sz="1250" dirty="0"/>
          </a:p>
        </p:txBody>
      </p:sp>
      <p:sp>
        <p:nvSpPr>
          <p:cNvPr id="34" name="Text 32"/>
          <p:cNvSpPr txBox="1"/>
          <p:nvPr/>
        </p:nvSpPr>
        <p:spPr>
          <a:xfrm>
            <a:off x="7074256" y="3154680"/>
            <a:ext cx="1280160" cy="502920"/>
          </a:xfrm>
          <a:prstGeom prst="rect">
            <a:avLst/>
          </a:prstGeom>
          <a:noFill/>
          <a:ln/>
        </p:spPr>
        <p:txBody>
          <a:bodyPr wrap="square" lIns="0" tIns="0" rIns="0" bIns="0" rtlCol="0" anchor="ctr"/>
          <a:lstStyle/>
          <a:p>
            <a:pPr marL="0" indent="0" algn="ctr">
              <a:buNone/>
            </a:pPr>
            <a:r>
              <a:rPr lang="en-US" sz="1050" dirty="0">
                <a:solidFill>
                  <a:srgbClr val="5B6478"/>
                </a:solidFill>
                <a:latin typeface="Courier New" pitchFamily="34" charset="0"/>
                <a:ea typeface="Courier New" pitchFamily="34" charset="-122"/>
                <a:cs typeface="Courier New" pitchFamily="34" charset="-120"/>
              </a:rPr>
              <a:t>generate_</a:t>
            </a:r>
            <a:endParaRPr lang="en-US" sz="1050" dirty="0"/>
          </a:p>
          <a:p>
            <a:pPr marL="0" indent="0" algn="ctr">
              <a:buNone/>
            </a:pPr>
            <a:r>
              <a:rPr lang="en-US" sz="1050" dirty="0">
                <a:solidFill>
                  <a:srgbClr val="5B6478"/>
                </a:solidFill>
                <a:latin typeface="Courier New" pitchFamily="34" charset="0"/>
                <a:ea typeface="Courier New" pitchFamily="34" charset="-122"/>
                <a:cs typeface="Courier New" pitchFamily="34" charset="-120"/>
              </a:rPr>
              <a:t>mitigation</a:t>
            </a:r>
            <a:endParaRPr lang="en-US" sz="1050" dirty="0"/>
          </a:p>
        </p:txBody>
      </p:sp>
      <p:sp>
        <p:nvSpPr>
          <p:cNvPr id="35" name="Shape 33"/>
          <p:cNvSpPr/>
          <p:nvPr/>
        </p:nvSpPr>
        <p:spPr>
          <a:xfrm>
            <a:off x="8427568" y="2720340"/>
            <a:ext cx="192024" cy="0"/>
          </a:xfrm>
          <a:prstGeom prst="line">
            <a:avLst/>
          </a:prstGeom>
          <a:noFill/>
          <a:ln w="25400">
            <a:solidFill>
              <a:srgbClr val="2F5BEA"/>
            </a:solidFill>
            <a:prstDash val="solid"/>
            <a:tailEnd type="triangle"/>
          </a:ln>
        </p:spPr>
      </p:sp>
      <p:sp>
        <p:nvSpPr>
          <p:cNvPr id="36" name="Shape 34"/>
          <p:cNvSpPr/>
          <p:nvPr/>
        </p:nvSpPr>
        <p:spPr>
          <a:xfrm>
            <a:off x="8647024" y="1645920"/>
            <a:ext cx="1371600" cy="2148840"/>
          </a:xfrm>
          <a:prstGeom prst="roundRect">
            <a:avLst>
              <a:gd name="adj" fmla="val 8000"/>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37" name="Shape 35"/>
          <p:cNvSpPr/>
          <p:nvPr/>
        </p:nvSpPr>
        <p:spPr>
          <a:xfrm>
            <a:off x="9113368" y="1874520"/>
            <a:ext cx="438912" cy="438912"/>
          </a:xfrm>
          <a:prstGeom prst="ellipse">
            <a:avLst/>
          </a:prstGeom>
          <a:solidFill>
            <a:srgbClr val="2F5BEA"/>
          </a:solidFill>
          <a:ln w="6350">
            <a:solidFill>
              <a:srgbClr val="2F5BEA"/>
            </a:solidFill>
            <a:prstDash val="solid"/>
          </a:ln>
        </p:spPr>
      </p:sp>
      <p:sp>
        <p:nvSpPr>
          <p:cNvPr id="38" name="Text 36"/>
          <p:cNvSpPr txBox="1"/>
          <p:nvPr/>
        </p:nvSpPr>
        <p:spPr>
          <a:xfrm>
            <a:off x="9113368" y="187452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9" name="Text 37"/>
          <p:cNvSpPr txBox="1"/>
          <p:nvPr/>
        </p:nvSpPr>
        <p:spPr>
          <a:xfrm>
            <a:off x="8683600" y="2468880"/>
            <a:ext cx="1298448" cy="640080"/>
          </a:xfrm>
          <a:prstGeom prst="rect">
            <a:avLst/>
          </a:prstGeom>
          <a:noFill/>
          <a:ln/>
        </p:spPr>
        <p:txBody>
          <a:bodyPr wrap="square" lIns="0" tIns="0" rIns="0" bIns="0" rtlCol="0" anchor="ctr"/>
          <a:lstStyle/>
          <a:p>
            <a:pPr marL="0" indent="0" algn="ctr">
              <a:buNone/>
            </a:pPr>
            <a:r>
              <a:rPr lang="en-US" sz="1250" b="1" dirty="0">
                <a:solidFill>
                  <a:srgbClr val="0F1B3D"/>
                </a:solidFill>
                <a:latin typeface="Calibri" pitchFamily="34" charset="0"/>
                <a:ea typeface="Calibri" pitchFamily="34" charset="-122"/>
                <a:cs typeface="Calibri" pitchFamily="34" charset="-120"/>
              </a:rPr>
              <a:t>Improvement Suggestions</a:t>
            </a:r>
            <a:endParaRPr lang="en-US" sz="1250" dirty="0"/>
          </a:p>
        </p:txBody>
      </p:sp>
      <p:sp>
        <p:nvSpPr>
          <p:cNvPr id="40" name="Text 38"/>
          <p:cNvSpPr txBox="1"/>
          <p:nvPr/>
        </p:nvSpPr>
        <p:spPr>
          <a:xfrm>
            <a:off x="8692744" y="3154680"/>
            <a:ext cx="1280160" cy="502920"/>
          </a:xfrm>
          <a:prstGeom prst="rect">
            <a:avLst/>
          </a:prstGeom>
          <a:noFill/>
          <a:ln/>
        </p:spPr>
        <p:txBody>
          <a:bodyPr wrap="square" lIns="0" tIns="0" rIns="0" bIns="0" rtlCol="0" anchor="ctr"/>
          <a:lstStyle/>
          <a:p>
            <a:pPr marL="0" indent="0" algn="ctr">
              <a:buNone/>
            </a:pPr>
            <a:r>
              <a:rPr lang="en-US" sz="1050" dirty="0">
                <a:solidFill>
                  <a:srgbClr val="5B6478"/>
                </a:solidFill>
                <a:latin typeface="Courier New" pitchFamily="34" charset="0"/>
                <a:ea typeface="Courier New" pitchFamily="34" charset="-122"/>
                <a:cs typeface="Courier New" pitchFamily="34" charset="-120"/>
              </a:rPr>
              <a:t>generate_</a:t>
            </a:r>
            <a:endParaRPr lang="en-US" sz="1050" dirty="0"/>
          </a:p>
          <a:p>
            <a:pPr marL="0" indent="0" algn="ctr">
              <a:buNone/>
            </a:pPr>
            <a:r>
              <a:rPr lang="en-US" sz="1050" dirty="0">
                <a:solidFill>
                  <a:srgbClr val="5B6478"/>
                </a:solidFill>
                <a:latin typeface="Courier New" pitchFamily="34" charset="0"/>
                <a:ea typeface="Courier New" pitchFamily="34" charset="-122"/>
                <a:cs typeface="Courier New" pitchFamily="34" charset="-120"/>
              </a:rPr>
              <a:t>improvements</a:t>
            </a:r>
            <a:endParaRPr lang="en-US" sz="1050" dirty="0"/>
          </a:p>
        </p:txBody>
      </p:sp>
      <p:sp>
        <p:nvSpPr>
          <p:cNvPr id="41" name="Shape 39"/>
          <p:cNvSpPr/>
          <p:nvPr/>
        </p:nvSpPr>
        <p:spPr>
          <a:xfrm>
            <a:off x="10046056" y="2720340"/>
            <a:ext cx="192024" cy="0"/>
          </a:xfrm>
          <a:prstGeom prst="line">
            <a:avLst/>
          </a:prstGeom>
          <a:noFill/>
          <a:ln w="25400">
            <a:solidFill>
              <a:srgbClr val="2F5BEA"/>
            </a:solidFill>
            <a:prstDash val="solid"/>
            <a:tailEnd type="triangle"/>
          </a:ln>
        </p:spPr>
      </p:sp>
      <p:sp>
        <p:nvSpPr>
          <p:cNvPr id="42" name="Shape 40"/>
          <p:cNvSpPr/>
          <p:nvPr/>
        </p:nvSpPr>
        <p:spPr>
          <a:xfrm>
            <a:off x="10265512" y="1645920"/>
            <a:ext cx="1371600" cy="2148840"/>
          </a:xfrm>
          <a:prstGeom prst="roundRect">
            <a:avLst>
              <a:gd name="adj" fmla="val 8000"/>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43" name="Shape 41"/>
          <p:cNvSpPr/>
          <p:nvPr/>
        </p:nvSpPr>
        <p:spPr>
          <a:xfrm>
            <a:off x="10731856" y="1874520"/>
            <a:ext cx="438912" cy="438912"/>
          </a:xfrm>
          <a:prstGeom prst="ellipse">
            <a:avLst/>
          </a:prstGeom>
          <a:solidFill>
            <a:srgbClr val="2F5BEA"/>
          </a:solidFill>
          <a:ln w="6350">
            <a:solidFill>
              <a:srgbClr val="2F5BEA"/>
            </a:solidFill>
            <a:prstDash val="solid"/>
          </a:ln>
        </p:spPr>
      </p:sp>
      <p:sp>
        <p:nvSpPr>
          <p:cNvPr id="44" name="Text 42"/>
          <p:cNvSpPr txBox="1"/>
          <p:nvPr/>
        </p:nvSpPr>
        <p:spPr>
          <a:xfrm>
            <a:off x="10731856" y="187452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5" name="Text 43"/>
          <p:cNvSpPr txBox="1"/>
          <p:nvPr/>
        </p:nvSpPr>
        <p:spPr>
          <a:xfrm>
            <a:off x="10302088" y="2468880"/>
            <a:ext cx="1298448" cy="640080"/>
          </a:xfrm>
          <a:prstGeom prst="rect">
            <a:avLst/>
          </a:prstGeom>
          <a:noFill/>
          <a:ln/>
        </p:spPr>
        <p:txBody>
          <a:bodyPr wrap="square" lIns="0" tIns="0" rIns="0" bIns="0" rtlCol="0" anchor="ctr"/>
          <a:lstStyle/>
          <a:p>
            <a:pPr marL="0" indent="0" algn="ctr">
              <a:buNone/>
            </a:pPr>
            <a:r>
              <a:rPr lang="en-US" sz="1250" b="1" dirty="0">
                <a:solidFill>
                  <a:srgbClr val="0F1B3D"/>
                </a:solidFill>
                <a:latin typeface="Calibri" pitchFamily="34" charset="0"/>
                <a:ea typeface="Calibri" pitchFamily="34" charset="-122"/>
                <a:cs typeface="Calibri" pitchFamily="34" charset="-120"/>
              </a:rPr>
              <a:t>Final Response</a:t>
            </a:r>
            <a:endParaRPr lang="en-US" sz="1250" dirty="0"/>
          </a:p>
        </p:txBody>
      </p:sp>
      <p:sp>
        <p:nvSpPr>
          <p:cNvPr id="46" name="Text 44"/>
          <p:cNvSpPr txBox="1"/>
          <p:nvPr/>
        </p:nvSpPr>
        <p:spPr>
          <a:xfrm>
            <a:off x="10311232" y="3154680"/>
            <a:ext cx="1280160" cy="502920"/>
          </a:xfrm>
          <a:prstGeom prst="rect">
            <a:avLst/>
          </a:prstGeom>
          <a:noFill/>
          <a:ln/>
        </p:spPr>
        <p:txBody>
          <a:bodyPr wrap="square" lIns="0" tIns="0" rIns="0" bIns="0" rtlCol="0" anchor="ctr"/>
          <a:lstStyle/>
          <a:p>
            <a:pPr marL="0" indent="0" algn="ctr">
              <a:buNone/>
            </a:pPr>
            <a:r>
              <a:rPr lang="en-US" sz="1050" dirty="0">
                <a:solidFill>
                  <a:srgbClr val="5B6478"/>
                </a:solidFill>
                <a:latin typeface="Courier New" pitchFamily="34" charset="0"/>
                <a:ea typeface="Courier New" pitchFamily="34" charset="-122"/>
                <a:cs typeface="Courier New" pitchFamily="34" charset="-120"/>
              </a:rPr>
              <a:t>generate_</a:t>
            </a:r>
            <a:endParaRPr lang="en-US" sz="1050" dirty="0"/>
          </a:p>
          <a:p>
            <a:pPr marL="0" indent="0" algn="ctr">
              <a:buNone/>
            </a:pPr>
            <a:r>
              <a:rPr lang="en-US" sz="1050" dirty="0">
                <a:solidFill>
                  <a:srgbClr val="5B6478"/>
                </a:solidFill>
                <a:latin typeface="Courier New" pitchFamily="34" charset="0"/>
                <a:ea typeface="Courier New" pitchFamily="34" charset="-122"/>
                <a:cs typeface="Courier New" pitchFamily="34" charset="-120"/>
              </a:rPr>
              <a:t>final_response</a:t>
            </a:r>
            <a:endParaRPr lang="en-US" sz="1050" dirty="0"/>
          </a:p>
        </p:txBody>
      </p:sp>
      <p:sp>
        <p:nvSpPr>
          <p:cNvPr id="47" name="Shape 45"/>
          <p:cNvSpPr/>
          <p:nvPr/>
        </p:nvSpPr>
        <p:spPr>
          <a:xfrm>
            <a:off x="554584" y="4069080"/>
            <a:ext cx="11082528" cy="731520"/>
          </a:xfrm>
          <a:prstGeom prst="roundRect">
            <a:avLst>
              <a:gd name="adj" fmla="val 15000"/>
            </a:avLst>
          </a:prstGeom>
          <a:solidFill>
            <a:srgbClr val="E4EAFF"/>
          </a:solidFill>
          <a:ln w="9525">
            <a:solidFill>
              <a:srgbClr val="C7D3FA"/>
            </a:solidFill>
            <a:prstDash val="solid"/>
          </a:ln>
        </p:spPr>
      </p:sp>
      <p:sp>
        <p:nvSpPr>
          <p:cNvPr id="48" name="Text 46"/>
          <p:cNvSpPr txBox="1"/>
          <p:nvPr/>
        </p:nvSpPr>
        <p:spPr>
          <a:xfrm>
            <a:off x="828904" y="4069080"/>
            <a:ext cx="10533888" cy="731520"/>
          </a:xfrm>
          <a:prstGeom prst="rect">
            <a:avLst/>
          </a:prstGeom>
          <a:noFill/>
          <a:ln/>
        </p:spPr>
        <p:txBody>
          <a:bodyPr wrap="square" lIns="0" tIns="0" rIns="0" bIns="0" rtlCol="0" anchor="ctr"/>
          <a:lstStyle/>
          <a:p>
            <a:pPr marL="0" indent="0">
              <a:buNone/>
            </a:pPr>
            <a:r>
              <a:rPr lang="en-US" sz="1500" b="1" dirty="0">
                <a:solidFill>
                  <a:srgbClr val="0F1B3D"/>
                </a:solidFill>
                <a:latin typeface="Calibri" pitchFamily="34" charset="0"/>
                <a:ea typeface="Calibri" pitchFamily="34" charset="-122"/>
                <a:cs typeface="Calibri" pitchFamily="34" charset="-120"/>
              </a:rPr>
              <a:t>Shared state object   </a:t>
            </a:r>
            <a:r>
              <a:rPr lang="en-US" sz="1400" dirty="0">
                <a:solidFill>
                  <a:srgbClr val="1B2440"/>
                </a:solidFill>
                <a:latin typeface="Calibri" pitchFamily="34" charset="0"/>
                <a:ea typeface="Calibri" pitchFamily="34" charset="-122"/>
                <a:cs typeface="Calibri" pitchFamily="34" charset="-120"/>
              </a:rPr>
              <a:t>Every node reads the same state and adds its output, so the final response combines the results of all nodes.</a:t>
            </a:r>
            <a:endParaRPr lang="en-US" sz="1500" dirty="0"/>
          </a:p>
        </p:txBody>
      </p:sp>
      <p:sp>
        <p:nvSpPr>
          <p:cNvPr id="49" name="Shape 47"/>
          <p:cNvSpPr/>
          <p:nvPr/>
        </p:nvSpPr>
        <p:spPr>
          <a:xfrm>
            <a:off x="554584" y="5029200"/>
            <a:ext cx="5404104" cy="1143000"/>
          </a:xfrm>
          <a:prstGeom prst="roundRect">
            <a:avLst>
              <a:gd name="adj" fmla="val 9600"/>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50" name="Shape 48"/>
          <p:cNvSpPr/>
          <p:nvPr/>
        </p:nvSpPr>
        <p:spPr>
          <a:xfrm>
            <a:off x="783184" y="5321808"/>
            <a:ext cx="548640" cy="548640"/>
          </a:xfrm>
          <a:prstGeom prst="ellipse">
            <a:avLst/>
          </a:prstGeom>
          <a:solidFill>
            <a:srgbClr val="6D28D9"/>
          </a:solidFill>
          <a:ln w="6350">
            <a:solidFill>
              <a:srgbClr val="6D28D9"/>
            </a:solidFill>
            <a:prstDash val="solid"/>
          </a:ln>
        </p:spPr>
      </p:sp>
      <p:pic>
        <p:nvPicPr>
          <p:cNvPr id="51" name="Image 0" descr="preencoded.png"/>
          <p:cNvPicPr>
            <a:picLocks noChangeAspect="1"/>
          </p:cNvPicPr>
          <p:nvPr/>
        </p:nvPicPr>
        <p:blipFill>
          <a:blip r:embed="rId3"/>
          <a:stretch>
            <a:fillRect/>
          </a:stretch>
        </p:blipFill>
        <p:spPr>
          <a:xfrm>
            <a:off x="920344" y="5458968"/>
            <a:ext cx="274320" cy="274320"/>
          </a:xfrm>
          <a:prstGeom prst="rect">
            <a:avLst/>
          </a:prstGeom>
        </p:spPr>
      </p:pic>
      <p:sp>
        <p:nvSpPr>
          <p:cNvPr id="52" name="Text 49"/>
          <p:cNvSpPr txBox="1"/>
          <p:nvPr/>
        </p:nvSpPr>
        <p:spPr>
          <a:xfrm>
            <a:off x="1514704" y="5212080"/>
            <a:ext cx="4261104" cy="274320"/>
          </a:xfrm>
          <a:prstGeom prst="rect">
            <a:avLst/>
          </a:prstGeom>
          <a:noFill/>
          <a:ln/>
        </p:spPr>
        <p:txBody>
          <a:bodyPr wrap="square" lIns="0" tIns="0" rIns="0" bIns="0" rtlCol="0" anchor="ctr"/>
          <a:lstStyle/>
          <a:p>
            <a:pPr marL="0" indent="0">
              <a:buNone/>
            </a:pPr>
            <a:r>
              <a:rPr lang="en-US" sz="1600" b="1" dirty="0">
                <a:solidFill>
                  <a:srgbClr val="0F1B3D"/>
                </a:solidFill>
                <a:latin typeface="Calibri" pitchFamily="34" charset="0"/>
                <a:ea typeface="Calibri" pitchFamily="34" charset="-122"/>
                <a:cs typeface="Calibri" pitchFamily="34" charset="-120"/>
              </a:rPr>
              <a:t>LLM reasoning</a:t>
            </a:r>
            <a:endParaRPr lang="en-US" sz="1600" dirty="0"/>
          </a:p>
        </p:txBody>
      </p:sp>
      <p:sp>
        <p:nvSpPr>
          <p:cNvPr id="53" name="Text 50"/>
          <p:cNvSpPr txBox="1"/>
          <p:nvPr/>
        </p:nvSpPr>
        <p:spPr>
          <a:xfrm>
            <a:off x="1514704" y="5504688"/>
            <a:ext cx="4261104" cy="594360"/>
          </a:xfrm>
          <a:prstGeom prst="rect">
            <a:avLst/>
          </a:prstGeom>
          <a:noFill/>
          <a:ln/>
        </p:spPr>
        <p:txBody>
          <a:bodyPr wrap="square" lIns="0" tIns="0" rIns="0" bIns="0" rtlCol="0" anchor="t"/>
          <a:lstStyle/>
          <a:p>
            <a:pPr marL="0" indent="0">
              <a:buNone/>
            </a:pPr>
            <a:r>
              <a:rPr lang="en-US" sz="1250" dirty="0">
                <a:solidFill>
                  <a:srgbClr val="5B6478"/>
                </a:solidFill>
                <a:latin typeface="Calibri" pitchFamily="34" charset="0"/>
                <a:ea typeface="Calibri" pitchFamily="34" charset="-122"/>
                <a:cs typeface="Calibri" pitchFamily="34" charset="-120"/>
              </a:rPr>
              <a:t>Nodes call llm_service.py for Gemini. The key comes from the GEMINI_API_KEY environment variable.</a:t>
            </a:r>
            <a:endParaRPr lang="en-US" sz="1250" dirty="0"/>
          </a:p>
        </p:txBody>
      </p:sp>
      <p:sp>
        <p:nvSpPr>
          <p:cNvPr id="54" name="Shape 51"/>
          <p:cNvSpPr/>
          <p:nvPr/>
        </p:nvSpPr>
        <p:spPr>
          <a:xfrm>
            <a:off x="6233008" y="5029200"/>
            <a:ext cx="5404104" cy="1143000"/>
          </a:xfrm>
          <a:prstGeom prst="roundRect">
            <a:avLst>
              <a:gd name="adj" fmla="val 9600"/>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55" name="Shape 52"/>
          <p:cNvSpPr/>
          <p:nvPr/>
        </p:nvSpPr>
        <p:spPr>
          <a:xfrm>
            <a:off x="6461608" y="5321808"/>
            <a:ext cx="548640" cy="548640"/>
          </a:xfrm>
          <a:prstGeom prst="ellipse">
            <a:avLst/>
          </a:prstGeom>
          <a:solidFill>
            <a:srgbClr val="2F5BEA"/>
          </a:solidFill>
          <a:ln w="6350">
            <a:solidFill>
              <a:srgbClr val="2F5BEA"/>
            </a:solidFill>
            <a:prstDash val="solid"/>
          </a:ln>
        </p:spPr>
      </p:sp>
      <p:pic>
        <p:nvPicPr>
          <p:cNvPr id="56" name="Image 1" descr="preencoded.png"/>
          <p:cNvPicPr>
            <a:picLocks noChangeAspect="1"/>
          </p:cNvPicPr>
          <p:nvPr/>
        </p:nvPicPr>
        <p:blipFill>
          <a:blip r:embed="rId4"/>
          <a:stretch>
            <a:fillRect/>
          </a:stretch>
        </p:blipFill>
        <p:spPr>
          <a:xfrm>
            <a:off x="6598768" y="5458968"/>
            <a:ext cx="274320" cy="274320"/>
          </a:xfrm>
          <a:prstGeom prst="rect">
            <a:avLst/>
          </a:prstGeom>
        </p:spPr>
      </p:pic>
      <p:sp>
        <p:nvSpPr>
          <p:cNvPr id="57" name="Text 53"/>
          <p:cNvSpPr txBox="1"/>
          <p:nvPr/>
        </p:nvSpPr>
        <p:spPr>
          <a:xfrm>
            <a:off x="7193128" y="5212080"/>
            <a:ext cx="4261104" cy="274320"/>
          </a:xfrm>
          <a:prstGeom prst="rect">
            <a:avLst/>
          </a:prstGeom>
          <a:noFill/>
          <a:ln/>
        </p:spPr>
        <p:txBody>
          <a:bodyPr wrap="square" lIns="0" tIns="0" rIns="0" bIns="0" rtlCol="0" anchor="ctr"/>
          <a:lstStyle/>
          <a:p>
            <a:pPr marL="0" indent="0">
              <a:buNone/>
            </a:pPr>
            <a:r>
              <a:rPr lang="en-US" sz="1600" b="1" dirty="0">
                <a:solidFill>
                  <a:srgbClr val="0F1B3D"/>
                </a:solidFill>
                <a:latin typeface="Calibri" pitchFamily="34" charset="0"/>
                <a:ea typeface="Calibri" pitchFamily="34" charset="-122"/>
                <a:cs typeface="Calibri" pitchFamily="34" charset="-120"/>
              </a:rPr>
              <a:t>Demo Mode fallback</a:t>
            </a:r>
            <a:endParaRPr lang="en-US" sz="1600" dirty="0"/>
          </a:p>
        </p:txBody>
      </p:sp>
      <p:sp>
        <p:nvSpPr>
          <p:cNvPr id="58" name="Text 54"/>
          <p:cNvSpPr txBox="1"/>
          <p:nvPr/>
        </p:nvSpPr>
        <p:spPr>
          <a:xfrm>
            <a:off x="7193128" y="5504688"/>
            <a:ext cx="4261104" cy="594360"/>
          </a:xfrm>
          <a:prstGeom prst="rect">
            <a:avLst/>
          </a:prstGeom>
          <a:noFill/>
          <a:ln/>
        </p:spPr>
        <p:txBody>
          <a:bodyPr wrap="square" lIns="0" tIns="0" rIns="0" bIns="0" rtlCol="0" anchor="t"/>
          <a:lstStyle/>
          <a:p>
            <a:pPr marL="0" indent="0">
              <a:buNone/>
            </a:pPr>
            <a:r>
              <a:rPr lang="en-US" sz="1250" dirty="0">
                <a:solidFill>
                  <a:srgbClr val="5B6478"/>
                </a:solidFill>
                <a:latin typeface="Calibri" pitchFamily="34" charset="0"/>
                <a:ea typeface="Calibri" pitchFamily="34" charset="-122"/>
                <a:cs typeface="Calibri" pitchFamily="34" charset="-120"/>
              </a:rPr>
              <a:t>With no API key the workflow still completes using sample responses, labelled Demo Mode.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B"/>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640080"/>
          </a:xfrm>
          <a:prstGeom prst="rect">
            <a:avLst/>
          </a:prstGeom>
          <a:noFill/>
          <a:ln/>
        </p:spPr>
        <p:txBody>
          <a:bodyPr wrap="square" lIns="0" tIns="0" rIns="0" bIns="0" rtlCol="0" anchor="ctr"/>
          <a:lstStyle/>
          <a:p>
            <a:pPr marL="0" indent="0">
              <a:buNone/>
            </a:pPr>
            <a:r>
              <a:rPr lang="en-US" sz="3800" b="1" dirty="0">
                <a:solidFill>
                  <a:srgbClr val="0F1B3D"/>
                </a:solidFill>
                <a:latin typeface="Cambria" pitchFamily="34" charset="0"/>
                <a:ea typeface="Cambria" pitchFamily="34" charset="-122"/>
                <a:cs typeface="Cambria" pitchFamily="34" charset="-120"/>
              </a:rPr>
              <a:t>Working</a:t>
            </a:r>
            <a:endParaRPr lang="en-US" sz="3800" dirty="0"/>
          </a:p>
        </p:txBody>
      </p:sp>
      <p:sp>
        <p:nvSpPr>
          <p:cNvPr id="3" name="Text 1"/>
          <p:cNvSpPr txBox="1"/>
          <p:nvPr/>
        </p:nvSpPr>
        <p:spPr>
          <a:xfrm>
            <a:off x="548640" y="1005840"/>
            <a:ext cx="10972800" cy="365760"/>
          </a:xfrm>
          <a:prstGeom prst="rect">
            <a:avLst/>
          </a:prstGeom>
          <a:noFill/>
          <a:ln/>
        </p:spPr>
        <p:txBody>
          <a:bodyPr wrap="square" lIns="0" tIns="0" rIns="0" bIns="0" rtlCol="0" anchor="ctr"/>
          <a:lstStyle/>
          <a:p>
            <a:pPr marL="0" indent="0">
              <a:buNone/>
            </a:pPr>
            <a:r>
              <a:rPr lang="en-US" sz="1600" dirty="0">
                <a:solidFill>
                  <a:srgbClr val="5B6478"/>
                </a:solidFill>
                <a:latin typeface="Calibri" pitchFamily="34" charset="0"/>
                <a:ea typeface="Calibri" pitchFamily="34" charset="-122"/>
                <a:cs typeface="Calibri" pitchFamily="34" charset="-120"/>
              </a:rPr>
              <a:t>Milestone 3: Recommendations &amp; Strategic Reasoning in the running app</a:t>
            </a:r>
            <a:endParaRPr lang="en-US" sz="1600" dirty="0"/>
          </a:p>
        </p:txBody>
      </p:sp>
      <p:sp>
        <p:nvSpPr>
          <p:cNvPr id="5" name="Text 3"/>
          <p:cNvSpPr txBox="1"/>
          <p:nvPr/>
        </p:nvSpPr>
        <p:spPr>
          <a:xfrm>
            <a:off x="10271455" y="6400800"/>
            <a:ext cx="1371600" cy="228600"/>
          </a:xfrm>
          <a:prstGeom prst="rect">
            <a:avLst/>
          </a:prstGeom>
          <a:noFill/>
          <a:ln/>
        </p:spPr>
        <p:txBody>
          <a:bodyPr wrap="square" lIns="0" tIns="0" rIns="0" bIns="0" rtlCol="0" anchor="ctr"/>
          <a:lstStyle/>
          <a:p>
            <a:pPr marL="0" indent="0" algn="r">
              <a:buNone/>
            </a:pPr>
            <a:r>
              <a:rPr lang="en-US" sz="1000" dirty="0">
                <a:solidFill>
                  <a:srgbClr val="5B6478"/>
                </a:solidFill>
                <a:latin typeface="Calibri" pitchFamily="34" charset="0"/>
                <a:ea typeface="Calibri" pitchFamily="34" charset="-122"/>
                <a:cs typeface="Calibri" pitchFamily="34" charset="-120"/>
              </a:rPr>
              <a:t>4 / 7</a:t>
            </a:r>
            <a:endParaRPr lang="en-US" sz="1000" dirty="0"/>
          </a:p>
        </p:txBody>
      </p:sp>
      <p:sp>
        <p:nvSpPr>
          <p:cNvPr id="6" name="Shape 4"/>
          <p:cNvSpPr/>
          <p:nvPr/>
        </p:nvSpPr>
        <p:spPr>
          <a:xfrm>
            <a:off x="548640" y="1645920"/>
            <a:ext cx="7680960" cy="2861369"/>
          </a:xfrm>
          <a:prstGeom prst="rect">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pic>
        <p:nvPicPr>
          <p:cNvPr id="7" name="Image 0" descr="/home/claude/screenshot_crop.png"/>
          <p:cNvPicPr>
            <a:picLocks noChangeAspect="1"/>
          </p:cNvPicPr>
          <p:nvPr/>
        </p:nvPicPr>
        <p:blipFill>
          <a:blip r:embed="rId3"/>
          <a:stretch>
            <a:fillRect/>
          </a:stretch>
        </p:blipFill>
        <p:spPr>
          <a:xfrm>
            <a:off x="548640" y="1645920"/>
            <a:ext cx="7680960" cy="2861369"/>
          </a:xfrm>
          <a:prstGeom prst="rect">
            <a:avLst/>
          </a:prstGeom>
        </p:spPr>
      </p:pic>
      <p:sp>
        <p:nvSpPr>
          <p:cNvPr id="8" name="Text 5"/>
          <p:cNvSpPr txBox="1"/>
          <p:nvPr/>
        </p:nvSpPr>
        <p:spPr>
          <a:xfrm>
            <a:off x="548640" y="4854761"/>
            <a:ext cx="3657600" cy="201168"/>
          </a:xfrm>
          <a:prstGeom prst="rect">
            <a:avLst/>
          </a:prstGeom>
          <a:noFill/>
          <a:ln/>
        </p:spPr>
        <p:txBody>
          <a:bodyPr wrap="square" lIns="0" tIns="0" rIns="0" bIns="0" rtlCol="0" anchor="ctr"/>
          <a:lstStyle/>
          <a:p>
            <a:pPr marL="0" indent="0">
              <a:buNone/>
            </a:pPr>
            <a:r>
              <a:rPr lang="en-US" sz="1050" b="1" kern="0" spc="100" dirty="0">
                <a:solidFill>
                  <a:srgbClr val="5B6478"/>
                </a:solidFill>
                <a:latin typeface="Calibri" pitchFamily="34" charset="0"/>
                <a:ea typeface="Calibri" pitchFamily="34" charset="-122"/>
                <a:cs typeface="Calibri" pitchFamily="34" charset="-120"/>
              </a:rPr>
              <a:t>LANGGRAPH AGENT STEPS</a:t>
            </a:r>
            <a:endParaRPr lang="en-US" sz="1050" dirty="0"/>
          </a:p>
        </p:txBody>
      </p:sp>
      <p:sp>
        <p:nvSpPr>
          <p:cNvPr id="9" name="Shape 6"/>
          <p:cNvSpPr/>
          <p:nvPr/>
        </p:nvSpPr>
        <p:spPr>
          <a:xfrm>
            <a:off x="548640" y="5147369"/>
            <a:ext cx="1280160" cy="594360"/>
          </a:xfrm>
          <a:prstGeom prst="roundRect">
            <a:avLst>
              <a:gd name="adj" fmla="val 21538"/>
            </a:avLst>
          </a:prstGeom>
          <a:solidFill>
            <a:srgbClr val="FFFFFF"/>
          </a:solidFill>
          <a:ln w="9525">
            <a:solidFill>
              <a:srgbClr val="E2E6F0"/>
            </a:solidFill>
            <a:prstDash val="solid"/>
          </a:ln>
        </p:spPr>
      </p:sp>
      <p:sp>
        <p:nvSpPr>
          <p:cNvPr id="10" name="Text 7"/>
          <p:cNvSpPr txBox="1"/>
          <p:nvPr/>
        </p:nvSpPr>
        <p:spPr>
          <a:xfrm>
            <a:off x="594360" y="5147369"/>
            <a:ext cx="1188720" cy="594360"/>
          </a:xfrm>
          <a:prstGeom prst="rect">
            <a:avLst/>
          </a:prstGeom>
          <a:noFill/>
          <a:ln/>
        </p:spPr>
        <p:txBody>
          <a:bodyPr wrap="square" lIns="0" tIns="0" rIns="0" bIns="0" rtlCol="0" anchor="ctr"/>
          <a:lstStyle/>
          <a:p>
            <a:pPr marL="0" indent="0" algn="ctr">
              <a:buNone/>
            </a:pPr>
            <a:r>
              <a:rPr lang="en-US" sz="1200" b="1" dirty="0">
                <a:solidFill>
                  <a:srgbClr val="0F1B3D"/>
                </a:solidFill>
                <a:latin typeface="Calibri" pitchFamily="34" charset="0"/>
                <a:ea typeface="Calibri" pitchFamily="34" charset="-122"/>
                <a:cs typeface="Calibri" pitchFamily="34" charset="-120"/>
              </a:rPr>
              <a:t>Data Ingestion</a:t>
            </a:r>
            <a:endParaRPr lang="en-US" sz="1200" dirty="0"/>
          </a:p>
        </p:txBody>
      </p:sp>
      <p:sp>
        <p:nvSpPr>
          <p:cNvPr id="11" name="Shape 8"/>
          <p:cNvSpPr/>
          <p:nvPr/>
        </p:nvSpPr>
        <p:spPr>
          <a:xfrm>
            <a:off x="1856232" y="5444549"/>
            <a:ext cx="265176" cy="0"/>
          </a:xfrm>
          <a:prstGeom prst="line">
            <a:avLst/>
          </a:prstGeom>
          <a:noFill/>
          <a:ln w="19050">
            <a:solidFill>
              <a:srgbClr val="2F5BEA"/>
            </a:solidFill>
            <a:prstDash val="solid"/>
            <a:tailEnd type="triangle"/>
          </a:ln>
        </p:spPr>
      </p:sp>
      <p:sp>
        <p:nvSpPr>
          <p:cNvPr id="12" name="Shape 9"/>
          <p:cNvSpPr/>
          <p:nvPr/>
        </p:nvSpPr>
        <p:spPr>
          <a:xfrm>
            <a:off x="2148840" y="5147369"/>
            <a:ext cx="1280160" cy="594360"/>
          </a:xfrm>
          <a:prstGeom prst="roundRect">
            <a:avLst>
              <a:gd name="adj" fmla="val 21538"/>
            </a:avLst>
          </a:prstGeom>
          <a:solidFill>
            <a:srgbClr val="FFFFFF"/>
          </a:solidFill>
          <a:ln w="9525">
            <a:solidFill>
              <a:srgbClr val="E2E6F0"/>
            </a:solidFill>
            <a:prstDash val="solid"/>
          </a:ln>
        </p:spPr>
      </p:sp>
      <p:sp>
        <p:nvSpPr>
          <p:cNvPr id="13" name="Text 10"/>
          <p:cNvSpPr txBox="1"/>
          <p:nvPr/>
        </p:nvSpPr>
        <p:spPr>
          <a:xfrm>
            <a:off x="2194560" y="5147369"/>
            <a:ext cx="1188720" cy="594360"/>
          </a:xfrm>
          <a:prstGeom prst="rect">
            <a:avLst/>
          </a:prstGeom>
          <a:noFill/>
          <a:ln/>
        </p:spPr>
        <p:txBody>
          <a:bodyPr wrap="square" lIns="0" tIns="0" rIns="0" bIns="0" rtlCol="0" anchor="ctr"/>
          <a:lstStyle/>
          <a:p>
            <a:pPr marL="0" indent="0" algn="ctr">
              <a:buNone/>
            </a:pPr>
            <a:r>
              <a:rPr lang="en-US" sz="1200" b="1" dirty="0">
                <a:solidFill>
                  <a:srgbClr val="0F1B3D"/>
                </a:solidFill>
                <a:latin typeface="Calibri" pitchFamily="34" charset="0"/>
                <a:ea typeface="Calibri" pitchFamily="34" charset="-122"/>
                <a:cs typeface="Calibri" pitchFamily="34" charset="-120"/>
              </a:rPr>
              <a:t>Risk Analysis</a:t>
            </a:r>
            <a:endParaRPr lang="en-US" sz="1200" dirty="0"/>
          </a:p>
        </p:txBody>
      </p:sp>
      <p:sp>
        <p:nvSpPr>
          <p:cNvPr id="14" name="Shape 11"/>
          <p:cNvSpPr/>
          <p:nvPr/>
        </p:nvSpPr>
        <p:spPr>
          <a:xfrm>
            <a:off x="3456432" y="5444549"/>
            <a:ext cx="265176" cy="0"/>
          </a:xfrm>
          <a:prstGeom prst="line">
            <a:avLst/>
          </a:prstGeom>
          <a:noFill/>
          <a:ln w="19050">
            <a:solidFill>
              <a:srgbClr val="2F5BEA"/>
            </a:solidFill>
            <a:prstDash val="solid"/>
            <a:tailEnd type="triangle"/>
          </a:ln>
        </p:spPr>
      </p:sp>
      <p:sp>
        <p:nvSpPr>
          <p:cNvPr id="15" name="Shape 12"/>
          <p:cNvSpPr/>
          <p:nvPr/>
        </p:nvSpPr>
        <p:spPr>
          <a:xfrm>
            <a:off x="3749040" y="5147369"/>
            <a:ext cx="1280160" cy="594360"/>
          </a:xfrm>
          <a:prstGeom prst="roundRect">
            <a:avLst>
              <a:gd name="adj" fmla="val 21538"/>
            </a:avLst>
          </a:prstGeom>
          <a:solidFill>
            <a:srgbClr val="FFFFFF"/>
          </a:solidFill>
          <a:ln w="9525">
            <a:solidFill>
              <a:srgbClr val="E2E6F0"/>
            </a:solidFill>
            <a:prstDash val="solid"/>
          </a:ln>
        </p:spPr>
      </p:sp>
      <p:sp>
        <p:nvSpPr>
          <p:cNvPr id="16" name="Text 13"/>
          <p:cNvSpPr txBox="1"/>
          <p:nvPr/>
        </p:nvSpPr>
        <p:spPr>
          <a:xfrm>
            <a:off x="3794760" y="5147369"/>
            <a:ext cx="1188720" cy="594360"/>
          </a:xfrm>
          <a:prstGeom prst="rect">
            <a:avLst/>
          </a:prstGeom>
          <a:noFill/>
          <a:ln/>
        </p:spPr>
        <p:txBody>
          <a:bodyPr wrap="square" lIns="0" tIns="0" rIns="0" bIns="0" rtlCol="0" anchor="ctr"/>
          <a:lstStyle/>
          <a:p>
            <a:pPr marL="0" indent="0" algn="ctr">
              <a:buNone/>
            </a:pPr>
            <a:r>
              <a:rPr lang="en-US" sz="1200" b="1" dirty="0">
                <a:solidFill>
                  <a:srgbClr val="0F1B3D"/>
                </a:solidFill>
                <a:latin typeface="Calibri" pitchFamily="34" charset="0"/>
                <a:ea typeface="Calibri" pitchFamily="34" charset="-122"/>
                <a:cs typeface="Calibri" pitchFamily="34" charset="-120"/>
              </a:rPr>
              <a:t>Strategic Reasoning</a:t>
            </a:r>
            <a:endParaRPr lang="en-US" sz="1200" dirty="0"/>
          </a:p>
        </p:txBody>
      </p:sp>
      <p:sp>
        <p:nvSpPr>
          <p:cNvPr id="17" name="Shape 14"/>
          <p:cNvSpPr/>
          <p:nvPr/>
        </p:nvSpPr>
        <p:spPr>
          <a:xfrm>
            <a:off x="5056632" y="5444549"/>
            <a:ext cx="265176" cy="0"/>
          </a:xfrm>
          <a:prstGeom prst="line">
            <a:avLst/>
          </a:prstGeom>
          <a:noFill/>
          <a:ln w="19050">
            <a:solidFill>
              <a:srgbClr val="2F5BEA"/>
            </a:solidFill>
            <a:prstDash val="solid"/>
            <a:tailEnd type="triangle"/>
          </a:ln>
        </p:spPr>
      </p:sp>
      <p:sp>
        <p:nvSpPr>
          <p:cNvPr id="18" name="Shape 15"/>
          <p:cNvSpPr/>
          <p:nvPr/>
        </p:nvSpPr>
        <p:spPr>
          <a:xfrm>
            <a:off x="5349240" y="5147369"/>
            <a:ext cx="1280160" cy="594360"/>
          </a:xfrm>
          <a:prstGeom prst="roundRect">
            <a:avLst>
              <a:gd name="adj" fmla="val 21538"/>
            </a:avLst>
          </a:prstGeom>
          <a:solidFill>
            <a:srgbClr val="FFFFFF"/>
          </a:solidFill>
          <a:ln w="9525">
            <a:solidFill>
              <a:srgbClr val="E2E6F0"/>
            </a:solidFill>
            <a:prstDash val="solid"/>
          </a:ln>
        </p:spPr>
      </p:sp>
      <p:sp>
        <p:nvSpPr>
          <p:cNvPr id="19" name="Text 16"/>
          <p:cNvSpPr txBox="1"/>
          <p:nvPr/>
        </p:nvSpPr>
        <p:spPr>
          <a:xfrm>
            <a:off x="5394960" y="5147369"/>
            <a:ext cx="1188720" cy="594360"/>
          </a:xfrm>
          <a:prstGeom prst="rect">
            <a:avLst/>
          </a:prstGeom>
          <a:noFill/>
          <a:ln/>
        </p:spPr>
        <p:txBody>
          <a:bodyPr wrap="square" lIns="0" tIns="0" rIns="0" bIns="0" rtlCol="0" anchor="ctr"/>
          <a:lstStyle/>
          <a:p>
            <a:pPr marL="0" indent="0" algn="ctr">
              <a:buNone/>
            </a:pPr>
            <a:r>
              <a:rPr lang="en-US" sz="1200" b="1" dirty="0">
                <a:solidFill>
                  <a:srgbClr val="0F1B3D"/>
                </a:solidFill>
                <a:latin typeface="Calibri" pitchFamily="34" charset="0"/>
                <a:ea typeface="Calibri" pitchFamily="34" charset="-122"/>
                <a:cs typeface="Calibri" pitchFamily="34" charset="-120"/>
              </a:rPr>
              <a:t>Validation</a:t>
            </a:r>
            <a:endParaRPr lang="en-US" sz="1200" dirty="0"/>
          </a:p>
        </p:txBody>
      </p:sp>
      <p:sp>
        <p:nvSpPr>
          <p:cNvPr id="20" name="Shape 17"/>
          <p:cNvSpPr/>
          <p:nvPr/>
        </p:nvSpPr>
        <p:spPr>
          <a:xfrm>
            <a:off x="6656832" y="5444549"/>
            <a:ext cx="265176" cy="0"/>
          </a:xfrm>
          <a:prstGeom prst="line">
            <a:avLst/>
          </a:prstGeom>
          <a:noFill/>
          <a:ln w="19050">
            <a:solidFill>
              <a:srgbClr val="2F5BEA"/>
            </a:solidFill>
            <a:prstDash val="solid"/>
            <a:tailEnd type="triangle"/>
          </a:ln>
        </p:spPr>
      </p:sp>
      <p:sp>
        <p:nvSpPr>
          <p:cNvPr id="21" name="Shape 18"/>
          <p:cNvSpPr/>
          <p:nvPr/>
        </p:nvSpPr>
        <p:spPr>
          <a:xfrm>
            <a:off x="6949440" y="5147369"/>
            <a:ext cx="1280160" cy="594360"/>
          </a:xfrm>
          <a:prstGeom prst="roundRect">
            <a:avLst>
              <a:gd name="adj" fmla="val 21538"/>
            </a:avLst>
          </a:prstGeom>
          <a:solidFill>
            <a:srgbClr val="FFFFFF"/>
          </a:solidFill>
          <a:ln w="9525">
            <a:solidFill>
              <a:srgbClr val="E2E6F0"/>
            </a:solidFill>
            <a:prstDash val="solid"/>
          </a:ln>
        </p:spPr>
      </p:sp>
      <p:sp>
        <p:nvSpPr>
          <p:cNvPr id="22" name="Text 19"/>
          <p:cNvSpPr txBox="1"/>
          <p:nvPr/>
        </p:nvSpPr>
        <p:spPr>
          <a:xfrm>
            <a:off x="6995160" y="5147369"/>
            <a:ext cx="1188720" cy="594360"/>
          </a:xfrm>
          <a:prstGeom prst="rect">
            <a:avLst/>
          </a:prstGeom>
          <a:noFill/>
          <a:ln/>
        </p:spPr>
        <p:txBody>
          <a:bodyPr wrap="square" lIns="0" tIns="0" rIns="0" bIns="0" rtlCol="0" anchor="ctr"/>
          <a:lstStyle/>
          <a:p>
            <a:pPr marL="0" indent="0" algn="ctr">
              <a:buNone/>
            </a:pPr>
            <a:r>
              <a:rPr lang="en-US" sz="1200" b="1" dirty="0">
                <a:solidFill>
                  <a:srgbClr val="0F1B3D"/>
                </a:solidFill>
                <a:latin typeface="Calibri" pitchFamily="34" charset="0"/>
                <a:ea typeface="Calibri" pitchFamily="34" charset="-122"/>
                <a:cs typeface="Calibri" pitchFamily="34" charset="-120"/>
              </a:rPr>
              <a:t>Report Generation</a:t>
            </a:r>
            <a:endParaRPr lang="en-US" sz="1200" dirty="0"/>
          </a:p>
        </p:txBody>
      </p:sp>
      <p:sp>
        <p:nvSpPr>
          <p:cNvPr id="23" name="Shape 20"/>
          <p:cNvSpPr/>
          <p:nvPr/>
        </p:nvSpPr>
        <p:spPr>
          <a:xfrm>
            <a:off x="8503920" y="1645920"/>
            <a:ext cx="457200" cy="457200"/>
          </a:xfrm>
          <a:prstGeom prst="ellipse">
            <a:avLst/>
          </a:prstGeom>
          <a:solidFill>
            <a:srgbClr val="6D28D9"/>
          </a:solidFill>
          <a:ln w="6350">
            <a:solidFill>
              <a:srgbClr val="6D28D9"/>
            </a:solidFill>
            <a:prstDash val="solid"/>
          </a:ln>
        </p:spPr>
      </p:sp>
      <p:sp>
        <p:nvSpPr>
          <p:cNvPr id="24" name="Text 21"/>
          <p:cNvSpPr txBox="1"/>
          <p:nvPr/>
        </p:nvSpPr>
        <p:spPr>
          <a:xfrm>
            <a:off x="8503920" y="16459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5" name="Text 22"/>
          <p:cNvSpPr txBox="1"/>
          <p:nvPr/>
        </p:nvSpPr>
        <p:spPr>
          <a:xfrm>
            <a:off x="9144000" y="1645920"/>
            <a:ext cx="2499055" cy="365760"/>
          </a:xfrm>
          <a:prstGeom prst="rect">
            <a:avLst/>
          </a:prstGeom>
          <a:noFill/>
          <a:ln/>
        </p:spPr>
        <p:txBody>
          <a:bodyPr wrap="square" lIns="0" tIns="0" rIns="0" bIns="0" rtlCol="0" anchor="ctr"/>
          <a:lstStyle/>
          <a:p>
            <a:pPr marL="0" indent="0">
              <a:buNone/>
            </a:pPr>
            <a:r>
              <a:rPr lang="en-US" sz="1700" b="1" dirty="0">
                <a:solidFill>
                  <a:srgbClr val="0F1B3D"/>
                </a:solidFill>
                <a:latin typeface="Calibri" pitchFamily="34" charset="0"/>
                <a:ea typeface="Calibri" pitchFamily="34" charset="-122"/>
                <a:cs typeface="Calibri" pitchFamily="34" charset="-120"/>
              </a:rPr>
              <a:t>AI Recommendations</a:t>
            </a:r>
            <a:endParaRPr lang="en-US" sz="1700" dirty="0"/>
          </a:p>
        </p:txBody>
      </p:sp>
      <p:sp>
        <p:nvSpPr>
          <p:cNvPr id="26" name="Text 23"/>
          <p:cNvSpPr txBox="1"/>
          <p:nvPr/>
        </p:nvSpPr>
        <p:spPr>
          <a:xfrm>
            <a:off x="9144000" y="2057400"/>
            <a:ext cx="2499055" cy="914400"/>
          </a:xfrm>
          <a:prstGeom prst="rect">
            <a:avLst/>
          </a:prstGeom>
          <a:noFill/>
          <a:ln/>
        </p:spPr>
        <p:txBody>
          <a:bodyPr wrap="square" lIns="0" tIns="0" rIns="0" bIns="0" rtlCol="0" anchor="t"/>
          <a:lstStyle/>
          <a:p>
            <a:pPr marL="0" indent="0">
              <a:buNone/>
            </a:pPr>
            <a:r>
              <a:rPr lang="en-US" sz="1250" dirty="0">
                <a:solidFill>
                  <a:srgbClr val="5B6478"/>
                </a:solidFill>
                <a:latin typeface="Calibri" pitchFamily="34" charset="0"/>
                <a:ea typeface="Calibri" pitchFamily="34" charset="-122"/>
                <a:cs typeface="Calibri" pitchFamily="34" charset="-120"/>
              </a:rPr>
              <a:t>Action cards ranked Critical, High or Medium, e.g. Secure Additional Funding (Critical).</a:t>
            </a:r>
            <a:endParaRPr lang="en-US" sz="1250" dirty="0"/>
          </a:p>
        </p:txBody>
      </p:sp>
      <p:sp>
        <p:nvSpPr>
          <p:cNvPr id="27" name="Shape 24"/>
          <p:cNvSpPr/>
          <p:nvPr/>
        </p:nvSpPr>
        <p:spPr>
          <a:xfrm>
            <a:off x="8503920" y="3017520"/>
            <a:ext cx="457200" cy="457200"/>
          </a:xfrm>
          <a:prstGeom prst="ellipse">
            <a:avLst/>
          </a:prstGeom>
          <a:solidFill>
            <a:srgbClr val="2F5BEA"/>
          </a:solidFill>
          <a:ln w="6350">
            <a:solidFill>
              <a:srgbClr val="2F5BEA"/>
            </a:solidFill>
            <a:prstDash val="solid"/>
          </a:ln>
        </p:spPr>
      </p:sp>
      <p:sp>
        <p:nvSpPr>
          <p:cNvPr id="28" name="Text 25"/>
          <p:cNvSpPr txBox="1"/>
          <p:nvPr/>
        </p:nvSpPr>
        <p:spPr>
          <a:xfrm>
            <a:off x="8503920" y="30175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9" name="Text 26"/>
          <p:cNvSpPr txBox="1"/>
          <p:nvPr/>
        </p:nvSpPr>
        <p:spPr>
          <a:xfrm>
            <a:off x="9144000" y="3017520"/>
            <a:ext cx="2499055" cy="365760"/>
          </a:xfrm>
          <a:prstGeom prst="rect">
            <a:avLst/>
          </a:prstGeom>
          <a:noFill/>
          <a:ln/>
        </p:spPr>
        <p:txBody>
          <a:bodyPr wrap="square" lIns="0" tIns="0" rIns="0" bIns="0" rtlCol="0" anchor="ctr"/>
          <a:lstStyle/>
          <a:p>
            <a:pPr marL="0" indent="0">
              <a:buNone/>
            </a:pPr>
            <a:r>
              <a:rPr lang="en-US" sz="1700" b="1" dirty="0">
                <a:solidFill>
                  <a:srgbClr val="0F1B3D"/>
                </a:solidFill>
                <a:latin typeface="Calibri" pitchFamily="34" charset="0"/>
                <a:ea typeface="Calibri" pitchFamily="34" charset="-122"/>
                <a:cs typeface="Calibri" pitchFamily="34" charset="-120"/>
              </a:rPr>
              <a:t>Risk Mitigation</a:t>
            </a:r>
            <a:endParaRPr lang="en-US" sz="1700" dirty="0"/>
          </a:p>
        </p:txBody>
      </p:sp>
      <p:sp>
        <p:nvSpPr>
          <p:cNvPr id="30" name="Text 27"/>
          <p:cNvSpPr txBox="1"/>
          <p:nvPr/>
        </p:nvSpPr>
        <p:spPr>
          <a:xfrm>
            <a:off x="9144000" y="3429000"/>
            <a:ext cx="2499055" cy="914400"/>
          </a:xfrm>
          <a:prstGeom prst="rect">
            <a:avLst/>
          </a:prstGeom>
          <a:noFill/>
          <a:ln/>
        </p:spPr>
        <p:txBody>
          <a:bodyPr wrap="square" lIns="0" tIns="0" rIns="0" bIns="0" rtlCol="0" anchor="t"/>
          <a:lstStyle/>
          <a:p>
            <a:pPr marL="0" indent="0">
              <a:buNone/>
            </a:pPr>
            <a:r>
              <a:rPr lang="en-US" sz="1250" dirty="0">
                <a:solidFill>
                  <a:srgbClr val="5B6478"/>
                </a:solidFill>
                <a:latin typeface="Calibri" pitchFamily="34" charset="0"/>
                <a:ea typeface="Calibri" pitchFamily="34" charset="-122"/>
                <a:cs typeface="Calibri" pitchFamily="34" charset="-120"/>
              </a:rPr>
              <a:t>Filter by All, Financial, Market or Technical. High Competition maps to a Differentiation Strategy.</a:t>
            </a:r>
            <a:endParaRPr lang="en-US" sz="1250" dirty="0"/>
          </a:p>
        </p:txBody>
      </p:sp>
      <p:sp>
        <p:nvSpPr>
          <p:cNvPr id="31" name="Shape 28"/>
          <p:cNvSpPr/>
          <p:nvPr/>
        </p:nvSpPr>
        <p:spPr>
          <a:xfrm>
            <a:off x="8503920" y="4389120"/>
            <a:ext cx="457200" cy="457200"/>
          </a:xfrm>
          <a:prstGeom prst="ellipse">
            <a:avLst/>
          </a:prstGeom>
          <a:solidFill>
            <a:srgbClr val="2F5BEA"/>
          </a:solidFill>
          <a:ln w="6350">
            <a:solidFill>
              <a:srgbClr val="2F5BEA"/>
            </a:solidFill>
            <a:prstDash val="solid"/>
          </a:ln>
        </p:spPr>
      </p:sp>
      <p:sp>
        <p:nvSpPr>
          <p:cNvPr id="32" name="Text 29"/>
          <p:cNvSpPr txBox="1"/>
          <p:nvPr/>
        </p:nvSpPr>
        <p:spPr>
          <a:xfrm>
            <a:off x="8503920" y="43891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3" name="Text 30"/>
          <p:cNvSpPr txBox="1"/>
          <p:nvPr/>
        </p:nvSpPr>
        <p:spPr>
          <a:xfrm>
            <a:off x="9144000" y="4389120"/>
            <a:ext cx="2499055" cy="365760"/>
          </a:xfrm>
          <a:prstGeom prst="rect">
            <a:avLst/>
          </a:prstGeom>
          <a:noFill/>
          <a:ln/>
        </p:spPr>
        <p:txBody>
          <a:bodyPr wrap="square" lIns="0" tIns="0" rIns="0" bIns="0" rtlCol="0" anchor="ctr"/>
          <a:lstStyle/>
          <a:p>
            <a:pPr marL="0" indent="0">
              <a:buNone/>
            </a:pPr>
            <a:r>
              <a:rPr lang="en-US" sz="1700" b="1" dirty="0">
                <a:solidFill>
                  <a:srgbClr val="0F1B3D"/>
                </a:solidFill>
                <a:latin typeface="Calibri" pitchFamily="34" charset="0"/>
                <a:ea typeface="Calibri" pitchFamily="34" charset="-122"/>
                <a:cs typeface="Calibri" pitchFamily="34" charset="-120"/>
              </a:rPr>
              <a:t>LangGraph Agent</a:t>
            </a:r>
            <a:endParaRPr lang="en-US" sz="1700" dirty="0"/>
          </a:p>
        </p:txBody>
      </p:sp>
      <p:sp>
        <p:nvSpPr>
          <p:cNvPr id="34" name="Text 31"/>
          <p:cNvSpPr txBox="1"/>
          <p:nvPr/>
        </p:nvSpPr>
        <p:spPr>
          <a:xfrm>
            <a:off x="9144000" y="4800600"/>
            <a:ext cx="2499055" cy="914400"/>
          </a:xfrm>
          <a:prstGeom prst="rect">
            <a:avLst/>
          </a:prstGeom>
          <a:noFill/>
          <a:ln/>
        </p:spPr>
        <p:txBody>
          <a:bodyPr wrap="square" lIns="0" tIns="0" rIns="0" bIns="0" rtlCol="0" anchor="t"/>
          <a:lstStyle/>
          <a:p>
            <a:pPr marL="0" indent="0">
              <a:buNone/>
            </a:pPr>
            <a:r>
              <a:rPr lang="en-US" sz="1250" dirty="0">
                <a:solidFill>
                  <a:srgbClr val="5B6478"/>
                </a:solidFill>
                <a:latin typeface="Calibri" pitchFamily="34" charset="0"/>
                <a:ea typeface="Calibri" pitchFamily="34" charset="-122"/>
                <a:cs typeface="Calibri" pitchFamily="34" charset="-120"/>
              </a:rPr>
              <a:t>One click runs the five agent steps, then confirms the workflow is complete.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B"/>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640080"/>
          </a:xfrm>
          <a:prstGeom prst="rect">
            <a:avLst/>
          </a:prstGeom>
          <a:noFill/>
          <a:ln/>
        </p:spPr>
        <p:txBody>
          <a:bodyPr wrap="square" lIns="0" tIns="0" rIns="0" bIns="0" rtlCol="0" anchor="ctr"/>
          <a:lstStyle/>
          <a:p>
            <a:pPr marL="0" indent="0">
              <a:buNone/>
            </a:pPr>
            <a:r>
              <a:rPr lang="en-US" sz="3800" b="1" dirty="0">
                <a:solidFill>
                  <a:srgbClr val="0F1B3D"/>
                </a:solidFill>
                <a:latin typeface="Cambria" pitchFamily="34" charset="0"/>
                <a:ea typeface="Cambria" pitchFamily="34" charset="-122"/>
                <a:cs typeface="Cambria" pitchFamily="34" charset="-120"/>
              </a:rPr>
              <a:t>Database Structure</a:t>
            </a:r>
            <a:endParaRPr lang="en-US" sz="3800" dirty="0"/>
          </a:p>
        </p:txBody>
      </p:sp>
      <p:sp>
        <p:nvSpPr>
          <p:cNvPr id="3" name="Text 1"/>
          <p:cNvSpPr txBox="1"/>
          <p:nvPr/>
        </p:nvSpPr>
        <p:spPr>
          <a:xfrm>
            <a:off x="548640" y="1005840"/>
            <a:ext cx="10972800" cy="365760"/>
          </a:xfrm>
          <a:prstGeom prst="rect">
            <a:avLst/>
          </a:prstGeom>
          <a:noFill/>
          <a:ln/>
        </p:spPr>
        <p:txBody>
          <a:bodyPr wrap="square" lIns="0" tIns="0" rIns="0" bIns="0" rtlCol="0" anchor="ctr"/>
          <a:lstStyle/>
          <a:p>
            <a:pPr marL="0" indent="0">
              <a:buNone/>
            </a:pPr>
            <a:r>
              <a:rPr lang="en-US" sz="1600" dirty="0">
                <a:solidFill>
                  <a:srgbClr val="5B6478"/>
                </a:solidFill>
                <a:latin typeface="Calibri" pitchFamily="34" charset="0"/>
                <a:ea typeface="Calibri" pitchFamily="34" charset="-122"/>
                <a:cs typeface="Calibri" pitchFamily="34" charset="-120"/>
              </a:rPr>
              <a:t>SQLite keeps everything local: one project row, many linked result rows</a:t>
            </a:r>
            <a:endParaRPr lang="en-US" sz="1600" dirty="0"/>
          </a:p>
        </p:txBody>
      </p:sp>
      <p:sp>
        <p:nvSpPr>
          <p:cNvPr id="5" name="Text 3"/>
          <p:cNvSpPr txBox="1"/>
          <p:nvPr/>
        </p:nvSpPr>
        <p:spPr>
          <a:xfrm>
            <a:off x="10271455" y="6400800"/>
            <a:ext cx="1371600" cy="228600"/>
          </a:xfrm>
          <a:prstGeom prst="rect">
            <a:avLst/>
          </a:prstGeom>
          <a:noFill/>
          <a:ln/>
        </p:spPr>
        <p:txBody>
          <a:bodyPr wrap="square" lIns="0" tIns="0" rIns="0" bIns="0" rtlCol="0" anchor="ctr"/>
          <a:lstStyle/>
          <a:p>
            <a:pPr marL="0" indent="0" algn="r">
              <a:buNone/>
            </a:pPr>
            <a:r>
              <a:rPr lang="en-US" sz="1000" dirty="0">
                <a:solidFill>
                  <a:srgbClr val="5B6478"/>
                </a:solidFill>
                <a:latin typeface="Calibri" pitchFamily="34" charset="0"/>
                <a:ea typeface="Calibri" pitchFamily="34" charset="-122"/>
                <a:cs typeface="Calibri" pitchFamily="34" charset="-120"/>
              </a:rPr>
              <a:t>5 / 7</a:t>
            </a:r>
            <a:endParaRPr lang="en-US" sz="1000" dirty="0"/>
          </a:p>
        </p:txBody>
      </p:sp>
      <p:sp>
        <p:nvSpPr>
          <p:cNvPr id="6" name="Shape 4"/>
          <p:cNvSpPr/>
          <p:nvPr/>
        </p:nvSpPr>
        <p:spPr>
          <a:xfrm>
            <a:off x="548640" y="1645920"/>
            <a:ext cx="11091672" cy="1325880"/>
          </a:xfrm>
          <a:prstGeom prst="roundRect">
            <a:avLst>
              <a:gd name="adj" fmla="val 8276"/>
            </a:avLst>
          </a:prstGeom>
          <a:solidFill>
            <a:srgbClr val="0F1B3D"/>
          </a:solidFill>
          <a:ln w="6350">
            <a:solidFill>
              <a:srgbClr val="0F1B3D"/>
            </a:solidFill>
            <a:prstDash val="solid"/>
          </a:ln>
          <a:effectLst>
            <a:outerShdw blurRad="101600" dist="25400" dir="5400000" algn="bl" rotWithShape="0">
              <a:srgbClr val="000000">
                <a:alpha val="10000"/>
              </a:srgbClr>
            </a:outerShdw>
          </a:effectLst>
        </p:spPr>
      </p:sp>
      <p:sp>
        <p:nvSpPr>
          <p:cNvPr id="7" name="Shape 5"/>
          <p:cNvSpPr/>
          <p:nvPr/>
        </p:nvSpPr>
        <p:spPr>
          <a:xfrm>
            <a:off x="822960" y="2029968"/>
            <a:ext cx="548640" cy="548640"/>
          </a:xfrm>
          <a:prstGeom prst="ellipse">
            <a:avLst/>
          </a:prstGeom>
          <a:solidFill>
            <a:srgbClr val="2F5BEA"/>
          </a:solidFill>
          <a:ln w="6350">
            <a:solidFill>
              <a:srgbClr val="2F5BEA"/>
            </a:solidFill>
            <a:prstDash val="solid"/>
          </a:ln>
        </p:spPr>
      </p:sp>
      <p:pic>
        <p:nvPicPr>
          <p:cNvPr id="8" name="Image 0" descr="preencoded.png"/>
          <p:cNvPicPr>
            <a:picLocks noChangeAspect="1"/>
          </p:cNvPicPr>
          <p:nvPr/>
        </p:nvPicPr>
        <p:blipFill>
          <a:blip r:embed="rId3"/>
          <a:stretch>
            <a:fillRect/>
          </a:stretch>
        </p:blipFill>
        <p:spPr>
          <a:xfrm>
            <a:off x="960120" y="2167128"/>
            <a:ext cx="274320" cy="274320"/>
          </a:xfrm>
          <a:prstGeom prst="rect">
            <a:avLst/>
          </a:prstGeom>
        </p:spPr>
      </p:pic>
      <p:sp>
        <p:nvSpPr>
          <p:cNvPr id="9" name="Text 6"/>
          <p:cNvSpPr txBox="1"/>
          <p:nvPr/>
        </p:nvSpPr>
        <p:spPr>
          <a:xfrm>
            <a:off x="1600200" y="1828800"/>
            <a:ext cx="2743200" cy="320040"/>
          </a:xfrm>
          <a:prstGeom prst="rect">
            <a:avLst/>
          </a:prstGeom>
          <a:noFill/>
          <a:ln/>
        </p:spPr>
        <p:txBody>
          <a:bodyPr wrap="square" lIns="0" tIns="0" rIns="0" bIns="0" rtlCol="0" anchor="ctr"/>
          <a:lstStyle/>
          <a:p>
            <a:pPr marL="0" indent="0">
              <a:buNone/>
            </a:pPr>
            <a:r>
              <a:rPr lang="en-US" sz="1800" b="1" dirty="0">
                <a:solidFill>
                  <a:srgbClr val="FFFFFF"/>
                </a:solidFill>
                <a:latin typeface="Courier New" pitchFamily="34" charset="0"/>
                <a:ea typeface="Courier New" pitchFamily="34" charset="-122"/>
                <a:cs typeface="Courier New" pitchFamily="34" charset="-120"/>
              </a:rPr>
              <a:t>projects</a:t>
            </a:r>
            <a:endParaRPr lang="en-US" sz="1800" dirty="0"/>
          </a:p>
        </p:txBody>
      </p:sp>
      <p:sp>
        <p:nvSpPr>
          <p:cNvPr id="10" name="Text 7"/>
          <p:cNvSpPr txBox="1"/>
          <p:nvPr/>
        </p:nvSpPr>
        <p:spPr>
          <a:xfrm>
            <a:off x="1600200" y="2176272"/>
            <a:ext cx="3200400" cy="548640"/>
          </a:xfrm>
          <a:prstGeom prst="rect">
            <a:avLst/>
          </a:prstGeom>
          <a:noFill/>
          <a:ln/>
        </p:spPr>
        <p:txBody>
          <a:bodyPr wrap="square" lIns="0" tIns="0" rIns="0" bIns="0" rtlCol="0" anchor="t"/>
          <a:lstStyle/>
          <a:p>
            <a:pPr marL="0" indent="0">
              <a:buNone/>
            </a:pPr>
            <a:r>
              <a:rPr lang="en-US" sz="1200" dirty="0">
                <a:solidFill>
                  <a:srgbClr val="CADCFC"/>
                </a:solidFill>
                <a:latin typeface="Calibri" pitchFamily="34" charset="0"/>
                <a:ea typeface="Calibri" pitchFamily="34" charset="-122"/>
                <a:cs typeface="Calibri" pitchFamily="34" charset="-120"/>
              </a:rPr>
              <a:t>one row per analysis, includes the analysis date and time</a:t>
            </a:r>
            <a:endParaRPr lang="en-US" sz="1200" dirty="0"/>
          </a:p>
        </p:txBody>
      </p:sp>
      <p:sp>
        <p:nvSpPr>
          <p:cNvPr id="11" name="Text 8"/>
          <p:cNvSpPr txBox="1"/>
          <p:nvPr/>
        </p:nvSpPr>
        <p:spPr>
          <a:xfrm>
            <a:off x="5029200" y="1828800"/>
            <a:ext cx="6336792" cy="960120"/>
          </a:xfrm>
          <a:prstGeom prst="rect">
            <a:avLst/>
          </a:prstGeom>
          <a:noFill/>
          <a:ln/>
        </p:spPr>
        <p:txBody>
          <a:bodyPr wrap="square" lIns="0" tIns="0" rIns="0" bIns="0" rtlCol="0" anchor="ctr"/>
          <a:lstStyle/>
          <a:p>
            <a:pPr marL="0" indent="0">
              <a:buNone/>
            </a:pPr>
            <a:r>
              <a:rPr lang="en-US" sz="1150" dirty="0">
                <a:solidFill>
                  <a:srgbClr val="FFFFFF"/>
                </a:solidFill>
                <a:latin typeface="Courier New" pitchFamily="34" charset="0"/>
                <a:ea typeface="Courier New" pitchFamily="34" charset="-122"/>
                <a:cs typeface="Courier New" pitchFamily="34" charset="-120"/>
              </a:rPr>
              <a:t>id (PK)  •  project_name  •  description  •  project_type</a:t>
            </a:r>
            <a:endParaRPr lang="en-US" sz="1150" dirty="0"/>
          </a:p>
          <a:p>
            <a:pPr marL="0" indent="0">
              <a:buNone/>
            </a:pPr>
            <a:r>
              <a:rPr lang="en-US" sz="1150" dirty="0">
                <a:solidFill>
                  <a:srgbClr val="FFFFFF"/>
                </a:solidFill>
                <a:latin typeface="Courier New" pitchFamily="34" charset="0"/>
                <a:ea typeface="Courier New" pitchFamily="34" charset="-122"/>
                <a:cs typeface="Courier New" pitchFamily="34" charset="-120"/>
              </a:rPr>
              <a:t>target_market  •  target_customers  •  budget</a:t>
            </a:r>
            <a:endParaRPr lang="en-US" sz="1150" dirty="0"/>
          </a:p>
          <a:p>
            <a:pPr marL="0" indent="0">
              <a:buNone/>
            </a:pPr>
            <a:r>
              <a:rPr lang="en-US" sz="1150" dirty="0">
                <a:solidFill>
                  <a:srgbClr val="FFFFFF"/>
                </a:solidFill>
                <a:latin typeface="Courier New" pitchFamily="34" charset="0"/>
                <a:ea typeface="Courier New" pitchFamily="34" charset="-122"/>
                <a:cs typeface="Courier New" pitchFamily="34" charset="-120"/>
              </a:rPr>
              <a:t>resources  •  objectives  •  risk_score  •  feasibility  •  analyzed_at</a:t>
            </a:r>
            <a:endParaRPr lang="en-US" sz="1150" dirty="0"/>
          </a:p>
        </p:txBody>
      </p:sp>
      <p:sp>
        <p:nvSpPr>
          <p:cNvPr id="12" name="Shape 9"/>
          <p:cNvSpPr/>
          <p:nvPr/>
        </p:nvSpPr>
        <p:spPr>
          <a:xfrm>
            <a:off x="1874520" y="3319272"/>
            <a:ext cx="8439912" cy="0"/>
          </a:xfrm>
          <a:prstGeom prst="line">
            <a:avLst/>
          </a:prstGeom>
          <a:noFill/>
          <a:ln w="19050">
            <a:solidFill>
              <a:srgbClr val="5B6478"/>
            </a:solidFill>
            <a:prstDash val="solid"/>
          </a:ln>
        </p:spPr>
      </p:sp>
      <p:sp>
        <p:nvSpPr>
          <p:cNvPr id="13" name="Shape 10"/>
          <p:cNvSpPr/>
          <p:nvPr/>
        </p:nvSpPr>
        <p:spPr>
          <a:xfrm>
            <a:off x="6094476" y="2971800"/>
            <a:ext cx="0" cy="347472"/>
          </a:xfrm>
          <a:prstGeom prst="line">
            <a:avLst/>
          </a:prstGeom>
          <a:noFill/>
          <a:ln w="19050">
            <a:solidFill>
              <a:srgbClr val="5B6478"/>
            </a:solidFill>
            <a:prstDash val="solid"/>
          </a:ln>
        </p:spPr>
      </p:sp>
      <p:sp>
        <p:nvSpPr>
          <p:cNvPr id="14" name="Shape 11"/>
          <p:cNvSpPr/>
          <p:nvPr/>
        </p:nvSpPr>
        <p:spPr>
          <a:xfrm>
            <a:off x="1874520" y="3319272"/>
            <a:ext cx="0" cy="338328"/>
          </a:xfrm>
          <a:prstGeom prst="line">
            <a:avLst/>
          </a:prstGeom>
          <a:noFill/>
          <a:ln w="19050">
            <a:solidFill>
              <a:srgbClr val="5B6478"/>
            </a:solidFill>
            <a:prstDash val="solid"/>
            <a:tailEnd type="triangle"/>
          </a:ln>
        </p:spPr>
      </p:sp>
      <p:sp>
        <p:nvSpPr>
          <p:cNvPr id="15" name="Shape 12"/>
          <p:cNvSpPr/>
          <p:nvPr/>
        </p:nvSpPr>
        <p:spPr>
          <a:xfrm>
            <a:off x="4687824" y="3319272"/>
            <a:ext cx="0" cy="338328"/>
          </a:xfrm>
          <a:prstGeom prst="line">
            <a:avLst/>
          </a:prstGeom>
          <a:noFill/>
          <a:ln w="19050">
            <a:solidFill>
              <a:srgbClr val="5B6478"/>
            </a:solidFill>
            <a:prstDash val="solid"/>
            <a:tailEnd type="triangle"/>
          </a:ln>
        </p:spPr>
      </p:sp>
      <p:sp>
        <p:nvSpPr>
          <p:cNvPr id="16" name="Shape 13"/>
          <p:cNvSpPr/>
          <p:nvPr/>
        </p:nvSpPr>
        <p:spPr>
          <a:xfrm>
            <a:off x="7501128" y="3319272"/>
            <a:ext cx="0" cy="338328"/>
          </a:xfrm>
          <a:prstGeom prst="line">
            <a:avLst/>
          </a:prstGeom>
          <a:noFill/>
          <a:ln w="19050">
            <a:solidFill>
              <a:srgbClr val="5B6478"/>
            </a:solidFill>
            <a:prstDash val="solid"/>
            <a:tailEnd type="triangle"/>
          </a:ln>
        </p:spPr>
      </p:sp>
      <p:sp>
        <p:nvSpPr>
          <p:cNvPr id="17" name="Shape 14"/>
          <p:cNvSpPr/>
          <p:nvPr/>
        </p:nvSpPr>
        <p:spPr>
          <a:xfrm>
            <a:off x="10314432" y="3319272"/>
            <a:ext cx="0" cy="338328"/>
          </a:xfrm>
          <a:prstGeom prst="line">
            <a:avLst/>
          </a:prstGeom>
          <a:noFill/>
          <a:ln w="19050">
            <a:solidFill>
              <a:srgbClr val="5B6478"/>
            </a:solidFill>
            <a:prstDash val="solid"/>
            <a:tailEnd type="triangle"/>
          </a:ln>
        </p:spPr>
      </p:sp>
      <p:sp>
        <p:nvSpPr>
          <p:cNvPr id="18" name="Shape 15"/>
          <p:cNvSpPr/>
          <p:nvPr/>
        </p:nvSpPr>
        <p:spPr>
          <a:xfrm>
            <a:off x="548640" y="3657600"/>
            <a:ext cx="2651760" cy="2423160"/>
          </a:xfrm>
          <a:prstGeom prst="roundRect">
            <a:avLst>
              <a:gd name="adj" fmla="val 4528"/>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19" name="Text 16"/>
          <p:cNvSpPr txBox="1"/>
          <p:nvPr/>
        </p:nvSpPr>
        <p:spPr>
          <a:xfrm>
            <a:off x="731520" y="3794760"/>
            <a:ext cx="2286000" cy="365760"/>
          </a:xfrm>
          <a:prstGeom prst="rect">
            <a:avLst/>
          </a:prstGeom>
          <a:noFill/>
          <a:ln/>
        </p:spPr>
        <p:txBody>
          <a:bodyPr wrap="square" lIns="0" tIns="0" rIns="0" bIns="0" rtlCol="0" anchor="ctr"/>
          <a:lstStyle/>
          <a:p>
            <a:pPr marL="0" indent="0">
              <a:buNone/>
            </a:pPr>
            <a:r>
              <a:rPr lang="en-US" sz="1200" b="1" dirty="0">
                <a:solidFill>
                  <a:srgbClr val="2F5BEA"/>
                </a:solidFill>
                <a:latin typeface="Courier New" pitchFamily="34" charset="0"/>
                <a:ea typeface="Courier New" pitchFamily="34" charset="-122"/>
                <a:cs typeface="Courier New" pitchFamily="34" charset="-120"/>
              </a:rPr>
              <a:t>risks</a:t>
            </a:r>
            <a:endParaRPr lang="en-US" sz="1200" dirty="0"/>
          </a:p>
        </p:txBody>
      </p:sp>
      <p:sp>
        <p:nvSpPr>
          <p:cNvPr id="20" name="Text 17"/>
          <p:cNvSpPr txBox="1"/>
          <p:nvPr/>
        </p:nvSpPr>
        <p:spPr>
          <a:xfrm>
            <a:off x="731520" y="4251960"/>
            <a:ext cx="2286000" cy="1691640"/>
          </a:xfrm>
          <a:prstGeom prst="rect">
            <a:avLst/>
          </a:prstGeom>
          <a:noFill/>
          <a:ln/>
        </p:spPr>
        <p:txBody>
          <a:bodyPr wrap="square" lIns="0" tIns="0" rIns="0" bIns="0" rtlCol="0" anchor="t"/>
          <a:lstStyle/>
          <a:p>
            <a:pPr marL="0" indent="0">
              <a:spcAft>
                <a:spcPts val="400"/>
              </a:spcAft>
              <a:buNone/>
            </a:pPr>
            <a:r>
              <a:rPr lang="en-US" sz="1150" b="1" dirty="0">
                <a:solidFill>
                  <a:srgbClr val="0F1B3D"/>
                </a:solidFill>
                <a:latin typeface="Courier New" pitchFamily="34" charset="0"/>
                <a:ea typeface="Courier New" pitchFamily="34" charset="-122"/>
                <a:cs typeface="Courier New" pitchFamily="34" charset="-120"/>
              </a:rPr>
              <a:t>id (PK)</a:t>
            </a:r>
            <a:endParaRPr lang="en-US" sz="1150" dirty="0"/>
          </a:p>
          <a:p>
            <a:pPr marL="0" indent="0">
              <a:spcAft>
                <a:spcPts val="400"/>
              </a:spcAft>
              <a:buNone/>
            </a:pPr>
            <a:r>
              <a:rPr lang="en-US" sz="1150" b="1" dirty="0">
                <a:solidFill>
                  <a:srgbClr val="0F1B3D"/>
                </a:solidFill>
                <a:latin typeface="Courier New" pitchFamily="34" charset="0"/>
                <a:ea typeface="Courier New" pitchFamily="34" charset="-122"/>
                <a:cs typeface="Courier New" pitchFamily="34" charset="-120"/>
              </a:rPr>
              <a:t>project_id (FK)</a:t>
            </a:r>
            <a:endParaRPr lang="en-US" sz="1150" dirty="0"/>
          </a:p>
          <a:p>
            <a:pPr marL="0" indent="0">
              <a:spcAft>
                <a:spcPts val="400"/>
              </a:spcAft>
              <a:buNone/>
            </a:pPr>
            <a:r>
              <a:rPr lang="en-US" sz="1150" dirty="0">
                <a:solidFill>
                  <a:srgbClr val="1B2440"/>
                </a:solidFill>
                <a:latin typeface="Courier New" pitchFamily="34" charset="0"/>
                <a:ea typeface="Courier New" pitchFamily="34" charset="-122"/>
                <a:cs typeface="Courier New" pitchFamily="34" charset="-120"/>
              </a:rPr>
              <a:t>risk_name</a:t>
            </a:r>
            <a:endParaRPr lang="en-US" sz="1150" dirty="0"/>
          </a:p>
          <a:p>
            <a:pPr marL="0" indent="0">
              <a:spcAft>
                <a:spcPts val="400"/>
              </a:spcAft>
              <a:buNone/>
            </a:pPr>
            <a:r>
              <a:rPr lang="en-US" sz="1150" dirty="0">
                <a:solidFill>
                  <a:srgbClr val="1B2440"/>
                </a:solidFill>
                <a:latin typeface="Courier New" pitchFamily="34" charset="0"/>
                <a:ea typeface="Courier New" pitchFamily="34" charset="-122"/>
                <a:cs typeface="Courier New" pitchFamily="34" charset="-120"/>
              </a:rPr>
              <a:t>category</a:t>
            </a:r>
            <a:endParaRPr lang="en-US" sz="1150" dirty="0"/>
          </a:p>
          <a:p>
            <a:pPr marL="0" indent="0">
              <a:spcAft>
                <a:spcPts val="400"/>
              </a:spcAft>
              <a:buNone/>
            </a:pPr>
            <a:r>
              <a:rPr lang="en-US" sz="1150" dirty="0">
                <a:solidFill>
                  <a:srgbClr val="1B2440"/>
                </a:solidFill>
                <a:latin typeface="Courier New" pitchFamily="34" charset="0"/>
                <a:ea typeface="Courier New" pitchFamily="34" charset="-122"/>
                <a:cs typeface="Courier New" pitchFamily="34" charset="-120"/>
              </a:rPr>
              <a:t>description</a:t>
            </a:r>
            <a:endParaRPr lang="en-US" sz="1150" dirty="0"/>
          </a:p>
          <a:p>
            <a:pPr marL="0" indent="0">
              <a:spcAft>
                <a:spcPts val="400"/>
              </a:spcAft>
              <a:buNone/>
            </a:pPr>
            <a:r>
              <a:rPr lang="en-US" sz="1150" dirty="0">
                <a:solidFill>
                  <a:srgbClr val="1B2440"/>
                </a:solidFill>
                <a:latin typeface="Courier New" pitchFamily="34" charset="0"/>
                <a:ea typeface="Courier New" pitchFamily="34" charset="-122"/>
                <a:cs typeface="Courier New" pitchFamily="34" charset="-120"/>
              </a:rPr>
              <a:t>impact</a:t>
            </a:r>
            <a:endParaRPr lang="en-US" sz="1150" dirty="0"/>
          </a:p>
          <a:p>
            <a:pPr marL="0" indent="0">
              <a:spcAft>
                <a:spcPts val="400"/>
              </a:spcAft>
              <a:buNone/>
            </a:pPr>
            <a:r>
              <a:rPr lang="en-US" sz="1150" dirty="0">
                <a:solidFill>
                  <a:srgbClr val="1B2440"/>
                </a:solidFill>
                <a:latin typeface="Courier New" pitchFamily="34" charset="0"/>
                <a:ea typeface="Courier New" pitchFamily="34" charset="-122"/>
                <a:cs typeface="Courier New" pitchFamily="34" charset="-120"/>
              </a:rPr>
              <a:t>priority</a:t>
            </a:r>
            <a:endParaRPr lang="en-US" sz="1150" dirty="0"/>
          </a:p>
        </p:txBody>
      </p:sp>
      <p:sp>
        <p:nvSpPr>
          <p:cNvPr id="21" name="Shape 18"/>
          <p:cNvSpPr/>
          <p:nvPr/>
        </p:nvSpPr>
        <p:spPr>
          <a:xfrm>
            <a:off x="3361944" y="3657600"/>
            <a:ext cx="2651760" cy="2423160"/>
          </a:xfrm>
          <a:prstGeom prst="roundRect">
            <a:avLst>
              <a:gd name="adj" fmla="val 4528"/>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22" name="Text 19"/>
          <p:cNvSpPr txBox="1"/>
          <p:nvPr/>
        </p:nvSpPr>
        <p:spPr>
          <a:xfrm>
            <a:off x="3544824" y="3794760"/>
            <a:ext cx="2286000" cy="365760"/>
          </a:xfrm>
          <a:prstGeom prst="rect">
            <a:avLst/>
          </a:prstGeom>
          <a:noFill/>
          <a:ln/>
        </p:spPr>
        <p:txBody>
          <a:bodyPr wrap="square" lIns="0" tIns="0" rIns="0" bIns="0" rtlCol="0" anchor="ctr"/>
          <a:lstStyle/>
          <a:p>
            <a:pPr marL="0" indent="0">
              <a:buNone/>
            </a:pPr>
            <a:r>
              <a:rPr lang="en-US" sz="1200" b="1" dirty="0">
                <a:solidFill>
                  <a:srgbClr val="2F5BEA"/>
                </a:solidFill>
                <a:latin typeface="Courier New" pitchFamily="34" charset="0"/>
                <a:ea typeface="Courier New" pitchFamily="34" charset="-122"/>
                <a:cs typeface="Courier New" pitchFamily="34" charset="-120"/>
              </a:rPr>
              <a:t>recommendations</a:t>
            </a:r>
            <a:endParaRPr lang="en-US" sz="1200" dirty="0"/>
          </a:p>
        </p:txBody>
      </p:sp>
      <p:sp>
        <p:nvSpPr>
          <p:cNvPr id="23" name="Text 20"/>
          <p:cNvSpPr txBox="1"/>
          <p:nvPr/>
        </p:nvSpPr>
        <p:spPr>
          <a:xfrm>
            <a:off x="3544824" y="4251960"/>
            <a:ext cx="2286000" cy="1691640"/>
          </a:xfrm>
          <a:prstGeom prst="rect">
            <a:avLst/>
          </a:prstGeom>
          <a:noFill/>
          <a:ln/>
        </p:spPr>
        <p:txBody>
          <a:bodyPr wrap="square" lIns="0" tIns="0" rIns="0" bIns="0" rtlCol="0" anchor="t"/>
          <a:lstStyle/>
          <a:p>
            <a:pPr marL="0" indent="0">
              <a:spcAft>
                <a:spcPts val="400"/>
              </a:spcAft>
              <a:buNone/>
            </a:pPr>
            <a:r>
              <a:rPr lang="en-US" sz="1150" b="1" dirty="0">
                <a:solidFill>
                  <a:srgbClr val="0F1B3D"/>
                </a:solidFill>
                <a:latin typeface="Courier New" pitchFamily="34" charset="0"/>
                <a:ea typeface="Courier New" pitchFamily="34" charset="-122"/>
                <a:cs typeface="Courier New" pitchFamily="34" charset="-120"/>
              </a:rPr>
              <a:t>id (PK)</a:t>
            </a:r>
            <a:endParaRPr lang="en-US" sz="1150" dirty="0"/>
          </a:p>
          <a:p>
            <a:pPr marL="0" indent="0">
              <a:spcAft>
                <a:spcPts val="400"/>
              </a:spcAft>
              <a:buNone/>
            </a:pPr>
            <a:r>
              <a:rPr lang="en-US" sz="1150" b="1" dirty="0">
                <a:solidFill>
                  <a:srgbClr val="0F1B3D"/>
                </a:solidFill>
                <a:latin typeface="Courier New" pitchFamily="34" charset="0"/>
                <a:ea typeface="Courier New" pitchFamily="34" charset="-122"/>
                <a:cs typeface="Courier New" pitchFamily="34" charset="-120"/>
              </a:rPr>
              <a:t>project_id (FK)</a:t>
            </a:r>
            <a:endParaRPr lang="en-US" sz="1150" dirty="0"/>
          </a:p>
          <a:p>
            <a:pPr marL="0" indent="0">
              <a:spcAft>
                <a:spcPts val="400"/>
              </a:spcAft>
              <a:buNone/>
            </a:pPr>
            <a:r>
              <a:rPr lang="en-US" sz="1150" dirty="0">
                <a:solidFill>
                  <a:srgbClr val="1B2440"/>
                </a:solidFill>
                <a:latin typeface="Courier New" pitchFamily="34" charset="0"/>
                <a:ea typeface="Courier New" pitchFamily="34" charset="-122"/>
                <a:cs typeface="Courier New" pitchFamily="34" charset="-120"/>
              </a:rPr>
              <a:t>category</a:t>
            </a:r>
            <a:endParaRPr lang="en-US" sz="1150" dirty="0"/>
          </a:p>
          <a:p>
            <a:pPr marL="0" indent="0">
              <a:spcAft>
                <a:spcPts val="400"/>
              </a:spcAft>
              <a:buNone/>
            </a:pPr>
            <a:r>
              <a:rPr lang="en-US" sz="1150" dirty="0">
                <a:solidFill>
                  <a:srgbClr val="1B2440"/>
                </a:solidFill>
                <a:latin typeface="Courier New" pitchFamily="34" charset="0"/>
                <a:ea typeface="Courier New" pitchFamily="34" charset="-122"/>
                <a:cs typeface="Courier New" pitchFamily="34" charset="-120"/>
              </a:rPr>
              <a:t>problem</a:t>
            </a:r>
            <a:endParaRPr lang="en-US" sz="1150" dirty="0"/>
          </a:p>
          <a:p>
            <a:pPr marL="0" indent="0">
              <a:spcAft>
                <a:spcPts val="400"/>
              </a:spcAft>
              <a:buNone/>
            </a:pPr>
            <a:r>
              <a:rPr lang="en-US" sz="1150" dirty="0">
                <a:solidFill>
                  <a:srgbClr val="1B2440"/>
                </a:solidFill>
                <a:latin typeface="Courier New" pitchFamily="34" charset="0"/>
                <a:ea typeface="Courier New" pitchFamily="34" charset="-122"/>
                <a:cs typeface="Courier New" pitchFamily="34" charset="-120"/>
              </a:rPr>
              <a:t>why_it_matters</a:t>
            </a:r>
            <a:endParaRPr lang="en-US" sz="1150" dirty="0"/>
          </a:p>
          <a:p>
            <a:pPr marL="0" indent="0">
              <a:spcAft>
                <a:spcPts val="400"/>
              </a:spcAft>
              <a:buNone/>
            </a:pPr>
            <a:r>
              <a:rPr lang="en-US" sz="1150" dirty="0">
                <a:solidFill>
                  <a:srgbClr val="1B2440"/>
                </a:solidFill>
                <a:latin typeface="Courier New" pitchFamily="34" charset="0"/>
                <a:ea typeface="Courier New" pitchFamily="34" charset="-122"/>
                <a:cs typeface="Courier New" pitchFamily="34" charset="-120"/>
              </a:rPr>
              <a:t>action</a:t>
            </a:r>
            <a:endParaRPr lang="en-US" sz="1150" dirty="0"/>
          </a:p>
          <a:p>
            <a:pPr marL="0" indent="0">
              <a:spcAft>
                <a:spcPts val="400"/>
              </a:spcAft>
              <a:buNone/>
            </a:pPr>
            <a:r>
              <a:rPr lang="en-US" sz="1150" dirty="0">
                <a:solidFill>
                  <a:srgbClr val="1B2440"/>
                </a:solidFill>
                <a:latin typeface="Courier New" pitchFamily="34" charset="0"/>
                <a:ea typeface="Courier New" pitchFamily="34" charset="-122"/>
                <a:cs typeface="Courier New" pitchFamily="34" charset="-120"/>
              </a:rPr>
              <a:t>how_it_helps</a:t>
            </a:r>
            <a:endParaRPr lang="en-US" sz="1150" dirty="0"/>
          </a:p>
        </p:txBody>
      </p:sp>
      <p:sp>
        <p:nvSpPr>
          <p:cNvPr id="24" name="Shape 21"/>
          <p:cNvSpPr/>
          <p:nvPr/>
        </p:nvSpPr>
        <p:spPr>
          <a:xfrm>
            <a:off x="6175248" y="3657600"/>
            <a:ext cx="2651760" cy="2423160"/>
          </a:xfrm>
          <a:prstGeom prst="roundRect">
            <a:avLst>
              <a:gd name="adj" fmla="val 4528"/>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25" name="Text 22"/>
          <p:cNvSpPr txBox="1"/>
          <p:nvPr/>
        </p:nvSpPr>
        <p:spPr>
          <a:xfrm>
            <a:off x="6358128" y="3794760"/>
            <a:ext cx="2286000" cy="365760"/>
          </a:xfrm>
          <a:prstGeom prst="rect">
            <a:avLst/>
          </a:prstGeom>
          <a:noFill/>
          <a:ln/>
        </p:spPr>
        <p:txBody>
          <a:bodyPr wrap="square" lIns="0" tIns="0" rIns="0" bIns="0" rtlCol="0" anchor="ctr"/>
          <a:lstStyle/>
          <a:p>
            <a:pPr marL="0" indent="0">
              <a:buNone/>
            </a:pPr>
            <a:r>
              <a:rPr lang="en-US" sz="1200" b="1" dirty="0">
                <a:solidFill>
                  <a:srgbClr val="2F5BEA"/>
                </a:solidFill>
                <a:latin typeface="Courier New" pitchFamily="34" charset="0"/>
                <a:ea typeface="Courier New" pitchFamily="34" charset="-122"/>
                <a:cs typeface="Courier New" pitchFamily="34" charset="-120"/>
              </a:rPr>
              <a:t>mitigation_strategies</a:t>
            </a:r>
            <a:endParaRPr lang="en-US" sz="1200" dirty="0"/>
          </a:p>
        </p:txBody>
      </p:sp>
      <p:sp>
        <p:nvSpPr>
          <p:cNvPr id="26" name="Text 23"/>
          <p:cNvSpPr txBox="1"/>
          <p:nvPr/>
        </p:nvSpPr>
        <p:spPr>
          <a:xfrm>
            <a:off x="6358128" y="4251960"/>
            <a:ext cx="2286000" cy="1691640"/>
          </a:xfrm>
          <a:prstGeom prst="rect">
            <a:avLst/>
          </a:prstGeom>
          <a:noFill/>
          <a:ln/>
        </p:spPr>
        <p:txBody>
          <a:bodyPr wrap="square" lIns="0" tIns="0" rIns="0" bIns="0" rtlCol="0" anchor="t"/>
          <a:lstStyle/>
          <a:p>
            <a:pPr marL="0" indent="0">
              <a:spcAft>
                <a:spcPts val="400"/>
              </a:spcAft>
              <a:buNone/>
            </a:pPr>
            <a:r>
              <a:rPr lang="en-US" sz="1150" b="1" dirty="0">
                <a:solidFill>
                  <a:srgbClr val="0F1B3D"/>
                </a:solidFill>
                <a:latin typeface="Courier New" pitchFamily="34" charset="0"/>
                <a:ea typeface="Courier New" pitchFamily="34" charset="-122"/>
                <a:cs typeface="Courier New" pitchFamily="34" charset="-120"/>
              </a:rPr>
              <a:t>id (PK)</a:t>
            </a:r>
            <a:endParaRPr lang="en-US" sz="1150" dirty="0"/>
          </a:p>
          <a:p>
            <a:pPr marL="0" indent="0">
              <a:spcAft>
                <a:spcPts val="400"/>
              </a:spcAft>
              <a:buNone/>
            </a:pPr>
            <a:r>
              <a:rPr lang="en-US" sz="1150" b="1" dirty="0">
                <a:solidFill>
                  <a:srgbClr val="0F1B3D"/>
                </a:solidFill>
                <a:latin typeface="Courier New" pitchFamily="34" charset="0"/>
                <a:ea typeface="Courier New" pitchFamily="34" charset="-122"/>
                <a:cs typeface="Courier New" pitchFamily="34" charset="-120"/>
              </a:rPr>
              <a:t>project_id (FK)</a:t>
            </a:r>
            <a:endParaRPr lang="en-US" sz="1150" dirty="0"/>
          </a:p>
          <a:p>
            <a:pPr marL="0" indent="0">
              <a:spcAft>
                <a:spcPts val="400"/>
              </a:spcAft>
              <a:buNone/>
            </a:pPr>
            <a:r>
              <a:rPr lang="en-US" sz="1150" dirty="0">
                <a:solidFill>
                  <a:srgbClr val="1B2440"/>
                </a:solidFill>
                <a:latin typeface="Courier New" pitchFamily="34" charset="0"/>
                <a:ea typeface="Courier New" pitchFamily="34" charset="-122"/>
                <a:cs typeface="Courier New" pitchFamily="34" charset="-120"/>
              </a:rPr>
              <a:t>risk_name</a:t>
            </a:r>
            <a:endParaRPr lang="en-US" sz="1150" dirty="0"/>
          </a:p>
          <a:p>
            <a:pPr marL="0" indent="0">
              <a:spcAft>
                <a:spcPts val="400"/>
              </a:spcAft>
              <a:buNone/>
            </a:pPr>
            <a:r>
              <a:rPr lang="en-US" sz="1150" dirty="0">
                <a:solidFill>
                  <a:srgbClr val="1B2440"/>
                </a:solidFill>
                <a:latin typeface="Courier New" pitchFamily="34" charset="0"/>
                <a:ea typeface="Courier New" pitchFamily="34" charset="-122"/>
                <a:cs typeface="Courier New" pitchFamily="34" charset="-120"/>
              </a:rPr>
              <a:t>mitigation_strategy</a:t>
            </a:r>
            <a:endParaRPr lang="en-US" sz="1150" dirty="0"/>
          </a:p>
          <a:p>
            <a:pPr marL="0" indent="0">
              <a:spcAft>
                <a:spcPts val="400"/>
              </a:spcAft>
              <a:buNone/>
            </a:pPr>
            <a:r>
              <a:rPr lang="en-US" sz="1150" dirty="0">
                <a:solidFill>
                  <a:srgbClr val="1B2440"/>
                </a:solidFill>
                <a:latin typeface="Courier New" pitchFamily="34" charset="0"/>
                <a:ea typeface="Courier New" pitchFamily="34" charset="-122"/>
                <a:cs typeface="Courier New" pitchFamily="34" charset="-120"/>
              </a:rPr>
              <a:t>preventive_action</a:t>
            </a:r>
            <a:endParaRPr lang="en-US" sz="1150" dirty="0"/>
          </a:p>
          <a:p>
            <a:pPr marL="0" indent="0">
              <a:spcAft>
                <a:spcPts val="400"/>
              </a:spcAft>
              <a:buNone/>
            </a:pPr>
            <a:r>
              <a:rPr lang="en-US" sz="1150" dirty="0">
                <a:solidFill>
                  <a:srgbClr val="1B2440"/>
                </a:solidFill>
                <a:latin typeface="Courier New" pitchFamily="34" charset="0"/>
                <a:ea typeface="Courier New" pitchFamily="34" charset="-122"/>
                <a:cs typeface="Courier New" pitchFamily="34" charset="-120"/>
              </a:rPr>
              <a:t>contingency_action</a:t>
            </a:r>
            <a:endParaRPr lang="en-US" sz="1150" dirty="0"/>
          </a:p>
          <a:p>
            <a:pPr marL="0" indent="0">
              <a:spcAft>
                <a:spcPts val="400"/>
              </a:spcAft>
              <a:buNone/>
            </a:pPr>
            <a:r>
              <a:rPr lang="en-US" sz="1150" dirty="0">
                <a:solidFill>
                  <a:srgbClr val="1B2440"/>
                </a:solidFill>
                <a:latin typeface="Courier New" pitchFamily="34" charset="0"/>
                <a:ea typeface="Courier New" pitchFamily="34" charset="-122"/>
                <a:cs typeface="Courier New" pitchFamily="34" charset="-120"/>
              </a:rPr>
              <a:t>priority</a:t>
            </a:r>
            <a:endParaRPr lang="en-US" sz="1150" dirty="0"/>
          </a:p>
        </p:txBody>
      </p:sp>
      <p:sp>
        <p:nvSpPr>
          <p:cNvPr id="27" name="Shape 24"/>
          <p:cNvSpPr/>
          <p:nvPr/>
        </p:nvSpPr>
        <p:spPr>
          <a:xfrm>
            <a:off x="8988552" y="3657600"/>
            <a:ext cx="2651760" cy="2423160"/>
          </a:xfrm>
          <a:prstGeom prst="roundRect">
            <a:avLst>
              <a:gd name="adj" fmla="val 4528"/>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28" name="Text 25"/>
          <p:cNvSpPr txBox="1"/>
          <p:nvPr/>
        </p:nvSpPr>
        <p:spPr>
          <a:xfrm>
            <a:off x="9171432" y="3794760"/>
            <a:ext cx="2286000" cy="365760"/>
          </a:xfrm>
          <a:prstGeom prst="rect">
            <a:avLst/>
          </a:prstGeom>
          <a:noFill/>
          <a:ln/>
        </p:spPr>
        <p:txBody>
          <a:bodyPr wrap="square" lIns="0" tIns="0" rIns="0" bIns="0" rtlCol="0" anchor="ctr"/>
          <a:lstStyle/>
          <a:p>
            <a:pPr marL="0" indent="0">
              <a:buNone/>
            </a:pPr>
            <a:r>
              <a:rPr lang="en-US" sz="1200" b="1" dirty="0">
                <a:solidFill>
                  <a:srgbClr val="2F5BEA"/>
                </a:solidFill>
                <a:latin typeface="Courier New" pitchFamily="34" charset="0"/>
                <a:ea typeface="Courier New" pitchFamily="34" charset="-122"/>
                <a:cs typeface="Courier New" pitchFamily="34" charset="-120"/>
              </a:rPr>
              <a:t>improvement_suggestions</a:t>
            </a:r>
            <a:endParaRPr lang="en-US" sz="1200" dirty="0"/>
          </a:p>
        </p:txBody>
      </p:sp>
      <p:sp>
        <p:nvSpPr>
          <p:cNvPr id="29" name="Text 26"/>
          <p:cNvSpPr txBox="1"/>
          <p:nvPr/>
        </p:nvSpPr>
        <p:spPr>
          <a:xfrm>
            <a:off x="9171432" y="4251960"/>
            <a:ext cx="2286000" cy="1691640"/>
          </a:xfrm>
          <a:prstGeom prst="rect">
            <a:avLst/>
          </a:prstGeom>
          <a:noFill/>
          <a:ln/>
        </p:spPr>
        <p:txBody>
          <a:bodyPr wrap="square" lIns="0" tIns="0" rIns="0" bIns="0" rtlCol="0" anchor="t"/>
          <a:lstStyle/>
          <a:p>
            <a:pPr marL="0" indent="0">
              <a:spcAft>
                <a:spcPts val="400"/>
              </a:spcAft>
              <a:buNone/>
            </a:pPr>
            <a:r>
              <a:rPr lang="en-US" sz="1150" b="1" dirty="0">
                <a:solidFill>
                  <a:srgbClr val="0F1B3D"/>
                </a:solidFill>
                <a:latin typeface="Courier New" pitchFamily="34" charset="0"/>
                <a:ea typeface="Courier New" pitchFamily="34" charset="-122"/>
                <a:cs typeface="Courier New" pitchFamily="34" charset="-120"/>
              </a:rPr>
              <a:t>id (PK)</a:t>
            </a:r>
            <a:endParaRPr lang="en-US" sz="1150" dirty="0"/>
          </a:p>
          <a:p>
            <a:pPr marL="0" indent="0">
              <a:spcAft>
                <a:spcPts val="400"/>
              </a:spcAft>
              <a:buNone/>
            </a:pPr>
            <a:r>
              <a:rPr lang="en-US" sz="1150" b="1" dirty="0">
                <a:solidFill>
                  <a:srgbClr val="0F1B3D"/>
                </a:solidFill>
                <a:latin typeface="Courier New" pitchFamily="34" charset="0"/>
                <a:ea typeface="Courier New" pitchFamily="34" charset="-122"/>
                <a:cs typeface="Courier New" pitchFamily="34" charset="-120"/>
              </a:rPr>
              <a:t>project_id (FK)</a:t>
            </a:r>
            <a:endParaRPr lang="en-US" sz="1150" dirty="0"/>
          </a:p>
          <a:p>
            <a:pPr marL="0" indent="0">
              <a:spcAft>
                <a:spcPts val="400"/>
              </a:spcAft>
              <a:buNone/>
            </a:pPr>
            <a:r>
              <a:rPr lang="en-US" sz="1150" dirty="0">
                <a:solidFill>
                  <a:srgbClr val="1B2440"/>
                </a:solidFill>
                <a:latin typeface="Courier New" pitchFamily="34" charset="0"/>
                <a:ea typeface="Courier New" pitchFamily="34" charset="-122"/>
                <a:cs typeface="Courier New" pitchFamily="34" charset="-120"/>
              </a:rPr>
              <a:t>area</a:t>
            </a:r>
            <a:endParaRPr lang="en-US" sz="1150" dirty="0"/>
          </a:p>
          <a:p>
            <a:pPr marL="0" indent="0">
              <a:spcAft>
                <a:spcPts val="400"/>
              </a:spcAft>
              <a:buNone/>
            </a:pPr>
            <a:r>
              <a:rPr lang="en-US" sz="1150" dirty="0">
                <a:solidFill>
                  <a:srgbClr val="1B2440"/>
                </a:solidFill>
                <a:latin typeface="Courier New" pitchFamily="34" charset="0"/>
                <a:ea typeface="Courier New" pitchFamily="34" charset="-122"/>
                <a:cs typeface="Courier New" pitchFamily="34" charset="-120"/>
              </a:rPr>
              <a:t>improvement</a:t>
            </a:r>
            <a:endParaRPr lang="en-US" sz="1150" dirty="0"/>
          </a:p>
          <a:p>
            <a:pPr marL="0" indent="0">
              <a:spcAft>
                <a:spcPts val="400"/>
              </a:spcAft>
              <a:buNone/>
            </a:pPr>
            <a:r>
              <a:rPr lang="en-US" sz="1150" dirty="0">
                <a:solidFill>
                  <a:srgbClr val="1B2440"/>
                </a:solidFill>
                <a:latin typeface="Courier New" pitchFamily="34" charset="0"/>
                <a:ea typeface="Courier New" pitchFamily="34" charset="-122"/>
                <a:cs typeface="Courier New" pitchFamily="34" charset="-120"/>
              </a:rPr>
              <a:t>reason</a:t>
            </a:r>
            <a:endParaRPr lang="en-US" sz="1150" dirty="0"/>
          </a:p>
          <a:p>
            <a:pPr marL="0" indent="0">
              <a:spcAft>
                <a:spcPts val="400"/>
              </a:spcAft>
              <a:buNone/>
            </a:pPr>
            <a:r>
              <a:rPr lang="en-US" sz="1150" dirty="0">
                <a:solidFill>
                  <a:srgbClr val="1B2440"/>
                </a:solidFill>
                <a:latin typeface="Courier New" pitchFamily="34" charset="0"/>
                <a:ea typeface="Courier New" pitchFamily="34" charset="-122"/>
                <a:cs typeface="Courier New" pitchFamily="34" charset="-120"/>
              </a:rPr>
              <a:t>expected_benefit</a:t>
            </a:r>
            <a:endParaRPr lang="en-US" sz="1150" dirty="0"/>
          </a:p>
          <a:p>
            <a:pPr marL="0" indent="0">
              <a:spcAft>
                <a:spcPts val="400"/>
              </a:spcAft>
              <a:buNone/>
            </a:pPr>
            <a:r>
              <a:rPr lang="en-US" sz="1150" dirty="0">
                <a:solidFill>
                  <a:srgbClr val="1B2440"/>
                </a:solidFill>
                <a:latin typeface="Courier New" pitchFamily="34" charset="0"/>
                <a:ea typeface="Courier New" pitchFamily="34" charset="-122"/>
                <a:cs typeface="Courier New" pitchFamily="34" charset="-120"/>
              </a:rPr>
              <a:t>priority</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B"/>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640080"/>
          </a:xfrm>
          <a:prstGeom prst="rect">
            <a:avLst/>
          </a:prstGeom>
          <a:noFill/>
          <a:ln/>
        </p:spPr>
        <p:txBody>
          <a:bodyPr wrap="square" lIns="0" tIns="0" rIns="0" bIns="0" rtlCol="0" anchor="ctr"/>
          <a:lstStyle/>
          <a:p>
            <a:pPr marL="0" indent="0">
              <a:buNone/>
            </a:pPr>
            <a:r>
              <a:rPr lang="en-US" sz="3800" b="1" dirty="0">
                <a:solidFill>
                  <a:srgbClr val="0F1B3D"/>
                </a:solidFill>
                <a:latin typeface="Cambria" pitchFamily="34" charset="0"/>
                <a:ea typeface="Cambria" pitchFamily="34" charset="-122"/>
                <a:cs typeface="Cambria" pitchFamily="34" charset="-120"/>
              </a:rPr>
              <a:t>Code</a:t>
            </a:r>
            <a:endParaRPr lang="en-US" sz="3800" dirty="0"/>
          </a:p>
        </p:txBody>
      </p:sp>
      <p:sp>
        <p:nvSpPr>
          <p:cNvPr id="3" name="Text 1"/>
          <p:cNvSpPr txBox="1"/>
          <p:nvPr/>
        </p:nvSpPr>
        <p:spPr>
          <a:xfrm>
            <a:off x="548640" y="1005840"/>
            <a:ext cx="10972800" cy="365760"/>
          </a:xfrm>
          <a:prstGeom prst="rect">
            <a:avLst/>
          </a:prstGeom>
          <a:noFill/>
          <a:ln/>
        </p:spPr>
        <p:txBody>
          <a:bodyPr wrap="square" lIns="0" tIns="0" rIns="0" bIns="0" rtlCol="0" anchor="ctr"/>
          <a:lstStyle/>
          <a:p>
            <a:pPr marL="0" indent="0">
              <a:buNone/>
            </a:pPr>
            <a:r>
              <a:rPr lang="en-US" sz="1600" dirty="0">
                <a:solidFill>
                  <a:srgbClr val="5B6478"/>
                </a:solidFill>
                <a:latin typeface="Calibri" pitchFamily="34" charset="0"/>
                <a:ea typeface="Calibri" pitchFamily="34" charset="-122"/>
                <a:cs typeface="Calibri" pitchFamily="34" charset="-120"/>
              </a:rPr>
              <a:t>Modular Python files, with the LangGraph workflow at the centre</a:t>
            </a:r>
            <a:endParaRPr lang="en-US" sz="1600" dirty="0"/>
          </a:p>
        </p:txBody>
      </p:sp>
      <p:sp>
        <p:nvSpPr>
          <p:cNvPr id="4" name="Text 2"/>
          <p:cNvSpPr txBox="1"/>
          <p:nvPr/>
        </p:nvSpPr>
        <p:spPr>
          <a:xfrm>
            <a:off x="548640" y="6400800"/>
            <a:ext cx="5486400" cy="228600"/>
          </a:xfrm>
          <a:prstGeom prst="rect">
            <a:avLst/>
          </a:prstGeom>
          <a:noFill/>
          <a:ln/>
        </p:spPr>
        <p:txBody>
          <a:bodyPr wrap="square" lIns="0" tIns="0" rIns="0" bIns="0" rtlCol="0" anchor="ctr"/>
          <a:lstStyle/>
          <a:p>
            <a:pPr marL="0" indent="0">
              <a:buNone/>
            </a:pPr>
            <a:endParaRPr lang="en-US" sz="1000" dirty="0"/>
          </a:p>
        </p:txBody>
      </p:sp>
      <p:sp>
        <p:nvSpPr>
          <p:cNvPr id="5" name="Text 3"/>
          <p:cNvSpPr txBox="1"/>
          <p:nvPr/>
        </p:nvSpPr>
        <p:spPr>
          <a:xfrm>
            <a:off x="10271455" y="6400800"/>
            <a:ext cx="1371600" cy="228600"/>
          </a:xfrm>
          <a:prstGeom prst="rect">
            <a:avLst/>
          </a:prstGeom>
          <a:noFill/>
          <a:ln/>
        </p:spPr>
        <p:txBody>
          <a:bodyPr wrap="square" lIns="0" tIns="0" rIns="0" bIns="0" rtlCol="0" anchor="ctr"/>
          <a:lstStyle/>
          <a:p>
            <a:pPr marL="0" indent="0" algn="r">
              <a:buNone/>
            </a:pPr>
            <a:r>
              <a:rPr lang="en-US" sz="1000" dirty="0">
                <a:solidFill>
                  <a:srgbClr val="5B6478"/>
                </a:solidFill>
                <a:latin typeface="Calibri" pitchFamily="34" charset="0"/>
                <a:ea typeface="Calibri" pitchFamily="34" charset="-122"/>
                <a:cs typeface="Calibri" pitchFamily="34" charset="-120"/>
              </a:rPr>
              <a:t>6 / 7</a:t>
            </a:r>
            <a:endParaRPr lang="en-US" sz="1000" dirty="0"/>
          </a:p>
        </p:txBody>
      </p:sp>
      <p:sp>
        <p:nvSpPr>
          <p:cNvPr id="6" name="Shape 4"/>
          <p:cNvSpPr/>
          <p:nvPr/>
        </p:nvSpPr>
        <p:spPr>
          <a:xfrm>
            <a:off x="548640" y="1645920"/>
            <a:ext cx="5257800" cy="4434840"/>
          </a:xfrm>
          <a:prstGeom prst="roundRect">
            <a:avLst>
              <a:gd name="adj" fmla="val 2474"/>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7" name="Text 5"/>
          <p:cNvSpPr txBox="1"/>
          <p:nvPr/>
        </p:nvSpPr>
        <p:spPr>
          <a:xfrm>
            <a:off x="822960" y="1874520"/>
            <a:ext cx="2331720" cy="310896"/>
          </a:xfrm>
          <a:prstGeom prst="rect">
            <a:avLst/>
          </a:prstGeom>
          <a:noFill/>
          <a:ln/>
        </p:spPr>
        <p:txBody>
          <a:bodyPr wrap="square" lIns="0" tIns="0" rIns="0" bIns="0" rtlCol="0" anchor="ctr"/>
          <a:lstStyle/>
          <a:p>
            <a:pPr marL="0" indent="0">
              <a:buNone/>
            </a:pPr>
            <a:r>
              <a:rPr lang="en-US" sz="1150" b="1" dirty="0">
                <a:solidFill>
                  <a:srgbClr val="0F1B3D"/>
                </a:solidFill>
                <a:latin typeface="Courier New" pitchFamily="34" charset="0"/>
                <a:ea typeface="Courier New" pitchFamily="34" charset="-122"/>
                <a:cs typeface="Courier New" pitchFamily="34" charset="-120"/>
              </a:rPr>
              <a:t>app.py</a:t>
            </a:r>
            <a:endParaRPr lang="en-US" sz="1150" dirty="0"/>
          </a:p>
        </p:txBody>
      </p:sp>
      <p:sp>
        <p:nvSpPr>
          <p:cNvPr id="8" name="Text 6"/>
          <p:cNvSpPr txBox="1"/>
          <p:nvPr/>
        </p:nvSpPr>
        <p:spPr>
          <a:xfrm>
            <a:off x="3246120" y="1874520"/>
            <a:ext cx="2377440" cy="310896"/>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Streamlit dashboard and tabs</a:t>
            </a:r>
            <a:endParaRPr lang="en-US" sz="1250" dirty="0"/>
          </a:p>
        </p:txBody>
      </p:sp>
      <p:sp>
        <p:nvSpPr>
          <p:cNvPr id="9" name="Text 7"/>
          <p:cNvSpPr txBox="1"/>
          <p:nvPr/>
        </p:nvSpPr>
        <p:spPr>
          <a:xfrm>
            <a:off x="822960" y="2240280"/>
            <a:ext cx="2331720" cy="310896"/>
          </a:xfrm>
          <a:prstGeom prst="rect">
            <a:avLst/>
          </a:prstGeom>
          <a:noFill/>
          <a:ln/>
        </p:spPr>
        <p:txBody>
          <a:bodyPr wrap="square" lIns="0" tIns="0" rIns="0" bIns="0" rtlCol="0" anchor="ctr"/>
          <a:lstStyle/>
          <a:p>
            <a:pPr marL="0" indent="0">
              <a:buNone/>
            </a:pPr>
            <a:r>
              <a:rPr lang="en-US" sz="1150" b="1" dirty="0">
                <a:solidFill>
                  <a:srgbClr val="0F1B3D"/>
                </a:solidFill>
                <a:latin typeface="Courier New" pitchFamily="34" charset="0"/>
                <a:ea typeface="Courier New" pitchFamily="34" charset="-122"/>
                <a:cs typeface="Courier New" pitchFamily="34" charset="-120"/>
              </a:rPr>
              <a:t>config.py</a:t>
            </a:r>
            <a:endParaRPr lang="en-US" sz="1150" dirty="0"/>
          </a:p>
        </p:txBody>
      </p:sp>
      <p:sp>
        <p:nvSpPr>
          <p:cNvPr id="10" name="Text 8"/>
          <p:cNvSpPr txBox="1"/>
          <p:nvPr/>
        </p:nvSpPr>
        <p:spPr>
          <a:xfrm>
            <a:off x="3246120" y="2240280"/>
            <a:ext cx="2377440" cy="310896"/>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Settings; reads API key from env</a:t>
            </a:r>
            <a:endParaRPr lang="en-US" sz="1250" dirty="0"/>
          </a:p>
        </p:txBody>
      </p:sp>
      <p:sp>
        <p:nvSpPr>
          <p:cNvPr id="11" name="Text 9"/>
          <p:cNvSpPr txBox="1"/>
          <p:nvPr/>
        </p:nvSpPr>
        <p:spPr>
          <a:xfrm>
            <a:off x="822960" y="2606040"/>
            <a:ext cx="2331720" cy="310896"/>
          </a:xfrm>
          <a:prstGeom prst="rect">
            <a:avLst/>
          </a:prstGeom>
          <a:noFill/>
          <a:ln/>
        </p:spPr>
        <p:txBody>
          <a:bodyPr wrap="square" lIns="0" tIns="0" rIns="0" bIns="0" rtlCol="0" anchor="ctr"/>
          <a:lstStyle/>
          <a:p>
            <a:pPr marL="0" indent="0">
              <a:buNone/>
            </a:pPr>
            <a:r>
              <a:rPr lang="en-US" sz="1150" b="1" dirty="0">
                <a:solidFill>
                  <a:srgbClr val="0F1B3D"/>
                </a:solidFill>
                <a:latin typeface="Courier New" pitchFamily="34" charset="0"/>
                <a:ea typeface="Courier New" pitchFamily="34" charset="-122"/>
                <a:cs typeface="Courier New" pitchFamily="34" charset="-120"/>
              </a:rPr>
              <a:t>database.py</a:t>
            </a:r>
            <a:endParaRPr lang="en-US" sz="1150" dirty="0"/>
          </a:p>
        </p:txBody>
      </p:sp>
      <p:sp>
        <p:nvSpPr>
          <p:cNvPr id="12" name="Text 10"/>
          <p:cNvSpPr txBox="1"/>
          <p:nvPr/>
        </p:nvSpPr>
        <p:spPr>
          <a:xfrm>
            <a:off x="3246120" y="2606040"/>
            <a:ext cx="2377440" cy="310896"/>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SQLite setup, save and load</a:t>
            </a:r>
            <a:endParaRPr lang="en-US" sz="1250" dirty="0"/>
          </a:p>
        </p:txBody>
      </p:sp>
      <p:sp>
        <p:nvSpPr>
          <p:cNvPr id="13" name="Text 11"/>
          <p:cNvSpPr txBox="1"/>
          <p:nvPr/>
        </p:nvSpPr>
        <p:spPr>
          <a:xfrm>
            <a:off x="822960" y="2971800"/>
            <a:ext cx="2331720" cy="310896"/>
          </a:xfrm>
          <a:prstGeom prst="rect">
            <a:avLst/>
          </a:prstGeom>
          <a:noFill/>
          <a:ln/>
        </p:spPr>
        <p:txBody>
          <a:bodyPr wrap="square" lIns="0" tIns="0" rIns="0" bIns="0" rtlCol="0" anchor="ctr"/>
          <a:lstStyle/>
          <a:p>
            <a:pPr marL="0" indent="0">
              <a:buNone/>
            </a:pPr>
            <a:r>
              <a:rPr lang="en-US" sz="1150" b="1" dirty="0">
                <a:solidFill>
                  <a:srgbClr val="0F1B3D"/>
                </a:solidFill>
                <a:latin typeface="Courier New" pitchFamily="34" charset="0"/>
                <a:ea typeface="Courier New" pitchFamily="34" charset="-122"/>
                <a:cs typeface="Courier New" pitchFamily="34" charset="-120"/>
              </a:rPr>
              <a:t>models.py</a:t>
            </a:r>
            <a:endParaRPr lang="en-US" sz="1150" dirty="0"/>
          </a:p>
        </p:txBody>
      </p:sp>
      <p:sp>
        <p:nvSpPr>
          <p:cNvPr id="14" name="Text 12"/>
          <p:cNvSpPr txBox="1"/>
          <p:nvPr/>
        </p:nvSpPr>
        <p:spPr>
          <a:xfrm>
            <a:off x="3246120" y="2971800"/>
            <a:ext cx="2377440" cy="310896"/>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Data models and shared state</a:t>
            </a:r>
            <a:endParaRPr lang="en-US" sz="1250" dirty="0"/>
          </a:p>
        </p:txBody>
      </p:sp>
      <p:sp>
        <p:nvSpPr>
          <p:cNvPr id="15" name="Text 13"/>
          <p:cNvSpPr txBox="1"/>
          <p:nvPr/>
        </p:nvSpPr>
        <p:spPr>
          <a:xfrm>
            <a:off x="822960" y="3337560"/>
            <a:ext cx="2331720" cy="310896"/>
          </a:xfrm>
          <a:prstGeom prst="rect">
            <a:avLst/>
          </a:prstGeom>
          <a:noFill/>
          <a:ln/>
        </p:spPr>
        <p:txBody>
          <a:bodyPr wrap="square" lIns="0" tIns="0" rIns="0" bIns="0" rtlCol="0" anchor="ctr"/>
          <a:lstStyle/>
          <a:p>
            <a:pPr marL="0" indent="0">
              <a:buNone/>
            </a:pPr>
            <a:r>
              <a:rPr lang="en-US" sz="1150" b="1" dirty="0">
                <a:solidFill>
                  <a:srgbClr val="0F1B3D"/>
                </a:solidFill>
                <a:latin typeface="Courier New" pitchFamily="34" charset="0"/>
                <a:ea typeface="Courier New" pitchFamily="34" charset="-122"/>
                <a:cs typeface="Courier New" pitchFamily="34" charset="-120"/>
              </a:rPr>
              <a:t>llm_service.py</a:t>
            </a:r>
            <a:endParaRPr lang="en-US" sz="1150" dirty="0"/>
          </a:p>
        </p:txBody>
      </p:sp>
      <p:sp>
        <p:nvSpPr>
          <p:cNvPr id="16" name="Text 14"/>
          <p:cNvSpPr txBox="1"/>
          <p:nvPr/>
        </p:nvSpPr>
        <p:spPr>
          <a:xfrm>
            <a:off x="3246120" y="3337560"/>
            <a:ext cx="2377440" cy="310896"/>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Gemini calls and Demo Mode</a:t>
            </a:r>
            <a:endParaRPr lang="en-US" sz="1250" dirty="0"/>
          </a:p>
        </p:txBody>
      </p:sp>
      <p:sp>
        <p:nvSpPr>
          <p:cNvPr id="17" name="Text 15"/>
          <p:cNvSpPr txBox="1"/>
          <p:nvPr/>
        </p:nvSpPr>
        <p:spPr>
          <a:xfrm>
            <a:off x="822960" y="3703320"/>
            <a:ext cx="2331720" cy="310896"/>
          </a:xfrm>
          <a:prstGeom prst="rect">
            <a:avLst/>
          </a:prstGeom>
          <a:noFill/>
          <a:ln/>
        </p:spPr>
        <p:txBody>
          <a:bodyPr wrap="square" lIns="0" tIns="0" rIns="0" bIns="0" rtlCol="0" anchor="ctr"/>
          <a:lstStyle/>
          <a:p>
            <a:pPr marL="0" indent="0">
              <a:buNone/>
            </a:pPr>
            <a:r>
              <a:rPr lang="en-US" sz="1150" b="1" dirty="0">
                <a:solidFill>
                  <a:srgbClr val="0F1B3D"/>
                </a:solidFill>
                <a:latin typeface="Courier New" pitchFamily="34" charset="0"/>
                <a:ea typeface="Courier New" pitchFamily="34" charset="-122"/>
                <a:cs typeface="Courier New" pitchFamily="34" charset="-120"/>
              </a:rPr>
              <a:t>recommendation_engine.py</a:t>
            </a:r>
            <a:endParaRPr lang="en-US" sz="1150" dirty="0"/>
          </a:p>
        </p:txBody>
      </p:sp>
      <p:sp>
        <p:nvSpPr>
          <p:cNvPr id="18" name="Text 16"/>
          <p:cNvSpPr txBox="1"/>
          <p:nvPr/>
        </p:nvSpPr>
        <p:spPr>
          <a:xfrm>
            <a:off x="3246120" y="3703320"/>
            <a:ext cx="2377440" cy="310896"/>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Strategic, risk-based advice</a:t>
            </a:r>
            <a:endParaRPr lang="en-US" sz="1250" dirty="0"/>
          </a:p>
        </p:txBody>
      </p:sp>
      <p:sp>
        <p:nvSpPr>
          <p:cNvPr id="19" name="Text 17"/>
          <p:cNvSpPr txBox="1"/>
          <p:nvPr/>
        </p:nvSpPr>
        <p:spPr>
          <a:xfrm>
            <a:off x="822960" y="4069080"/>
            <a:ext cx="2331720" cy="310896"/>
          </a:xfrm>
          <a:prstGeom prst="rect">
            <a:avLst/>
          </a:prstGeom>
          <a:noFill/>
          <a:ln/>
        </p:spPr>
        <p:txBody>
          <a:bodyPr wrap="square" lIns="0" tIns="0" rIns="0" bIns="0" rtlCol="0" anchor="ctr"/>
          <a:lstStyle/>
          <a:p>
            <a:pPr marL="0" indent="0">
              <a:buNone/>
            </a:pPr>
            <a:r>
              <a:rPr lang="en-US" sz="1150" b="1" dirty="0">
                <a:solidFill>
                  <a:srgbClr val="0F1B3D"/>
                </a:solidFill>
                <a:latin typeface="Courier New" pitchFamily="34" charset="0"/>
                <a:ea typeface="Courier New" pitchFamily="34" charset="-122"/>
                <a:cs typeface="Courier New" pitchFamily="34" charset="-120"/>
              </a:rPr>
              <a:t>mitigation_engine.py</a:t>
            </a:r>
            <a:endParaRPr lang="en-US" sz="1150" dirty="0"/>
          </a:p>
        </p:txBody>
      </p:sp>
      <p:sp>
        <p:nvSpPr>
          <p:cNvPr id="20" name="Text 18"/>
          <p:cNvSpPr txBox="1"/>
          <p:nvPr/>
        </p:nvSpPr>
        <p:spPr>
          <a:xfrm>
            <a:off x="3246120" y="4069080"/>
            <a:ext cx="2377440" cy="310896"/>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Mitigation per identified risk</a:t>
            </a:r>
            <a:endParaRPr lang="en-US" sz="1250" dirty="0"/>
          </a:p>
        </p:txBody>
      </p:sp>
      <p:sp>
        <p:nvSpPr>
          <p:cNvPr id="21" name="Text 19"/>
          <p:cNvSpPr txBox="1"/>
          <p:nvPr/>
        </p:nvSpPr>
        <p:spPr>
          <a:xfrm>
            <a:off x="822960" y="4434840"/>
            <a:ext cx="2331720" cy="310896"/>
          </a:xfrm>
          <a:prstGeom prst="rect">
            <a:avLst/>
          </a:prstGeom>
          <a:noFill/>
          <a:ln/>
        </p:spPr>
        <p:txBody>
          <a:bodyPr wrap="square" lIns="0" tIns="0" rIns="0" bIns="0" rtlCol="0" anchor="ctr"/>
          <a:lstStyle/>
          <a:p>
            <a:pPr marL="0" indent="0">
              <a:buNone/>
            </a:pPr>
            <a:r>
              <a:rPr lang="en-US" sz="1150" b="1" dirty="0">
                <a:solidFill>
                  <a:srgbClr val="0F1B3D"/>
                </a:solidFill>
                <a:latin typeface="Courier New" pitchFamily="34" charset="0"/>
                <a:ea typeface="Courier New" pitchFamily="34" charset="-122"/>
                <a:cs typeface="Courier New" pitchFamily="34" charset="-120"/>
              </a:rPr>
              <a:t>improvement_engine.py</a:t>
            </a:r>
            <a:endParaRPr lang="en-US" sz="1150" dirty="0"/>
          </a:p>
        </p:txBody>
      </p:sp>
      <p:sp>
        <p:nvSpPr>
          <p:cNvPr id="22" name="Text 20"/>
          <p:cNvSpPr txBox="1"/>
          <p:nvPr/>
        </p:nvSpPr>
        <p:spPr>
          <a:xfrm>
            <a:off x="3246120" y="4434840"/>
            <a:ext cx="2377440" cy="310896"/>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Improvement suggestions</a:t>
            </a:r>
            <a:endParaRPr lang="en-US" sz="1250" dirty="0"/>
          </a:p>
        </p:txBody>
      </p:sp>
      <p:sp>
        <p:nvSpPr>
          <p:cNvPr id="23" name="Shape 21"/>
          <p:cNvSpPr/>
          <p:nvPr/>
        </p:nvSpPr>
        <p:spPr>
          <a:xfrm>
            <a:off x="658368" y="4773168"/>
            <a:ext cx="5038344" cy="347472"/>
          </a:xfrm>
          <a:prstGeom prst="roundRect">
            <a:avLst>
              <a:gd name="adj" fmla="val 21053"/>
            </a:avLst>
          </a:prstGeom>
          <a:solidFill>
            <a:srgbClr val="E4EAFF"/>
          </a:solidFill>
          <a:ln w="6350">
            <a:solidFill>
              <a:srgbClr val="E4EAFF"/>
            </a:solidFill>
            <a:prstDash val="solid"/>
          </a:ln>
        </p:spPr>
      </p:sp>
      <p:sp>
        <p:nvSpPr>
          <p:cNvPr id="24" name="Text 22"/>
          <p:cNvSpPr txBox="1"/>
          <p:nvPr/>
        </p:nvSpPr>
        <p:spPr>
          <a:xfrm>
            <a:off x="822960" y="4800600"/>
            <a:ext cx="2331720" cy="310896"/>
          </a:xfrm>
          <a:prstGeom prst="rect">
            <a:avLst/>
          </a:prstGeom>
          <a:noFill/>
          <a:ln/>
        </p:spPr>
        <p:txBody>
          <a:bodyPr wrap="square" lIns="0" tIns="0" rIns="0" bIns="0" rtlCol="0" anchor="ctr"/>
          <a:lstStyle/>
          <a:p>
            <a:pPr marL="0" indent="0">
              <a:buNone/>
            </a:pPr>
            <a:r>
              <a:rPr lang="en-US" sz="1150" b="1" dirty="0">
                <a:solidFill>
                  <a:srgbClr val="2F5BEA"/>
                </a:solidFill>
                <a:latin typeface="Courier New" pitchFamily="34" charset="0"/>
                <a:ea typeface="Courier New" pitchFamily="34" charset="-122"/>
                <a:cs typeface="Courier New" pitchFamily="34" charset="-120"/>
              </a:rPr>
              <a:t>workflow.py</a:t>
            </a:r>
            <a:endParaRPr lang="en-US" sz="1150" dirty="0"/>
          </a:p>
        </p:txBody>
      </p:sp>
      <p:sp>
        <p:nvSpPr>
          <p:cNvPr id="25" name="Text 23"/>
          <p:cNvSpPr txBox="1"/>
          <p:nvPr/>
        </p:nvSpPr>
        <p:spPr>
          <a:xfrm>
            <a:off x="3246120" y="4800600"/>
            <a:ext cx="2377440" cy="310896"/>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LangGraph nodes and graph</a:t>
            </a:r>
            <a:endParaRPr lang="en-US" sz="1250" dirty="0"/>
          </a:p>
        </p:txBody>
      </p:sp>
      <p:sp>
        <p:nvSpPr>
          <p:cNvPr id="26" name="Text 24"/>
          <p:cNvSpPr txBox="1"/>
          <p:nvPr/>
        </p:nvSpPr>
        <p:spPr>
          <a:xfrm>
            <a:off x="822960" y="5166360"/>
            <a:ext cx="2331720" cy="310896"/>
          </a:xfrm>
          <a:prstGeom prst="rect">
            <a:avLst/>
          </a:prstGeom>
          <a:noFill/>
          <a:ln/>
        </p:spPr>
        <p:txBody>
          <a:bodyPr wrap="square" lIns="0" tIns="0" rIns="0" bIns="0" rtlCol="0" anchor="ctr"/>
          <a:lstStyle/>
          <a:p>
            <a:pPr marL="0" indent="0">
              <a:buNone/>
            </a:pPr>
            <a:r>
              <a:rPr lang="en-US" sz="1150" b="1" dirty="0">
                <a:solidFill>
                  <a:srgbClr val="0F1B3D"/>
                </a:solidFill>
                <a:latin typeface="Courier New" pitchFamily="34" charset="0"/>
                <a:ea typeface="Courier New" pitchFamily="34" charset="-122"/>
                <a:cs typeface="Courier New" pitchFamily="34" charset="-120"/>
              </a:rPr>
              <a:t>requirements.txt</a:t>
            </a:r>
            <a:endParaRPr lang="en-US" sz="1150" dirty="0"/>
          </a:p>
        </p:txBody>
      </p:sp>
      <p:sp>
        <p:nvSpPr>
          <p:cNvPr id="27" name="Text 25"/>
          <p:cNvSpPr txBox="1"/>
          <p:nvPr/>
        </p:nvSpPr>
        <p:spPr>
          <a:xfrm>
            <a:off x="3246120" y="5166360"/>
            <a:ext cx="2377440" cy="310896"/>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Python dependencies</a:t>
            </a:r>
            <a:endParaRPr lang="en-US" sz="1250" dirty="0"/>
          </a:p>
        </p:txBody>
      </p:sp>
      <p:sp>
        <p:nvSpPr>
          <p:cNvPr id="28" name="Text 26"/>
          <p:cNvSpPr txBox="1"/>
          <p:nvPr/>
        </p:nvSpPr>
        <p:spPr>
          <a:xfrm>
            <a:off x="822960" y="5532120"/>
            <a:ext cx="2331720" cy="310896"/>
          </a:xfrm>
          <a:prstGeom prst="rect">
            <a:avLst/>
          </a:prstGeom>
          <a:noFill/>
          <a:ln/>
        </p:spPr>
        <p:txBody>
          <a:bodyPr wrap="square" lIns="0" tIns="0" rIns="0" bIns="0" rtlCol="0" anchor="ctr"/>
          <a:lstStyle/>
          <a:p>
            <a:pPr marL="0" indent="0">
              <a:buNone/>
            </a:pPr>
            <a:r>
              <a:rPr lang="en-US" sz="1150" b="1" dirty="0">
                <a:solidFill>
                  <a:srgbClr val="0F1B3D"/>
                </a:solidFill>
                <a:latin typeface="Courier New" pitchFamily="34" charset="0"/>
                <a:ea typeface="Courier New" pitchFamily="34" charset="-122"/>
                <a:cs typeface="Courier New" pitchFamily="34" charset="-120"/>
              </a:rPr>
              <a:t>README.md</a:t>
            </a:r>
            <a:endParaRPr lang="en-US" sz="1150" dirty="0"/>
          </a:p>
        </p:txBody>
      </p:sp>
      <p:sp>
        <p:nvSpPr>
          <p:cNvPr id="29" name="Text 27"/>
          <p:cNvSpPr txBox="1"/>
          <p:nvPr/>
        </p:nvSpPr>
        <p:spPr>
          <a:xfrm>
            <a:off x="3246120" y="5532120"/>
            <a:ext cx="2377440" cy="310896"/>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How to run, add API key</a:t>
            </a:r>
            <a:endParaRPr lang="en-US" sz="1250" dirty="0"/>
          </a:p>
        </p:txBody>
      </p:sp>
      <p:sp>
        <p:nvSpPr>
          <p:cNvPr id="30" name="Shape 28"/>
          <p:cNvSpPr/>
          <p:nvPr/>
        </p:nvSpPr>
        <p:spPr>
          <a:xfrm>
            <a:off x="6035040" y="1645920"/>
            <a:ext cx="5608015" cy="4434840"/>
          </a:xfrm>
          <a:prstGeom prst="roundRect">
            <a:avLst>
              <a:gd name="adj" fmla="val 2474"/>
            </a:avLst>
          </a:prstGeom>
          <a:solidFill>
            <a:srgbClr val="0F1B3D"/>
          </a:solidFill>
          <a:ln w="6350">
            <a:solidFill>
              <a:srgbClr val="0F1B3D"/>
            </a:solidFill>
            <a:prstDash val="solid"/>
          </a:ln>
          <a:effectLst>
            <a:outerShdw blurRad="101600" dist="25400" dir="5400000" algn="bl" rotWithShape="0">
              <a:srgbClr val="000000">
                <a:alpha val="10000"/>
              </a:srgbClr>
            </a:outerShdw>
          </a:effectLst>
        </p:spPr>
      </p:sp>
      <p:sp>
        <p:nvSpPr>
          <p:cNvPr id="31" name="Text 29"/>
          <p:cNvSpPr txBox="1"/>
          <p:nvPr/>
        </p:nvSpPr>
        <p:spPr>
          <a:xfrm>
            <a:off x="6309360" y="1828800"/>
            <a:ext cx="5059375" cy="274320"/>
          </a:xfrm>
          <a:prstGeom prst="rect">
            <a:avLst/>
          </a:prstGeom>
          <a:noFill/>
          <a:ln/>
        </p:spPr>
        <p:txBody>
          <a:bodyPr wrap="square" lIns="0" tIns="0" rIns="0" bIns="0" rtlCol="0" anchor="ctr"/>
          <a:lstStyle/>
          <a:p>
            <a:pPr marL="0" indent="0">
              <a:buNone/>
            </a:pPr>
            <a:r>
              <a:rPr lang="en-US" sz="1100" b="1" dirty="0">
                <a:solidFill>
                  <a:srgbClr val="F5A524"/>
                </a:solidFill>
                <a:latin typeface="Courier New" pitchFamily="34" charset="0"/>
                <a:ea typeface="Courier New" pitchFamily="34" charset="-122"/>
                <a:cs typeface="Courier New" pitchFamily="34" charset="-120"/>
              </a:rPr>
              <a:t>workflow.py  (simplified)</a:t>
            </a:r>
            <a:endParaRPr lang="en-US" sz="1100" dirty="0"/>
          </a:p>
        </p:txBody>
      </p:sp>
      <p:sp>
        <p:nvSpPr>
          <p:cNvPr id="32" name="Text 30"/>
          <p:cNvSpPr txBox="1"/>
          <p:nvPr/>
        </p:nvSpPr>
        <p:spPr>
          <a:xfrm>
            <a:off x="6309360" y="2240280"/>
            <a:ext cx="5150815" cy="3200400"/>
          </a:xfrm>
          <a:prstGeom prst="rect">
            <a:avLst/>
          </a:prstGeom>
          <a:noFill/>
          <a:ln/>
        </p:spPr>
        <p:txBody>
          <a:bodyPr wrap="square" lIns="0" tIns="0" rIns="0" bIns="0" rtlCol="0" anchor="t"/>
          <a:lstStyle/>
          <a:p>
            <a:pPr marL="0" indent="0">
              <a:buNone/>
            </a:pPr>
            <a:r>
              <a:rPr lang="en-US" sz="1150" dirty="0">
                <a:solidFill>
                  <a:srgbClr val="C4B5FD"/>
                </a:solidFill>
                <a:latin typeface="Courier New" pitchFamily="34" charset="0"/>
                <a:ea typeface="Courier New" pitchFamily="34" charset="-122"/>
                <a:cs typeface="Courier New" pitchFamily="34" charset="-120"/>
              </a:rPr>
              <a:t>from</a:t>
            </a:r>
            <a:r>
              <a:rPr lang="en-US" sz="1150" dirty="0">
                <a:solidFill>
                  <a:srgbClr val="E6EAF7"/>
                </a:solidFill>
                <a:latin typeface="Courier New" pitchFamily="34" charset="0"/>
                <a:ea typeface="Courier New" pitchFamily="34" charset="-122"/>
                <a:cs typeface="Courier New" pitchFamily="34" charset="-120"/>
              </a:rPr>
              <a:t> langgraph.graph </a:t>
            </a:r>
            <a:r>
              <a:rPr lang="en-US" sz="1150" dirty="0">
                <a:solidFill>
                  <a:srgbClr val="C4B5FD"/>
                </a:solidFill>
                <a:latin typeface="Courier New" pitchFamily="34" charset="0"/>
                <a:ea typeface="Courier New" pitchFamily="34" charset="-122"/>
                <a:cs typeface="Courier New" pitchFamily="34" charset="-120"/>
              </a:rPr>
              <a:t>import</a:t>
            </a:r>
            <a:r>
              <a:rPr lang="en-US" sz="1150" dirty="0">
                <a:solidFill>
                  <a:srgbClr val="E6EAF7"/>
                </a:solidFill>
                <a:latin typeface="Courier New" pitchFamily="34" charset="0"/>
                <a:ea typeface="Courier New" pitchFamily="34" charset="-122"/>
                <a:cs typeface="Courier New" pitchFamily="34" charset="-120"/>
              </a:rPr>
              <a:t> StateGraph, END</a:t>
            </a:r>
            <a:endParaRPr lang="en-US" sz="1150" dirty="0"/>
          </a:p>
          <a:p>
            <a:pPr marL="0" indent="0">
              <a:buNone/>
            </a:pPr>
            <a:r>
              <a:rPr lang="en-US" sz="1150" dirty="0">
                <a:solidFill>
                  <a:srgbClr val="E6EAF7"/>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E6EAF7"/>
                </a:solidFill>
                <a:latin typeface="Courier New" pitchFamily="34" charset="0"/>
                <a:ea typeface="Courier New" pitchFamily="34" charset="-122"/>
                <a:cs typeface="Courier New" pitchFamily="34" charset="-120"/>
              </a:rPr>
              <a:t>nodes = [analyze_project, analyze_risks,</a:t>
            </a:r>
            <a:endParaRPr lang="en-US" sz="1150" dirty="0"/>
          </a:p>
          <a:p>
            <a:pPr marL="0" indent="0">
              <a:buNone/>
            </a:pPr>
            <a:r>
              <a:rPr lang="en-US" sz="1150" dirty="0">
                <a:solidFill>
                  <a:srgbClr val="E6EAF7"/>
                </a:solidFill>
                <a:latin typeface="Courier New" pitchFamily="34" charset="0"/>
                <a:ea typeface="Courier New" pitchFamily="34" charset="-122"/>
                <a:cs typeface="Courier New" pitchFamily="34" charset="-120"/>
              </a:rPr>
              <a:t>         generate_recommendations, generate_mitigation,</a:t>
            </a:r>
            <a:endParaRPr lang="en-US" sz="1150" dirty="0"/>
          </a:p>
          <a:p>
            <a:pPr marL="0" indent="0">
              <a:buNone/>
            </a:pPr>
            <a:r>
              <a:rPr lang="en-US" sz="1150" dirty="0">
                <a:solidFill>
                  <a:srgbClr val="E6EAF7"/>
                </a:solidFill>
                <a:latin typeface="Courier New" pitchFamily="34" charset="0"/>
                <a:ea typeface="Courier New" pitchFamily="34" charset="-122"/>
                <a:cs typeface="Courier New" pitchFamily="34" charset="-120"/>
              </a:rPr>
              <a:t>         generate_improvements, generate_final_response]</a:t>
            </a:r>
            <a:endParaRPr lang="en-US" sz="1150" dirty="0"/>
          </a:p>
          <a:p>
            <a:pPr marL="0" indent="0">
              <a:buNone/>
            </a:pPr>
            <a:r>
              <a:rPr lang="en-US" sz="1150" dirty="0">
                <a:solidFill>
                  <a:srgbClr val="E6EAF7"/>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E6EAF7"/>
                </a:solidFill>
                <a:latin typeface="Courier New" pitchFamily="34" charset="0"/>
                <a:ea typeface="Courier New" pitchFamily="34" charset="-122"/>
                <a:cs typeface="Courier New" pitchFamily="34" charset="-120"/>
              </a:rPr>
              <a:t>graph = StateGraph(ProjectState)   </a:t>
            </a:r>
            <a:r>
              <a:rPr lang="en-US" sz="1150" dirty="0">
                <a:solidFill>
                  <a:srgbClr val="8A96B8"/>
                </a:solidFill>
                <a:latin typeface="Courier New" pitchFamily="34" charset="0"/>
                <a:ea typeface="Courier New" pitchFamily="34" charset="-122"/>
                <a:cs typeface="Courier New" pitchFamily="34" charset="-120"/>
              </a:rPr>
              <a:t># shared state</a:t>
            </a:r>
            <a:endParaRPr lang="en-US" sz="1150" dirty="0"/>
          </a:p>
          <a:p>
            <a:pPr marL="0" indent="0">
              <a:buNone/>
            </a:pPr>
            <a:r>
              <a:rPr lang="en-US" sz="1150" dirty="0">
                <a:solidFill>
                  <a:srgbClr val="C4B5FD"/>
                </a:solidFill>
                <a:latin typeface="Courier New" pitchFamily="34" charset="0"/>
                <a:ea typeface="Courier New" pitchFamily="34" charset="-122"/>
                <a:cs typeface="Courier New" pitchFamily="34" charset="-120"/>
              </a:rPr>
              <a:t>for</a:t>
            </a:r>
            <a:r>
              <a:rPr lang="en-US" sz="1150" dirty="0">
                <a:solidFill>
                  <a:srgbClr val="E6EAF7"/>
                </a:solidFill>
                <a:latin typeface="Courier New" pitchFamily="34" charset="0"/>
                <a:ea typeface="Courier New" pitchFamily="34" charset="-122"/>
                <a:cs typeface="Courier New" pitchFamily="34" charset="-120"/>
              </a:rPr>
              <a:t> fn </a:t>
            </a:r>
            <a:r>
              <a:rPr lang="en-US" sz="1150" dirty="0">
                <a:solidFill>
                  <a:srgbClr val="C4B5FD"/>
                </a:solidFill>
                <a:latin typeface="Courier New" pitchFamily="34" charset="0"/>
                <a:ea typeface="Courier New" pitchFamily="34" charset="-122"/>
                <a:cs typeface="Courier New" pitchFamily="34" charset="-120"/>
              </a:rPr>
              <a:t>in</a:t>
            </a:r>
            <a:r>
              <a:rPr lang="en-US" sz="1150" dirty="0">
                <a:solidFill>
                  <a:srgbClr val="E6EAF7"/>
                </a:solidFill>
                <a:latin typeface="Courier New" pitchFamily="34" charset="0"/>
                <a:ea typeface="Courier New" pitchFamily="34" charset="-122"/>
                <a:cs typeface="Courier New" pitchFamily="34" charset="-120"/>
              </a:rPr>
              <a:t> nodes:</a:t>
            </a:r>
            <a:endParaRPr lang="en-US" sz="1150" dirty="0"/>
          </a:p>
          <a:p>
            <a:pPr marL="0" indent="0">
              <a:buNone/>
            </a:pPr>
            <a:r>
              <a:rPr lang="en-US" sz="1150" dirty="0">
                <a:solidFill>
                  <a:srgbClr val="E6EAF7"/>
                </a:solidFill>
                <a:latin typeface="Courier New" pitchFamily="34" charset="0"/>
                <a:ea typeface="Courier New" pitchFamily="34" charset="-122"/>
                <a:cs typeface="Courier New" pitchFamily="34" charset="-120"/>
              </a:rPr>
              <a:t>    graph.add_node(fn.__name__, fn)</a:t>
            </a:r>
            <a:endParaRPr lang="en-US" sz="1150" dirty="0"/>
          </a:p>
          <a:p>
            <a:pPr marL="0" indent="0">
              <a:buNone/>
            </a:pPr>
            <a:r>
              <a:rPr lang="en-US" sz="1150" dirty="0">
                <a:solidFill>
                  <a:srgbClr val="C4B5FD"/>
                </a:solidFill>
                <a:latin typeface="Courier New" pitchFamily="34" charset="0"/>
                <a:ea typeface="Courier New" pitchFamily="34" charset="-122"/>
                <a:cs typeface="Courier New" pitchFamily="34" charset="-120"/>
              </a:rPr>
              <a:t>for</a:t>
            </a:r>
            <a:r>
              <a:rPr lang="en-US" sz="1150" dirty="0">
                <a:solidFill>
                  <a:srgbClr val="E6EAF7"/>
                </a:solidFill>
                <a:latin typeface="Courier New" pitchFamily="34" charset="0"/>
                <a:ea typeface="Courier New" pitchFamily="34" charset="-122"/>
                <a:cs typeface="Courier New" pitchFamily="34" charset="-120"/>
              </a:rPr>
              <a:t> a, b </a:t>
            </a:r>
            <a:r>
              <a:rPr lang="en-US" sz="1150" dirty="0">
                <a:solidFill>
                  <a:srgbClr val="C4B5FD"/>
                </a:solidFill>
                <a:latin typeface="Courier New" pitchFamily="34" charset="0"/>
                <a:ea typeface="Courier New" pitchFamily="34" charset="-122"/>
                <a:cs typeface="Courier New" pitchFamily="34" charset="-120"/>
              </a:rPr>
              <a:t>in</a:t>
            </a:r>
            <a:r>
              <a:rPr lang="en-US" sz="1150" dirty="0">
                <a:solidFill>
                  <a:srgbClr val="E6EAF7"/>
                </a:solidFill>
                <a:latin typeface="Courier New" pitchFamily="34" charset="0"/>
                <a:ea typeface="Courier New" pitchFamily="34" charset="-122"/>
                <a:cs typeface="Courier New" pitchFamily="34" charset="-120"/>
              </a:rPr>
              <a:t> zip(nodes, nodes[1:]):</a:t>
            </a:r>
            <a:endParaRPr lang="en-US" sz="1150" dirty="0"/>
          </a:p>
          <a:p>
            <a:pPr marL="0" indent="0">
              <a:buNone/>
            </a:pPr>
            <a:r>
              <a:rPr lang="en-US" sz="1150" dirty="0">
                <a:solidFill>
                  <a:srgbClr val="E6EAF7"/>
                </a:solidFill>
                <a:latin typeface="Courier New" pitchFamily="34" charset="0"/>
                <a:ea typeface="Courier New" pitchFamily="34" charset="-122"/>
                <a:cs typeface="Courier New" pitchFamily="34" charset="-120"/>
              </a:rPr>
              <a:t>    graph.add_edge(a.__name__, b.__name__)</a:t>
            </a:r>
            <a:endParaRPr lang="en-US" sz="1150" dirty="0"/>
          </a:p>
          <a:p>
            <a:pPr marL="0" indent="0">
              <a:buNone/>
            </a:pPr>
            <a:r>
              <a:rPr lang="en-US" sz="1150" dirty="0">
                <a:solidFill>
                  <a:srgbClr val="E6EAF7"/>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E6EAF7"/>
                </a:solidFill>
                <a:latin typeface="Courier New" pitchFamily="34" charset="0"/>
                <a:ea typeface="Courier New" pitchFamily="34" charset="-122"/>
                <a:cs typeface="Courier New" pitchFamily="34" charset="-120"/>
              </a:rPr>
              <a:t>graph.set_entry_point(</a:t>
            </a:r>
            <a:r>
              <a:rPr lang="en-US" sz="1150" dirty="0">
                <a:solidFill>
                  <a:srgbClr val="FBBF24"/>
                </a:solidFill>
                <a:latin typeface="Courier New" pitchFamily="34" charset="0"/>
                <a:ea typeface="Courier New" pitchFamily="34" charset="-122"/>
                <a:cs typeface="Courier New" pitchFamily="34" charset="-120"/>
              </a:rPr>
              <a:t>"analyze_project"</a:t>
            </a:r>
            <a:r>
              <a:rPr lang="en-US" sz="1150" dirty="0">
                <a:solidFill>
                  <a:srgbClr val="E6EAF7"/>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E6EAF7"/>
                </a:solidFill>
                <a:latin typeface="Courier New" pitchFamily="34" charset="0"/>
                <a:ea typeface="Courier New" pitchFamily="34" charset="-122"/>
                <a:cs typeface="Courier New" pitchFamily="34" charset="-120"/>
              </a:rPr>
              <a:t>graph.add_edge(</a:t>
            </a:r>
            <a:r>
              <a:rPr lang="en-US" sz="1150" dirty="0">
                <a:solidFill>
                  <a:srgbClr val="FBBF24"/>
                </a:solidFill>
                <a:latin typeface="Courier New" pitchFamily="34" charset="0"/>
                <a:ea typeface="Courier New" pitchFamily="34" charset="-122"/>
                <a:cs typeface="Courier New" pitchFamily="34" charset="-120"/>
              </a:rPr>
              <a:t>"generate_final_response"</a:t>
            </a:r>
            <a:r>
              <a:rPr lang="en-US" sz="1150" dirty="0">
                <a:solidFill>
                  <a:srgbClr val="E6EAF7"/>
                </a:solidFill>
                <a:latin typeface="Courier New" pitchFamily="34" charset="0"/>
                <a:ea typeface="Courier New" pitchFamily="34" charset="-122"/>
                <a:cs typeface="Courier New" pitchFamily="34" charset="-120"/>
              </a:rPr>
              <a:t>, END)</a:t>
            </a:r>
            <a:endParaRPr lang="en-US" sz="1150" dirty="0"/>
          </a:p>
          <a:p>
            <a:pPr marL="0" indent="0">
              <a:buNone/>
            </a:pPr>
            <a:r>
              <a:rPr lang="en-US" sz="1150" dirty="0">
                <a:solidFill>
                  <a:srgbClr val="E6EAF7"/>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E6EAF7"/>
                </a:solidFill>
                <a:latin typeface="Courier New" pitchFamily="34" charset="0"/>
                <a:ea typeface="Courier New" pitchFamily="34" charset="-122"/>
                <a:cs typeface="Courier New" pitchFamily="34" charset="-120"/>
              </a:rPr>
              <a:t>result = graph.compile().invoke(state)</a:t>
            </a:r>
            <a:endParaRPr lang="en-US" sz="1150" dirty="0"/>
          </a:p>
        </p:txBody>
      </p:sp>
      <p:sp>
        <p:nvSpPr>
          <p:cNvPr id="33" name="Text 31"/>
          <p:cNvSpPr txBox="1"/>
          <p:nvPr/>
        </p:nvSpPr>
        <p:spPr>
          <a:xfrm>
            <a:off x="6309360" y="5577840"/>
            <a:ext cx="5059375" cy="320040"/>
          </a:xfrm>
          <a:prstGeom prst="rect">
            <a:avLst/>
          </a:prstGeom>
          <a:noFill/>
          <a:ln/>
        </p:spPr>
        <p:txBody>
          <a:bodyPr wrap="square" lIns="0" tIns="0" rIns="0" bIns="0" rtlCol="0" anchor="ctr"/>
          <a:lstStyle/>
          <a:p>
            <a:pPr marL="0" indent="0">
              <a:buNone/>
            </a:pPr>
            <a:r>
              <a:rPr lang="en-US" sz="1250" i="1" dirty="0">
                <a:solidFill>
                  <a:srgbClr val="CADCFC"/>
                </a:solidFill>
                <a:latin typeface="Calibri" pitchFamily="34" charset="0"/>
                <a:ea typeface="Calibri" pitchFamily="34" charset="-122"/>
                <a:cs typeface="Calibri" pitchFamily="34" charset="-120"/>
              </a:rPr>
              <a:t>Each node reads the shared state, adds its output and hands it on.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3D"/>
        </a:solidFill>
        <a:effectLst/>
      </p:bgPr>
    </p:bg>
    <p:spTree>
      <p:nvGrpSpPr>
        <p:cNvPr id="1" name=""/>
        <p:cNvGrpSpPr/>
        <p:nvPr/>
      </p:nvGrpSpPr>
      <p:grpSpPr>
        <a:xfrm>
          <a:off x="0" y="0"/>
          <a:ext cx="0" cy="0"/>
          <a:chOff x="0" y="0"/>
          <a:chExt cx="0" cy="0"/>
        </a:xfrm>
      </p:grpSpPr>
      <p:sp>
        <p:nvSpPr>
          <p:cNvPr id="2" name="Shape 0"/>
          <p:cNvSpPr/>
          <p:nvPr/>
        </p:nvSpPr>
        <p:spPr>
          <a:xfrm>
            <a:off x="640080" y="914400"/>
            <a:ext cx="3291840" cy="384048"/>
          </a:xfrm>
          <a:prstGeom prst="roundRect">
            <a:avLst>
              <a:gd name="adj" fmla="val 50000"/>
            </a:avLst>
          </a:prstGeom>
          <a:solidFill>
            <a:srgbClr val="1B2A55"/>
          </a:solidFill>
          <a:ln w="6350">
            <a:solidFill>
              <a:srgbClr val="1B2A55"/>
            </a:solidFill>
            <a:prstDash val="solid"/>
          </a:ln>
        </p:spPr>
      </p:sp>
      <p:sp>
        <p:nvSpPr>
          <p:cNvPr id="3" name="Text 1"/>
          <p:cNvSpPr txBox="1"/>
          <p:nvPr/>
        </p:nvSpPr>
        <p:spPr>
          <a:xfrm>
            <a:off x="640080" y="914400"/>
            <a:ext cx="3291840" cy="384048"/>
          </a:xfrm>
          <a:prstGeom prst="rect">
            <a:avLst/>
          </a:prstGeom>
          <a:noFill/>
          <a:ln/>
        </p:spPr>
        <p:txBody>
          <a:bodyPr wrap="square" lIns="0" tIns="0" rIns="0" bIns="0" rtlCol="0" anchor="ctr"/>
          <a:lstStyle/>
          <a:p>
            <a:pPr marL="0" indent="0" algn="ctr">
              <a:buNone/>
            </a:pPr>
            <a:r>
              <a:rPr lang="en-US" sz="1200" b="1" kern="0" spc="100" dirty="0">
                <a:solidFill>
                  <a:srgbClr val="F5A524"/>
                </a:solidFill>
                <a:latin typeface="Calibri" pitchFamily="34" charset="0"/>
                <a:ea typeface="Calibri" pitchFamily="34" charset="-122"/>
                <a:cs typeface="Calibri" pitchFamily="34" charset="-120"/>
              </a:rPr>
              <a:t>CLOSURE  •  MILESTONE 3</a:t>
            </a:r>
            <a:endParaRPr lang="en-US" sz="1200" dirty="0"/>
          </a:p>
        </p:txBody>
      </p:sp>
      <p:sp>
        <p:nvSpPr>
          <p:cNvPr id="4" name="Text 2"/>
          <p:cNvSpPr txBox="1"/>
          <p:nvPr/>
        </p:nvSpPr>
        <p:spPr>
          <a:xfrm>
            <a:off x="640080" y="1645920"/>
            <a:ext cx="5120640" cy="155448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From risk scores to actionable strategy</a:t>
            </a:r>
            <a:endParaRPr lang="en-US" sz="4000" dirty="0"/>
          </a:p>
        </p:txBody>
      </p:sp>
      <p:sp>
        <p:nvSpPr>
          <p:cNvPr id="5" name="Text 3"/>
          <p:cNvSpPr txBox="1"/>
          <p:nvPr/>
        </p:nvSpPr>
        <p:spPr>
          <a:xfrm>
            <a:off x="640080" y="3383280"/>
            <a:ext cx="5120640" cy="1371600"/>
          </a:xfrm>
          <a:prstGeom prst="rect">
            <a:avLst/>
          </a:prstGeom>
          <a:noFill/>
          <a:ln/>
        </p:spPr>
        <p:txBody>
          <a:bodyPr wrap="square" lIns="0" tIns="0" rIns="0" bIns="0" rtlCol="0" anchor="t"/>
          <a:lstStyle/>
          <a:p>
            <a:pPr marL="0" indent="0">
              <a:buNone/>
            </a:pPr>
            <a:r>
              <a:rPr lang="en-US" sz="1600" dirty="0">
                <a:solidFill>
                  <a:srgbClr val="CADCFC"/>
                </a:solidFill>
                <a:latin typeface="Calibri" pitchFamily="34" charset="0"/>
                <a:ea typeface="Calibri" pitchFamily="34" charset="-122"/>
                <a:cs typeface="Calibri" pitchFamily="34" charset="-120"/>
              </a:rPr>
              <a:t>Milestone 3 links every identified risk to a clear recommendation, a mitigation strategy and an improvement action, powered by Gemini and orchestrated with LangGraph.</a:t>
            </a:r>
            <a:endParaRPr lang="en-US" sz="1600" dirty="0"/>
          </a:p>
        </p:txBody>
      </p:sp>
      <p:sp>
        <p:nvSpPr>
          <p:cNvPr id="6" name="Text 4"/>
          <p:cNvSpPr txBox="1"/>
          <p:nvPr/>
        </p:nvSpPr>
        <p:spPr>
          <a:xfrm>
            <a:off x="640080" y="5074920"/>
            <a:ext cx="5120640" cy="548640"/>
          </a:xfrm>
          <a:prstGeom prst="rect">
            <a:avLst/>
          </a:prstGeom>
          <a:noFill/>
          <a:ln/>
        </p:spPr>
        <p:txBody>
          <a:bodyPr wrap="square" lIns="0" tIns="0" rIns="0" bIns="0" rtlCol="0" anchor="ctr"/>
          <a:lstStyle/>
          <a:p>
            <a:pPr marL="0" indent="0">
              <a:buNone/>
            </a:pPr>
            <a:r>
              <a:rPr lang="en-US" sz="3200" b="1" dirty="0">
                <a:solidFill>
                  <a:srgbClr val="F5A524"/>
                </a:solidFill>
                <a:latin typeface="Cambria" pitchFamily="34" charset="0"/>
                <a:ea typeface="Cambria" pitchFamily="34" charset="-122"/>
                <a:cs typeface="Cambria" pitchFamily="34" charset="-120"/>
              </a:rPr>
              <a:t>Thank you</a:t>
            </a:r>
            <a:endParaRPr lang="en-US" sz="3200" dirty="0"/>
          </a:p>
        </p:txBody>
      </p:sp>
      <p:sp>
        <p:nvSpPr>
          <p:cNvPr id="7" name="Text 5"/>
          <p:cNvSpPr txBox="1"/>
          <p:nvPr/>
        </p:nvSpPr>
        <p:spPr>
          <a:xfrm>
            <a:off x="640080" y="5669280"/>
            <a:ext cx="5120640" cy="36576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Questions?</a:t>
            </a:r>
            <a:endParaRPr lang="en-US" sz="1800" dirty="0"/>
          </a:p>
        </p:txBody>
      </p:sp>
      <p:sp>
        <p:nvSpPr>
          <p:cNvPr id="8" name="Shape 6"/>
          <p:cNvSpPr/>
          <p:nvPr/>
        </p:nvSpPr>
        <p:spPr>
          <a:xfrm>
            <a:off x="6309360" y="914400"/>
            <a:ext cx="5333695" cy="5120640"/>
          </a:xfrm>
          <a:prstGeom prst="roundRect">
            <a:avLst>
              <a:gd name="adj" fmla="val 2143"/>
            </a:avLst>
          </a:prstGeom>
          <a:solidFill>
            <a:srgbClr val="1B2A55"/>
          </a:solidFill>
          <a:ln w="6350">
            <a:solidFill>
              <a:srgbClr val="1B2A55"/>
            </a:solidFill>
            <a:prstDash val="solid"/>
          </a:ln>
        </p:spPr>
      </p:sp>
      <p:sp>
        <p:nvSpPr>
          <p:cNvPr id="9" name="Text 7"/>
          <p:cNvSpPr txBox="1"/>
          <p:nvPr/>
        </p:nvSpPr>
        <p:spPr>
          <a:xfrm>
            <a:off x="6675120" y="1234440"/>
            <a:ext cx="4602175" cy="274320"/>
          </a:xfrm>
          <a:prstGeom prst="rect">
            <a:avLst/>
          </a:prstGeom>
          <a:noFill/>
          <a:ln/>
        </p:spPr>
        <p:txBody>
          <a:bodyPr wrap="square" lIns="0" tIns="0" rIns="0" bIns="0" rtlCol="0" anchor="ctr"/>
          <a:lstStyle/>
          <a:p>
            <a:pPr marL="0" indent="0">
              <a:buNone/>
            </a:pPr>
            <a:r>
              <a:rPr lang="en-US" sz="1200" b="1" kern="0" spc="100" dirty="0">
                <a:solidFill>
                  <a:srgbClr val="F5A524"/>
                </a:solidFill>
                <a:latin typeface="Calibri" pitchFamily="34" charset="0"/>
                <a:ea typeface="Calibri" pitchFamily="34" charset="-122"/>
                <a:cs typeface="Calibri" pitchFamily="34" charset="-120"/>
              </a:rPr>
              <a:t>WHAT MILESTONE 3 DELIVERS</a:t>
            </a:r>
            <a:endParaRPr lang="en-US" sz="1200" dirty="0"/>
          </a:p>
        </p:txBody>
      </p:sp>
      <p:pic>
        <p:nvPicPr>
          <p:cNvPr id="10" name="Image 0" descr="preencoded.png"/>
          <p:cNvPicPr>
            <a:picLocks noChangeAspect="1"/>
          </p:cNvPicPr>
          <p:nvPr/>
        </p:nvPicPr>
        <p:blipFill>
          <a:blip r:embed="rId3"/>
          <a:stretch>
            <a:fillRect/>
          </a:stretch>
        </p:blipFill>
        <p:spPr>
          <a:xfrm>
            <a:off x="6675120" y="1755648"/>
            <a:ext cx="329184" cy="329184"/>
          </a:xfrm>
          <a:prstGeom prst="rect">
            <a:avLst/>
          </a:prstGeom>
        </p:spPr>
      </p:pic>
      <p:sp>
        <p:nvSpPr>
          <p:cNvPr id="11" name="Text 8"/>
          <p:cNvSpPr txBox="1"/>
          <p:nvPr/>
        </p:nvSpPr>
        <p:spPr>
          <a:xfrm>
            <a:off x="7223760" y="1783080"/>
            <a:ext cx="4053535" cy="68580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AI recommendations connected to the identified risks</a:t>
            </a:r>
            <a:endParaRPr lang="en-US" sz="1500" dirty="0"/>
          </a:p>
        </p:txBody>
      </p:sp>
      <p:pic>
        <p:nvPicPr>
          <p:cNvPr id="12" name="Image 1" descr="preencoded.png"/>
          <p:cNvPicPr>
            <a:picLocks noChangeAspect="1"/>
          </p:cNvPicPr>
          <p:nvPr/>
        </p:nvPicPr>
        <p:blipFill>
          <a:blip r:embed="rId3"/>
          <a:stretch>
            <a:fillRect/>
          </a:stretch>
        </p:blipFill>
        <p:spPr>
          <a:xfrm>
            <a:off x="6675120" y="2578608"/>
            <a:ext cx="329184" cy="329184"/>
          </a:xfrm>
          <a:prstGeom prst="rect">
            <a:avLst/>
          </a:prstGeom>
        </p:spPr>
      </p:pic>
      <p:sp>
        <p:nvSpPr>
          <p:cNvPr id="13" name="Text 9"/>
          <p:cNvSpPr txBox="1"/>
          <p:nvPr/>
        </p:nvSpPr>
        <p:spPr>
          <a:xfrm>
            <a:off x="7223760" y="2606040"/>
            <a:ext cx="4053535" cy="68580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A mitigation strategy for every major risk, with preventive and contingency actions</a:t>
            </a:r>
            <a:endParaRPr lang="en-US" sz="1500" dirty="0"/>
          </a:p>
        </p:txBody>
      </p:sp>
      <p:pic>
        <p:nvPicPr>
          <p:cNvPr id="14" name="Image 2" descr="preencoded.png"/>
          <p:cNvPicPr>
            <a:picLocks noChangeAspect="1"/>
          </p:cNvPicPr>
          <p:nvPr/>
        </p:nvPicPr>
        <p:blipFill>
          <a:blip r:embed="rId3"/>
          <a:stretch>
            <a:fillRect/>
          </a:stretch>
        </p:blipFill>
        <p:spPr>
          <a:xfrm>
            <a:off x="6675120" y="3401568"/>
            <a:ext cx="329184" cy="329184"/>
          </a:xfrm>
          <a:prstGeom prst="rect">
            <a:avLst/>
          </a:prstGeom>
        </p:spPr>
      </p:pic>
      <p:sp>
        <p:nvSpPr>
          <p:cNvPr id="15" name="Text 10"/>
          <p:cNvSpPr txBox="1"/>
          <p:nvPr/>
        </p:nvSpPr>
        <p:spPr>
          <a:xfrm>
            <a:off x="7223760" y="3429000"/>
            <a:ext cx="4053535" cy="68580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Improvement plan across product, market, technical, financial, operational and marketing</a:t>
            </a:r>
            <a:endParaRPr lang="en-US" sz="1500" dirty="0"/>
          </a:p>
        </p:txBody>
      </p:sp>
      <p:pic>
        <p:nvPicPr>
          <p:cNvPr id="16" name="Image 3" descr="preencoded.png"/>
          <p:cNvPicPr>
            <a:picLocks noChangeAspect="1"/>
          </p:cNvPicPr>
          <p:nvPr/>
        </p:nvPicPr>
        <p:blipFill>
          <a:blip r:embed="rId3"/>
          <a:stretch>
            <a:fillRect/>
          </a:stretch>
        </p:blipFill>
        <p:spPr>
          <a:xfrm>
            <a:off x="6675120" y="4224528"/>
            <a:ext cx="329184" cy="329184"/>
          </a:xfrm>
          <a:prstGeom prst="rect">
            <a:avLst/>
          </a:prstGeom>
        </p:spPr>
      </p:pic>
      <p:sp>
        <p:nvSpPr>
          <p:cNvPr id="17" name="Text 11"/>
          <p:cNvSpPr txBox="1"/>
          <p:nvPr/>
        </p:nvSpPr>
        <p:spPr>
          <a:xfrm>
            <a:off x="7223760" y="4251960"/>
            <a:ext cx="4053535" cy="68580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LangGraph workflow of six nodes sharing one state</a:t>
            </a:r>
            <a:endParaRPr lang="en-US" sz="1500" dirty="0"/>
          </a:p>
        </p:txBody>
      </p:sp>
      <p:pic>
        <p:nvPicPr>
          <p:cNvPr id="18" name="Image 4" descr="preencoded.png"/>
          <p:cNvPicPr>
            <a:picLocks noChangeAspect="1"/>
          </p:cNvPicPr>
          <p:nvPr/>
        </p:nvPicPr>
        <p:blipFill>
          <a:blip r:embed="rId3"/>
          <a:stretch>
            <a:fillRect/>
          </a:stretch>
        </p:blipFill>
        <p:spPr>
          <a:xfrm>
            <a:off x="6675120" y="5047488"/>
            <a:ext cx="329184" cy="329184"/>
          </a:xfrm>
          <a:prstGeom prst="rect">
            <a:avLst/>
          </a:prstGeom>
        </p:spPr>
      </p:pic>
      <p:sp>
        <p:nvSpPr>
          <p:cNvPr id="19" name="Text 12"/>
          <p:cNvSpPr txBox="1"/>
          <p:nvPr/>
        </p:nvSpPr>
        <p:spPr>
          <a:xfrm>
            <a:off x="7223760" y="5074920"/>
            <a:ext cx="4053535" cy="68580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Demo Mode without an API key, and results saved in SQLite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1300</Words>
  <Application>Microsoft Office PowerPoint</Application>
  <PresentationFormat>Custom</PresentationFormat>
  <Paragraphs>192</Paragraphs>
  <Slides>7</Slides>
  <Notes>7</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Prediction AI - Milestone 3</dc:title>
  <dc:subject>PptxGenJS Presentation</dc:subject>
  <dc:creator>PptxGenJS</dc:creator>
  <cp:lastModifiedBy>user</cp:lastModifiedBy>
  <cp:revision>3</cp:revision>
  <dcterms:created xsi:type="dcterms:W3CDTF">2026-09-22T03:24:28Z</dcterms:created>
  <dcterms:modified xsi:type="dcterms:W3CDTF">2026-09-22T03:38:17Z</dcterms:modified>
</cp:coreProperties>
</file>